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the paper's biological claim is exciting — chronic liver disease may make hepatocytes lose zonation and move toward a biliary/cholangiocyte state. We asked whether the single-nucleus EXPRESSION evidence supports that once acquisition differences between samples are controlled. One-line answer up front: in matched needle biopsies, zonation is preserved.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 knows hepatocytes and snRNA-seq, so only what's needed: zonation = different hepatocytes run different programs by lobule position. It can break down several ways — cells disappear, turn markers off, co-express both poles, or shift composition. This matters because one correlation score or UMAP can conflate very different mechanisms, so we use count signatures tied to specific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load-bearing slide. If stage and acquisition are collinear, a progressive trajectory can be manufactured by procurement, ischemia, dissociation, or batch — not biology. Healthy and end-stage are deceased-donor / explant organ tissue; the disease spectrum F0–F4 is fresh needle biopsies. So the first question is not biology, it is comparability. We restrict the disease axis to the matched biopsies, F1–F4.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decisive point is cross-lineage. Stress is ~22× higher in end-stage explants than biopsies — but if endothelial cells, which have no zonation program, show the SAME immediate-early spike (18.2× vs 18.5× in hepatocytes), then this is not a hepatocyte zonation program. It is organ-wide acute handling/procurement stress. That is why we exclude the deceased-donor and explant groups from the disease axis.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raw counts: if a cell has one KRT19 or one GLUL molecule, that may be ambient RNA — for this question, absolute molecule detection matters, so SCT-normalized values are the wrong object. We down-thin every nucleus to a common 1,500-UMI budget, call a marker on only at ≥2 UMIs, classify each hepatocyte, and summarize per donor. The key is not that every number is identical — it's that none of the failure modes shows a monotone, large, biopsy-axis collapse. Dual co-expression stays ~0.4%, vs ~2.9% in the confounded explants.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Pseudobulk in one sentence: we collapse thousands of nuclei back to one profile per donor, because donors — not cells — are the biological replicates. This scan was not the primary proof of zonation; it's an independent count-based check (zonation genes flat) plus a discovery layer. Of ~21,000 genes only 64 are significant, and they are biliary/ductular markers, not a broad metabolic/stress/detox program. Wording matters: we say no large single-gene program outside the biliary burden — gene-set testing is still owed for weak coordinated pathways.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Cautious wording: this does not prove every surviving gene is contamination. It says the dominant interpretation of the biliary burden should be compositional unless proven otherwise — the genes are 5–78× more abundant in cholangiocytes, cholangiocytes expand at F4, per-cell co-expression is ~0.4%, and decontX halves the hits and drops SOX4/SOX9. decontX is evidence, not a verdict: it can over- or under-correct. So source attribution is a lead, not a closed verdict.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methodological lesson, aligned with the assignment: the lesson is not only biological. In single-cell disease atlases, acquisition matching can dominate apparent disease trajectories. Our bottom line is narrow and honest: the transcriptomic leg of progressive de-zonation does not survive matched-source re-analysis; imaging/protein/organoid evidence is untouched.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Matched biopsies preserve hepatocyte zonation in MASLD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9659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BD5E1"/>
                </a:solidFill>
              </a:rPr>
              <a:t>A critical re-analysis of Gribben et al., Nature 2024 — snRNA-seq, GSE202379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834640"/>
            <a:ext cx="4937760" cy="1371600"/>
          </a:xfrm>
          <a:prstGeom prst="roundRect">
            <a:avLst>
              <a:gd name="adj" fmla="val 6667"/>
            </a:avLst>
          </a:prstGeom>
          <a:solidFill>
            <a:srgbClr val="3F1D2B"/>
          </a:solidFill>
          <a:ln w="19050">
            <a:solidFill>
              <a:srgbClr val="BE12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97180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CA5A5"/>
                </a:solidFill>
              </a:rPr>
              <a:t>Original claim
</a:t>
            </a:r>
            <a:pPr algn="l" indent="0" marL="0">
              <a:buNone/>
            </a:pPr>
            <a:r>
              <a:rPr lang="en-US" sz="1400" dirty="0">
                <a:solidFill>
                  <a:srgbClr val="FECACA"/>
                </a:solidFill>
              </a:rPr>
              <a:t>MASLD progression → zonation loss + hepatocyte→cholangiocyte plasticity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715000" y="3383280"/>
            <a:ext cx="502920" cy="320040"/>
          </a:xfrm>
          <a:prstGeom prst="rtTriangle">
            <a:avLst/>
          </a:prstGeom>
          <a:solidFill>
            <a:srgbClr val="94A3B8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0" y="2834640"/>
            <a:ext cx="4937760" cy="1371600"/>
          </a:xfrm>
          <a:prstGeom prst="roundRect">
            <a:avLst>
              <a:gd name="adj" fmla="val 6667"/>
            </a:avLst>
          </a:prstGeom>
          <a:solidFill>
            <a:srgbClr val="0B3B38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0" y="297180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EEAD4"/>
                </a:solidFill>
              </a:rPr>
              <a:t>Our re-analysis (matched biopsies)
</a:t>
            </a:r>
            <a:pPr algn="l" indent="0" marL="0">
              <a:buNone/>
            </a:pPr>
            <a:r>
              <a:rPr lang="en-US" sz="1400" dirty="0">
                <a:solidFill>
                  <a:srgbClr val="99F6E4"/>
                </a:solidFill>
              </a:rPr>
              <a:t>zonation preserved; biliary signal likely compositional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10881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3C5FD"/>
                </a:solidFill>
              </a:rPr>
              <a:t>Question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2E8F0"/>
                </a:solidFill>
              </a:rPr>
              <a:t>is the snRNA-seq evidence for progressive de-zonation robust?
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5EEAD4"/>
                </a:solidFill>
              </a:rPr>
              <a:t>Answer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2E8F0"/>
                </a:solidFill>
              </a:rPr>
              <a:t>not across matched biopsy F1–F4 tissue.
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CBD5E1"/>
                </a:solidFill>
              </a:rPr>
              <a:t>Scope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2E8F0"/>
                </a:solidFill>
              </a:rPr>
              <a:t>transcriptomic re-analysis only; imaging / organoids not re-tested.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</a:rPr>
              <a:t>Zonation can fail in several different 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1737360"/>
            <a:ext cx="4754880" cy="502920"/>
          </a:xfrm>
          <a:prstGeom prst="roundRect">
            <a:avLst>
              <a:gd name="adj" fmla="val 9091"/>
            </a:avLst>
          </a:prstGeom>
          <a:solidFill>
            <a:srgbClr val="1D4ED8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0" y="1737360"/>
            <a:ext cx="4754880" cy="502920"/>
          </a:xfrm>
          <a:prstGeom prst="roundRect">
            <a:avLst>
              <a:gd name="adj" fmla="val 9091"/>
            </a:avLst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Central vein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59536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Portal tract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7373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Pericentral program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0" y="17373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Periportal program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2606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ED8"/>
                </a:solidFill>
              </a:rPr>
              <a:t>PC markers: 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GLUL, CYP3A4, CYP2E1 / detox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0" y="2606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</a:rPr>
              <a:t>PP markers: 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ASS1, CPS1, PCK1, HAL, ALDOB / urea cycle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3383280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De-zonation is not one mechanism — count signatures distinguish them: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14400" y="3886200"/>
            <a:ext cx="2286000" cy="1005840"/>
          </a:xfrm>
          <a:prstGeom prst="roundRect">
            <a:avLst>
              <a:gd name="adj" fmla="val 7273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3886200"/>
            <a:ext cx="228600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PC depletion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(pericentral cells lost)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429000" y="3886200"/>
            <a:ext cx="2286000" cy="1005840"/>
          </a:xfrm>
          <a:prstGeom prst="roundRect">
            <a:avLst>
              <a:gd name="adj" fmla="val 7273"/>
            </a:avLst>
          </a:prstGeom>
          <a:solidFill>
            <a:srgbClr val="7C3A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429000" y="3886200"/>
            <a:ext cx="228600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Co-expression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(both poles on)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943600" y="3886200"/>
            <a:ext cx="2286000" cy="1005840"/>
          </a:xfrm>
          <a:prstGeom prst="roundRect">
            <a:avLst>
              <a:gd name="adj" fmla="val 7273"/>
            </a:avLst>
          </a:prstGeom>
          <a:solidFill>
            <a:srgbClr val="9CA3A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0" y="3886200"/>
            <a:ext cx="228600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</a:rPr>
              <a:t>Turn-off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</a:rPr>
              <a:t>(neither pole on)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458200" y="3886200"/>
            <a:ext cx="1965960" cy="1005840"/>
          </a:xfrm>
          <a:prstGeom prst="roundRect">
            <a:avLst>
              <a:gd name="adj" fmla="val 7273"/>
            </a:avLst>
          </a:prstGeom>
          <a:solidFill>
            <a:srgbClr val="EA580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458200" y="3886200"/>
            <a:ext cx="19659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Composition shift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(PP : PC changes)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212080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4748B"/>
                </a:solidFill>
              </a:rPr>
              <a:t>A single anti-correlation or UMAP impression conflates these. We test each with absolute counts.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Minimal context</a:t>
            </a:r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     ·     2 / 8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</a:rPr>
              <a:t>Disease stage is entangled with tissue acquisition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1828800"/>
            <a:ext cx="1280160" cy="640080"/>
          </a:xfrm>
          <a:prstGeom prst="roundRect">
            <a:avLst>
              <a:gd name="adj" fmla="val 8571"/>
            </a:avLst>
          </a:prstGeom>
          <a:solidFill>
            <a:srgbClr val="BE123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82880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Healthy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331720" y="182880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331720" y="182880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520440" y="182880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20440" y="182880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F1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709160" y="182880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09160" y="182880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F2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897880" y="182880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897880" y="182880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F3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086600" y="182880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086600" y="182880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F4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686800" y="1828800"/>
            <a:ext cx="2011680" cy="640080"/>
          </a:xfrm>
          <a:prstGeom prst="roundRect">
            <a:avLst>
              <a:gd name="adj" fmla="val 8571"/>
            </a:avLst>
          </a:prstGeom>
          <a:solidFill>
            <a:srgbClr val="86198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0" y="1828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End-stage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14400" y="1627632"/>
            <a:ext cx="97840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7863840" y="1325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64748B"/>
                </a:solidFill>
              </a:rPr>
              <a:t>disease progression →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26517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E123C"/>
                </a:solidFill>
              </a:rPr>
              <a:t>deceased-donor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BE123C"/>
                </a:solidFill>
              </a:rPr>
              <a:t>organ cubes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331720" y="265176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16-gauge needle biopsies, right lobe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86800" y="265176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198F"/>
                </a:solidFill>
              </a:rPr>
              <a:t>explanted cirrhotic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6198F"/>
                </a:solidFill>
              </a:rPr>
              <a:t>organs, multi-lobe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68680" y="1783080"/>
            <a:ext cx="1371600" cy="1600200"/>
          </a:xfrm>
          <a:prstGeom prst="rect">
            <a:avLst/>
          </a:prstGeom>
          <a:ln w="25400">
            <a:solidFill>
              <a:srgbClr val="BE123C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8641080" y="1783080"/>
            <a:ext cx="2103120" cy="1600200"/>
          </a:xfrm>
          <a:prstGeom prst="rect">
            <a:avLst/>
          </a:prstGeom>
          <a:ln w="25400">
            <a:solidFill>
              <a:srgbClr val="BE123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8046720" y="3429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not acquisition-matched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4400" y="3977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47 donors   ·   biopsy axis F0/F1/F2/F3/F4 = 2 / 8 / 12 / 12 / 4   ·   end-stage = 5   ·   healthy = 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463040" y="4572000"/>
            <a:ext cx="9144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E293B"/>
                </a:solidFill>
              </a:rPr>
              <a:t>The full trajectory is also an acquisition trajectory.</a:t>
            </a:r>
            <a:endParaRPr lang="en-US" sz="19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E293B"/>
                </a:solidFill>
              </a:rPr>
              <a:t>So healthy / end-stage comparisons cannot cleanly isolate disease biology.</a:t>
            </a:r>
            <a:endParaRPr lang="en-US" sz="19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b="1" dirty="0">
                <a:solidFill>
                  <a:srgbClr val="0D9488"/>
                </a:solidFill>
              </a:rPr>
              <a:t>Clean axis used here: biopsy-only F1–F4.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457200" y="647395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The load-bearing confound</a:t>
            </a:r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     ·     3 / 8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</a:rPr>
              <a:t>Endpoint samples carry an organ-wide stress signature</a:t>
            </a:r>
            <a:endParaRPr lang="en-US" sz="3000" dirty="0"/>
          </a:p>
        </p:txBody>
      </p:sp>
      <p:pic>
        <p:nvPicPr>
          <p:cNvPr id="3" name="Image 0" descr="D:\CS\Genomics\Hackathon\reports\deck/assets/fig_stre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371600"/>
            <a:ext cx="7863840" cy="47548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12480" y="210312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Stress genes: FOS, JUN(B/D), ATF3, DUSP1, HSPA1A/B.</a:t>
            </a:r>
            <a:endParaRPr lang="en-US" sz="18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293B"/>
                </a:solidFill>
              </a:rPr>
              <a:t>The same spike appears in non-zonated endothelial cells.</a:t>
            </a:r>
            <a:endParaRPr lang="en-US" sz="18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DC2626"/>
                </a:solidFill>
              </a:rPr>
              <a:t>→ acquisition/procurement signal, not hepatocyte zonation biology.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647395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Stress validates the confound  ·  donor-level, down-thinned to 1,500 UMIs</a:t>
            </a:r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     ·     4 / 8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</a:rPr>
              <a:t>Raw-count anchor classification: biopsy zonation is preserved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25880"/>
            <a:ext cx="2057400" cy="502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93B"/>
                </a:solidFill>
              </a:rPr>
              <a:t>raw UMIs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514600" y="1572768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697480" y="1325880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97480" y="1325880"/>
            <a:ext cx="2057400" cy="502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93B"/>
                </a:solidFill>
              </a:rPr>
              <a:t>down-thin to 1,500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572768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937760" y="1325880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25880"/>
            <a:ext cx="2057400" cy="502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</a:rPr>
              <a:t>marker ON if ≥2 UMI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995160" y="1572768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178040" y="1325880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78040" y="1325880"/>
            <a:ext cx="2057400" cy="502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93B"/>
                </a:solidFill>
              </a:rPr>
              <a:t>classify nucleus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235440" y="1572768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418320" y="1325880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0" y="1325880"/>
            <a:ext cx="2057400" cy="502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93B"/>
                </a:solidFill>
              </a:rPr>
              <a:t>fraction per donor</a:t>
            </a:r>
            <a:endParaRPr lang="en-US" sz="1250" dirty="0"/>
          </a:p>
        </p:txBody>
      </p:sp>
      <p:pic>
        <p:nvPicPr>
          <p:cNvPr id="17" name="Image 0" descr="D:\CS\Genomics\Hackathon\reports\deck/assets/fig_anchor2x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965960"/>
            <a:ext cx="8229600" cy="429768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869680" y="219456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400"/>
              </a:spcAft>
              <a:buSzPct val="100000"/>
              <a:buChar char="●"/>
            </a:pPr>
            <a:r>
              <a:rPr lang="en-US" sz="1500" dirty="0">
                <a:solidFill>
                  <a:srgbClr val="1D4ED8"/>
                </a:solidFill>
              </a:rPr>
              <a:t>PC-anchor: PC on / PP off</a:t>
            </a:r>
            <a:endParaRPr lang="en-US" sz="1500" dirty="0"/>
          </a:p>
          <a:p>
            <a:pPr algn="l" marL="342900" indent="-342900">
              <a:spcAft>
                <a:spcPts val="400"/>
              </a:spcAft>
              <a:buSzPct val="100000"/>
              <a:buChar char="●"/>
            </a:pPr>
            <a:r>
              <a:rPr lang="en-US" sz="1500" dirty="0">
                <a:solidFill>
                  <a:srgbClr val="EA580C"/>
                </a:solidFill>
              </a:rPr>
              <a:t>PP-anchor: PP on / PC off</a:t>
            </a:r>
            <a:endParaRPr lang="en-US" sz="1500" dirty="0"/>
          </a:p>
          <a:p>
            <a:pPr algn="l" marL="342900" indent="-342900">
              <a:spcAft>
                <a:spcPts val="400"/>
              </a:spcAft>
              <a:buSzPct val="100000"/>
              <a:buChar char="●"/>
            </a:pPr>
            <a:r>
              <a:rPr lang="en-US" sz="1500" dirty="0">
                <a:solidFill>
                  <a:srgbClr val="7C3AED"/>
                </a:solidFill>
              </a:rPr>
              <a:t>Dual: both on</a:t>
            </a:r>
            <a:endParaRPr lang="en-US" sz="1500" dirty="0"/>
          </a:p>
          <a:p>
            <a:pPr algn="l" marL="342900" indent="-342900">
              <a:spcAft>
                <a:spcPts val="400"/>
              </a:spcAft>
              <a:buSzPct val="100000"/>
              <a:buChar char="●"/>
            </a:pPr>
            <a:r>
              <a:rPr lang="en-US" sz="1500" dirty="0">
                <a:solidFill>
                  <a:srgbClr val="64748B"/>
                </a:solidFill>
              </a:rPr>
              <a:t>Null: neither on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869680" y="3840480"/>
            <a:ext cx="30175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293B"/>
                </a:solidFill>
              </a:rPr>
              <a:t>Unit = donor, not nucleus.
</a:t>
            </a:r>
            <a:endParaRPr lang="en-US" sz="145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1E293B"/>
                </a:solidFill>
              </a:rPr>
              <a:t>≥2-UMI cut suppresses single-molecule ambient RNA.
</a:t>
            </a:r>
            <a:endParaRPr lang="en-US" sz="145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1E293B"/>
                </a:solidFill>
              </a:rPr>
              <a:t>Robust across the marker/threshold sensitivity grid.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Main result  ·  no large de-zonation route on the biopsy axis</a:t>
            </a:r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     ·     5 / 8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</a:rPr>
              <a:t>Genome-wide pseudobulk finds one main signal: biliary markers</a:t>
            </a:r>
            <a:endParaRPr lang="en-US" sz="3000" dirty="0"/>
          </a:p>
        </p:txBody>
      </p:sp>
      <p:pic>
        <p:nvPicPr>
          <p:cNvPr id="3" name="Image 0" descr="D:\CS\Genomics\Hackathon\reports\deck/assets/fig_volcan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25880"/>
            <a:ext cx="8046720" cy="4937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011680"/>
            <a:ext cx="33832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293B"/>
                </a:solidFill>
              </a:rPr>
              <a:t>Pseudobulk per donor (sum raw hepatocyte UMIs); edgeR TMM + NB quasi-likelihood.
</a:t>
            </a:r>
            <a:endParaRPr lang="en-US" sz="17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E293B"/>
                </a:solidFill>
              </a:rPr>
              <a:t>64 genes at FDR&lt;0.05 — mostly biliary/ductular.
</a:t>
            </a:r>
            <a:endParaRPr lang="en-US" sz="17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D4ED8"/>
                </a:solidFill>
              </a:rPr>
              <a:t>Zonation markers not significant (GLUL FDR 0.80).
</a:t>
            </a:r>
            <a:endParaRPr lang="en-US" sz="17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rgbClr val="7C3AED"/>
                </a:solidFill>
              </a:rPr>
              <a:t>“No large single-gene hepatocyte program outside the biliary/ductular burden.”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457200" y="647395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Discovery scan  ·  cirrhotic F4 vs F1</a:t>
            </a:r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     ·     6 / 8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</a:rPr>
              <a:t>The biliary signal is real — but likely not broad transdifferentiation</a:t>
            </a:r>
            <a:endParaRPr lang="en-US" sz="3000" dirty="0"/>
          </a:p>
        </p:txBody>
      </p:sp>
      <p:pic>
        <p:nvPicPr>
          <p:cNvPr id="3" name="Image 0" descr="D:\CS\Genomics\Hackathon\reports\deck/assets/fig_compositio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417320"/>
            <a:ext cx="11612880" cy="3931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553212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Ductular reaction enriches cholangiocyte ambient RNA exactly at F4;  true hepatocyte biliary co-expression is rare (~0.4%).</a:t>
            </a:r>
            <a:endParaRPr lang="en-US" sz="16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650" dirty="0">
                <a:solidFill>
                  <a:srgbClr val="DC2626"/>
                </a:solidFill>
              </a:rPr>
              <a:t>CXCL10 is separated as a possible real inflammatory signal — it does not track the cholangiocyte fraction.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457200" y="647395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Source attribution: consistent with ambient RNA + rare mixed nuclei (a lead, not closed)</a:t>
            </a:r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     ·     7 / 8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Matched biopsies support preservation, not progressive collapse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3566160" cy="4023360"/>
          </a:xfrm>
          <a:prstGeom prst="roundRect">
            <a:avLst>
              <a:gd name="adj" fmla="val 2051"/>
            </a:avLst>
          </a:prstGeom>
          <a:solidFill>
            <a:srgbClr val="1E293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6459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EAD4"/>
                </a:solidFill>
              </a:rPr>
              <a:t>Conclusions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2240280"/>
            <a:ext cx="31546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Full healthy→end-stage trajectory is source-confounded.</a:t>
            </a:r>
            <a:endParaRPr lang="en-US" sz="14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In biopsy F1–F4, hepatocyte transcriptional zonation is preserved.</a:t>
            </a:r>
            <a:endParaRPr lang="en-US" sz="14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Main DGE signal = biliary/ductular burden, likely compositional.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434840" y="1508760"/>
            <a:ext cx="3566160" cy="4023360"/>
          </a:xfrm>
          <a:prstGeom prst="roundRect">
            <a:avLst>
              <a:gd name="adj" fmla="val 2051"/>
            </a:avLst>
          </a:prstGeom>
          <a:solidFill>
            <a:srgbClr val="1E293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434840" y="16459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A5A5"/>
                </a:solidFill>
              </a:rPr>
              <a:t>Limits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663440" y="2240280"/>
            <a:ext cx="31546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snRNA-seq ≠ lobule geometry / spatial architecture.</a:t>
            </a:r>
            <a:endParaRPr lang="en-US" sz="14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Imaging / protein / organoid evidence not re-analyzed.</a:t>
            </a:r>
            <a:endParaRPr lang="en-US" sz="14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F4 has only 4 biopsy donors.</a:t>
            </a:r>
            <a:endParaRPr lang="en-US" sz="14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Gene-level DGE can miss weak coordinated pathways.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229600" y="1508760"/>
            <a:ext cx="3566160" cy="4023360"/>
          </a:xfrm>
          <a:prstGeom prst="roundRect">
            <a:avLst>
              <a:gd name="adj" fmla="val 2051"/>
            </a:avLst>
          </a:prstGeom>
          <a:solidFill>
            <a:srgbClr val="1E293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0" y="16459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C5FD"/>
                </a:solidFill>
              </a:rPr>
              <a:t>Next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458200" y="2240280"/>
            <a:ext cx="31546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CAMERA / ROAST gene-set tests.</a:t>
            </a:r>
            <a:endParaRPr lang="en-US" sz="14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Leave-one-F4-donor-out DGE.</a:t>
            </a:r>
            <a:endParaRPr lang="en-US" sz="14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Quantitative contamination model.</a:t>
            </a:r>
            <a:endParaRPr lang="en-US" sz="14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Spatial / independent biopsy validation.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0080" y="58064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FFFFF"/>
                </a:solidFill>
              </a:rPr>
              <a:t>The transcriptomic leg of progressive de-zonation does not survive matched-source re-analysis.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Backup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Are you overturning the paper? No — narrow scope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We re-tested only the snRNA-seq transcriptional zonation/plasticity evidence.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We did NOT test imaging, protein staining, organoids, or 3D architecture.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Claim: matched biopsy transcriptomes do not show progressive zonation loss.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We agree with the paper that the strong signal is an end-stage phenomenon.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Backup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Maybe the caudate lobe caused it? Lobe-invariant</a:t>
            </a:r>
            <a:endParaRPr lang="en-US" sz="2600" dirty="0"/>
          </a:p>
        </p:txBody>
      </p:sp>
      <p:pic>
        <p:nvPicPr>
          <p:cNvPr id="4" name="Image 0" descr="D:\CS\Genomics\Hackathon\reports\deck/assets/fig_lob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694944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237744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Detection rates match across Right / Caudate / Left.
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E293B"/>
                </a:solidFill>
              </a:rPr>
              <a:t>Lobe does not explain the signal;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E293B"/>
                </a:solidFill>
              </a:rPr>
              <a:t>explant-vs-biopsy acquisition still does.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Backup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What happens in end-stage? Five organs, five phenotypes</a:t>
            </a:r>
            <a:endParaRPr lang="en-US" sz="2600" dirty="0"/>
          </a:p>
        </p:txBody>
      </p:sp>
      <p:pic>
        <p:nvPicPr>
          <p:cNvPr id="4" name="Image 0" descr="D:\CS\Genomics\Hackathon\reports\deck/assets/fig_expla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749808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237744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PC-anchor 3% → 50%;  PP:PC 0.13 → 20.
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E293B"/>
                </a:solidFill>
              </a:rPr>
              <a:t>Dramatic but NOT one coherent program — pooling them manufactures a uniform “collapse.”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Backup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Why raw counts, not SCT?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SCT is great for clustering / visualization.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But this question depends on molecule detection and ambient RNA.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Raw counts + equal 1,500-UMI budget + ≥2-UMI threshold directly test marker co-detection.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A single-UMI event can easily be ambient; ≥2 is more robust (not proof).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Backup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Why pseudobulk, not per-cell DGE?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Cells from the same donor are not independent replicates (pseudoreplication).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Pseudobulk sums raw counts per donor → one profile per donor.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DGE then tests donor-level consistency (Squair et al. 2021).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38 biopsy donors; F4 = 4 donors → F4-specific signals treated with caution.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Backup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Why abandon the relative correlation/spread ruler?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It was source-confounded (the collapse lived in the confounded endpoints).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It was depth-sensitive (shallower F4 changes spread for non-biological reasons).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It conflated co-expression, turn-off, noise, and composition shift.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The count taxonomy separates these mechanisms; a Simpson/aggregation reversal confirmed the artifact.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Backup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Why not the 2D PC-vs-PP joint-count plot?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Broad metabolic program sums are ON in most normal hepatocytes.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So “both programs high” is satisfied by normal cells — not a co-expression test.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It is a pole-collapse visual (fuller in biopsy than explant).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The clean metric is strict anchor dual at ≥2 UMI: ~0.4% biopsy vs ~2.9% explant.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Backup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DGE model details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Raw hepatocyte UMI counts summed per donor.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filterByExpr retained 21,022 genes; TMM normalization.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edgeR negative-binomial quasi-likelihood GLM, robust dispersion; common BCV 0.405.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Primary contrast F4 vs F1; hits survive a run-covariate and a single-run sensitivity test.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Backup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Does decontX prove contamination? No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decontX models a native + ambient RNA mixture and subtracts the estimate.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Hits 64 → 34; SOX4/SOX9 drop below significance → supports an ambient contribution.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But it can remove true hybrid signal OR leave residual contamination.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Therefore source attribution is a lead, not a closed verdict.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Backup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The one analysis still owed: gene-set testing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Gene-level FDR can miss a coordinated WEAK program (many genes, small shifts).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CAMERA + ROAST on pre-specified sets: PC, PP, detox, urea cycle, bile-acid/lipid,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mitochondrial, ER stress, interferon, hypoxia, EMT/fetal/progenitor, cholangiocyte/ductular.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Closes the caveat behind “no other large hepatocyte program.”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Backup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Robustness: sensitivity grid + equivalence bound</a:t>
            </a:r>
            <a:endParaRPr lang="en-US" sz="2600" dirty="0"/>
          </a:p>
        </p:txBody>
      </p:sp>
      <p:pic>
        <p:nvPicPr>
          <p:cNvPr id="4" name="Image 0" descr="D:\CS\Genomics\Hackathon\reports\deck/assets/fig_t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1554480"/>
            <a:ext cx="58521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Stable across every variant:
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PC = GLUL-only / CYP3A4-only / both;  PP = 2-of-4 / 3-of-4;
ALDOB in/out;  CPS1-based;  threshold 1 vs 2 UMI.
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0D9488"/>
                </a:solidFill>
              </a:rPr>
              <a:t>No PC depletion · no dual increase · no turn-off — in all.
</a:t>
            </a:r>
            <a:endParaRPr lang="en-US" sz="1600" dirty="0"/>
          </a:p>
          <a:p>
            <a:pPr algn="l"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Bound: large shift (~20 pp) excluded; subtle drift ≤10 pp not excluded (F4 n=4).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Matched biopsies preserve hepatocyte zonation in MASLD</dc:title>
  <dc:subject>PptxGenJS Presentation</dc:subject>
  <dc:creator>MASLD re-analysis</dc:creator>
  <cp:lastModifiedBy>MASLD re-analysis</cp:lastModifiedBy>
  <cp:revision>1</cp:revision>
  <dcterms:created xsi:type="dcterms:W3CDTF">2026-06-23T17:05:37Z</dcterms:created>
  <dcterms:modified xsi:type="dcterms:W3CDTF">2026-06-23T17:05:37Z</dcterms:modified>
</cp:coreProperties>
</file>