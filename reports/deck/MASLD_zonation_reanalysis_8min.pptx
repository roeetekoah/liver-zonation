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it as the project's research question (from the Zonation_Reanalysis framing): the published claim is 'hepatocytes lose their zonation,' and our formal question was whether we can measure how much hepatocyte zonation degrades across MASLD and whether that is linked to the transdifferentiation Paper 1 reported. Answer, clause by clause: the relative ruler is the wrong instrument; there is no detectable biopsy-stage degradation (F1→cirrhotic F4); the healthy→end-stage drop is the tissue-acquisition axis, not disease; and the transdifferentiation link can't be established because biliary markers stay ~0 across biopsy disease and rise only in explants — the same confound.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what's needed: zonation = different hepatocytes run different programs by lobule position. The zonation EXPRESSION signal can break down several ways — cells disappear, turn markers off, co-express both poles, or shift composition. We list CYP2E1 as a familiar pericentral marker, but the strict ANCHOR classification uses GLUL and CYP3A4 only. A single correlation score or UMAP conflates these mechanisms, so we use count signatures tied to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load-bearing slide. If stage and acquisition are collinear, a progressive trajectory can be manufactured by procurement, ischemia, dissociation, or batch — not biology. Healthy and end-stage are deceased-donor / explant organ tissue; the disease spectrum F0–F4 is fresh needle biopsies. We restrict the disease axis to matched biopsies. On F0 vs F1–F4: F0 has only 2 donors, so primary inference is F1–F4; we show F0 descriptively.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decisive point is cross-lineage. Stress is ~22× higher in end-stage explants than biopsies — but if endothelial cells, which have NO zonation program, show the same immediate-early spike (18.2× vs 18.5× in hepatocytes), this cannot be a hepatocyte zonation program. It is organ-wide acute handling/procurement stress. That justifies excluding the deceased-donor and explant groups from the disease axis.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we changed the measurement: the legacy approach used a z-scored relative ruler and marker correlations, which are depth-sensitive and conflate mechanisms. We instead count molecules: extract raw RNA-assay counts, down-thin every nucleus to a common 1,500-UMI budget so detection reflects biology not depth, call a marker on only at ≥2 UMIs to suppress ambient, classify each hepatocyte PC/PP/dual/null, and summarize per donor — the donor is the unit of inference, never the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enlarged plots carry the result. Pericentral-anchor fraction is flat/non-monotone across F0–F4 — no depletion. Dual co-expression at the ambient-robust ≥2-UMI cut stays ~0.4% and does not trend — vs ~2.9% in the confounded explants. The other two mechanisms (null turn-off, PP:PC composition) are also flat — shown as callouts here, full four-panel in backup. And the equivalence bound: we exclude a large ~20-percentage-point shift, but cannot exclude subtle drift below ~10 points, because F4 has only 4 donors. Bottom line: donor-level anchor fractions do not support large biopsy-axis de-zonation.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Pseudobulk in one sentence: we collapse thousands of nuclei to one profile per donor, because donors — not cells — are the biological replicates. This is an independent count-based check (zonation genes flat, GLUL FDR 0.80) plus a discovery layer. Only 64 of ~21,000 genes are significant, and they are biliary/ductular markers, not a broad metabolic/stress program. Careful wording: no large single-GENE program outside the biliary burden — and I flag on the slide that gene-LEVEL FDR can miss a weak coordinated pathway, which needs gene-set testing. I show them I know that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Cautious wording — distinguish evidence levels. STRONG: the genes are 5–78× more abundant in cholangiocytes, and per-cell hepatocyte co-expression is only ~0.4%. SUGGESTIVE: decontX halves the hits and drops SOX4/SOX9 — this supports an ambient contribution but is not proof; decontX can over- or under-correct. OPEN: EPCAM/SPINT2/B3GNT3 survive. So the dominant evidence points to composition/ambient RNA, but a rare intrinsic state is not excluded — say that, do not say 'we proved contamination.' CXCL10 is set aside as a candidate real inflammatory signal.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methodological lesson: in single-cell disease atlases, acquisition matching can dominate apparent disease trajectories. The bottom line is narrow and honest: the snRNA-seq transcriptomic evidence for progressive de-zonation does not survive matched-source re-analysis; imaging/protein/organoid evidence is untouched. And keep the biliary claim careful — most consistent with composition/ambient RNA, a rare intrinsic state not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640080" y="548640"/>
            <a:ext cx="10881360" cy="1463040"/>
          </a:xfrm>
          <a:prstGeom prst="rect">
            <a:avLst/>
          </a:prstGeom>
          <a:noFill/>
          <a:ln/>
        </p:spPr>
        <p:txBody>
          <a:bodyPr wrap="square" rtlCol="0" anchor="t"/>
          <a:lstStyle/>
          <a:p>
            <a:pPr algn="l" indent="0" marL="0">
              <a:buNone/>
            </a:pPr>
            <a:r>
              <a:rPr lang="en-US" sz="3800" b="1" dirty="0">
                <a:solidFill>
                  <a:srgbClr val="FFFFFF"/>
                </a:solidFill>
              </a:rPr>
              <a:t>Matched biopsies preserve hepatocyte transcriptional zonation in MASLD</a:t>
            </a:r>
            <a:endParaRPr lang="en-US" sz="3800" dirty="0"/>
          </a:p>
        </p:txBody>
      </p:sp>
      <p:sp>
        <p:nvSpPr>
          <p:cNvPr id="3" name="Text 1"/>
          <p:cNvSpPr/>
          <p:nvPr/>
        </p:nvSpPr>
        <p:spPr>
          <a:xfrm>
            <a:off x="640080" y="2011680"/>
            <a:ext cx="10881360" cy="457200"/>
          </a:xfrm>
          <a:prstGeom prst="rect">
            <a:avLst/>
          </a:prstGeom>
          <a:noFill/>
          <a:ln/>
        </p:spPr>
        <p:txBody>
          <a:bodyPr wrap="square" rtlCol="0" anchor="ctr"/>
          <a:lstStyle/>
          <a:p>
            <a:pPr algn="l" indent="0" marL="0">
              <a:buNone/>
            </a:pPr>
            <a:r>
              <a:rPr lang="en-US" sz="1800" i="1" dirty="0">
                <a:solidFill>
                  <a:srgbClr val="CBD5E1"/>
                </a:solidFill>
              </a:rPr>
              <a:t>A critical re-analysis of Gribben et al., Nature 2024 — snRNA-seq, GSE202379</a:t>
            </a:r>
            <a:endParaRPr lang="en-US" sz="1800" dirty="0"/>
          </a:p>
        </p:txBody>
      </p:sp>
      <p:sp>
        <p:nvSpPr>
          <p:cNvPr id="4" name="Shape 2"/>
          <p:cNvSpPr/>
          <p:nvPr/>
        </p:nvSpPr>
        <p:spPr>
          <a:xfrm>
            <a:off x="640080" y="2743200"/>
            <a:ext cx="5029200" cy="1554480"/>
          </a:xfrm>
          <a:prstGeom prst="roundRect">
            <a:avLst>
              <a:gd name="adj" fmla="val 5882"/>
            </a:avLst>
          </a:prstGeom>
          <a:solidFill>
            <a:srgbClr val="3F1D2B"/>
          </a:solidFill>
          <a:ln w="19050">
            <a:solidFill>
              <a:srgbClr val="BE123C"/>
            </a:solidFill>
            <a:prstDash val="solid"/>
          </a:ln>
        </p:spPr>
      </p:sp>
      <p:sp>
        <p:nvSpPr>
          <p:cNvPr id="5" name="Text 3"/>
          <p:cNvSpPr/>
          <p:nvPr/>
        </p:nvSpPr>
        <p:spPr>
          <a:xfrm>
            <a:off x="822960" y="2834640"/>
            <a:ext cx="4663440" cy="1371600"/>
          </a:xfrm>
          <a:prstGeom prst="rect">
            <a:avLst/>
          </a:prstGeom>
          <a:noFill/>
          <a:ln/>
        </p:spPr>
        <p:txBody>
          <a:bodyPr wrap="square" rtlCol="0" anchor="ctr"/>
          <a:lstStyle/>
          <a:p>
            <a:pPr algn="l" indent="0" marL="0">
              <a:buNone/>
            </a:pPr>
            <a:r>
              <a:rPr lang="en-US" sz="1450" b="1" dirty="0">
                <a:solidFill>
                  <a:srgbClr val="FCA5A5"/>
                </a:solidFill>
              </a:rPr>
              <a:t>The research question (Gribben et al., Nature 2024)
</a:t>
            </a:r>
            <a:pPr algn="l" indent="0" marL="0">
              <a:buNone/>
            </a:pPr>
            <a:r>
              <a:rPr lang="en-US" sz="1300" dirty="0">
                <a:solidFill>
                  <a:srgbClr val="FECACA"/>
                </a:solidFill>
              </a:rPr>
              <a:t>Published claim: “Hepatocytes lose their zonation.”  Does hepatocyte zonation degrade across MASLD — and is that degradation linked to the hepatocyte→cholangiocyte transdifferentiation Paper 1 reported?</a:t>
            </a:r>
            <a:endParaRPr lang="en-US" sz="1450" dirty="0"/>
          </a:p>
        </p:txBody>
      </p:sp>
      <p:sp>
        <p:nvSpPr>
          <p:cNvPr id="6" name="Shape 4"/>
          <p:cNvSpPr/>
          <p:nvPr/>
        </p:nvSpPr>
        <p:spPr>
          <a:xfrm>
            <a:off x="5806440" y="3337560"/>
            <a:ext cx="502920" cy="320040"/>
          </a:xfrm>
          <a:prstGeom prst="rtTriangle">
            <a:avLst/>
          </a:prstGeom>
          <a:solidFill>
            <a:srgbClr val="94A3B8"/>
          </a:solidFill>
          <a:ln/>
        </p:spPr>
      </p:sp>
      <p:sp>
        <p:nvSpPr>
          <p:cNvPr id="7" name="Shape 5"/>
          <p:cNvSpPr/>
          <p:nvPr/>
        </p:nvSpPr>
        <p:spPr>
          <a:xfrm>
            <a:off x="6492240" y="2743200"/>
            <a:ext cx="5029200" cy="1554480"/>
          </a:xfrm>
          <a:prstGeom prst="roundRect">
            <a:avLst>
              <a:gd name="adj" fmla="val 5882"/>
            </a:avLst>
          </a:prstGeom>
          <a:solidFill>
            <a:srgbClr val="0B3B38"/>
          </a:solidFill>
          <a:ln w="19050">
            <a:solidFill>
              <a:srgbClr val="0D9488"/>
            </a:solidFill>
            <a:prstDash val="solid"/>
          </a:ln>
        </p:spPr>
      </p:sp>
      <p:sp>
        <p:nvSpPr>
          <p:cNvPr id="8" name="Text 6"/>
          <p:cNvSpPr/>
          <p:nvPr/>
        </p:nvSpPr>
        <p:spPr>
          <a:xfrm>
            <a:off x="6675120" y="2834640"/>
            <a:ext cx="4663440" cy="1371600"/>
          </a:xfrm>
          <a:prstGeom prst="rect">
            <a:avLst/>
          </a:prstGeom>
          <a:noFill/>
          <a:ln/>
        </p:spPr>
        <p:txBody>
          <a:bodyPr wrap="square" rtlCol="0" anchor="ctr"/>
          <a:lstStyle/>
          <a:p>
            <a:pPr algn="l" indent="0" marL="0">
              <a:buNone/>
            </a:pPr>
            <a:r>
              <a:rPr lang="en-US" sz="1450" b="1" dirty="0">
                <a:solidFill>
                  <a:srgbClr val="5EEAD4"/>
                </a:solidFill>
              </a:rPr>
              <a:t>Our answer — matched biopsies
</a:t>
            </a:r>
            <a:pPr algn="l" indent="0" marL="0">
              <a:buNone/>
            </a:pPr>
            <a:r>
              <a:rPr lang="en-US" sz="1300" dirty="0">
                <a:solidFill>
                  <a:srgbClr val="99F6E4"/>
                </a:solidFill>
              </a:rPr>
              <a:t>No detectable biopsy-stage degradation (F1→cirrhotic F4); the “healthy→end-stage” drop is the tissue-acquisition axis; the transdifferentiation link can’t be established (biliary markers rise only in explants).</a:t>
            </a:r>
            <a:endParaRPr lang="en-US" sz="1450" dirty="0"/>
          </a:p>
        </p:txBody>
      </p:sp>
      <p:sp>
        <p:nvSpPr>
          <p:cNvPr id="9" name="Text 7"/>
          <p:cNvSpPr/>
          <p:nvPr/>
        </p:nvSpPr>
        <p:spPr>
          <a:xfrm>
            <a:off x="640080" y="4709160"/>
            <a:ext cx="10881360" cy="1371600"/>
          </a:xfrm>
          <a:prstGeom prst="rect">
            <a:avLst/>
          </a:prstGeom>
          <a:noFill/>
          <a:ln/>
        </p:spPr>
        <p:txBody>
          <a:bodyPr wrap="square" rtlCol="0" anchor="t"/>
          <a:lstStyle/>
          <a:p>
            <a:pPr algn="l" indent="0" marL="0">
              <a:spcAft>
                <a:spcPts val="1000"/>
              </a:spcAft>
              <a:buNone/>
            </a:pPr>
            <a:r>
              <a:rPr lang="en-US" sz="1800" b="1" dirty="0">
                <a:solidFill>
                  <a:srgbClr val="5EEAD4"/>
                </a:solidFill>
              </a:rPr>
              <a:t>In one line  </a:t>
            </a:r>
            <a:pPr algn="l" indent="0" marL="0">
              <a:spcAft>
                <a:spcPts val="1000"/>
              </a:spcAft>
              <a:buNone/>
            </a:pPr>
            <a:r>
              <a:rPr lang="en-US" sz="1800" dirty="0">
                <a:solidFill>
                  <a:srgbClr val="E2E8F0"/>
                </a:solidFill>
              </a:rPr>
              <a:t>the apparent de-zonation is a tissue-acquisition artifact; matched biopsies stay transcriptionally zonated.
</a:t>
            </a:r>
            <a:endParaRPr lang="en-US" sz="1800" dirty="0"/>
          </a:p>
          <a:p>
            <a:pPr algn="l" indent="0" marL="0">
              <a:spcAft>
                <a:spcPts val="1000"/>
              </a:spcAft>
              <a:buNone/>
            </a:pPr>
            <a:r>
              <a:rPr lang="en-US" sz="1800" b="1" dirty="0">
                <a:solidFill>
                  <a:srgbClr val="CBD5E1"/>
                </a:solidFill>
              </a:rPr>
              <a:t>Scope  </a:t>
            </a:r>
            <a:pPr algn="l" indent="0" marL="0">
              <a:spcAft>
                <a:spcPts val="1000"/>
              </a:spcAft>
              <a:buNone/>
            </a:pPr>
            <a:r>
              <a:rPr lang="en-US" sz="1800" dirty="0">
                <a:solidFill>
                  <a:srgbClr val="E2E8F0"/>
                </a:solidFill>
              </a:rPr>
              <a:t>transcriptomic re-analysis only; imaging / organoids not re-tested.</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E293B"/>
                </a:solidFill>
              </a:rPr>
              <a:t>Loss of the zonation expression signal is not one mechanism</a:t>
            </a:r>
            <a:endParaRPr lang="en-US" sz="3000" dirty="0"/>
          </a:p>
        </p:txBody>
      </p:sp>
      <p:sp>
        <p:nvSpPr>
          <p:cNvPr id="3" name="Shape 1"/>
          <p:cNvSpPr/>
          <p:nvPr/>
        </p:nvSpPr>
        <p:spPr>
          <a:xfrm>
            <a:off x="914400" y="1600200"/>
            <a:ext cx="4754880" cy="502920"/>
          </a:xfrm>
          <a:prstGeom prst="roundRect">
            <a:avLst>
              <a:gd name="adj" fmla="val 9091"/>
            </a:avLst>
          </a:prstGeom>
          <a:solidFill>
            <a:srgbClr val="1D4ED8"/>
          </a:solidFill>
          <a:ln/>
        </p:spPr>
      </p:sp>
      <p:sp>
        <p:nvSpPr>
          <p:cNvPr id="4" name="Shape 2"/>
          <p:cNvSpPr/>
          <p:nvPr/>
        </p:nvSpPr>
        <p:spPr>
          <a:xfrm>
            <a:off x="5669280" y="1600200"/>
            <a:ext cx="4754880" cy="502920"/>
          </a:xfrm>
          <a:prstGeom prst="roundRect">
            <a:avLst>
              <a:gd name="adj" fmla="val 9091"/>
            </a:avLst>
          </a:prstGeom>
          <a:solidFill>
            <a:srgbClr val="EA580C"/>
          </a:solidFill>
          <a:ln/>
        </p:spPr>
      </p:sp>
      <p:sp>
        <p:nvSpPr>
          <p:cNvPr id="5" name="Text 3"/>
          <p:cNvSpPr/>
          <p:nvPr/>
        </p:nvSpPr>
        <p:spPr>
          <a:xfrm>
            <a:off x="548640" y="2148840"/>
            <a:ext cx="2194560" cy="274320"/>
          </a:xfrm>
          <a:prstGeom prst="rect">
            <a:avLst/>
          </a:prstGeom>
          <a:noFill/>
          <a:ln/>
        </p:spPr>
        <p:txBody>
          <a:bodyPr wrap="square" rtlCol="0" anchor="ctr"/>
          <a:lstStyle/>
          <a:p>
            <a:pPr algn="l" indent="0" marL="0">
              <a:buNone/>
            </a:pPr>
            <a:r>
              <a:rPr lang="en-US" sz="1300" dirty="0">
                <a:solidFill>
                  <a:srgbClr val="64748B"/>
                </a:solidFill>
              </a:rPr>
              <a:t>Central vein</a:t>
            </a:r>
            <a:endParaRPr lang="en-US" sz="1300" dirty="0"/>
          </a:p>
        </p:txBody>
      </p:sp>
      <p:sp>
        <p:nvSpPr>
          <p:cNvPr id="6" name="Text 4"/>
          <p:cNvSpPr/>
          <p:nvPr/>
        </p:nvSpPr>
        <p:spPr>
          <a:xfrm>
            <a:off x="8595360" y="2148840"/>
            <a:ext cx="2194560" cy="274320"/>
          </a:xfrm>
          <a:prstGeom prst="rect">
            <a:avLst/>
          </a:prstGeom>
          <a:noFill/>
          <a:ln/>
        </p:spPr>
        <p:txBody>
          <a:bodyPr wrap="square" rtlCol="0" anchor="ctr"/>
          <a:lstStyle/>
          <a:p>
            <a:pPr algn="r" indent="0" marL="0">
              <a:buNone/>
            </a:pPr>
            <a:r>
              <a:rPr lang="en-US" sz="1300" dirty="0">
                <a:solidFill>
                  <a:srgbClr val="64748B"/>
                </a:solidFill>
              </a:rPr>
              <a:t>Portal tract</a:t>
            </a:r>
            <a:endParaRPr lang="en-US" sz="1300" dirty="0"/>
          </a:p>
        </p:txBody>
      </p:sp>
      <p:sp>
        <p:nvSpPr>
          <p:cNvPr id="7" name="Text 5"/>
          <p:cNvSpPr/>
          <p:nvPr/>
        </p:nvSpPr>
        <p:spPr>
          <a:xfrm>
            <a:off x="914400" y="1600200"/>
            <a:ext cx="4754880" cy="502920"/>
          </a:xfrm>
          <a:prstGeom prst="rect">
            <a:avLst/>
          </a:prstGeom>
          <a:noFill/>
          <a:ln/>
        </p:spPr>
        <p:txBody>
          <a:bodyPr wrap="square" rtlCol="0" anchor="ctr"/>
          <a:lstStyle/>
          <a:p>
            <a:pPr algn="ctr" indent="0" marL="0">
              <a:buNone/>
            </a:pPr>
            <a:r>
              <a:rPr lang="en-US" sz="1500" b="1" dirty="0">
                <a:solidFill>
                  <a:srgbClr val="FFFFFF"/>
                </a:solidFill>
              </a:rPr>
              <a:t>Pericentral program</a:t>
            </a:r>
            <a:endParaRPr lang="en-US" sz="1500" dirty="0"/>
          </a:p>
        </p:txBody>
      </p:sp>
      <p:sp>
        <p:nvSpPr>
          <p:cNvPr id="8" name="Text 6"/>
          <p:cNvSpPr/>
          <p:nvPr/>
        </p:nvSpPr>
        <p:spPr>
          <a:xfrm>
            <a:off x="5669280" y="1600200"/>
            <a:ext cx="4754880" cy="502920"/>
          </a:xfrm>
          <a:prstGeom prst="rect">
            <a:avLst/>
          </a:prstGeom>
          <a:noFill/>
          <a:ln/>
        </p:spPr>
        <p:txBody>
          <a:bodyPr wrap="square" rtlCol="0" anchor="ctr"/>
          <a:lstStyle/>
          <a:p>
            <a:pPr algn="ctr" indent="0" marL="0">
              <a:buNone/>
            </a:pPr>
            <a:r>
              <a:rPr lang="en-US" sz="1500" b="1" dirty="0">
                <a:solidFill>
                  <a:srgbClr val="FFFFFF"/>
                </a:solidFill>
              </a:rPr>
              <a:t>Periportal program</a:t>
            </a:r>
            <a:endParaRPr lang="en-US" sz="1500" dirty="0"/>
          </a:p>
        </p:txBody>
      </p:sp>
      <p:sp>
        <p:nvSpPr>
          <p:cNvPr id="9" name="Text 7"/>
          <p:cNvSpPr/>
          <p:nvPr/>
        </p:nvSpPr>
        <p:spPr>
          <a:xfrm>
            <a:off x="914400" y="2395728"/>
            <a:ext cx="9509760" cy="320040"/>
          </a:xfrm>
          <a:prstGeom prst="rect">
            <a:avLst/>
          </a:prstGeom>
          <a:noFill/>
          <a:ln/>
        </p:spPr>
        <p:txBody>
          <a:bodyPr wrap="square" rtlCol="0" anchor="ctr"/>
          <a:lstStyle/>
          <a:p>
            <a:pPr algn="l" indent="0" marL="0">
              <a:buNone/>
            </a:pPr>
            <a:r>
              <a:rPr lang="en-US" sz="1400" b="1" dirty="0">
                <a:solidFill>
                  <a:srgbClr val="1D4ED8"/>
                </a:solidFill>
              </a:rPr>
              <a:t>Example PC markers: </a:t>
            </a:r>
            <a:pPr algn="l" indent="0" marL="0">
              <a:buNone/>
            </a:pPr>
            <a:r>
              <a:rPr lang="en-US" sz="1400" dirty="0">
                <a:solidFill>
                  <a:srgbClr val="1E293B"/>
                </a:solidFill>
              </a:rPr>
              <a:t>GLUL, CYP3A4, CYP2E1 / detox</a:t>
            </a:r>
            <a:pPr algn="l" indent="0" marL="0">
              <a:buNone/>
            </a:pPr>
            <a:r>
              <a:rPr lang="en-US" sz="1200" i="1" dirty="0">
                <a:solidFill>
                  <a:srgbClr val="64748B"/>
                </a:solidFill>
              </a:rPr>
              <a:t>     (anchor markers used: GLUL, CYP3A4)</a:t>
            </a:r>
            <a:endParaRPr lang="en-US" sz="1400" dirty="0"/>
          </a:p>
        </p:txBody>
      </p:sp>
      <p:sp>
        <p:nvSpPr>
          <p:cNvPr id="10" name="Text 8"/>
          <p:cNvSpPr/>
          <p:nvPr/>
        </p:nvSpPr>
        <p:spPr>
          <a:xfrm>
            <a:off x="914400" y="2715768"/>
            <a:ext cx="9509760" cy="320040"/>
          </a:xfrm>
          <a:prstGeom prst="rect">
            <a:avLst/>
          </a:prstGeom>
          <a:noFill/>
          <a:ln/>
        </p:spPr>
        <p:txBody>
          <a:bodyPr wrap="square" rtlCol="0" anchor="ctr"/>
          <a:lstStyle/>
          <a:p>
            <a:pPr algn="l" indent="0" marL="0">
              <a:buNone/>
            </a:pPr>
            <a:r>
              <a:rPr lang="en-US" sz="1400" b="1" dirty="0">
                <a:solidFill>
                  <a:srgbClr val="EA580C"/>
                </a:solidFill>
              </a:rPr>
              <a:t>Example PP markers: </a:t>
            </a:r>
            <a:pPr algn="l" indent="0" marL="0">
              <a:buNone/>
            </a:pPr>
            <a:r>
              <a:rPr lang="en-US" sz="1400" dirty="0">
                <a:solidFill>
                  <a:srgbClr val="1E293B"/>
                </a:solidFill>
              </a:rPr>
              <a:t>ASS1, CPS1, PCK1, HAL, ALDOB / urea cycle, gluconeogenesis</a:t>
            </a:r>
            <a:endParaRPr lang="en-US" sz="1400" dirty="0"/>
          </a:p>
        </p:txBody>
      </p:sp>
      <p:sp>
        <p:nvSpPr>
          <p:cNvPr id="11" name="Text 9"/>
          <p:cNvSpPr/>
          <p:nvPr/>
        </p:nvSpPr>
        <p:spPr>
          <a:xfrm>
            <a:off x="914400" y="3291840"/>
            <a:ext cx="9692640" cy="365760"/>
          </a:xfrm>
          <a:prstGeom prst="rect">
            <a:avLst/>
          </a:prstGeom>
          <a:noFill/>
          <a:ln/>
        </p:spPr>
        <p:txBody>
          <a:bodyPr wrap="square" rtlCol="0" anchor="ctr"/>
          <a:lstStyle/>
          <a:p>
            <a:pPr algn="l" indent="0" marL="0">
              <a:buNone/>
            </a:pPr>
            <a:r>
              <a:rPr lang="en-US" sz="1700" b="1" dirty="0">
                <a:solidFill>
                  <a:srgbClr val="1E293B"/>
                </a:solidFill>
              </a:rPr>
              <a:t>De-zonation (within hepatocytes) can take several forms — count signatures distinguish them:</a:t>
            </a:r>
            <a:endParaRPr lang="en-US" sz="1700" dirty="0"/>
          </a:p>
        </p:txBody>
      </p:sp>
      <p:sp>
        <p:nvSpPr>
          <p:cNvPr id="12" name="Shape 10"/>
          <p:cNvSpPr/>
          <p:nvPr/>
        </p:nvSpPr>
        <p:spPr>
          <a:xfrm>
            <a:off x="914400" y="3794760"/>
            <a:ext cx="2286000" cy="1005840"/>
          </a:xfrm>
          <a:prstGeom prst="roundRect">
            <a:avLst>
              <a:gd name="adj" fmla="val 7273"/>
            </a:avLst>
          </a:prstGeom>
          <a:solidFill>
            <a:srgbClr val="1D4ED8"/>
          </a:solidFill>
          <a:ln/>
          <a:effectLst>
            <a:outerShdw sx="100000" sy="100000" kx="0" ky="0" algn="bl" rotWithShape="0" blurRad="88900" dist="38100" dir="5400000">
              <a:srgbClr val="000000">
                <a:alpha val="12000"/>
              </a:srgbClr>
            </a:outerShdw>
          </a:effectLst>
        </p:spPr>
      </p:sp>
      <p:sp>
        <p:nvSpPr>
          <p:cNvPr id="13" name="Text 11"/>
          <p:cNvSpPr/>
          <p:nvPr/>
        </p:nvSpPr>
        <p:spPr>
          <a:xfrm>
            <a:off x="914400" y="3794760"/>
            <a:ext cx="2286000" cy="10058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PC depletion</a:t>
            </a:r>
            <a:endParaRPr lang="en-US" sz="1500" dirty="0"/>
          </a:p>
          <a:p>
            <a:pPr algn="ctr" indent="0" marL="0">
              <a:buNone/>
            </a:pPr>
            <a:r>
              <a:rPr lang="en-US" sz="1500" b="1" dirty="0">
                <a:solidFill>
                  <a:srgbClr val="FFFFFF"/>
                </a:solidFill>
              </a:rPr>
              <a:t>(pericentral cells lost)</a:t>
            </a:r>
            <a:endParaRPr lang="en-US" sz="1500" dirty="0"/>
          </a:p>
        </p:txBody>
      </p:sp>
      <p:sp>
        <p:nvSpPr>
          <p:cNvPr id="14" name="Shape 12"/>
          <p:cNvSpPr/>
          <p:nvPr/>
        </p:nvSpPr>
        <p:spPr>
          <a:xfrm>
            <a:off x="3429000" y="3794760"/>
            <a:ext cx="2286000" cy="1005840"/>
          </a:xfrm>
          <a:prstGeom prst="roundRect">
            <a:avLst>
              <a:gd name="adj" fmla="val 7273"/>
            </a:avLst>
          </a:prstGeom>
          <a:solidFill>
            <a:srgbClr val="7C3AED"/>
          </a:solidFill>
          <a:ln/>
          <a:effectLst>
            <a:outerShdw sx="100000" sy="100000" kx="0" ky="0" algn="bl" rotWithShape="0" blurRad="88900" dist="38100" dir="5400000">
              <a:srgbClr val="000000">
                <a:alpha val="12000"/>
              </a:srgbClr>
            </a:outerShdw>
          </a:effectLst>
        </p:spPr>
      </p:sp>
      <p:sp>
        <p:nvSpPr>
          <p:cNvPr id="15" name="Text 13"/>
          <p:cNvSpPr/>
          <p:nvPr/>
        </p:nvSpPr>
        <p:spPr>
          <a:xfrm>
            <a:off x="3429000" y="3794760"/>
            <a:ext cx="2286000" cy="10058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Co-expression</a:t>
            </a:r>
            <a:endParaRPr lang="en-US" sz="1500" dirty="0"/>
          </a:p>
          <a:p>
            <a:pPr algn="ctr" indent="0" marL="0">
              <a:buNone/>
            </a:pPr>
            <a:r>
              <a:rPr lang="en-US" sz="1500" b="1" dirty="0">
                <a:solidFill>
                  <a:srgbClr val="FFFFFF"/>
                </a:solidFill>
              </a:rPr>
              <a:t>(both poles on)</a:t>
            </a:r>
            <a:endParaRPr lang="en-US" sz="1500" dirty="0"/>
          </a:p>
        </p:txBody>
      </p:sp>
      <p:sp>
        <p:nvSpPr>
          <p:cNvPr id="16" name="Shape 14"/>
          <p:cNvSpPr/>
          <p:nvPr/>
        </p:nvSpPr>
        <p:spPr>
          <a:xfrm>
            <a:off x="5943600" y="3794760"/>
            <a:ext cx="2286000" cy="1005840"/>
          </a:xfrm>
          <a:prstGeom prst="roundRect">
            <a:avLst>
              <a:gd name="adj" fmla="val 7273"/>
            </a:avLst>
          </a:prstGeom>
          <a:solidFill>
            <a:srgbClr val="9CA3AF"/>
          </a:solidFill>
          <a:ln/>
          <a:effectLst>
            <a:outerShdw sx="100000" sy="100000" kx="0" ky="0" algn="bl" rotWithShape="0" blurRad="88900" dist="38100" dir="5400000">
              <a:srgbClr val="000000">
                <a:alpha val="12000"/>
              </a:srgbClr>
            </a:outerShdw>
          </a:effectLst>
        </p:spPr>
      </p:sp>
      <p:sp>
        <p:nvSpPr>
          <p:cNvPr id="17" name="Text 15"/>
          <p:cNvSpPr/>
          <p:nvPr/>
        </p:nvSpPr>
        <p:spPr>
          <a:xfrm>
            <a:off x="5943600" y="3794760"/>
            <a:ext cx="2286000" cy="1005840"/>
          </a:xfrm>
          <a:prstGeom prst="rect">
            <a:avLst/>
          </a:prstGeom>
          <a:noFill/>
          <a:ln/>
        </p:spPr>
        <p:txBody>
          <a:bodyPr wrap="square" lIns="25400" tIns="25400" rIns="25400" bIns="25400" rtlCol="0" anchor="ctr"/>
          <a:lstStyle/>
          <a:p>
            <a:pPr algn="ctr" indent="0" marL="0">
              <a:buNone/>
            </a:pPr>
            <a:r>
              <a:rPr lang="en-US" sz="1500" b="1" dirty="0">
                <a:solidFill>
                  <a:srgbClr val="1E293B"/>
                </a:solidFill>
              </a:rPr>
              <a:t>Turn-off</a:t>
            </a:r>
            <a:endParaRPr lang="en-US" sz="1500" dirty="0"/>
          </a:p>
          <a:p>
            <a:pPr algn="ctr" indent="0" marL="0">
              <a:buNone/>
            </a:pPr>
            <a:r>
              <a:rPr lang="en-US" sz="1500" b="1" dirty="0">
                <a:solidFill>
                  <a:srgbClr val="1E293B"/>
                </a:solidFill>
              </a:rPr>
              <a:t>(neither pole on)</a:t>
            </a:r>
            <a:endParaRPr lang="en-US" sz="1500" dirty="0"/>
          </a:p>
        </p:txBody>
      </p:sp>
      <p:sp>
        <p:nvSpPr>
          <p:cNvPr id="18" name="Shape 16"/>
          <p:cNvSpPr/>
          <p:nvPr/>
        </p:nvSpPr>
        <p:spPr>
          <a:xfrm>
            <a:off x="8458200" y="3794760"/>
            <a:ext cx="1965960" cy="1005840"/>
          </a:xfrm>
          <a:prstGeom prst="roundRect">
            <a:avLst>
              <a:gd name="adj" fmla="val 7273"/>
            </a:avLst>
          </a:prstGeom>
          <a:solidFill>
            <a:srgbClr val="EA580C"/>
          </a:solidFill>
          <a:ln/>
          <a:effectLst>
            <a:outerShdw sx="100000" sy="100000" kx="0" ky="0" algn="bl" rotWithShape="0" blurRad="88900" dist="38100" dir="5400000">
              <a:srgbClr val="000000">
                <a:alpha val="12000"/>
              </a:srgbClr>
            </a:outerShdw>
          </a:effectLst>
        </p:spPr>
      </p:sp>
      <p:sp>
        <p:nvSpPr>
          <p:cNvPr id="19" name="Text 17"/>
          <p:cNvSpPr/>
          <p:nvPr/>
        </p:nvSpPr>
        <p:spPr>
          <a:xfrm>
            <a:off x="8458200" y="3794760"/>
            <a:ext cx="1965960" cy="100584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Composition shift</a:t>
            </a:r>
            <a:endParaRPr lang="en-US" sz="1500" dirty="0"/>
          </a:p>
          <a:p>
            <a:pPr algn="ctr" indent="0" marL="0">
              <a:buNone/>
            </a:pPr>
            <a:r>
              <a:rPr lang="en-US" sz="1500" b="1" dirty="0">
                <a:solidFill>
                  <a:srgbClr val="FFFFFF"/>
                </a:solidFill>
              </a:rPr>
              <a:t>(PP : PC changes)</a:t>
            </a:r>
            <a:endParaRPr lang="en-US" sz="1500" dirty="0"/>
          </a:p>
        </p:txBody>
      </p:sp>
      <p:sp>
        <p:nvSpPr>
          <p:cNvPr id="20" name="Text 18"/>
          <p:cNvSpPr/>
          <p:nvPr/>
        </p:nvSpPr>
        <p:spPr>
          <a:xfrm>
            <a:off x="914400" y="5074920"/>
            <a:ext cx="9692640" cy="640080"/>
          </a:xfrm>
          <a:prstGeom prst="rect">
            <a:avLst/>
          </a:prstGeom>
          <a:noFill/>
          <a:ln/>
        </p:spPr>
        <p:txBody>
          <a:bodyPr wrap="square" rtlCol="0" anchor="ctr"/>
          <a:lstStyle/>
          <a:p>
            <a:pPr algn="l" indent="0" marL="0">
              <a:buNone/>
            </a:pPr>
            <a:r>
              <a:rPr lang="en-US" sz="1450" i="1" dirty="0">
                <a:solidFill>
                  <a:srgbClr val="64748B"/>
                </a:solidFill>
              </a:rPr>
              <a:t>A single anti-correlation or UMAP impression conflates these. We test each with absolute counts. (Transdifferentiation — a different, cross-cell-type axis — is on slide 8.)</a:t>
            </a:r>
            <a:endParaRPr lang="en-US" sz="1450" dirty="0"/>
          </a:p>
        </p:txBody>
      </p:sp>
      <p:sp>
        <p:nvSpPr>
          <p:cNvPr id="21" name="Text 19"/>
          <p:cNvSpPr/>
          <p:nvPr/>
        </p:nvSpPr>
        <p:spPr>
          <a:xfrm>
            <a:off x="457200" y="6473952"/>
            <a:ext cx="11247120" cy="292608"/>
          </a:xfrm>
          <a:prstGeom prst="rect">
            <a:avLst/>
          </a:prstGeom>
          <a:noFill/>
          <a:ln/>
        </p:spPr>
        <p:txBody>
          <a:bodyPr wrap="square" lIns="0" tIns="0" rIns="0" bIns="0" rtlCol="0" anchor="ctr"/>
          <a:lstStyle/>
          <a:p>
            <a:pPr algn="l" indent="0" marL="0">
              <a:buNone/>
            </a:pPr>
            <a:r>
              <a:rPr lang="en-US" sz="1100" dirty="0">
                <a:solidFill>
                  <a:srgbClr val="64748B"/>
                </a:solidFill>
              </a:rPr>
              <a:t>Minimal context     ·     2 / 9</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E293B"/>
                </a:solidFill>
              </a:rPr>
              <a:t>Disease stage is entangled with tissue acquisition</a:t>
            </a:r>
            <a:endParaRPr lang="en-US" sz="3000" dirty="0"/>
          </a:p>
        </p:txBody>
      </p:sp>
      <p:sp>
        <p:nvSpPr>
          <p:cNvPr id="3" name="Shape 1"/>
          <p:cNvSpPr/>
          <p:nvPr/>
        </p:nvSpPr>
        <p:spPr>
          <a:xfrm>
            <a:off x="914400" y="1828800"/>
            <a:ext cx="1280160" cy="640080"/>
          </a:xfrm>
          <a:prstGeom prst="roundRect">
            <a:avLst>
              <a:gd name="adj" fmla="val 8571"/>
            </a:avLst>
          </a:prstGeom>
          <a:solidFill>
            <a:srgbClr val="BE123C"/>
          </a:solidFill>
          <a:ln/>
          <a:effectLst>
            <a:outerShdw sx="100000" sy="100000" kx="0" ky="0" algn="bl" rotWithShape="0" blurRad="88900" dist="38100" dir="5400000">
              <a:srgbClr val="000000">
                <a:alpha val="12000"/>
              </a:srgbClr>
            </a:outerShdw>
          </a:effectLst>
        </p:spPr>
      </p:sp>
      <p:sp>
        <p:nvSpPr>
          <p:cNvPr id="4" name="Text 2"/>
          <p:cNvSpPr/>
          <p:nvPr/>
        </p:nvSpPr>
        <p:spPr>
          <a:xfrm>
            <a:off x="914400" y="1828800"/>
            <a:ext cx="1280160" cy="640080"/>
          </a:xfrm>
          <a:prstGeom prst="rect">
            <a:avLst/>
          </a:prstGeom>
          <a:noFill/>
          <a:ln/>
        </p:spPr>
        <p:txBody>
          <a:bodyPr wrap="square" rtlCol="0" anchor="ctr"/>
          <a:lstStyle/>
          <a:p>
            <a:pPr algn="ctr" indent="0" marL="0">
              <a:buNone/>
            </a:pPr>
            <a:r>
              <a:rPr lang="en-US" sz="1500" b="1" dirty="0">
                <a:solidFill>
                  <a:srgbClr val="FFFFFF"/>
                </a:solidFill>
              </a:rPr>
              <a:t>Healthy</a:t>
            </a:r>
            <a:endParaRPr lang="en-US" sz="1500" dirty="0"/>
          </a:p>
        </p:txBody>
      </p:sp>
      <p:sp>
        <p:nvSpPr>
          <p:cNvPr id="5" name="Shape 3"/>
          <p:cNvSpPr/>
          <p:nvPr/>
        </p:nvSpPr>
        <p:spPr>
          <a:xfrm>
            <a:off x="2331720" y="1828800"/>
            <a:ext cx="109728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6" name="Text 4"/>
          <p:cNvSpPr/>
          <p:nvPr/>
        </p:nvSpPr>
        <p:spPr>
          <a:xfrm>
            <a:off x="2331720" y="1828800"/>
            <a:ext cx="1097280" cy="640080"/>
          </a:xfrm>
          <a:prstGeom prst="rect">
            <a:avLst/>
          </a:prstGeom>
          <a:noFill/>
          <a:ln/>
        </p:spPr>
        <p:txBody>
          <a:bodyPr wrap="square" rtlCol="0" anchor="ctr"/>
          <a:lstStyle/>
          <a:p>
            <a:pPr algn="ctr" indent="0" marL="0">
              <a:buNone/>
            </a:pPr>
            <a:r>
              <a:rPr lang="en-US" sz="1500" b="1" dirty="0">
                <a:solidFill>
                  <a:srgbClr val="FFFFFF"/>
                </a:solidFill>
              </a:rPr>
              <a:t>F0</a:t>
            </a:r>
            <a:endParaRPr lang="en-US" sz="1500" dirty="0"/>
          </a:p>
        </p:txBody>
      </p:sp>
      <p:sp>
        <p:nvSpPr>
          <p:cNvPr id="7" name="Shape 5"/>
          <p:cNvSpPr/>
          <p:nvPr/>
        </p:nvSpPr>
        <p:spPr>
          <a:xfrm>
            <a:off x="3520440" y="1828800"/>
            <a:ext cx="109728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8" name="Text 6"/>
          <p:cNvSpPr/>
          <p:nvPr/>
        </p:nvSpPr>
        <p:spPr>
          <a:xfrm>
            <a:off x="3520440" y="1828800"/>
            <a:ext cx="1097280" cy="640080"/>
          </a:xfrm>
          <a:prstGeom prst="rect">
            <a:avLst/>
          </a:prstGeom>
          <a:noFill/>
          <a:ln/>
        </p:spPr>
        <p:txBody>
          <a:bodyPr wrap="square" rtlCol="0" anchor="ctr"/>
          <a:lstStyle/>
          <a:p>
            <a:pPr algn="ctr" indent="0" marL="0">
              <a:buNone/>
            </a:pPr>
            <a:r>
              <a:rPr lang="en-US" sz="1500" b="1" dirty="0">
                <a:solidFill>
                  <a:srgbClr val="FFFFFF"/>
                </a:solidFill>
              </a:rPr>
              <a:t>F1</a:t>
            </a:r>
            <a:endParaRPr lang="en-US" sz="1500" dirty="0"/>
          </a:p>
        </p:txBody>
      </p:sp>
      <p:sp>
        <p:nvSpPr>
          <p:cNvPr id="9" name="Shape 7"/>
          <p:cNvSpPr/>
          <p:nvPr/>
        </p:nvSpPr>
        <p:spPr>
          <a:xfrm>
            <a:off x="4709160" y="1828800"/>
            <a:ext cx="109728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10" name="Text 8"/>
          <p:cNvSpPr/>
          <p:nvPr/>
        </p:nvSpPr>
        <p:spPr>
          <a:xfrm>
            <a:off x="4709160" y="1828800"/>
            <a:ext cx="1097280" cy="640080"/>
          </a:xfrm>
          <a:prstGeom prst="rect">
            <a:avLst/>
          </a:prstGeom>
          <a:noFill/>
          <a:ln/>
        </p:spPr>
        <p:txBody>
          <a:bodyPr wrap="square" rtlCol="0" anchor="ctr"/>
          <a:lstStyle/>
          <a:p>
            <a:pPr algn="ctr" indent="0" marL="0">
              <a:buNone/>
            </a:pPr>
            <a:r>
              <a:rPr lang="en-US" sz="1500" b="1" dirty="0">
                <a:solidFill>
                  <a:srgbClr val="FFFFFF"/>
                </a:solidFill>
              </a:rPr>
              <a:t>F2</a:t>
            </a:r>
            <a:endParaRPr lang="en-US" sz="1500" dirty="0"/>
          </a:p>
        </p:txBody>
      </p:sp>
      <p:sp>
        <p:nvSpPr>
          <p:cNvPr id="11" name="Shape 9"/>
          <p:cNvSpPr/>
          <p:nvPr/>
        </p:nvSpPr>
        <p:spPr>
          <a:xfrm>
            <a:off x="5897880" y="1828800"/>
            <a:ext cx="109728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12" name="Text 10"/>
          <p:cNvSpPr/>
          <p:nvPr/>
        </p:nvSpPr>
        <p:spPr>
          <a:xfrm>
            <a:off x="5897880" y="1828800"/>
            <a:ext cx="1097280" cy="640080"/>
          </a:xfrm>
          <a:prstGeom prst="rect">
            <a:avLst/>
          </a:prstGeom>
          <a:noFill/>
          <a:ln/>
        </p:spPr>
        <p:txBody>
          <a:bodyPr wrap="square" rtlCol="0" anchor="ctr"/>
          <a:lstStyle/>
          <a:p>
            <a:pPr algn="ctr" indent="0" marL="0">
              <a:buNone/>
            </a:pPr>
            <a:r>
              <a:rPr lang="en-US" sz="1500" b="1" dirty="0">
                <a:solidFill>
                  <a:srgbClr val="FFFFFF"/>
                </a:solidFill>
              </a:rPr>
              <a:t>F3</a:t>
            </a:r>
            <a:endParaRPr lang="en-US" sz="1500" dirty="0"/>
          </a:p>
        </p:txBody>
      </p:sp>
      <p:sp>
        <p:nvSpPr>
          <p:cNvPr id="13" name="Shape 11"/>
          <p:cNvSpPr/>
          <p:nvPr/>
        </p:nvSpPr>
        <p:spPr>
          <a:xfrm>
            <a:off x="7086600" y="1828800"/>
            <a:ext cx="1097280" cy="640080"/>
          </a:xfrm>
          <a:prstGeom prst="roundRect">
            <a:avLst>
              <a:gd name="adj" fmla="val 8571"/>
            </a:avLst>
          </a:prstGeom>
          <a:solidFill>
            <a:srgbClr val="0D9488"/>
          </a:solidFill>
          <a:ln/>
          <a:effectLst>
            <a:outerShdw sx="100000" sy="100000" kx="0" ky="0" algn="bl" rotWithShape="0" blurRad="88900" dist="38100" dir="5400000">
              <a:srgbClr val="000000">
                <a:alpha val="12000"/>
              </a:srgbClr>
            </a:outerShdw>
          </a:effectLst>
        </p:spPr>
      </p:sp>
      <p:sp>
        <p:nvSpPr>
          <p:cNvPr id="14" name="Text 12"/>
          <p:cNvSpPr/>
          <p:nvPr/>
        </p:nvSpPr>
        <p:spPr>
          <a:xfrm>
            <a:off x="7086600" y="1828800"/>
            <a:ext cx="1097280" cy="640080"/>
          </a:xfrm>
          <a:prstGeom prst="rect">
            <a:avLst/>
          </a:prstGeom>
          <a:noFill/>
          <a:ln/>
        </p:spPr>
        <p:txBody>
          <a:bodyPr wrap="square" rtlCol="0" anchor="ctr"/>
          <a:lstStyle/>
          <a:p>
            <a:pPr algn="ctr" indent="0" marL="0">
              <a:buNone/>
            </a:pPr>
            <a:r>
              <a:rPr lang="en-US" sz="1500" b="1" dirty="0">
                <a:solidFill>
                  <a:srgbClr val="FFFFFF"/>
                </a:solidFill>
              </a:rPr>
              <a:t>F4</a:t>
            </a:r>
            <a:endParaRPr lang="en-US" sz="1500" dirty="0"/>
          </a:p>
        </p:txBody>
      </p:sp>
      <p:sp>
        <p:nvSpPr>
          <p:cNvPr id="15" name="Shape 13"/>
          <p:cNvSpPr/>
          <p:nvPr/>
        </p:nvSpPr>
        <p:spPr>
          <a:xfrm>
            <a:off x="8686800" y="1828800"/>
            <a:ext cx="2011680" cy="640080"/>
          </a:xfrm>
          <a:prstGeom prst="roundRect">
            <a:avLst>
              <a:gd name="adj" fmla="val 8571"/>
            </a:avLst>
          </a:prstGeom>
          <a:solidFill>
            <a:srgbClr val="86198F"/>
          </a:solidFill>
          <a:ln/>
          <a:effectLst>
            <a:outerShdw sx="100000" sy="100000" kx="0" ky="0" algn="bl" rotWithShape="0" blurRad="88900" dist="38100" dir="5400000">
              <a:srgbClr val="000000">
                <a:alpha val="12000"/>
              </a:srgbClr>
            </a:outerShdw>
          </a:effectLst>
        </p:spPr>
      </p:sp>
      <p:sp>
        <p:nvSpPr>
          <p:cNvPr id="16" name="Text 14"/>
          <p:cNvSpPr/>
          <p:nvPr/>
        </p:nvSpPr>
        <p:spPr>
          <a:xfrm>
            <a:off x="8686800" y="1828800"/>
            <a:ext cx="2011680" cy="640080"/>
          </a:xfrm>
          <a:prstGeom prst="rect">
            <a:avLst/>
          </a:prstGeom>
          <a:noFill/>
          <a:ln/>
        </p:spPr>
        <p:txBody>
          <a:bodyPr wrap="square" rtlCol="0" anchor="ctr"/>
          <a:lstStyle/>
          <a:p>
            <a:pPr algn="ctr" indent="0" marL="0">
              <a:buNone/>
            </a:pPr>
            <a:r>
              <a:rPr lang="en-US" sz="1500" b="1" dirty="0">
                <a:solidFill>
                  <a:srgbClr val="FFFFFF"/>
                </a:solidFill>
              </a:rPr>
              <a:t>End-stage</a:t>
            </a:r>
            <a:endParaRPr lang="en-US" sz="1500" dirty="0"/>
          </a:p>
        </p:txBody>
      </p:sp>
      <p:sp>
        <p:nvSpPr>
          <p:cNvPr id="17" name="Shape 15"/>
          <p:cNvSpPr/>
          <p:nvPr/>
        </p:nvSpPr>
        <p:spPr>
          <a:xfrm>
            <a:off x="914400" y="1627632"/>
            <a:ext cx="9784080" cy="0"/>
          </a:xfrm>
          <a:prstGeom prst="line">
            <a:avLst/>
          </a:prstGeom>
          <a:noFill/>
          <a:ln w="19050">
            <a:solidFill>
              <a:srgbClr val="64748B"/>
            </a:solidFill>
            <a:prstDash val="solid"/>
            <a:tailEnd type="triangle"/>
          </a:ln>
        </p:spPr>
      </p:sp>
      <p:sp>
        <p:nvSpPr>
          <p:cNvPr id="18" name="Text 16"/>
          <p:cNvSpPr/>
          <p:nvPr/>
        </p:nvSpPr>
        <p:spPr>
          <a:xfrm>
            <a:off x="7863840" y="1325880"/>
            <a:ext cx="2743200" cy="274320"/>
          </a:xfrm>
          <a:prstGeom prst="rect">
            <a:avLst/>
          </a:prstGeom>
          <a:noFill/>
          <a:ln/>
        </p:spPr>
        <p:txBody>
          <a:bodyPr wrap="square" rtlCol="0" anchor="ctr"/>
          <a:lstStyle/>
          <a:p>
            <a:pPr algn="r" indent="0" marL="0">
              <a:buNone/>
            </a:pPr>
            <a:r>
              <a:rPr lang="en-US" sz="1300" i="1" dirty="0">
                <a:solidFill>
                  <a:srgbClr val="64748B"/>
                </a:solidFill>
              </a:rPr>
              <a:t>disease progression →</a:t>
            </a:r>
            <a:endParaRPr lang="en-US" sz="1300" dirty="0"/>
          </a:p>
        </p:txBody>
      </p:sp>
      <p:sp>
        <p:nvSpPr>
          <p:cNvPr id="19" name="Text 17"/>
          <p:cNvSpPr/>
          <p:nvPr/>
        </p:nvSpPr>
        <p:spPr>
          <a:xfrm>
            <a:off x="640080" y="2651760"/>
            <a:ext cx="1828800" cy="640080"/>
          </a:xfrm>
          <a:prstGeom prst="rect">
            <a:avLst/>
          </a:prstGeom>
          <a:noFill/>
          <a:ln/>
        </p:spPr>
        <p:txBody>
          <a:bodyPr wrap="square" rtlCol="0" anchor="ctr"/>
          <a:lstStyle/>
          <a:p>
            <a:pPr algn="ctr" indent="0" marL="0">
              <a:buNone/>
            </a:pPr>
            <a:r>
              <a:rPr lang="en-US" sz="1300" dirty="0">
                <a:solidFill>
                  <a:srgbClr val="BE123C"/>
                </a:solidFill>
              </a:rPr>
              <a:t>deceased-donor</a:t>
            </a:r>
            <a:endParaRPr lang="en-US" sz="1300" dirty="0"/>
          </a:p>
          <a:p>
            <a:pPr algn="ctr" indent="0" marL="0">
              <a:buNone/>
            </a:pPr>
            <a:r>
              <a:rPr lang="en-US" sz="1300" dirty="0">
                <a:solidFill>
                  <a:srgbClr val="BE123C"/>
                </a:solidFill>
              </a:rPr>
              <a:t>organ cubes</a:t>
            </a:r>
            <a:endParaRPr lang="en-US" sz="1300" dirty="0"/>
          </a:p>
        </p:txBody>
      </p:sp>
      <p:sp>
        <p:nvSpPr>
          <p:cNvPr id="20" name="Text 18"/>
          <p:cNvSpPr/>
          <p:nvPr/>
        </p:nvSpPr>
        <p:spPr>
          <a:xfrm>
            <a:off x="2331720" y="2651760"/>
            <a:ext cx="6035040" cy="365760"/>
          </a:xfrm>
          <a:prstGeom prst="rect">
            <a:avLst/>
          </a:prstGeom>
          <a:noFill/>
          <a:ln/>
        </p:spPr>
        <p:txBody>
          <a:bodyPr wrap="square" rtlCol="0" anchor="ctr"/>
          <a:lstStyle/>
          <a:p>
            <a:pPr algn="ctr" indent="0" marL="0">
              <a:buNone/>
            </a:pPr>
            <a:r>
              <a:rPr lang="en-US" sz="1400" b="1" dirty="0">
                <a:solidFill>
                  <a:srgbClr val="0D9488"/>
                </a:solidFill>
              </a:rPr>
              <a:t>16-gauge needle biopsies, right lobe</a:t>
            </a:r>
            <a:endParaRPr lang="en-US" sz="1400" dirty="0"/>
          </a:p>
        </p:txBody>
      </p:sp>
      <p:sp>
        <p:nvSpPr>
          <p:cNvPr id="21" name="Text 19"/>
          <p:cNvSpPr/>
          <p:nvPr/>
        </p:nvSpPr>
        <p:spPr>
          <a:xfrm>
            <a:off x="8686800" y="2651760"/>
            <a:ext cx="2011680" cy="640080"/>
          </a:xfrm>
          <a:prstGeom prst="rect">
            <a:avLst/>
          </a:prstGeom>
          <a:noFill/>
          <a:ln/>
        </p:spPr>
        <p:txBody>
          <a:bodyPr wrap="square" rtlCol="0" anchor="ctr"/>
          <a:lstStyle/>
          <a:p>
            <a:pPr algn="ctr" indent="0" marL="0">
              <a:buNone/>
            </a:pPr>
            <a:r>
              <a:rPr lang="en-US" sz="1300" dirty="0">
                <a:solidFill>
                  <a:srgbClr val="86198F"/>
                </a:solidFill>
              </a:rPr>
              <a:t>explanted cirrhotic</a:t>
            </a:r>
            <a:endParaRPr lang="en-US" sz="1300" dirty="0"/>
          </a:p>
          <a:p>
            <a:pPr algn="ctr" indent="0" marL="0">
              <a:buNone/>
            </a:pPr>
            <a:r>
              <a:rPr lang="en-US" sz="1300" dirty="0">
                <a:solidFill>
                  <a:srgbClr val="86198F"/>
                </a:solidFill>
              </a:rPr>
              <a:t>organs, multi-lobe</a:t>
            </a:r>
            <a:endParaRPr lang="en-US" sz="1300" dirty="0"/>
          </a:p>
        </p:txBody>
      </p:sp>
      <p:sp>
        <p:nvSpPr>
          <p:cNvPr id="22" name="Shape 20"/>
          <p:cNvSpPr/>
          <p:nvPr/>
        </p:nvSpPr>
        <p:spPr>
          <a:xfrm>
            <a:off x="868680" y="1783080"/>
            <a:ext cx="1371600" cy="1600200"/>
          </a:xfrm>
          <a:prstGeom prst="rect">
            <a:avLst/>
          </a:prstGeom>
          <a:ln w="25400">
            <a:solidFill>
              <a:srgbClr val="BE123C"/>
            </a:solidFill>
            <a:prstDash val="dash"/>
          </a:ln>
        </p:spPr>
      </p:sp>
      <p:sp>
        <p:nvSpPr>
          <p:cNvPr id="23" name="Shape 21"/>
          <p:cNvSpPr/>
          <p:nvPr/>
        </p:nvSpPr>
        <p:spPr>
          <a:xfrm>
            <a:off x="8641080" y="1783080"/>
            <a:ext cx="2103120" cy="1600200"/>
          </a:xfrm>
          <a:prstGeom prst="rect">
            <a:avLst/>
          </a:prstGeom>
          <a:ln w="25400">
            <a:solidFill>
              <a:srgbClr val="BE123C"/>
            </a:solidFill>
            <a:prstDash val="dash"/>
          </a:ln>
        </p:spPr>
      </p:sp>
      <p:sp>
        <p:nvSpPr>
          <p:cNvPr id="24" name="Text 22"/>
          <p:cNvSpPr/>
          <p:nvPr/>
        </p:nvSpPr>
        <p:spPr>
          <a:xfrm>
            <a:off x="8046720" y="3429000"/>
            <a:ext cx="2743200" cy="274320"/>
          </a:xfrm>
          <a:prstGeom prst="rect">
            <a:avLst/>
          </a:prstGeom>
          <a:noFill/>
          <a:ln/>
        </p:spPr>
        <p:txBody>
          <a:bodyPr wrap="square" rtlCol="0" anchor="ctr"/>
          <a:lstStyle/>
          <a:p>
            <a:pPr algn="ctr" indent="0" marL="0">
              <a:buNone/>
            </a:pPr>
            <a:r>
              <a:rPr lang="en-US" sz="1200" b="1" dirty="0">
                <a:solidFill>
                  <a:srgbClr val="BE123C"/>
                </a:solidFill>
              </a:rPr>
              <a:t>not acquisition-matched</a:t>
            </a:r>
            <a:endParaRPr lang="en-US" sz="1200" dirty="0"/>
          </a:p>
        </p:txBody>
      </p:sp>
      <p:sp>
        <p:nvSpPr>
          <p:cNvPr id="25" name="Text 23"/>
          <p:cNvSpPr/>
          <p:nvPr/>
        </p:nvSpPr>
        <p:spPr>
          <a:xfrm>
            <a:off x="914400" y="3931920"/>
            <a:ext cx="10058400" cy="365760"/>
          </a:xfrm>
          <a:prstGeom prst="rect">
            <a:avLst/>
          </a:prstGeom>
          <a:noFill/>
          <a:ln/>
        </p:spPr>
        <p:txBody>
          <a:bodyPr wrap="square" rtlCol="0" anchor="ctr"/>
          <a:lstStyle/>
          <a:p>
            <a:pPr algn="ctr" indent="0" marL="0">
              <a:buNone/>
            </a:pPr>
            <a:r>
              <a:rPr lang="en-US" sz="1600" b="1" dirty="0">
                <a:solidFill>
                  <a:srgbClr val="1E293B"/>
                </a:solidFill>
              </a:rPr>
              <a:t>47 donors   ·   biopsy axis F0/F1/F2/F3/F4 = 2 / 8 / 12 / 12 / 4   ·   end-stage = 5   ·   healthy = 4</a:t>
            </a:r>
            <a:endParaRPr lang="en-US" sz="1600" dirty="0"/>
          </a:p>
        </p:txBody>
      </p:sp>
      <p:sp>
        <p:nvSpPr>
          <p:cNvPr id="26" name="Text 24"/>
          <p:cNvSpPr/>
          <p:nvPr/>
        </p:nvSpPr>
        <p:spPr>
          <a:xfrm>
            <a:off x="914400" y="4370832"/>
            <a:ext cx="10058400" cy="320040"/>
          </a:xfrm>
          <a:prstGeom prst="rect">
            <a:avLst/>
          </a:prstGeom>
          <a:noFill/>
          <a:ln/>
        </p:spPr>
        <p:txBody>
          <a:bodyPr wrap="square" rtlCol="0" anchor="ctr"/>
          <a:lstStyle/>
          <a:p>
            <a:pPr algn="ctr" indent="0" marL="0">
              <a:buNone/>
            </a:pPr>
            <a:r>
              <a:rPr lang="en-US" sz="1400" i="1" dirty="0">
                <a:solidFill>
                  <a:srgbClr val="0D9488"/>
                </a:solidFill>
              </a:rPr>
              <a:t>Primary inference: biopsy F1–F4.  F0 (n=2) shown for context.</a:t>
            </a:r>
            <a:endParaRPr lang="en-US" sz="1400" dirty="0"/>
          </a:p>
        </p:txBody>
      </p:sp>
      <p:sp>
        <p:nvSpPr>
          <p:cNvPr id="27" name="Text 25"/>
          <p:cNvSpPr/>
          <p:nvPr/>
        </p:nvSpPr>
        <p:spPr>
          <a:xfrm>
            <a:off x="1554480" y="4846320"/>
            <a:ext cx="9144000" cy="1280160"/>
          </a:xfrm>
          <a:prstGeom prst="rect">
            <a:avLst/>
          </a:prstGeom>
          <a:noFill/>
          <a:ln/>
        </p:spPr>
        <p:txBody>
          <a:bodyPr wrap="square" rtlCol="0" anchor="ctr"/>
          <a:lstStyle/>
          <a:p>
            <a:pPr algn="l" marL="342900" indent="-342900">
              <a:spcAft>
                <a:spcPts val="500"/>
              </a:spcAft>
              <a:buSzPct val="100000"/>
              <a:buChar char="•"/>
            </a:pPr>
            <a:r>
              <a:rPr lang="en-US" sz="1800" dirty="0">
                <a:solidFill>
                  <a:srgbClr val="1E293B"/>
                </a:solidFill>
              </a:rPr>
              <a:t>The full trajectory is also an acquisition trajectory.</a:t>
            </a:r>
            <a:endParaRPr lang="en-US" sz="1800" dirty="0"/>
          </a:p>
          <a:p>
            <a:pPr algn="l" marL="342900" indent="-342900">
              <a:spcAft>
                <a:spcPts val="500"/>
              </a:spcAft>
              <a:buSzPct val="100000"/>
              <a:buChar char="•"/>
            </a:pPr>
            <a:r>
              <a:rPr lang="en-US" sz="1800" dirty="0">
                <a:solidFill>
                  <a:srgbClr val="1E293B"/>
                </a:solidFill>
              </a:rPr>
              <a:t>Healthy / end-stage comparisons cannot cleanly isolate disease biology.</a:t>
            </a:r>
            <a:endParaRPr lang="en-US" sz="1800" dirty="0"/>
          </a:p>
          <a:p>
            <a:pPr algn="l" marL="342900" indent="-342900">
              <a:spcAft>
                <a:spcPts val="500"/>
              </a:spcAft>
              <a:buSzPct val="100000"/>
              <a:buChar char="•"/>
            </a:pPr>
            <a:r>
              <a:rPr lang="en-US" sz="1800" b="1" dirty="0">
                <a:solidFill>
                  <a:srgbClr val="0D9488"/>
                </a:solidFill>
              </a:rPr>
              <a:t>Clean axis used here: biopsy-only F1–F4.</a:t>
            </a:r>
            <a:endParaRPr lang="en-US" sz="1800" dirty="0"/>
          </a:p>
        </p:txBody>
      </p:sp>
      <p:sp>
        <p:nvSpPr>
          <p:cNvPr id="28" name="Text 26"/>
          <p:cNvSpPr/>
          <p:nvPr/>
        </p:nvSpPr>
        <p:spPr>
          <a:xfrm>
            <a:off x="457200" y="6473952"/>
            <a:ext cx="11247120" cy="292608"/>
          </a:xfrm>
          <a:prstGeom prst="rect">
            <a:avLst/>
          </a:prstGeom>
          <a:noFill/>
          <a:ln/>
        </p:spPr>
        <p:txBody>
          <a:bodyPr wrap="square" lIns="0" tIns="0" rIns="0" bIns="0" rtlCol="0" anchor="ctr"/>
          <a:lstStyle/>
          <a:p>
            <a:pPr algn="l" indent="0" marL="0">
              <a:buNone/>
            </a:pPr>
            <a:r>
              <a:rPr lang="en-US" sz="1100" dirty="0">
                <a:solidFill>
                  <a:srgbClr val="64748B"/>
                </a:solidFill>
              </a:rPr>
              <a:t>The load-bearing confound     ·     3 / 9</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E293B"/>
                </a:solidFill>
              </a:rPr>
              <a:t>Endpoint samples carry an organ-wide stress signature</a:t>
            </a:r>
            <a:endParaRPr lang="en-US" sz="3000" dirty="0"/>
          </a:p>
        </p:txBody>
      </p:sp>
      <p:pic>
        <p:nvPicPr>
          <p:cNvPr id="3" name="Image 0" descr="D:\CS\Genomics\Hackathon\reports\deck/assets/fig_stress.png">    </p:cNvPr>
          <p:cNvPicPr>
            <a:picLocks noChangeAspect="1"/>
          </p:cNvPicPr>
          <p:nvPr/>
        </p:nvPicPr>
        <p:blipFill>
          <a:blip r:embed="rId1"/>
          <a:srcRect l="0" r="0" t="0" b="0"/>
          <a:stretch/>
        </p:blipFill>
        <p:spPr>
          <a:xfrm>
            <a:off x="274320" y="1417320"/>
            <a:ext cx="8229600" cy="4114800"/>
          </a:xfrm>
          <a:prstGeom prst="rect">
            <a:avLst/>
          </a:prstGeom>
        </p:spPr>
      </p:pic>
      <p:sp>
        <p:nvSpPr>
          <p:cNvPr id="4" name="Shape 1"/>
          <p:cNvSpPr/>
          <p:nvPr/>
        </p:nvSpPr>
        <p:spPr>
          <a:xfrm>
            <a:off x="8595360" y="1554480"/>
            <a:ext cx="3291840" cy="1371600"/>
          </a:xfrm>
          <a:prstGeom prst="roundRect">
            <a:avLst>
              <a:gd name="adj" fmla="val 5333"/>
            </a:avLst>
          </a:prstGeom>
          <a:solidFill>
            <a:srgbClr val="FEF2F2"/>
          </a:solidFill>
          <a:ln/>
          <a:effectLst>
            <a:outerShdw sx="100000" sy="100000" kx="0" ky="0" algn="bl" rotWithShape="0" blurRad="88900" dist="38100" dir="5400000">
              <a:srgbClr val="000000">
                <a:alpha val="12000"/>
              </a:srgbClr>
            </a:outerShdw>
          </a:effectLst>
        </p:spPr>
      </p:sp>
      <p:sp>
        <p:nvSpPr>
          <p:cNvPr id="5" name="Text 2"/>
          <p:cNvSpPr/>
          <p:nvPr/>
        </p:nvSpPr>
        <p:spPr>
          <a:xfrm>
            <a:off x="8686800" y="1627632"/>
            <a:ext cx="3108960" cy="1234440"/>
          </a:xfrm>
          <a:prstGeom prst="rect">
            <a:avLst/>
          </a:prstGeom>
          <a:noFill/>
          <a:ln/>
        </p:spPr>
        <p:txBody>
          <a:bodyPr wrap="square" rtlCol="0" anchor="ctr"/>
          <a:lstStyle/>
          <a:p>
            <a:pPr algn="l" indent="0" marL="0">
              <a:buNone/>
            </a:pPr>
            <a:r>
              <a:rPr lang="en-US" sz="1600" b="1" dirty="0">
                <a:solidFill>
                  <a:srgbClr val="DC2626"/>
                </a:solidFill>
              </a:rPr>
              <a:t>Same immediate-early stress spike in hepatocytes AND endothelial cells</a:t>
            </a:r>
            <a:endParaRPr lang="en-US" sz="1600" dirty="0"/>
          </a:p>
        </p:txBody>
      </p:sp>
      <p:sp>
        <p:nvSpPr>
          <p:cNvPr id="6" name="Text 3"/>
          <p:cNvSpPr/>
          <p:nvPr/>
        </p:nvSpPr>
        <p:spPr>
          <a:xfrm>
            <a:off x="8641080" y="3154680"/>
            <a:ext cx="3383280" cy="2560320"/>
          </a:xfrm>
          <a:prstGeom prst="rect">
            <a:avLst/>
          </a:prstGeom>
          <a:noFill/>
          <a:ln/>
        </p:spPr>
        <p:txBody>
          <a:bodyPr wrap="square" rtlCol="0" anchor="ctr"/>
          <a:lstStyle/>
          <a:p>
            <a:pPr algn="l" marL="342900" indent="-342900">
              <a:spcAft>
                <a:spcPts val="900"/>
              </a:spcAft>
              <a:buSzPct val="100000"/>
              <a:buChar char="•"/>
            </a:pPr>
            <a:r>
              <a:rPr lang="en-US" sz="1600" dirty="0">
                <a:solidFill>
                  <a:srgbClr val="1E293B"/>
                </a:solidFill>
              </a:rPr>
              <a:t>Stress genes: FOS, JUN, JUNB, JUND, ATF3, DUSP1, HSPA1A/B.</a:t>
            </a:r>
            <a:endParaRPr lang="en-US" sz="1600" dirty="0"/>
          </a:p>
          <a:p>
            <a:pPr algn="l" marL="342900" indent="-342900">
              <a:spcAft>
                <a:spcPts val="900"/>
              </a:spcAft>
              <a:buSzPct val="100000"/>
              <a:buChar char="•"/>
            </a:pPr>
            <a:r>
              <a:rPr lang="en-US" sz="1600" b="1" dirty="0">
                <a:solidFill>
                  <a:srgbClr val="1E293B"/>
                </a:solidFill>
              </a:rPr>
              <a:t>Endothelial cells have no zonation program.</a:t>
            </a:r>
            <a:endParaRPr lang="en-US" sz="1600" dirty="0"/>
          </a:p>
          <a:p>
            <a:pPr algn="l" marL="342900" indent="-342900">
              <a:spcAft>
                <a:spcPts val="900"/>
              </a:spcAft>
              <a:buSzPct val="100000"/>
              <a:buChar char="•"/>
            </a:pPr>
            <a:r>
              <a:rPr lang="en-US" sz="1600" b="1" dirty="0">
                <a:solidFill>
                  <a:srgbClr val="DC2626"/>
                </a:solidFill>
              </a:rPr>
              <a:t>→ acquisition / procurement signal, not hepatocyte zonation biology.</a:t>
            </a:r>
            <a:endParaRPr lang="en-US" sz="1600" dirty="0"/>
          </a:p>
        </p:txBody>
      </p:sp>
      <p:sp>
        <p:nvSpPr>
          <p:cNvPr id="7" name="Text 4"/>
          <p:cNvSpPr/>
          <p:nvPr/>
        </p:nvSpPr>
        <p:spPr>
          <a:xfrm>
            <a:off x="457200" y="6473952"/>
            <a:ext cx="11247120" cy="292608"/>
          </a:xfrm>
          <a:prstGeom prst="rect">
            <a:avLst/>
          </a:prstGeom>
          <a:noFill/>
          <a:ln/>
        </p:spPr>
        <p:txBody>
          <a:bodyPr wrap="square" lIns="0" tIns="0" rIns="0" bIns="0" rtlCol="0" anchor="ctr"/>
          <a:lstStyle/>
          <a:p>
            <a:pPr algn="l" indent="0" marL="0">
              <a:buNone/>
            </a:pPr>
            <a:r>
              <a:rPr lang="en-US" sz="1100" dirty="0">
                <a:solidFill>
                  <a:srgbClr val="64748B"/>
                </a:solidFill>
              </a:rPr>
              <a:t>Stress validates the confound  ·  donor-level, down-thinned to 1,500 UMIs     ·     4 / 9</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E293B"/>
                </a:solidFill>
              </a:rPr>
              <a:t>We test zonation with raw counts at the donor level, not a relative ruler</a:t>
            </a:r>
            <a:endParaRPr lang="en-US" sz="3000" dirty="0"/>
          </a:p>
        </p:txBody>
      </p:sp>
      <p:sp>
        <p:nvSpPr>
          <p:cNvPr id="3" name="Shape 1"/>
          <p:cNvSpPr/>
          <p:nvPr/>
        </p:nvSpPr>
        <p:spPr>
          <a:xfrm>
            <a:off x="548640" y="1600200"/>
            <a:ext cx="2148840" cy="777240"/>
          </a:xfrm>
          <a:prstGeom prst="roundRect">
            <a:avLst>
              <a:gd name="adj" fmla="val 8235"/>
            </a:avLst>
          </a:prstGeom>
          <a:solidFill>
            <a:srgbClr val="F1F5F9"/>
          </a:solidFill>
          <a:ln w="15240">
            <a:solidFill>
              <a:srgbClr val="CBD5E1"/>
            </a:solidFill>
            <a:prstDash val="solid"/>
          </a:ln>
        </p:spPr>
      </p:sp>
      <p:sp>
        <p:nvSpPr>
          <p:cNvPr id="4" name="Text 2"/>
          <p:cNvSpPr/>
          <p:nvPr/>
        </p:nvSpPr>
        <p:spPr>
          <a:xfrm>
            <a:off x="548640" y="1600200"/>
            <a:ext cx="2148840" cy="777240"/>
          </a:xfrm>
          <a:prstGeom prst="rect">
            <a:avLst/>
          </a:prstGeom>
          <a:noFill/>
          <a:ln/>
        </p:spPr>
        <p:txBody>
          <a:bodyPr wrap="square" lIns="38100" tIns="38100" rIns="38100" bIns="38100" rtlCol="0" anchor="ctr"/>
          <a:lstStyle/>
          <a:p>
            <a:pPr algn="ctr" indent="0" marL="0">
              <a:buNone/>
            </a:pPr>
            <a:r>
              <a:rPr lang="en-US" sz="1400" dirty="0">
                <a:solidFill>
                  <a:srgbClr val="1E293B"/>
                </a:solidFill>
              </a:rPr>
              <a:t>raw UMI counts</a:t>
            </a:r>
            <a:endParaRPr lang="en-US" sz="1400" dirty="0"/>
          </a:p>
        </p:txBody>
      </p:sp>
      <p:sp>
        <p:nvSpPr>
          <p:cNvPr id="5" name="Shape 3"/>
          <p:cNvSpPr/>
          <p:nvPr/>
        </p:nvSpPr>
        <p:spPr>
          <a:xfrm>
            <a:off x="2697480" y="1984248"/>
            <a:ext cx="201168" cy="0"/>
          </a:xfrm>
          <a:prstGeom prst="line">
            <a:avLst/>
          </a:prstGeom>
          <a:noFill/>
          <a:ln w="20320">
            <a:solidFill>
              <a:srgbClr val="64748B"/>
            </a:solidFill>
            <a:prstDash val="solid"/>
            <a:tailEnd type="triangle"/>
          </a:ln>
        </p:spPr>
      </p:sp>
      <p:sp>
        <p:nvSpPr>
          <p:cNvPr id="6" name="Shape 4"/>
          <p:cNvSpPr/>
          <p:nvPr/>
        </p:nvSpPr>
        <p:spPr>
          <a:xfrm>
            <a:off x="2898648" y="1600200"/>
            <a:ext cx="2148840" cy="777240"/>
          </a:xfrm>
          <a:prstGeom prst="roundRect">
            <a:avLst>
              <a:gd name="adj" fmla="val 8235"/>
            </a:avLst>
          </a:prstGeom>
          <a:solidFill>
            <a:srgbClr val="F1F5F9"/>
          </a:solidFill>
          <a:ln w="15240">
            <a:solidFill>
              <a:srgbClr val="CBD5E1"/>
            </a:solidFill>
            <a:prstDash val="solid"/>
          </a:ln>
        </p:spPr>
      </p:sp>
      <p:sp>
        <p:nvSpPr>
          <p:cNvPr id="7" name="Text 5"/>
          <p:cNvSpPr/>
          <p:nvPr/>
        </p:nvSpPr>
        <p:spPr>
          <a:xfrm>
            <a:off x="2898648" y="1600200"/>
            <a:ext cx="2148840" cy="777240"/>
          </a:xfrm>
          <a:prstGeom prst="rect">
            <a:avLst/>
          </a:prstGeom>
          <a:noFill/>
          <a:ln/>
        </p:spPr>
        <p:txBody>
          <a:bodyPr wrap="square" lIns="38100" tIns="38100" rIns="38100" bIns="38100" rtlCol="0" anchor="ctr"/>
          <a:lstStyle/>
          <a:p>
            <a:pPr algn="ctr" indent="0" marL="0">
              <a:buNone/>
            </a:pPr>
            <a:r>
              <a:rPr lang="en-US" sz="1400" dirty="0">
                <a:solidFill>
                  <a:srgbClr val="1E293B"/>
                </a:solidFill>
              </a:rPr>
              <a:t>down-thin every nucleus to 1,500</a:t>
            </a:r>
            <a:endParaRPr lang="en-US" sz="1400" dirty="0"/>
          </a:p>
        </p:txBody>
      </p:sp>
      <p:sp>
        <p:nvSpPr>
          <p:cNvPr id="8" name="Shape 6"/>
          <p:cNvSpPr/>
          <p:nvPr/>
        </p:nvSpPr>
        <p:spPr>
          <a:xfrm>
            <a:off x="5047488" y="1984248"/>
            <a:ext cx="201168" cy="0"/>
          </a:xfrm>
          <a:prstGeom prst="line">
            <a:avLst/>
          </a:prstGeom>
          <a:noFill/>
          <a:ln w="20320">
            <a:solidFill>
              <a:srgbClr val="64748B"/>
            </a:solidFill>
            <a:prstDash val="solid"/>
            <a:tailEnd type="triangle"/>
          </a:ln>
        </p:spPr>
      </p:sp>
      <p:sp>
        <p:nvSpPr>
          <p:cNvPr id="9" name="Shape 7"/>
          <p:cNvSpPr/>
          <p:nvPr/>
        </p:nvSpPr>
        <p:spPr>
          <a:xfrm>
            <a:off x="5248656" y="1600200"/>
            <a:ext cx="2148840" cy="777240"/>
          </a:xfrm>
          <a:prstGeom prst="roundRect">
            <a:avLst>
              <a:gd name="adj" fmla="val 8235"/>
            </a:avLst>
          </a:prstGeom>
          <a:solidFill>
            <a:srgbClr val="EDE9FE"/>
          </a:solidFill>
          <a:ln w="15240">
            <a:solidFill>
              <a:srgbClr val="7C3AED"/>
            </a:solidFill>
            <a:prstDash val="solid"/>
          </a:ln>
        </p:spPr>
      </p:sp>
      <p:sp>
        <p:nvSpPr>
          <p:cNvPr id="10" name="Text 8"/>
          <p:cNvSpPr/>
          <p:nvPr/>
        </p:nvSpPr>
        <p:spPr>
          <a:xfrm>
            <a:off x="5248656" y="1600200"/>
            <a:ext cx="2148840" cy="777240"/>
          </a:xfrm>
          <a:prstGeom prst="rect">
            <a:avLst/>
          </a:prstGeom>
          <a:noFill/>
          <a:ln/>
        </p:spPr>
        <p:txBody>
          <a:bodyPr wrap="square" lIns="38100" tIns="38100" rIns="38100" bIns="38100" rtlCol="0" anchor="ctr"/>
          <a:lstStyle/>
          <a:p>
            <a:pPr algn="ctr" indent="0" marL="0">
              <a:buNone/>
            </a:pPr>
            <a:r>
              <a:rPr lang="en-US" sz="1400" b="1" dirty="0">
                <a:solidFill>
                  <a:srgbClr val="7C3AED"/>
                </a:solidFill>
              </a:rPr>
              <a:t>marker ON only if ≥ 2 UMI</a:t>
            </a:r>
            <a:endParaRPr lang="en-US" sz="1400" dirty="0"/>
          </a:p>
        </p:txBody>
      </p:sp>
      <p:sp>
        <p:nvSpPr>
          <p:cNvPr id="11" name="Shape 9"/>
          <p:cNvSpPr/>
          <p:nvPr/>
        </p:nvSpPr>
        <p:spPr>
          <a:xfrm>
            <a:off x="7397496" y="1984248"/>
            <a:ext cx="201168" cy="0"/>
          </a:xfrm>
          <a:prstGeom prst="line">
            <a:avLst/>
          </a:prstGeom>
          <a:noFill/>
          <a:ln w="20320">
            <a:solidFill>
              <a:srgbClr val="64748B"/>
            </a:solidFill>
            <a:prstDash val="solid"/>
            <a:tailEnd type="triangle"/>
          </a:ln>
        </p:spPr>
      </p:sp>
      <p:sp>
        <p:nvSpPr>
          <p:cNvPr id="12" name="Shape 10"/>
          <p:cNvSpPr/>
          <p:nvPr/>
        </p:nvSpPr>
        <p:spPr>
          <a:xfrm>
            <a:off x="7598664" y="1600200"/>
            <a:ext cx="2148840" cy="777240"/>
          </a:xfrm>
          <a:prstGeom prst="roundRect">
            <a:avLst>
              <a:gd name="adj" fmla="val 8235"/>
            </a:avLst>
          </a:prstGeom>
          <a:solidFill>
            <a:srgbClr val="F1F5F9"/>
          </a:solidFill>
          <a:ln w="15240">
            <a:solidFill>
              <a:srgbClr val="CBD5E1"/>
            </a:solidFill>
            <a:prstDash val="solid"/>
          </a:ln>
        </p:spPr>
      </p:sp>
      <p:sp>
        <p:nvSpPr>
          <p:cNvPr id="13" name="Text 11"/>
          <p:cNvSpPr/>
          <p:nvPr/>
        </p:nvSpPr>
        <p:spPr>
          <a:xfrm>
            <a:off x="7598664" y="1600200"/>
            <a:ext cx="2148840" cy="777240"/>
          </a:xfrm>
          <a:prstGeom prst="rect">
            <a:avLst/>
          </a:prstGeom>
          <a:noFill/>
          <a:ln/>
        </p:spPr>
        <p:txBody>
          <a:bodyPr wrap="square" lIns="38100" tIns="38100" rIns="38100" bIns="38100" rtlCol="0" anchor="ctr"/>
          <a:lstStyle/>
          <a:p>
            <a:pPr algn="ctr" indent="0" marL="0">
              <a:buNone/>
            </a:pPr>
            <a:r>
              <a:rPr lang="en-US" sz="1400" dirty="0">
                <a:solidFill>
                  <a:srgbClr val="1E293B"/>
                </a:solidFill>
              </a:rPr>
              <a:t>classify each nucleus</a:t>
            </a:r>
            <a:endParaRPr lang="en-US" sz="1400" dirty="0"/>
          </a:p>
        </p:txBody>
      </p:sp>
      <p:sp>
        <p:nvSpPr>
          <p:cNvPr id="14" name="Shape 12"/>
          <p:cNvSpPr/>
          <p:nvPr/>
        </p:nvSpPr>
        <p:spPr>
          <a:xfrm>
            <a:off x="9747504" y="1984248"/>
            <a:ext cx="201168" cy="0"/>
          </a:xfrm>
          <a:prstGeom prst="line">
            <a:avLst/>
          </a:prstGeom>
          <a:noFill/>
          <a:ln w="20320">
            <a:solidFill>
              <a:srgbClr val="64748B"/>
            </a:solidFill>
            <a:prstDash val="solid"/>
            <a:tailEnd type="triangle"/>
          </a:ln>
        </p:spPr>
      </p:sp>
      <p:sp>
        <p:nvSpPr>
          <p:cNvPr id="15" name="Shape 13"/>
          <p:cNvSpPr/>
          <p:nvPr/>
        </p:nvSpPr>
        <p:spPr>
          <a:xfrm>
            <a:off x="9948672" y="1600200"/>
            <a:ext cx="2148840" cy="777240"/>
          </a:xfrm>
          <a:prstGeom prst="roundRect">
            <a:avLst>
              <a:gd name="adj" fmla="val 8235"/>
            </a:avLst>
          </a:prstGeom>
          <a:solidFill>
            <a:srgbClr val="F1F5F9"/>
          </a:solidFill>
          <a:ln w="15240">
            <a:solidFill>
              <a:srgbClr val="CBD5E1"/>
            </a:solidFill>
            <a:prstDash val="solid"/>
          </a:ln>
        </p:spPr>
      </p:sp>
      <p:sp>
        <p:nvSpPr>
          <p:cNvPr id="16" name="Text 14"/>
          <p:cNvSpPr/>
          <p:nvPr/>
        </p:nvSpPr>
        <p:spPr>
          <a:xfrm>
            <a:off x="9948672" y="1600200"/>
            <a:ext cx="2148840" cy="777240"/>
          </a:xfrm>
          <a:prstGeom prst="rect">
            <a:avLst/>
          </a:prstGeom>
          <a:noFill/>
          <a:ln/>
        </p:spPr>
        <p:txBody>
          <a:bodyPr wrap="square" lIns="38100" tIns="38100" rIns="38100" bIns="38100" rtlCol="0" anchor="ctr"/>
          <a:lstStyle/>
          <a:p>
            <a:pPr algn="ctr" indent="0" marL="0">
              <a:buNone/>
            </a:pPr>
            <a:r>
              <a:rPr lang="en-US" sz="1400" dirty="0">
                <a:solidFill>
                  <a:srgbClr val="1E293B"/>
                </a:solidFill>
              </a:rPr>
              <a:t>fraction per donor</a:t>
            </a:r>
            <a:endParaRPr lang="en-US" sz="1400" dirty="0"/>
          </a:p>
        </p:txBody>
      </p:sp>
      <p:sp>
        <p:nvSpPr>
          <p:cNvPr id="17" name="Shape 15"/>
          <p:cNvSpPr/>
          <p:nvPr/>
        </p:nvSpPr>
        <p:spPr>
          <a:xfrm>
            <a:off x="914400" y="2926080"/>
            <a:ext cx="2468880" cy="914400"/>
          </a:xfrm>
          <a:prstGeom prst="roundRect">
            <a:avLst>
              <a:gd name="adj" fmla="val 8000"/>
            </a:avLst>
          </a:prstGeom>
          <a:solidFill>
            <a:srgbClr val="1D4ED8"/>
          </a:solidFill>
          <a:ln/>
          <a:effectLst>
            <a:outerShdw sx="100000" sy="100000" kx="0" ky="0" algn="bl" rotWithShape="0" blurRad="88900" dist="38100" dir="5400000">
              <a:srgbClr val="000000">
                <a:alpha val="12000"/>
              </a:srgbClr>
            </a:outerShdw>
          </a:effectLst>
        </p:spPr>
      </p:sp>
      <p:sp>
        <p:nvSpPr>
          <p:cNvPr id="18" name="Text 16"/>
          <p:cNvSpPr/>
          <p:nvPr/>
        </p:nvSpPr>
        <p:spPr>
          <a:xfrm>
            <a:off x="914400" y="2926080"/>
            <a:ext cx="2468880" cy="91440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PC-anchor</a:t>
            </a:r>
            <a:endParaRPr lang="en-US" sz="1500" dirty="0"/>
          </a:p>
          <a:p>
            <a:pPr algn="ctr" indent="0" marL="0">
              <a:buNone/>
            </a:pPr>
            <a:r>
              <a:rPr lang="en-US" sz="1500" b="1" dirty="0">
                <a:solidFill>
                  <a:srgbClr val="FFFFFF"/>
                </a:solidFill>
              </a:rPr>
              <a:t>PC on / PP off</a:t>
            </a:r>
            <a:endParaRPr lang="en-US" sz="1500" dirty="0"/>
          </a:p>
        </p:txBody>
      </p:sp>
      <p:sp>
        <p:nvSpPr>
          <p:cNvPr id="19" name="Shape 17"/>
          <p:cNvSpPr/>
          <p:nvPr/>
        </p:nvSpPr>
        <p:spPr>
          <a:xfrm>
            <a:off x="3657600" y="2926080"/>
            <a:ext cx="2468880" cy="914400"/>
          </a:xfrm>
          <a:prstGeom prst="roundRect">
            <a:avLst>
              <a:gd name="adj" fmla="val 8000"/>
            </a:avLst>
          </a:prstGeom>
          <a:solidFill>
            <a:srgbClr val="EA580C"/>
          </a:solidFill>
          <a:ln/>
          <a:effectLst>
            <a:outerShdw sx="100000" sy="100000" kx="0" ky="0" algn="bl" rotWithShape="0" blurRad="88900" dist="38100" dir="5400000">
              <a:srgbClr val="000000">
                <a:alpha val="12000"/>
              </a:srgbClr>
            </a:outerShdw>
          </a:effectLst>
        </p:spPr>
      </p:sp>
      <p:sp>
        <p:nvSpPr>
          <p:cNvPr id="20" name="Text 18"/>
          <p:cNvSpPr/>
          <p:nvPr/>
        </p:nvSpPr>
        <p:spPr>
          <a:xfrm>
            <a:off x="3657600" y="2926080"/>
            <a:ext cx="2468880" cy="91440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PP-anchor</a:t>
            </a:r>
            <a:endParaRPr lang="en-US" sz="1500" dirty="0"/>
          </a:p>
          <a:p>
            <a:pPr algn="ctr" indent="0" marL="0">
              <a:buNone/>
            </a:pPr>
            <a:r>
              <a:rPr lang="en-US" sz="1500" b="1" dirty="0">
                <a:solidFill>
                  <a:srgbClr val="FFFFFF"/>
                </a:solidFill>
              </a:rPr>
              <a:t>PP on / PC off</a:t>
            </a:r>
            <a:endParaRPr lang="en-US" sz="1500" dirty="0"/>
          </a:p>
        </p:txBody>
      </p:sp>
      <p:sp>
        <p:nvSpPr>
          <p:cNvPr id="21" name="Shape 19"/>
          <p:cNvSpPr/>
          <p:nvPr/>
        </p:nvSpPr>
        <p:spPr>
          <a:xfrm>
            <a:off x="6400800" y="2926080"/>
            <a:ext cx="2468880" cy="914400"/>
          </a:xfrm>
          <a:prstGeom prst="roundRect">
            <a:avLst>
              <a:gd name="adj" fmla="val 8000"/>
            </a:avLst>
          </a:prstGeom>
          <a:solidFill>
            <a:srgbClr val="7C3AED"/>
          </a:solidFill>
          <a:ln/>
          <a:effectLst>
            <a:outerShdw sx="100000" sy="100000" kx="0" ky="0" algn="bl" rotWithShape="0" blurRad="88900" dist="38100" dir="5400000">
              <a:srgbClr val="000000">
                <a:alpha val="12000"/>
              </a:srgbClr>
            </a:outerShdw>
          </a:effectLst>
        </p:spPr>
      </p:sp>
      <p:sp>
        <p:nvSpPr>
          <p:cNvPr id="22" name="Text 20"/>
          <p:cNvSpPr/>
          <p:nvPr/>
        </p:nvSpPr>
        <p:spPr>
          <a:xfrm>
            <a:off x="6400800" y="2926080"/>
            <a:ext cx="2468880" cy="914400"/>
          </a:xfrm>
          <a:prstGeom prst="rect">
            <a:avLst/>
          </a:prstGeom>
          <a:noFill/>
          <a:ln/>
        </p:spPr>
        <p:txBody>
          <a:bodyPr wrap="square" lIns="25400" tIns="25400" rIns="25400" bIns="25400" rtlCol="0" anchor="ctr"/>
          <a:lstStyle/>
          <a:p>
            <a:pPr algn="ctr" indent="0" marL="0">
              <a:buNone/>
            </a:pPr>
            <a:r>
              <a:rPr lang="en-US" sz="1500" b="1" dirty="0">
                <a:solidFill>
                  <a:srgbClr val="FFFFFF"/>
                </a:solidFill>
              </a:rPr>
              <a:t>Dual</a:t>
            </a:r>
            <a:endParaRPr lang="en-US" sz="1500" dirty="0"/>
          </a:p>
          <a:p>
            <a:pPr algn="ctr" indent="0" marL="0">
              <a:buNone/>
            </a:pPr>
            <a:r>
              <a:rPr lang="en-US" sz="1500" b="1" dirty="0">
                <a:solidFill>
                  <a:srgbClr val="FFFFFF"/>
                </a:solidFill>
              </a:rPr>
              <a:t>both programs on</a:t>
            </a:r>
            <a:endParaRPr lang="en-US" sz="1500" dirty="0"/>
          </a:p>
        </p:txBody>
      </p:sp>
      <p:sp>
        <p:nvSpPr>
          <p:cNvPr id="23" name="Shape 21"/>
          <p:cNvSpPr/>
          <p:nvPr/>
        </p:nvSpPr>
        <p:spPr>
          <a:xfrm>
            <a:off x="9144000" y="2926080"/>
            <a:ext cx="2103120" cy="914400"/>
          </a:xfrm>
          <a:prstGeom prst="roundRect">
            <a:avLst>
              <a:gd name="adj" fmla="val 8000"/>
            </a:avLst>
          </a:prstGeom>
          <a:solidFill>
            <a:srgbClr val="9CA3AF"/>
          </a:solidFill>
          <a:ln/>
          <a:effectLst>
            <a:outerShdw sx="100000" sy="100000" kx="0" ky="0" algn="bl" rotWithShape="0" blurRad="88900" dist="38100" dir="5400000">
              <a:srgbClr val="000000">
                <a:alpha val="12000"/>
              </a:srgbClr>
            </a:outerShdw>
          </a:effectLst>
        </p:spPr>
      </p:sp>
      <p:sp>
        <p:nvSpPr>
          <p:cNvPr id="24" name="Text 22"/>
          <p:cNvSpPr/>
          <p:nvPr/>
        </p:nvSpPr>
        <p:spPr>
          <a:xfrm>
            <a:off x="9144000" y="2926080"/>
            <a:ext cx="2103120" cy="914400"/>
          </a:xfrm>
          <a:prstGeom prst="rect">
            <a:avLst/>
          </a:prstGeom>
          <a:noFill/>
          <a:ln/>
        </p:spPr>
        <p:txBody>
          <a:bodyPr wrap="square" lIns="25400" tIns="25400" rIns="25400" bIns="25400" rtlCol="0" anchor="ctr"/>
          <a:lstStyle/>
          <a:p>
            <a:pPr algn="ctr" indent="0" marL="0">
              <a:buNone/>
            </a:pPr>
            <a:r>
              <a:rPr lang="en-US" sz="1500" b="1" dirty="0">
                <a:solidFill>
                  <a:srgbClr val="1E293B"/>
                </a:solidFill>
              </a:rPr>
              <a:t>Null</a:t>
            </a:r>
            <a:endParaRPr lang="en-US" sz="1500" dirty="0"/>
          </a:p>
          <a:p>
            <a:pPr algn="ctr" indent="0" marL="0">
              <a:buNone/>
            </a:pPr>
            <a:r>
              <a:rPr lang="en-US" sz="1500" b="1" dirty="0">
                <a:solidFill>
                  <a:srgbClr val="1E293B"/>
                </a:solidFill>
              </a:rPr>
              <a:t>neither on</a:t>
            </a:r>
            <a:endParaRPr lang="en-US" sz="1500" dirty="0"/>
          </a:p>
        </p:txBody>
      </p:sp>
      <p:sp>
        <p:nvSpPr>
          <p:cNvPr id="25" name="Text 23"/>
          <p:cNvSpPr/>
          <p:nvPr/>
        </p:nvSpPr>
        <p:spPr>
          <a:xfrm>
            <a:off x="914400" y="4160520"/>
            <a:ext cx="10607040" cy="1737360"/>
          </a:xfrm>
          <a:prstGeom prst="rect">
            <a:avLst/>
          </a:prstGeom>
          <a:noFill/>
          <a:ln/>
        </p:spPr>
        <p:txBody>
          <a:bodyPr wrap="square" rtlCol="0" anchor="t"/>
          <a:lstStyle/>
          <a:p>
            <a:pPr algn="l" indent="0" marL="0">
              <a:spcAft>
                <a:spcPts val="700"/>
              </a:spcAft>
              <a:buNone/>
            </a:pPr>
            <a:r>
              <a:rPr lang="en-US" sz="1600" b="1" dirty="0">
                <a:solidFill>
                  <a:srgbClr val="1E293B"/>
                </a:solidFill>
              </a:rPr>
              <a:t>Why raw counts: </a:t>
            </a:r>
            <a:pPr algn="l" indent="0" marL="0">
              <a:spcAft>
                <a:spcPts val="700"/>
              </a:spcAft>
              <a:buNone/>
            </a:pPr>
            <a:r>
              <a:rPr lang="en-US" sz="1600" dirty="0">
                <a:solidFill>
                  <a:srgbClr val="1E293B"/>
                </a:solidFill>
              </a:rPr>
              <a:t>a single KRT19 or GLUL molecule may be ambient RNA — absolute detection matters, so SCT-normalized values are the wrong object.
</a:t>
            </a:r>
            <a:endParaRPr lang="en-US" sz="1600" dirty="0"/>
          </a:p>
          <a:p>
            <a:pPr algn="l" indent="0" marL="0">
              <a:spcAft>
                <a:spcPts val="700"/>
              </a:spcAft>
              <a:buNone/>
            </a:pPr>
            <a:r>
              <a:rPr lang="en-US" sz="1600" b="1" dirty="0">
                <a:solidFill>
                  <a:srgbClr val="7C3AED"/>
                </a:solidFill>
              </a:rPr>
              <a:t>≥2-UMI threshold </a:t>
            </a:r>
            <a:pPr algn="l" indent="0" marL="0">
              <a:spcAft>
                <a:spcPts val="700"/>
              </a:spcAft>
              <a:buNone/>
            </a:pPr>
            <a:r>
              <a:rPr lang="en-US" sz="1600" dirty="0">
                <a:solidFill>
                  <a:srgbClr val="1E293B"/>
                </a:solidFill>
              </a:rPr>
              <a:t>suppresses single-molecule ambient artifacts.   </a:t>
            </a:r>
            <a:pPr algn="l" indent="0" marL="0">
              <a:spcAft>
                <a:spcPts val="700"/>
              </a:spcAft>
              <a:buNone/>
            </a:pPr>
            <a:r>
              <a:rPr lang="en-US" sz="1600" b="1" dirty="0">
                <a:solidFill>
                  <a:srgbClr val="0D9488"/>
                </a:solidFill>
              </a:rPr>
              <a:t>Unit = donor (~47), never the nucleus </a:t>
            </a:r>
            <a:pPr algn="l" indent="0" marL="0">
              <a:spcAft>
                <a:spcPts val="700"/>
              </a:spcAft>
              <a:buNone/>
            </a:pPr>
            <a:r>
              <a:rPr lang="en-US" sz="1600" dirty="0">
                <a:solidFill>
                  <a:srgbClr val="1E293B"/>
                </a:solidFill>
              </a:rPr>
              <a:t>→ no pseudoreplication.
</a:t>
            </a:r>
            <a:endParaRPr lang="en-US" sz="1600" dirty="0"/>
          </a:p>
          <a:p>
            <a:pPr algn="l" indent="0" marL="0">
              <a:spcAft>
                <a:spcPts val="700"/>
              </a:spcAft>
              <a:buNone/>
            </a:pPr>
            <a:r>
              <a:rPr lang="en-US" sz="1600" b="1" dirty="0">
                <a:solidFill>
                  <a:srgbClr val="1E293B"/>
                </a:solidFill>
              </a:rPr>
              <a:t>Robust across the sensitivity grid </a:t>
            </a:r>
            <a:pPr algn="l" indent="0" marL="0">
              <a:spcAft>
                <a:spcPts val="700"/>
              </a:spcAft>
              <a:buNone/>
            </a:pPr>
            <a:r>
              <a:rPr lang="en-US" sz="1600" dirty="0">
                <a:solidFill>
                  <a:srgbClr val="1E293B"/>
                </a:solidFill>
              </a:rPr>
              <a:t>(anchor genes, periportal rule, ALDOB in/out, CPS1-based, 1 vs 2 UMI).</a:t>
            </a:r>
            <a:endParaRPr lang="en-US" sz="1600" dirty="0"/>
          </a:p>
        </p:txBody>
      </p:sp>
      <p:sp>
        <p:nvSpPr>
          <p:cNvPr id="26" name="Text 24"/>
          <p:cNvSpPr/>
          <p:nvPr/>
        </p:nvSpPr>
        <p:spPr>
          <a:xfrm>
            <a:off x="457200" y="6473952"/>
            <a:ext cx="11247120" cy="292608"/>
          </a:xfrm>
          <a:prstGeom prst="rect">
            <a:avLst/>
          </a:prstGeom>
          <a:noFill/>
          <a:ln/>
        </p:spPr>
        <p:txBody>
          <a:bodyPr wrap="square" lIns="0" tIns="0" rIns="0" bIns="0" rtlCol="0" anchor="ctr"/>
          <a:lstStyle/>
          <a:p>
            <a:pPr algn="l" indent="0" marL="0">
              <a:buNone/>
            </a:pPr>
            <a:r>
              <a:rPr lang="en-US" sz="1100" dirty="0">
                <a:solidFill>
                  <a:srgbClr val="64748B"/>
                </a:solidFill>
              </a:rPr>
              <a:t>Method  ·  count-based anchor classification     ·     5 / 9</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E293B"/>
                </a:solidFill>
              </a:rPr>
              <a:t>Matched biopsies do not show PC loss or robust co-expression</a:t>
            </a:r>
            <a:endParaRPr lang="en-US" sz="3000" dirty="0"/>
          </a:p>
        </p:txBody>
      </p:sp>
      <p:pic>
        <p:nvPicPr>
          <p:cNvPr id="3" name="Image 0" descr="D:\CS\Genomics\Hackathon\reports\deck/assets/fig_result2.png">    </p:cNvPr>
          <p:cNvPicPr>
            <a:picLocks noChangeAspect="1"/>
          </p:cNvPicPr>
          <p:nvPr/>
        </p:nvPicPr>
        <p:blipFill>
          <a:blip r:embed="rId1"/>
          <a:srcRect l="0" r="0" t="0" b="0"/>
          <a:stretch/>
        </p:blipFill>
        <p:spPr>
          <a:xfrm>
            <a:off x="274320" y="1371600"/>
            <a:ext cx="7955280" cy="4206240"/>
          </a:xfrm>
          <a:prstGeom prst="rect">
            <a:avLst/>
          </a:prstGeom>
        </p:spPr>
      </p:pic>
      <p:sp>
        <p:nvSpPr>
          <p:cNvPr id="4" name="Text 1"/>
          <p:cNvSpPr/>
          <p:nvPr/>
        </p:nvSpPr>
        <p:spPr>
          <a:xfrm>
            <a:off x="8412480" y="1737360"/>
            <a:ext cx="3566160" cy="3291840"/>
          </a:xfrm>
          <a:prstGeom prst="rect">
            <a:avLst/>
          </a:prstGeom>
          <a:noFill/>
          <a:ln/>
        </p:spPr>
        <p:txBody>
          <a:bodyPr wrap="square" rtlCol="0" anchor="t"/>
          <a:lstStyle/>
          <a:p>
            <a:pPr algn="l" indent="0" marL="0">
              <a:buNone/>
            </a:pPr>
            <a:r>
              <a:rPr lang="en-US" sz="1700" b="1" dirty="0">
                <a:solidFill>
                  <a:srgbClr val="475569"/>
                </a:solidFill>
              </a:rPr>
              <a:t>Null fraction (turn-off): </a:t>
            </a:r>
            <a:pPr algn="l" indent="0" marL="0">
              <a:buNone/>
            </a:pPr>
            <a:r>
              <a:rPr lang="en-US" sz="1700" dirty="0">
                <a:solidFill>
                  <a:srgbClr val="1E293B"/>
                </a:solidFill>
              </a:rPr>
              <a:t>stable across F1–F4.
</a:t>
            </a:r>
            <a:endParaRPr lang="en-US" sz="1700" dirty="0"/>
          </a:p>
          <a:p>
            <a:pPr algn="l" indent="0" marL="0">
              <a:buNone/>
            </a:pPr>
            <a:r>
              <a:rPr lang="en-US" sz="1700" b="1" dirty="0">
                <a:solidFill>
                  <a:srgbClr val="EA580C"/>
                </a:solidFill>
              </a:rPr>
              <a:t>PP : PC ratio (composition): </a:t>
            </a:r>
            <a:pPr algn="l" indent="0" marL="0">
              <a:buNone/>
            </a:pPr>
            <a:r>
              <a:rPr lang="en-US" sz="1700" dirty="0">
                <a:solidFill>
                  <a:srgbClr val="1E293B"/>
                </a:solidFill>
              </a:rPr>
              <a:t>non-monotone, no drift.
</a:t>
            </a:r>
            <a:endParaRPr lang="en-US" sz="1700" dirty="0"/>
          </a:p>
          <a:p>
            <a:pPr algn="l" indent="0" marL="0">
              <a:buNone/>
            </a:pPr>
            <a:r>
              <a:rPr lang="en-US" sz="1700" b="1" dirty="0">
                <a:solidFill>
                  <a:srgbClr val="1D4ED8"/>
                </a:solidFill>
              </a:rPr>
              <a:t>Equivalence bound: </a:t>
            </a:r>
            <a:pPr algn="l" indent="0" marL="0">
              <a:buNone/>
            </a:pPr>
            <a:r>
              <a:rPr lang="en-US" sz="1700" i="1" dirty="0">
                <a:solidFill>
                  <a:srgbClr val="64748B"/>
                </a:solidFill>
              </a:rPr>
              <a:t>a large shift (~20 pp) is excluded; a subtle drift ≤10 pp is not (F4 n=4).</a:t>
            </a:r>
            <a:endParaRPr lang="en-US" sz="1700" dirty="0"/>
          </a:p>
        </p:txBody>
      </p:sp>
      <p:sp>
        <p:nvSpPr>
          <p:cNvPr id="5" name="Shape 2"/>
          <p:cNvSpPr/>
          <p:nvPr/>
        </p:nvSpPr>
        <p:spPr>
          <a:xfrm>
            <a:off x="8412480" y="4617720"/>
            <a:ext cx="3566160" cy="1051560"/>
          </a:xfrm>
          <a:prstGeom prst="roundRect">
            <a:avLst>
              <a:gd name="adj" fmla="val 6957"/>
            </a:avLst>
          </a:prstGeom>
          <a:solidFill>
            <a:srgbClr val="ECFDF5"/>
          </a:solidFill>
          <a:ln/>
          <a:effectLst>
            <a:outerShdw sx="100000" sy="100000" kx="0" ky="0" algn="bl" rotWithShape="0" blurRad="88900" dist="38100" dir="5400000">
              <a:srgbClr val="000000">
                <a:alpha val="12000"/>
              </a:srgbClr>
            </a:outerShdw>
          </a:effectLst>
        </p:spPr>
      </p:sp>
      <p:sp>
        <p:nvSpPr>
          <p:cNvPr id="6" name="Text 3"/>
          <p:cNvSpPr/>
          <p:nvPr/>
        </p:nvSpPr>
        <p:spPr>
          <a:xfrm>
            <a:off x="8549640" y="4681728"/>
            <a:ext cx="3291840" cy="914400"/>
          </a:xfrm>
          <a:prstGeom prst="rect">
            <a:avLst/>
          </a:prstGeom>
          <a:noFill/>
          <a:ln/>
        </p:spPr>
        <p:txBody>
          <a:bodyPr wrap="square" rtlCol="0" anchor="ctr"/>
          <a:lstStyle/>
          <a:p>
            <a:pPr algn="l" indent="0" marL="0">
              <a:buNone/>
            </a:pPr>
            <a:r>
              <a:rPr lang="en-US" sz="1600" b="1" dirty="0">
                <a:solidFill>
                  <a:srgbClr val="065F46"/>
                </a:solidFill>
              </a:rPr>
              <a:t>Donor-level anchor fractions do not support large biopsy-axis de-zonation.</a:t>
            </a:r>
            <a:endParaRPr lang="en-US" sz="1600" dirty="0"/>
          </a:p>
        </p:txBody>
      </p:sp>
      <p:sp>
        <p:nvSpPr>
          <p:cNvPr id="7" name="Text 4"/>
          <p:cNvSpPr/>
          <p:nvPr/>
        </p:nvSpPr>
        <p:spPr>
          <a:xfrm>
            <a:off x="457200" y="6473952"/>
            <a:ext cx="11247120" cy="292608"/>
          </a:xfrm>
          <a:prstGeom prst="rect">
            <a:avLst/>
          </a:prstGeom>
          <a:noFill/>
          <a:ln/>
        </p:spPr>
        <p:txBody>
          <a:bodyPr wrap="square" lIns="0" tIns="0" rIns="0" bIns="0" rtlCol="0" anchor="ctr"/>
          <a:lstStyle/>
          <a:p>
            <a:pPr algn="l" indent="0" marL="0">
              <a:buNone/>
            </a:pPr>
            <a:r>
              <a:rPr lang="en-US" sz="1100" dirty="0">
                <a:solidFill>
                  <a:srgbClr val="64748B"/>
                </a:solidFill>
              </a:rPr>
              <a:t>Main result  ·  donor = point, line = median  ·  full 4-mechanism panel in backup     ·     6 / 9</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E293B"/>
                </a:solidFill>
              </a:rPr>
              <a:t>Genome-wide pseudobulk finds one main signal: biliary markers</a:t>
            </a:r>
            <a:endParaRPr lang="en-US" sz="3000" dirty="0"/>
          </a:p>
        </p:txBody>
      </p:sp>
      <p:pic>
        <p:nvPicPr>
          <p:cNvPr id="3" name="Image 0" descr="D:\CS\Genomics\Hackathon\reports\deck/assets/fig_volcano.png">    </p:cNvPr>
          <p:cNvPicPr>
            <a:picLocks noChangeAspect="1"/>
          </p:cNvPicPr>
          <p:nvPr/>
        </p:nvPicPr>
        <p:blipFill>
          <a:blip r:embed="rId1"/>
          <a:srcRect l="0" r="0" t="0" b="0"/>
          <a:stretch/>
        </p:blipFill>
        <p:spPr>
          <a:xfrm>
            <a:off x="274320" y="1325880"/>
            <a:ext cx="8046720" cy="4572000"/>
          </a:xfrm>
          <a:prstGeom prst="rect">
            <a:avLst/>
          </a:prstGeom>
        </p:spPr>
      </p:pic>
      <p:sp>
        <p:nvSpPr>
          <p:cNvPr id="4" name="Text 1"/>
          <p:cNvSpPr/>
          <p:nvPr/>
        </p:nvSpPr>
        <p:spPr>
          <a:xfrm>
            <a:off x="8503920" y="1828800"/>
            <a:ext cx="3383280" cy="3291840"/>
          </a:xfrm>
          <a:prstGeom prst="rect">
            <a:avLst/>
          </a:prstGeom>
          <a:noFill/>
          <a:ln/>
        </p:spPr>
        <p:txBody>
          <a:bodyPr wrap="square" rtlCol="0" anchor="t"/>
          <a:lstStyle/>
          <a:p>
            <a:pPr algn="l" indent="0" marL="0">
              <a:spcAft>
                <a:spcPts val="900"/>
              </a:spcAft>
              <a:buNone/>
            </a:pPr>
            <a:r>
              <a:rPr lang="en-US" sz="1700" dirty="0">
                <a:solidFill>
                  <a:srgbClr val="1E293B"/>
                </a:solidFill>
              </a:rPr>
              <a:t>Pseudobulk per donor (sum raw hepatocyte UMIs); edgeR TMM + NB quasi-likelihood.
</a:t>
            </a:r>
            <a:endParaRPr lang="en-US" sz="1700" dirty="0"/>
          </a:p>
          <a:p>
            <a:pPr algn="l" indent="0" marL="0">
              <a:spcAft>
                <a:spcPts val="900"/>
              </a:spcAft>
              <a:buNone/>
            </a:pPr>
            <a:r>
              <a:rPr lang="en-US" sz="1700" b="1" dirty="0">
                <a:solidFill>
                  <a:srgbClr val="1E293B"/>
                </a:solidFill>
              </a:rPr>
              <a:t>64 genes at FDR&lt;0.05 — mostly biliary/ductular.
</a:t>
            </a:r>
            <a:endParaRPr lang="en-US" sz="1700" dirty="0"/>
          </a:p>
          <a:p>
            <a:pPr algn="l" indent="0" marL="0">
              <a:spcAft>
                <a:spcPts val="900"/>
              </a:spcAft>
              <a:buNone/>
            </a:pPr>
            <a:r>
              <a:rPr lang="en-US" sz="1700" dirty="0">
                <a:solidFill>
                  <a:srgbClr val="1D4ED8"/>
                </a:solidFill>
              </a:rPr>
              <a:t>Zonation markers not significant (GLUL FDR 0.80).
</a:t>
            </a:r>
            <a:endParaRPr lang="en-US" sz="1700" dirty="0"/>
          </a:p>
          <a:p>
            <a:pPr algn="l" indent="0" marL="0">
              <a:spcAft>
                <a:spcPts val="900"/>
              </a:spcAft>
              <a:buNone/>
            </a:pPr>
            <a:r>
              <a:rPr lang="en-US" sz="1700" i="1" dirty="0">
                <a:solidFill>
                  <a:srgbClr val="7C3AED"/>
                </a:solidFill>
              </a:rPr>
              <a:t>“No large single-gene hepatocyte program outside the biliary/ductular burden.”</a:t>
            </a:r>
            <a:endParaRPr lang="en-US" sz="1700" dirty="0"/>
          </a:p>
        </p:txBody>
      </p:sp>
      <p:sp>
        <p:nvSpPr>
          <p:cNvPr id="5" name="Shape 2"/>
          <p:cNvSpPr/>
          <p:nvPr/>
        </p:nvSpPr>
        <p:spPr>
          <a:xfrm>
            <a:off x="8503920" y="5212080"/>
            <a:ext cx="3383280" cy="731520"/>
          </a:xfrm>
          <a:prstGeom prst="roundRect">
            <a:avLst>
              <a:gd name="adj" fmla="val 7500"/>
            </a:avLst>
          </a:prstGeom>
          <a:solidFill>
            <a:srgbClr val="F1F5F9"/>
          </a:solidFill>
          <a:ln/>
        </p:spPr>
      </p:sp>
      <p:sp>
        <p:nvSpPr>
          <p:cNvPr id="6" name="Text 3"/>
          <p:cNvSpPr/>
          <p:nvPr/>
        </p:nvSpPr>
        <p:spPr>
          <a:xfrm>
            <a:off x="8641080" y="5257800"/>
            <a:ext cx="3108960" cy="640080"/>
          </a:xfrm>
          <a:prstGeom prst="rect">
            <a:avLst/>
          </a:prstGeom>
          <a:noFill/>
          <a:ln/>
        </p:spPr>
        <p:txBody>
          <a:bodyPr wrap="square" rtlCol="0" anchor="ctr"/>
          <a:lstStyle/>
          <a:p>
            <a:pPr algn="l" indent="0" marL="0">
              <a:buNone/>
            </a:pPr>
            <a:r>
              <a:rPr lang="en-US" sz="1300" i="1" dirty="0">
                <a:solidFill>
                  <a:srgbClr val="64748B"/>
                </a:solidFill>
              </a:rPr>
              <a:t>Caveat: weak coordinated pathways still require gene-set testing (backup).</a:t>
            </a:r>
            <a:endParaRPr lang="en-US" sz="1300" dirty="0"/>
          </a:p>
        </p:txBody>
      </p:sp>
      <p:sp>
        <p:nvSpPr>
          <p:cNvPr id="7" name="Text 4"/>
          <p:cNvSpPr/>
          <p:nvPr/>
        </p:nvSpPr>
        <p:spPr>
          <a:xfrm>
            <a:off x="457200" y="6473952"/>
            <a:ext cx="11247120" cy="292608"/>
          </a:xfrm>
          <a:prstGeom prst="rect">
            <a:avLst/>
          </a:prstGeom>
          <a:noFill/>
          <a:ln/>
        </p:spPr>
        <p:txBody>
          <a:bodyPr wrap="square" lIns="0" tIns="0" rIns="0" bIns="0" rtlCol="0" anchor="ctr"/>
          <a:lstStyle/>
          <a:p>
            <a:pPr algn="l" indent="0" marL="0">
              <a:buNone/>
            </a:pPr>
            <a:r>
              <a:rPr lang="en-US" sz="1100" dirty="0">
                <a:solidFill>
                  <a:srgbClr val="64748B"/>
                </a:solidFill>
              </a:rPr>
              <a:t>Discovery scan  ·  cirrhotic F4 vs F1     ·     7 / 9</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11247120" cy="777240"/>
          </a:xfrm>
          <a:prstGeom prst="rect">
            <a:avLst/>
          </a:prstGeom>
          <a:noFill/>
          <a:ln/>
        </p:spPr>
        <p:txBody>
          <a:bodyPr wrap="square" lIns="0" tIns="0" rIns="0" bIns="0" rtlCol="0" anchor="ctr"/>
          <a:lstStyle/>
          <a:p>
            <a:pPr algn="l" indent="0" marL="0">
              <a:buNone/>
            </a:pPr>
            <a:r>
              <a:rPr lang="en-US" sz="3000" b="1" dirty="0">
                <a:solidFill>
                  <a:srgbClr val="1E293B"/>
                </a:solidFill>
              </a:rPr>
              <a:t>The biliary signal is real — but likely not broad transdifferentiation</a:t>
            </a:r>
            <a:endParaRPr lang="en-US" sz="3000" dirty="0"/>
          </a:p>
        </p:txBody>
      </p:sp>
      <p:pic>
        <p:nvPicPr>
          <p:cNvPr id="3" name="Image 0" descr="D:\CS\Genomics\Hackathon\reports\deck/assets/fig_compositional.png">    </p:cNvPr>
          <p:cNvPicPr>
            <a:picLocks noChangeAspect="1"/>
          </p:cNvPicPr>
          <p:nvPr/>
        </p:nvPicPr>
        <p:blipFill>
          <a:blip r:embed="rId1"/>
          <a:srcRect l="0" r="0" t="0" b="0"/>
          <a:stretch/>
        </p:blipFill>
        <p:spPr>
          <a:xfrm>
            <a:off x="274320" y="1371600"/>
            <a:ext cx="11612880" cy="3657600"/>
          </a:xfrm>
          <a:prstGeom prst="rect">
            <a:avLst/>
          </a:prstGeom>
        </p:spPr>
      </p:pic>
      <p:sp>
        <p:nvSpPr>
          <p:cNvPr id="4" name="Text 1"/>
          <p:cNvSpPr/>
          <p:nvPr/>
        </p:nvSpPr>
        <p:spPr>
          <a:xfrm>
            <a:off x="548640" y="5212080"/>
            <a:ext cx="11155680" cy="640080"/>
          </a:xfrm>
          <a:prstGeom prst="rect">
            <a:avLst/>
          </a:prstGeom>
          <a:noFill/>
          <a:ln/>
        </p:spPr>
        <p:txBody>
          <a:bodyPr wrap="square" rtlCol="0" anchor="ctr"/>
          <a:lstStyle/>
          <a:p>
            <a:pPr algn="l" indent="0" marL="0">
              <a:buNone/>
            </a:pPr>
            <a:r>
              <a:rPr lang="en-US" sz="1550" b="1" dirty="0">
                <a:solidFill>
                  <a:srgbClr val="065F46"/>
                </a:solidFill>
              </a:rPr>
              <a:t>Strong: </a:t>
            </a:r>
            <a:pPr algn="l" indent="0" marL="0">
              <a:buNone/>
            </a:pPr>
            <a:r>
              <a:rPr lang="en-US" sz="1550" dirty="0">
                <a:solidFill>
                  <a:srgbClr val="1E293B"/>
                </a:solidFill>
              </a:rPr>
              <a:t>biliary genes are far more abundant in cholangiocytes;  true hepatocyte co-expression is rare (~0.4%).  </a:t>
            </a:r>
            <a:pPr algn="l" indent="0" marL="0">
              <a:buNone/>
            </a:pPr>
            <a:r>
              <a:rPr lang="en-US" sz="1550" b="1" dirty="0">
                <a:solidFill>
                  <a:srgbClr val="B45309"/>
                </a:solidFill>
              </a:rPr>
              <a:t>Suggestive: </a:t>
            </a:r>
            <a:pPr algn="l" indent="0" marL="0">
              <a:buNone/>
            </a:pPr>
            <a:r>
              <a:rPr lang="en-US" sz="1550" dirty="0">
                <a:solidFill>
                  <a:srgbClr val="1E293B"/>
                </a:solidFill>
              </a:rPr>
              <a:t>decontX halves the hits (supports an ambient contribution — not proof).  </a:t>
            </a:r>
            <a:pPr algn="l" indent="0" marL="0">
              <a:buNone/>
            </a:pPr>
            <a:r>
              <a:rPr lang="en-US" sz="1550" b="1" dirty="0">
                <a:solidFill>
                  <a:srgbClr val="BE123C"/>
                </a:solidFill>
              </a:rPr>
              <a:t>Open: </a:t>
            </a:r>
            <a:pPr algn="l" indent="0" marL="0">
              <a:buNone/>
            </a:pPr>
            <a:r>
              <a:rPr lang="en-US" sz="1550" dirty="0">
                <a:solidFill>
                  <a:srgbClr val="1E293B"/>
                </a:solidFill>
              </a:rPr>
              <a:t>EPCAM / SPINT2 / B3GNT3 survive.</a:t>
            </a:r>
            <a:endParaRPr lang="en-US" sz="1550" dirty="0"/>
          </a:p>
        </p:txBody>
      </p:sp>
      <p:sp>
        <p:nvSpPr>
          <p:cNvPr id="5" name="Text 2"/>
          <p:cNvSpPr/>
          <p:nvPr/>
        </p:nvSpPr>
        <p:spPr>
          <a:xfrm>
            <a:off x="548640" y="5852160"/>
            <a:ext cx="11155680" cy="548640"/>
          </a:xfrm>
          <a:prstGeom prst="rect">
            <a:avLst/>
          </a:prstGeom>
          <a:noFill/>
          <a:ln/>
        </p:spPr>
        <p:txBody>
          <a:bodyPr wrap="square" rtlCol="0" anchor="ctr"/>
          <a:lstStyle/>
          <a:p>
            <a:pPr algn="l" indent="0" marL="0">
              <a:buNone/>
            </a:pPr>
            <a:r>
              <a:rPr lang="en-US" sz="1550" dirty="0">
                <a:solidFill>
                  <a:srgbClr val="1E293B"/>
                </a:solidFill>
              </a:rPr>
              <a:t>F4 cholangiocyte expansion is a plausible ambient-RNA source.   </a:t>
            </a:r>
            <a:pPr algn="l" indent="0" marL="0">
              <a:buNone/>
            </a:pPr>
            <a:r>
              <a:rPr lang="en-US" sz="1550" b="1" dirty="0">
                <a:solidFill>
                  <a:srgbClr val="DC2626"/>
                </a:solidFill>
              </a:rPr>
              <a:t>CXCL10 is separated as a possible real inflammatory signal — it does not track the cholangiocyte fraction.</a:t>
            </a:r>
            <a:endParaRPr lang="en-US" sz="1550" dirty="0"/>
          </a:p>
        </p:txBody>
      </p:sp>
      <p:sp>
        <p:nvSpPr>
          <p:cNvPr id="6" name="Text 3"/>
          <p:cNvSpPr/>
          <p:nvPr/>
        </p:nvSpPr>
        <p:spPr>
          <a:xfrm>
            <a:off x="457200" y="6473952"/>
            <a:ext cx="11247120" cy="292608"/>
          </a:xfrm>
          <a:prstGeom prst="rect">
            <a:avLst/>
          </a:prstGeom>
          <a:noFill/>
          <a:ln/>
        </p:spPr>
        <p:txBody>
          <a:bodyPr wrap="square" lIns="0" tIns="0" rIns="0" bIns="0" rtlCol="0" anchor="ctr"/>
          <a:lstStyle/>
          <a:p>
            <a:pPr algn="l" indent="0" marL="0">
              <a:buNone/>
            </a:pPr>
            <a:r>
              <a:rPr lang="en-US" sz="1100" dirty="0">
                <a:solidFill>
                  <a:srgbClr val="64748B"/>
                </a:solidFill>
              </a:rPr>
              <a:t>Source attribution: most consistent with ambient RNA + rare mixed nuclei (a lead, not closed)     ·     8 / 9</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F172A"/>
        </a:solidFill>
      </p:bgPr>
    </p:bg>
    <p:spTree>
      <p:nvGrpSpPr>
        <p:cNvPr id="1" name=""/>
        <p:cNvGrpSpPr/>
        <p:nvPr/>
      </p:nvGrpSpPr>
      <p:grpSpPr>
        <a:xfrm>
          <a:off x="0" y="0"/>
          <a:ext cx="0" cy="0"/>
          <a:chOff x="0" y="0"/>
          <a:chExt cx="0" cy="0"/>
        </a:xfrm>
      </p:grpSpPr>
      <p:sp>
        <p:nvSpPr>
          <p:cNvPr id="2" name="Text 0"/>
          <p:cNvSpPr/>
          <p:nvPr/>
        </p:nvSpPr>
        <p:spPr>
          <a:xfrm>
            <a:off x="640080" y="457200"/>
            <a:ext cx="10881360" cy="822960"/>
          </a:xfrm>
          <a:prstGeom prst="rect">
            <a:avLst/>
          </a:prstGeom>
          <a:noFill/>
          <a:ln/>
        </p:spPr>
        <p:txBody>
          <a:bodyPr wrap="square" rtlCol="0" anchor="ctr"/>
          <a:lstStyle/>
          <a:p>
            <a:pPr algn="l" indent="0" marL="0">
              <a:buNone/>
            </a:pPr>
            <a:r>
              <a:rPr lang="en-US" sz="2800" b="1" dirty="0">
                <a:solidFill>
                  <a:srgbClr val="FFFFFF"/>
                </a:solidFill>
              </a:rPr>
              <a:t>Matched biopsies support preservation, not progressive collapse</a:t>
            </a:r>
            <a:endParaRPr lang="en-US" sz="2800" dirty="0"/>
          </a:p>
        </p:txBody>
      </p:sp>
      <p:sp>
        <p:nvSpPr>
          <p:cNvPr id="3" name="Shape 1"/>
          <p:cNvSpPr/>
          <p:nvPr/>
        </p:nvSpPr>
        <p:spPr>
          <a:xfrm>
            <a:off x="640080" y="1508760"/>
            <a:ext cx="3566160" cy="4023360"/>
          </a:xfrm>
          <a:prstGeom prst="roundRect">
            <a:avLst>
              <a:gd name="adj" fmla="val 2051"/>
            </a:avLst>
          </a:prstGeom>
          <a:solidFill>
            <a:srgbClr val="1E293B"/>
          </a:solidFill>
          <a:ln/>
          <a:effectLst>
            <a:outerShdw sx="100000" sy="100000" kx="0" ky="0" algn="bl" rotWithShape="0" blurRad="88900" dist="38100" dir="5400000">
              <a:srgbClr val="000000">
                <a:alpha val="12000"/>
              </a:srgbClr>
            </a:outerShdw>
          </a:effectLst>
        </p:spPr>
      </p:sp>
      <p:sp>
        <p:nvSpPr>
          <p:cNvPr id="4" name="Text 2"/>
          <p:cNvSpPr/>
          <p:nvPr/>
        </p:nvSpPr>
        <p:spPr>
          <a:xfrm>
            <a:off x="640080" y="1645920"/>
            <a:ext cx="3566160" cy="457200"/>
          </a:xfrm>
          <a:prstGeom prst="rect">
            <a:avLst/>
          </a:prstGeom>
          <a:noFill/>
          <a:ln/>
        </p:spPr>
        <p:txBody>
          <a:bodyPr wrap="square" rtlCol="0" anchor="ctr"/>
          <a:lstStyle/>
          <a:p>
            <a:pPr algn="ctr" indent="0" marL="0">
              <a:buNone/>
            </a:pPr>
            <a:r>
              <a:rPr lang="en-US" sz="2000" b="1" dirty="0">
                <a:solidFill>
                  <a:srgbClr val="5EEAD4"/>
                </a:solidFill>
              </a:rPr>
              <a:t>Conclusions</a:t>
            </a:r>
            <a:endParaRPr lang="en-US" sz="2000" dirty="0"/>
          </a:p>
        </p:txBody>
      </p:sp>
      <p:sp>
        <p:nvSpPr>
          <p:cNvPr id="5" name="Text 3"/>
          <p:cNvSpPr/>
          <p:nvPr/>
        </p:nvSpPr>
        <p:spPr>
          <a:xfrm>
            <a:off x="868680" y="2240280"/>
            <a:ext cx="3154680" cy="3200400"/>
          </a:xfrm>
          <a:prstGeom prst="rect">
            <a:avLst/>
          </a:prstGeom>
          <a:noFill/>
          <a:ln/>
        </p:spPr>
        <p:txBody>
          <a:bodyPr wrap="square" rtlCol="0" anchor="t"/>
          <a:lstStyle/>
          <a:p>
            <a:pPr algn="l" marL="342900" indent="-342900">
              <a:spcAft>
                <a:spcPts val="1000"/>
              </a:spcAft>
              <a:buSzPct val="100000"/>
              <a:buChar char="•"/>
            </a:pPr>
            <a:r>
              <a:rPr lang="en-US" sz="1450" dirty="0">
                <a:solidFill>
                  <a:srgbClr val="E2E8F0"/>
                </a:solidFill>
              </a:rPr>
              <a:t>Full healthy→end-stage trajectory is source-confounded.</a:t>
            </a:r>
            <a:endParaRPr lang="en-US" sz="1450" dirty="0"/>
          </a:p>
          <a:p>
            <a:pPr algn="l" marL="342900" indent="-342900">
              <a:spcAft>
                <a:spcPts val="1000"/>
              </a:spcAft>
              <a:buSzPct val="100000"/>
              <a:buChar char="•"/>
            </a:pPr>
            <a:r>
              <a:rPr lang="en-US" sz="1450" dirty="0">
                <a:solidFill>
                  <a:srgbClr val="E2E8F0"/>
                </a:solidFill>
              </a:rPr>
              <a:t>In biopsy F1–F4, hepatocyte transcriptional zonation is preserved.</a:t>
            </a:r>
            <a:endParaRPr lang="en-US" sz="1450" dirty="0"/>
          </a:p>
          <a:p>
            <a:pPr algn="l" marL="342900" indent="-342900">
              <a:spcAft>
                <a:spcPts val="1000"/>
              </a:spcAft>
              <a:buSzPct val="100000"/>
              <a:buChar char="•"/>
            </a:pPr>
            <a:r>
              <a:rPr lang="en-US" sz="1450" dirty="0">
                <a:solidFill>
                  <a:srgbClr val="E2E8F0"/>
                </a:solidFill>
              </a:rPr>
              <a:t>Main DGE signal = biliary/ductular burden, most consistent with composition / ambient RNA.</a:t>
            </a:r>
            <a:endParaRPr lang="en-US" sz="1450" dirty="0"/>
          </a:p>
        </p:txBody>
      </p:sp>
      <p:sp>
        <p:nvSpPr>
          <p:cNvPr id="6" name="Shape 4"/>
          <p:cNvSpPr/>
          <p:nvPr/>
        </p:nvSpPr>
        <p:spPr>
          <a:xfrm>
            <a:off x="4434840" y="1508760"/>
            <a:ext cx="3566160" cy="4023360"/>
          </a:xfrm>
          <a:prstGeom prst="roundRect">
            <a:avLst>
              <a:gd name="adj" fmla="val 2051"/>
            </a:avLst>
          </a:prstGeom>
          <a:solidFill>
            <a:srgbClr val="1E293B"/>
          </a:solidFill>
          <a:ln/>
          <a:effectLst>
            <a:outerShdw sx="100000" sy="100000" kx="0" ky="0" algn="bl" rotWithShape="0" blurRad="88900" dist="38100" dir="5400000">
              <a:srgbClr val="000000">
                <a:alpha val="12000"/>
              </a:srgbClr>
            </a:outerShdw>
          </a:effectLst>
        </p:spPr>
      </p:sp>
      <p:sp>
        <p:nvSpPr>
          <p:cNvPr id="7" name="Text 5"/>
          <p:cNvSpPr/>
          <p:nvPr/>
        </p:nvSpPr>
        <p:spPr>
          <a:xfrm>
            <a:off x="4434840" y="1645920"/>
            <a:ext cx="3566160" cy="457200"/>
          </a:xfrm>
          <a:prstGeom prst="rect">
            <a:avLst/>
          </a:prstGeom>
          <a:noFill/>
          <a:ln/>
        </p:spPr>
        <p:txBody>
          <a:bodyPr wrap="square" rtlCol="0" anchor="ctr"/>
          <a:lstStyle/>
          <a:p>
            <a:pPr algn="ctr" indent="0" marL="0">
              <a:buNone/>
            </a:pPr>
            <a:r>
              <a:rPr lang="en-US" sz="2000" b="1" dirty="0">
                <a:solidFill>
                  <a:srgbClr val="FCA5A5"/>
                </a:solidFill>
              </a:rPr>
              <a:t>Limits</a:t>
            </a:r>
            <a:endParaRPr lang="en-US" sz="2000" dirty="0"/>
          </a:p>
        </p:txBody>
      </p:sp>
      <p:sp>
        <p:nvSpPr>
          <p:cNvPr id="8" name="Text 6"/>
          <p:cNvSpPr/>
          <p:nvPr/>
        </p:nvSpPr>
        <p:spPr>
          <a:xfrm>
            <a:off x="4663440" y="2240280"/>
            <a:ext cx="3154680" cy="3200400"/>
          </a:xfrm>
          <a:prstGeom prst="rect">
            <a:avLst/>
          </a:prstGeom>
          <a:noFill/>
          <a:ln/>
        </p:spPr>
        <p:txBody>
          <a:bodyPr wrap="square" rtlCol="0" anchor="t"/>
          <a:lstStyle/>
          <a:p>
            <a:pPr algn="l" marL="342900" indent="-342900">
              <a:spcAft>
                <a:spcPts val="1000"/>
              </a:spcAft>
              <a:buSzPct val="100000"/>
              <a:buChar char="•"/>
            </a:pPr>
            <a:r>
              <a:rPr lang="en-US" sz="1450" dirty="0">
                <a:solidFill>
                  <a:srgbClr val="E2E8F0"/>
                </a:solidFill>
              </a:rPr>
              <a:t>snRNA-seq ≠ lobule geometry / spatial architecture.</a:t>
            </a:r>
            <a:endParaRPr lang="en-US" sz="1450" dirty="0"/>
          </a:p>
          <a:p>
            <a:pPr algn="l" marL="342900" indent="-342900">
              <a:spcAft>
                <a:spcPts val="1000"/>
              </a:spcAft>
              <a:buSzPct val="100000"/>
              <a:buChar char="•"/>
            </a:pPr>
            <a:r>
              <a:rPr lang="en-US" sz="1450" dirty="0">
                <a:solidFill>
                  <a:srgbClr val="E2E8F0"/>
                </a:solidFill>
              </a:rPr>
              <a:t>Imaging / protein / organoid evidence not re-analyzed.</a:t>
            </a:r>
            <a:endParaRPr lang="en-US" sz="1450" dirty="0"/>
          </a:p>
          <a:p>
            <a:pPr algn="l" marL="342900" indent="-342900">
              <a:spcAft>
                <a:spcPts val="1000"/>
              </a:spcAft>
              <a:buSzPct val="100000"/>
              <a:buChar char="•"/>
            </a:pPr>
            <a:r>
              <a:rPr lang="en-US" sz="1450" dirty="0">
                <a:solidFill>
                  <a:srgbClr val="E2E8F0"/>
                </a:solidFill>
              </a:rPr>
              <a:t>F4 has only 4 biopsy donors.</a:t>
            </a:r>
            <a:endParaRPr lang="en-US" sz="1450" dirty="0"/>
          </a:p>
          <a:p>
            <a:pPr algn="l" marL="342900" indent="-342900">
              <a:spcAft>
                <a:spcPts val="1000"/>
              </a:spcAft>
              <a:buSzPct val="100000"/>
              <a:buChar char="•"/>
            </a:pPr>
            <a:r>
              <a:rPr lang="en-US" sz="1450" dirty="0">
                <a:solidFill>
                  <a:srgbClr val="E2E8F0"/>
                </a:solidFill>
              </a:rPr>
              <a:t>Gene-level DGE can miss weak coordinated pathways.</a:t>
            </a:r>
            <a:endParaRPr lang="en-US" sz="1450" dirty="0"/>
          </a:p>
        </p:txBody>
      </p:sp>
      <p:sp>
        <p:nvSpPr>
          <p:cNvPr id="9" name="Shape 7"/>
          <p:cNvSpPr/>
          <p:nvPr/>
        </p:nvSpPr>
        <p:spPr>
          <a:xfrm>
            <a:off x="8229600" y="1508760"/>
            <a:ext cx="3566160" cy="4023360"/>
          </a:xfrm>
          <a:prstGeom prst="roundRect">
            <a:avLst>
              <a:gd name="adj" fmla="val 2051"/>
            </a:avLst>
          </a:prstGeom>
          <a:solidFill>
            <a:srgbClr val="1E293B"/>
          </a:solidFill>
          <a:ln/>
          <a:effectLst>
            <a:outerShdw sx="100000" sy="100000" kx="0" ky="0" algn="bl" rotWithShape="0" blurRad="88900" dist="38100" dir="5400000">
              <a:srgbClr val="000000">
                <a:alpha val="12000"/>
              </a:srgbClr>
            </a:outerShdw>
          </a:effectLst>
        </p:spPr>
      </p:sp>
      <p:sp>
        <p:nvSpPr>
          <p:cNvPr id="10" name="Text 8"/>
          <p:cNvSpPr/>
          <p:nvPr/>
        </p:nvSpPr>
        <p:spPr>
          <a:xfrm>
            <a:off x="8229600" y="1645920"/>
            <a:ext cx="3566160" cy="457200"/>
          </a:xfrm>
          <a:prstGeom prst="rect">
            <a:avLst/>
          </a:prstGeom>
          <a:noFill/>
          <a:ln/>
        </p:spPr>
        <p:txBody>
          <a:bodyPr wrap="square" rtlCol="0" anchor="ctr"/>
          <a:lstStyle/>
          <a:p>
            <a:pPr algn="ctr" indent="0" marL="0">
              <a:buNone/>
            </a:pPr>
            <a:r>
              <a:rPr lang="en-US" sz="2000" b="1" dirty="0">
                <a:solidFill>
                  <a:srgbClr val="93C5FD"/>
                </a:solidFill>
              </a:rPr>
              <a:t>Next</a:t>
            </a:r>
            <a:endParaRPr lang="en-US" sz="2000" dirty="0"/>
          </a:p>
        </p:txBody>
      </p:sp>
      <p:sp>
        <p:nvSpPr>
          <p:cNvPr id="11" name="Text 9"/>
          <p:cNvSpPr/>
          <p:nvPr/>
        </p:nvSpPr>
        <p:spPr>
          <a:xfrm>
            <a:off x="8458200" y="2240280"/>
            <a:ext cx="3154680" cy="3200400"/>
          </a:xfrm>
          <a:prstGeom prst="rect">
            <a:avLst/>
          </a:prstGeom>
          <a:noFill/>
          <a:ln/>
        </p:spPr>
        <p:txBody>
          <a:bodyPr wrap="square" rtlCol="0" anchor="t"/>
          <a:lstStyle/>
          <a:p>
            <a:pPr algn="l" marL="342900" indent="-342900">
              <a:spcAft>
                <a:spcPts val="1000"/>
              </a:spcAft>
              <a:buSzPct val="100000"/>
              <a:buChar char="•"/>
            </a:pPr>
            <a:r>
              <a:rPr lang="en-US" sz="1450" dirty="0">
                <a:solidFill>
                  <a:srgbClr val="E2E8F0"/>
                </a:solidFill>
              </a:rPr>
              <a:t>CAMERA / ROAST gene-set tests.</a:t>
            </a:r>
            <a:endParaRPr lang="en-US" sz="1450" dirty="0"/>
          </a:p>
          <a:p>
            <a:pPr algn="l" marL="342900" indent="-342900">
              <a:spcAft>
                <a:spcPts val="1000"/>
              </a:spcAft>
              <a:buSzPct val="100000"/>
              <a:buChar char="•"/>
            </a:pPr>
            <a:r>
              <a:rPr lang="en-US" sz="1450" dirty="0">
                <a:solidFill>
                  <a:srgbClr val="E2E8F0"/>
                </a:solidFill>
              </a:rPr>
              <a:t>Leave-one-F4-donor-out DGE.</a:t>
            </a:r>
            <a:endParaRPr lang="en-US" sz="1450" dirty="0"/>
          </a:p>
          <a:p>
            <a:pPr algn="l" marL="342900" indent="-342900">
              <a:spcAft>
                <a:spcPts val="1000"/>
              </a:spcAft>
              <a:buSzPct val="100000"/>
              <a:buChar char="•"/>
            </a:pPr>
            <a:r>
              <a:rPr lang="en-US" sz="1450" dirty="0">
                <a:solidFill>
                  <a:srgbClr val="E2E8F0"/>
                </a:solidFill>
              </a:rPr>
              <a:t>Quantitative contamination model.</a:t>
            </a:r>
            <a:endParaRPr lang="en-US" sz="1450" dirty="0"/>
          </a:p>
          <a:p>
            <a:pPr algn="l" marL="342900" indent="-342900">
              <a:spcAft>
                <a:spcPts val="1000"/>
              </a:spcAft>
              <a:buSzPct val="100000"/>
              <a:buChar char="•"/>
            </a:pPr>
            <a:r>
              <a:rPr lang="en-US" sz="1450" dirty="0">
                <a:solidFill>
                  <a:srgbClr val="E2E8F0"/>
                </a:solidFill>
              </a:rPr>
              <a:t>Spatial / independent biopsy validation.</a:t>
            </a:r>
            <a:endParaRPr lang="en-US" sz="1450" dirty="0"/>
          </a:p>
        </p:txBody>
      </p:sp>
      <p:sp>
        <p:nvSpPr>
          <p:cNvPr id="12" name="Text 10"/>
          <p:cNvSpPr/>
          <p:nvPr/>
        </p:nvSpPr>
        <p:spPr>
          <a:xfrm>
            <a:off x="640080" y="5806440"/>
            <a:ext cx="10881360" cy="640080"/>
          </a:xfrm>
          <a:prstGeom prst="rect">
            <a:avLst/>
          </a:prstGeom>
          <a:noFill/>
          <a:ln/>
        </p:spPr>
        <p:txBody>
          <a:bodyPr wrap="square" rtlCol="0" anchor="ctr"/>
          <a:lstStyle/>
          <a:p>
            <a:pPr algn="ctr" indent="0" marL="0">
              <a:buNone/>
            </a:pPr>
            <a:r>
              <a:rPr lang="en-US" sz="1800" b="1" i="1" dirty="0">
                <a:solidFill>
                  <a:srgbClr val="FFFFFF"/>
                </a:solidFill>
              </a:rPr>
              <a:t>The snRNA-seq transcriptomic evidence for progressive de-zonation does not survive matched-source re-analysis.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Full four-mechanism panel (all F0–F4)</a:t>
            </a:r>
            <a:endParaRPr lang="en-US" sz="2600" dirty="0"/>
          </a:p>
        </p:txBody>
      </p:sp>
      <p:pic>
        <p:nvPicPr>
          <p:cNvPr id="4" name="Image 0" descr="D:\CS\Genomics\Hackathon\reports\deck/assets/fig_anchor2x2.png">    </p:cNvPr>
          <p:cNvPicPr>
            <a:picLocks noChangeAspect="1"/>
          </p:cNvPicPr>
          <p:nvPr/>
        </p:nvPicPr>
        <p:blipFill>
          <a:blip r:embed="rId1"/>
          <a:srcRect l="0" r="0" t="0" b="0"/>
          <a:stretch/>
        </p:blipFill>
        <p:spPr>
          <a:xfrm>
            <a:off x="1188720" y="1417320"/>
            <a:ext cx="8412480" cy="4663440"/>
          </a:xfrm>
          <a:prstGeom prst="rect">
            <a:avLst/>
          </a:prstGeom>
        </p:spPr>
      </p:pic>
      <p:sp>
        <p:nvSpPr>
          <p:cNvPr id="5" name="Text 2"/>
          <p:cNvSpPr/>
          <p:nvPr/>
        </p:nvSpPr>
        <p:spPr>
          <a:xfrm>
            <a:off x="9692640" y="2377440"/>
            <a:ext cx="2286000" cy="2743200"/>
          </a:xfrm>
          <a:prstGeom prst="rect">
            <a:avLst/>
          </a:prstGeom>
          <a:noFill/>
          <a:ln/>
        </p:spPr>
        <p:txBody>
          <a:bodyPr wrap="square" rtlCol="0" anchor="ctr"/>
          <a:lstStyle/>
          <a:p>
            <a:pPr algn="l" indent="0" marL="0">
              <a:buNone/>
            </a:pPr>
            <a:r>
              <a:rPr lang="en-US" sz="1500" b="1" dirty="0">
                <a:solidFill>
                  <a:srgbClr val="1E293B"/>
                </a:solidFill>
              </a:rPr>
              <a:t>None of the four de-zonation routes shows a large monotone biopsy-axis change.
</a:t>
            </a:r>
            <a:endParaRPr lang="en-US" sz="1500" dirty="0"/>
          </a:p>
          <a:p>
            <a:pPr algn="l" indent="0" marL="0">
              <a:buNone/>
            </a:pPr>
            <a:r>
              <a:rPr lang="en-US" sz="1500" dirty="0">
                <a:solidFill>
                  <a:srgbClr val="BE123C"/>
                </a:solidFill>
              </a:rPr>
              <a:t>Confounded explants for contrast: dual ≈ 2.9% (~7×).</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Are you overturning the paper? No — narrow scope</a:t>
            </a:r>
            <a:endParaRPr lang="en-US" sz="2600" dirty="0"/>
          </a:p>
        </p:txBody>
      </p:sp>
      <p:sp>
        <p:nvSpPr>
          <p:cNvPr id="4" name="Text 2"/>
          <p:cNvSpPr/>
          <p:nvPr/>
        </p:nvSpPr>
        <p:spPr>
          <a:xfrm>
            <a:off x="731520" y="155448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E293B"/>
                </a:solidFill>
              </a:rPr>
              <a:t>We re-tested only the snRNA-seq transcriptional zonation/plasticity evidence.</a:t>
            </a:r>
            <a:endParaRPr lang="en-US" sz="2000" dirty="0"/>
          </a:p>
          <a:p>
            <a:pPr algn="l" marL="342900" indent="-342900">
              <a:spcAft>
                <a:spcPts val="900"/>
              </a:spcAft>
              <a:buSzPct val="100000"/>
              <a:buChar char="•"/>
            </a:pPr>
            <a:r>
              <a:rPr lang="en-US" sz="2000" dirty="0">
                <a:solidFill>
                  <a:srgbClr val="1E293B"/>
                </a:solidFill>
              </a:rPr>
              <a:t>We did NOT test imaging, protein staining, organoids, or 3D architecture.</a:t>
            </a:r>
            <a:endParaRPr lang="en-US" sz="2000" dirty="0"/>
          </a:p>
          <a:p>
            <a:pPr algn="l" marL="342900" indent="-342900">
              <a:spcAft>
                <a:spcPts val="900"/>
              </a:spcAft>
              <a:buSzPct val="100000"/>
              <a:buChar char="•"/>
            </a:pPr>
            <a:r>
              <a:rPr lang="en-US" sz="2000" dirty="0">
                <a:solidFill>
                  <a:srgbClr val="1E293B"/>
                </a:solidFill>
              </a:rPr>
              <a:t>Claim: matched biopsy transcriptomes do not show progressive zonation loss.</a:t>
            </a:r>
            <a:endParaRPr lang="en-US" sz="2000" dirty="0"/>
          </a:p>
          <a:p>
            <a:pPr algn="l" marL="342900" indent="-342900">
              <a:spcAft>
                <a:spcPts val="900"/>
              </a:spcAft>
              <a:buSzPct val="100000"/>
              <a:buChar char="•"/>
            </a:pPr>
            <a:r>
              <a:rPr lang="en-US" sz="2000" dirty="0">
                <a:solidFill>
                  <a:srgbClr val="1E293B"/>
                </a:solidFill>
              </a:rPr>
              <a:t>We agree the strong signal is an end-stage phenomenon.</a:t>
            </a:r>
            <a:endParaRPr lang="en-US" sz="2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Maybe the caudate lobe caused it? Lobe-invariant</a:t>
            </a:r>
            <a:endParaRPr lang="en-US" sz="2600" dirty="0"/>
          </a:p>
        </p:txBody>
      </p:sp>
      <p:pic>
        <p:nvPicPr>
          <p:cNvPr id="4" name="Image 0" descr="D:\CS\Genomics\Hackathon\reports\deck/assets/fig_lobe.png">    </p:cNvPr>
          <p:cNvPicPr>
            <a:picLocks noChangeAspect="1"/>
          </p:cNvPicPr>
          <p:nvPr/>
        </p:nvPicPr>
        <p:blipFill>
          <a:blip r:embed="rId1"/>
          <a:srcRect l="0" r="0" t="0" b="0"/>
          <a:stretch/>
        </p:blipFill>
        <p:spPr>
          <a:xfrm>
            <a:off x="731520" y="1463040"/>
            <a:ext cx="6949440" cy="4572000"/>
          </a:xfrm>
          <a:prstGeom prst="rect">
            <a:avLst/>
          </a:prstGeom>
        </p:spPr>
      </p:pic>
      <p:sp>
        <p:nvSpPr>
          <p:cNvPr id="5" name="Text 2"/>
          <p:cNvSpPr/>
          <p:nvPr/>
        </p:nvSpPr>
        <p:spPr>
          <a:xfrm>
            <a:off x="7955280" y="2377440"/>
            <a:ext cx="3657600" cy="2286000"/>
          </a:xfrm>
          <a:prstGeom prst="rect">
            <a:avLst/>
          </a:prstGeom>
          <a:noFill/>
          <a:ln/>
        </p:spPr>
        <p:txBody>
          <a:bodyPr wrap="square" rtlCol="0" anchor="ctr"/>
          <a:lstStyle/>
          <a:p>
            <a:pPr algn="l" indent="0" marL="0">
              <a:buNone/>
            </a:pPr>
            <a:r>
              <a:rPr lang="en-US" sz="1800" b="1" dirty="0">
                <a:solidFill>
                  <a:srgbClr val="1E293B"/>
                </a:solidFill>
              </a:rPr>
              <a:t>Detection rates match across Right / Caudate / Left.
</a:t>
            </a:r>
            <a:endParaRPr lang="en-US" sz="1800" dirty="0"/>
          </a:p>
          <a:p>
            <a:pPr algn="l" indent="0" marL="0">
              <a:buNone/>
            </a:pPr>
            <a:r>
              <a:rPr lang="en-US" sz="1800" dirty="0">
                <a:solidFill>
                  <a:srgbClr val="1E293B"/>
                </a:solidFill>
              </a:rPr>
              <a:t>Lobe does not explain the signal;</a:t>
            </a:r>
            <a:endParaRPr lang="en-US" sz="1800" dirty="0"/>
          </a:p>
          <a:p>
            <a:pPr algn="l" indent="0" marL="0">
              <a:buNone/>
            </a:pPr>
            <a:r>
              <a:rPr lang="en-US" sz="1800" dirty="0">
                <a:solidFill>
                  <a:srgbClr val="1E293B"/>
                </a:solidFill>
              </a:rPr>
              <a:t>explant-vs-biopsy acquisition still does.</a:t>
            </a:r>
            <a:endParaRPr lang="en-US" sz="1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What happens in end-stage? Five organs, five phenotypes</a:t>
            </a:r>
            <a:endParaRPr lang="en-US" sz="2600" dirty="0"/>
          </a:p>
        </p:txBody>
      </p:sp>
      <p:pic>
        <p:nvPicPr>
          <p:cNvPr id="4" name="Image 0" descr="D:\CS\Genomics\Hackathon\reports\deck/assets/fig_explant.png">    </p:cNvPr>
          <p:cNvPicPr>
            <a:picLocks noChangeAspect="1"/>
          </p:cNvPicPr>
          <p:nvPr/>
        </p:nvPicPr>
        <p:blipFill>
          <a:blip r:embed="rId1"/>
          <a:srcRect l="0" r="0" t="0" b="0"/>
          <a:stretch/>
        </p:blipFill>
        <p:spPr>
          <a:xfrm>
            <a:off x="731520" y="1463040"/>
            <a:ext cx="7498080" cy="4572000"/>
          </a:xfrm>
          <a:prstGeom prst="rect">
            <a:avLst/>
          </a:prstGeom>
        </p:spPr>
      </p:pic>
      <p:sp>
        <p:nvSpPr>
          <p:cNvPr id="5" name="Text 2"/>
          <p:cNvSpPr/>
          <p:nvPr/>
        </p:nvSpPr>
        <p:spPr>
          <a:xfrm>
            <a:off x="8412480" y="2377440"/>
            <a:ext cx="3291840" cy="2377440"/>
          </a:xfrm>
          <a:prstGeom prst="rect">
            <a:avLst/>
          </a:prstGeom>
          <a:noFill/>
          <a:ln/>
        </p:spPr>
        <p:txBody>
          <a:bodyPr wrap="square" rtlCol="0" anchor="ctr"/>
          <a:lstStyle/>
          <a:p>
            <a:pPr algn="l" indent="0" marL="0">
              <a:buNone/>
            </a:pPr>
            <a:r>
              <a:rPr lang="en-US" sz="1700" b="1" dirty="0">
                <a:solidFill>
                  <a:srgbClr val="1E293B"/>
                </a:solidFill>
              </a:rPr>
              <a:t>PC-anchor 3% → 50%;  PP:PC 0.13 → 20.
</a:t>
            </a:r>
            <a:endParaRPr lang="en-US" sz="1700" dirty="0"/>
          </a:p>
          <a:p>
            <a:pPr algn="l" indent="0" marL="0">
              <a:buNone/>
            </a:pPr>
            <a:r>
              <a:rPr lang="en-US" sz="1700" dirty="0">
                <a:solidFill>
                  <a:srgbClr val="1E293B"/>
                </a:solidFill>
              </a:rPr>
              <a:t>Dramatic but NOT one coherent program — pooling them manufactures a uniform “collapse.”</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Robustness: sensitivity grid + equivalence bound</a:t>
            </a:r>
            <a:endParaRPr lang="en-US" sz="2600" dirty="0"/>
          </a:p>
        </p:txBody>
      </p:sp>
      <p:pic>
        <p:nvPicPr>
          <p:cNvPr id="4" name="Image 0" descr="D:\CS\Genomics\Hackathon\reports\deck/assets/fig_tost.png">    </p:cNvPr>
          <p:cNvPicPr>
            <a:picLocks noChangeAspect="1"/>
          </p:cNvPicPr>
          <p:nvPr/>
        </p:nvPicPr>
        <p:blipFill>
          <a:blip r:embed="rId1"/>
          <a:srcRect l="0" r="0" t="0" b="0"/>
          <a:stretch/>
        </p:blipFill>
        <p:spPr>
          <a:xfrm>
            <a:off x="6035040" y="1554480"/>
            <a:ext cx="5852160" cy="3657600"/>
          </a:xfrm>
          <a:prstGeom prst="rect">
            <a:avLst/>
          </a:prstGeom>
        </p:spPr>
      </p:pic>
      <p:sp>
        <p:nvSpPr>
          <p:cNvPr id="5" name="Text 2"/>
          <p:cNvSpPr/>
          <p:nvPr/>
        </p:nvSpPr>
        <p:spPr>
          <a:xfrm>
            <a:off x="640080" y="1737360"/>
            <a:ext cx="5212080" cy="3840480"/>
          </a:xfrm>
          <a:prstGeom prst="rect">
            <a:avLst/>
          </a:prstGeom>
          <a:noFill/>
          <a:ln/>
        </p:spPr>
        <p:txBody>
          <a:bodyPr wrap="square" rtlCol="0" anchor="t"/>
          <a:lstStyle/>
          <a:p>
            <a:pPr algn="l" indent="0" marL="0">
              <a:buNone/>
            </a:pPr>
            <a:r>
              <a:rPr lang="en-US" sz="1600" b="1" dirty="0">
                <a:solidFill>
                  <a:srgbClr val="1E293B"/>
                </a:solidFill>
              </a:rPr>
              <a:t>Stable across every variant:
</a:t>
            </a:r>
            <a:endParaRPr lang="en-US" sz="1600" dirty="0"/>
          </a:p>
          <a:p>
            <a:pPr algn="l" indent="0" marL="0">
              <a:buNone/>
            </a:pPr>
            <a:r>
              <a:rPr lang="en-US" sz="1600" dirty="0">
                <a:solidFill>
                  <a:srgbClr val="1E293B"/>
                </a:solidFill>
              </a:rPr>
              <a:t>PC = GLUL-only / CYP3A4-only / both;  PP = 2-of-4 / 3-of-4;
ALDOB in/out;  CPS1-based;  threshold 1 vs 2 UMI.
</a:t>
            </a:r>
            <a:endParaRPr lang="en-US" sz="1600" dirty="0"/>
          </a:p>
          <a:p>
            <a:pPr algn="l" indent="0" marL="0">
              <a:buNone/>
            </a:pPr>
            <a:r>
              <a:rPr lang="en-US" sz="1600" b="1" dirty="0">
                <a:solidFill>
                  <a:srgbClr val="0D9488"/>
                </a:solidFill>
              </a:rPr>
              <a:t>No PC depletion · no dual increase · no turn-off — in all.
</a:t>
            </a:r>
            <a:endParaRPr lang="en-US" sz="1600" dirty="0"/>
          </a:p>
          <a:p>
            <a:pPr algn="l" indent="0" marL="0">
              <a:buNone/>
            </a:pPr>
            <a:r>
              <a:rPr lang="en-US" sz="1600" i="1" dirty="0">
                <a:solidFill>
                  <a:srgbClr val="64748B"/>
                </a:solidFill>
              </a:rPr>
              <a:t>Bound: large shift (~20 pp) excluded; subtle drift ≤10 pp not excluded (F4 n=4).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Why raw counts, not SCT?</a:t>
            </a:r>
            <a:endParaRPr lang="en-US" sz="2600" dirty="0"/>
          </a:p>
        </p:txBody>
      </p:sp>
      <p:sp>
        <p:nvSpPr>
          <p:cNvPr id="4" name="Text 2"/>
          <p:cNvSpPr/>
          <p:nvPr/>
        </p:nvSpPr>
        <p:spPr>
          <a:xfrm>
            <a:off x="731520" y="155448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E293B"/>
                </a:solidFill>
              </a:rPr>
              <a:t>SCT is great for clustering / visualization.</a:t>
            </a:r>
            <a:endParaRPr lang="en-US" sz="2000" dirty="0"/>
          </a:p>
          <a:p>
            <a:pPr algn="l" marL="342900" indent="-342900">
              <a:spcAft>
                <a:spcPts val="900"/>
              </a:spcAft>
              <a:buSzPct val="100000"/>
              <a:buChar char="•"/>
            </a:pPr>
            <a:r>
              <a:rPr lang="en-US" sz="2000" dirty="0">
                <a:solidFill>
                  <a:srgbClr val="1E293B"/>
                </a:solidFill>
              </a:rPr>
              <a:t>But this question depends on molecule detection and ambient RNA.</a:t>
            </a:r>
            <a:endParaRPr lang="en-US" sz="2000" dirty="0"/>
          </a:p>
          <a:p>
            <a:pPr algn="l" marL="342900" indent="-342900">
              <a:spcAft>
                <a:spcPts val="900"/>
              </a:spcAft>
              <a:buSzPct val="100000"/>
              <a:buChar char="•"/>
            </a:pPr>
            <a:r>
              <a:rPr lang="en-US" sz="2000" dirty="0">
                <a:solidFill>
                  <a:srgbClr val="1E293B"/>
                </a:solidFill>
              </a:rPr>
              <a:t>Raw counts + equal 1,500-UMI budget + ≥2-UMI threshold directly test marker co-detection.</a:t>
            </a:r>
            <a:endParaRPr lang="en-US" sz="2000" dirty="0"/>
          </a:p>
          <a:p>
            <a:pPr algn="l" marL="342900" indent="-342900">
              <a:spcAft>
                <a:spcPts val="900"/>
              </a:spcAft>
              <a:buSzPct val="100000"/>
              <a:buChar char="•"/>
            </a:pPr>
            <a:r>
              <a:rPr lang="en-US" sz="2000" dirty="0">
                <a:solidFill>
                  <a:srgbClr val="1E293B"/>
                </a:solidFill>
              </a:rPr>
              <a:t>A single-UMI event can easily be ambient; ≥2 is more robust (not proof).</a:t>
            </a:r>
            <a:endParaRPr lang="en-US" sz="2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Why pseudobulk, not per-cell DGE?</a:t>
            </a:r>
            <a:endParaRPr lang="en-US" sz="2600" dirty="0"/>
          </a:p>
        </p:txBody>
      </p:sp>
      <p:sp>
        <p:nvSpPr>
          <p:cNvPr id="4" name="Text 2"/>
          <p:cNvSpPr/>
          <p:nvPr/>
        </p:nvSpPr>
        <p:spPr>
          <a:xfrm>
            <a:off x="731520" y="155448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E293B"/>
                </a:solidFill>
              </a:rPr>
              <a:t>Cells from the same donor are not independent replicates (pseudoreplication).</a:t>
            </a:r>
            <a:endParaRPr lang="en-US" sz="2000" dirty="0"/>
          </a:p>
          <a:p>
            <a:pPr algn="l" marL="342900" indent="-342900">
              <a:spcAft>
                <a:spcPts val="900"/>
              </a:spcAft>
              <a:buSzPct val="100000"/>
              <a:buChar char="•"/>
            </a:pPr>
            <a:r>
              <a:rPr lang="en-US" sz="2000" dirty="0">
                <a:solidFill>
                  <a:srgbClr val="1E293B"/>
                </a:solidFill>
              </a:rPr>
              <a:t>Pseudobulk sums raw counts per donor → one profile per donor.</a:t>
            </a:r>
            <a:endParaRPr lang="en-US" sz="2000" dirty="0"/>
          </a:p>
          <a:p>
            <a:pPr algn="l" marL="342900" indent="-342900">
              <a:spcAft>
                <a:spcPts val="900"/>
              </a:spcAft>
              <a:buSzPct val="100000"/>
              <a:buChar char="•"/>
            </a:pPr>
            <a:r>
              <a:rPr lang="en-US" sz="2000" dirty="0">
                <a:solidFill>
                  <a:srgbClr val="1E293B"/>
                </a:solidFill>
              </a:rPr>
              <a:t>DGE then tests donor-level consistency (Squair et al. 2021).</a:t>
            </a:r>
            <a:endParaRPr lang="en-US" sz="2000" dirty="0"/>
          </a:p>
          <a:p>
            <a:pPr algn="l" marL="342900" indent="-342900">
              <a:spcAft>
                <a:spcPts val="900"/>
              </a:spcAft>
              <a:buSzPct val="100000"/>
              <a:buChar char="•"/>
            </a:pPr>
            <a:r>
              <a:rPr lang="en-US" sz="2000" dirty="0">
                <a:solidFill>
                  <a:srgbClr val="1E293B"/>
                </a:solidFill>
              </a:rPr>
              <a:t>38 biopsy donors; F4 = 4 donors → F4-specific signals treated with caution.</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Why abandon the relative correlation/spread ruler?</a:t>
            </a:r>
            <a:endParaRPr lang="en-US" sz="2600" dirty="0"/>
          </a:p>
        </p:txBody>
      </p:sp>
      <p:sp>
        <p:nvSpPr>
          <p:cNvPr id="4" name="Text 2"/>
          <p:cNvSpPr/>
          <p:nvPr/>
        </p:nvSpPr>
        <p:spPr>
          <a:xfrm>
            <a:off x="731520" y="155448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E293B"/>
                </a:solidFill>
              </a:rPr>
              <a:t>It was source-confounded (the collapse lived in the confounded endpoints).</a:t>
            </a:r>
            <a:endParaRPr lang="en-US" sz="2000" dirty="0"/>
          </a:p>
          <a:p>
            <a:pPr algn="l" marL="342900" indent="-342900">
              <a:spcAft>
                <a:spcPts val="900"/>
              </a:spcAft>
              <a:buSzPct val="100000"/>
              <a:buChar char="•"/>
            </a:pPr>
            <a:r>
              <a:rPr lang="en-US" sz="2000" dirty="0">
                <a:solidFill>
                  <a:srgbClr val="1E293B"/>
                </a:solidFill>
              </a:rPr>
              <a:t>It was depth-sensitive (shallower F4 changes spread for non-biological reasons).</a:t>
            </a:r>
            <a:endParaRPr lang="en-US" sz="2000" dirty="0"/>
          </a:p>
          <a:p>
            <a:pPr algn="l" marL="342900" indent="-342900">
              <a:spcAft>
                <a:spcPts val="900"/>
              </a:spcAft>
              <a:buSzPct val="100000"/>
              <a:buChar char="•"/>
            </a:pPr>
            <a:r>
              <a:rPr lang="en-US" sz="2000" dirty="0">
                <a:solidFill>
                  <a:srgbClr val="1E293B"/>
                </a:solidFill>
              </a:rPr>
              <a:t>It conflated co-expression, turn-off, noise, and composition shift.</a:t>
            </a:r>
            <a:endParaRPr lang="en-US" sz="2000" dirty="0"/>
          </a:p>
          <a:p>
            <a:pPr algn="l" marL="342900" indent="-342900">
              <a:spcAft>
                <a:spcPts val="900"/>
              </a:spcAft>
              <a:buSzPct val="100000"/>
              <a:buChar char="•"/>
            </a:pPr>
            <a:r>
              <a:rPr lang="en-US" sz="2000" dirty="0">
                <a:solidFill>
                  <a:srgbClr val="1E293B"/>
                </a:solidFill>
              </a:rPr>
              <a:t>A Simpson/aggregation sign-reversal confirmed the artifact; count taxonomy separates mechanisms.</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Why not the 2D PC-vs-PP joint-count plot?</a:t>
            </a:r>
            <a:endParaRPr lang="en-US" sz="2600" dirty="0"/>
          </a:p>
        </p:txBody>
      </p:sp>
      <p:sp>
        <p:nvSpPr>
          <p:cNvPr id="4" name="Text 2"/>
          <p:cNvSpPr/>
          <p:nvPr/>
        </p:nvSpPr>
        <p:spPr>
          <a:xfrm>
            <a:off x="731520" y="155448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E293B"/>
                </a:solidFill>
              </a:rPr>
              <a:t>Broad metabolic program sums are ON in most normal hepatocytes.</a:t>
            </a:r>
            <a:endParaRPr lang="en-US" sz="2000" dirty="0"/>
          </a:p>
          <a:p>
            <a:pPr algn="l" marL="342900" indent="-342900">
              <a:spcAft>
                <a:spcPts val="900"/>
              </a:spcAft>
              <a:buSzPct val="100000"/>
              <a:buChar char="•"/>
            </a:pPr>
            <a:r>
              <a:rPr lang="en-US" sz="2000" dirty="0">
                <a:solidFill>
                  <a:srgbClr val="1E293B"/>
                </a:solidFill>
              </a:rPr>
              <a:t>So “both programs high” is satisfied by normal cells — not a co-expression test.</a:t>
            </a:r>
            <a:endParaRPr lang="en-US" sz="2000" dirty="0"/>
          </a:p>
          <a:p>
            <a:pPr algn="l" marL="342900" indent="-342900">
              <a:spcAft>
                <a:spcPts val="900"/>
              </a:spcAft>
              <a:buSzPct val="100000"/>
              <a:buChar char="•"/>
            </a:pPr>
            <a:r>
              <a:rPr lang="en-US" sz="2000" dirty="0">
                <a:solidFill>
                  <a:srgbClr val="1E293B"/>
                </a:solidFill>
              </a:rPr>
              <a:t>It is a pole-collapse visual (fuller in biopsy than explant).</a:t>
            </a:r>
            <a:endParaRPr lang="en-US" sz="2000" dirty="0"/>
          </a:p>
          <a:p>
            <a:pPr algn="l" marL="342900" indent="-342900">
              <a:spcAft>
                <a:spcPts val="900"/>
              </a:spcAft>
              <a:buSzPct val="100000"/>
              <a:buChar char="•"/>
            </a:pPr>
            <a:r>
              <a:rPr lang="en-US" sz="2000" dirty="0">
                <a:solidFill>
                  <a:srgbClr val="1E293B"/>
                </a:solidFill>
              </a:rPr>
              <a:t>The clean metric is strict anchor dual at ≥2 UMI: ~0.4% biopsy vs ~2.9% explant.</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DGE model details</a:t>
            </a:r>
            <a:endParaRPr lang="en-US" sz="2600" dirty="0"/>
          </a:p>
        </p:txBody>
      </p:sp>
      <p:sp>
        <p:nvSpPr>
          <p:cNvPr id="4" name="Text 2"/>
          <p:cNvSpPr/>
          <p:nvPr/>
        </p:nvSpPr>
        <p:spPr>
          <a:xfrm>
            <a:off x="731520" y="155448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E293B"/>
                </a:solidFill>
              </a:rPr>
              <a:t>Raw hepatocyte UMI counts summed per donor.</a:t>
            </a:r>
            <a:endParaRPr lang="en-US" sz="2000" dirty="0"/>
          </a:p>
          <a:p>
            <a:pPr algn="l" marL="342900" indent="-342900">
              <a:spcAft>
                <a:spcPts val="900"/>
              </a:spcAft>
              <a:buSzPct val="100000"/>
              <a:buChar char="•"/>
            </a:pPr>
            <a:r>
              <a:rPr lang="en-US" sz="2000" dirty="0">
                <a:solidFill>
                  <a:srgbClr val="1E293B"/>
                </a:solidFill>
              </a:rPr>
              <a:t>filterByExpr retained 21,022 genes; TMM normalization.</a:t>
            </a:r>
            <a:endParaRPr lang="en-US" sz="2000" dirty="0"/>
          </a:p>
          <a:p>
            <a:pPr algn="l" marL="342900" indent="-342900">
              <a:spcAft>
                <a:spcPts val="900"/>
              </a:spcAft>
              <a:buSzPct val="100000"/>
              <a:buChar char="•"/>
            </a:pPr>
            <a:r>
              <a:rPr lang="en-US" sz="2000" dirty="0">
                <a:solidFill>
                  <a:srgbClr val="1E293B"/>
                </a:solidFill>
              </a:rPr>
              <a:t>edgeR negative-binomial quasi-likelihood GLM, robust dispersion; common BCV 0.405.</a:t>
            </a:r>
            <a:endParaRPr lang="en-US" sz="2000" dirty="0"/>
          </a:p>
          <a:p>
            <a:pPr algn="l" marL="342900" indent="-342900">
              <a:spcAft>
                <a:spcPts val="900"/>
              </a:spcAft>
              <a:buSzPct val="100000"/>
              <a:buChar char="•"/>
            </a:pPr>
            <a:r>
              <a:rPr lang="en-US" sz="2000" dirty="0">
                <a:solidFill>
                  <a:srgbClr val="1E293B"/>
                </a:solidFill>
              </a:rPr>
              <a:t>Primary contrast F4 vs F1.</a:t>
            </a:r>
            <a:endParaRPr lang="en-US" sz="2000" dirty="0"/>
          </a:p>
          <a:p>
            <a:pPr algn="l" marL="342900" indent="-342900">
              <a:spcAft>
                <a:spcPts val="900"/>
              </a:spcAft>
              <a:buSzPct val="100000"/>
              <a:buChar char="•"/>
            </a:pPr>
            <a:r>
              <a:rPr lang="en-US" sz="2000" dirty="0">
                <a:solidFill>
                  <a:srgbClr val="1E293B"/>
                </a:solidFill>
              </a:rPr>
              <a:t>Primary signal persists in DIRECTION with a run covariate and within a single run; significance attenuates with the smaller n (not a batch artifact).</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Does decontX prove contamination? No</a:t>
            </a:r>
            <a:endParaRPr lang="en-US" sz="2600" dirty="0"/>
          </a:p>
        </p:txBody>
      </p:sp>
      <p:sp>
        <p:nvSpPr>
          <p:cNvPr id="4" name="Text 2"/>
          <p:cNvSpPr/>
          <p:nvPr/>
        </p:nvSpPr>
        <p:spPr>
          <a:xfrm>
            <a:off x="731520" y="155448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E293B"/>
                </a:solidFill>
              </a:rPr>
              <a:t>decontX models a native + ambient RNA mixture and subtracts the estimate.</a:t>
            </a:r>
            <a:endParaRPr lang="en-US" sz="2000" dirty="0"/>
          </a:p>
          <a:p>
            <a:pPr algn="l" marL="342900" indent="-342900">
              <a:spcAft>
                <a:spcPts val="900"/>
              </a:spcAft>
              <a:buSzPct val="100000"/>
              <a:buChar char="•"/>
            </a:pPr>
            <a:r>
              <a:rPr lang="en-US" sz="2000" dirty="0">
                <a:solidFill>
                  <a:srgbClr val="1E293B"/>
                </a:solidFill>
              </a:rPr>
              <a:t>Hits 64 → 34; SOX4/SOX9 drop below significance → supports an ambient contribution.</a:t>
            </a:r>
            <a:endParaRPr lang="en-US" sz="2000" dirty="0"/>
          </a:p>
          <a:p>
            <a:pPr algn="l" marL="342900" indent="-342900">
              <a:spcAft>
                <a:spcPts val="900"/>
              </a:spcAft>
              <a:buSzPct val="100000"/>
              <a:buChar char="•"/>
            </a:pPr>
            <a:r>
              <a:rPr lang="en-US" sz="2000" dirty="0">
                <a:solidFill>
                  <a:srgbClr val="1E293B"/>
                </a:solidFill>
              </a:rPr>
              <a:t>But it can remove true hybrid signal OR leave residual contamination.</a:t>
            </a:r>
            <a:endParaRPr lang="en-US" sz="2000" dirty="0"/>
          </a:p>
          <a:p>
            <a:pPr algn="l" marL="342900" indent="-342900">
              <a:spcAft>
                <a:spcPts val="900"/>
              </a:spcAft>
              <a:buSzPct val="100000"/>
              <a:buChar char="•"/>
            </a:pPr>
            <a:r>
              <a:rPr lang="en-US" sz="2000" dirty="0">
                <a:solidFill>
                  <a:srgbClr val="1E293B"/>
                </a:solidFill>
              </a:rPr>
              <a:t>Therefore source attribution is a lead, not a closed verdict.</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56032"/>
            <a:ext cx="2743200" cy="365760"/>
          </a:xfrm>
          <a:prstGeom prst="rect">
            <a:avLst/>
          </a:prstGeom>
          <a:noFill/>
          <a:ln/>
        </p:spPr>
        <p:txBody>
          <a:bodyPr wrap="square" rtlCol="0" anchor="ctr"/>
          <a:lstStyle/>
          <a:p>
            <a:pPr indent="0" marL="0">
              <a:buNone/>
            </a:pPr>
            <a:r>
              <a:rPr lang="en-US" sz="1300" b="1" dirty="0">
                <a:solidFill>
                  <a:srgbClr val="0D9488"/>
                </a:solidFill>
              </a:rPr>
              <a:t>Backup</a:t>
            </a:r>
            <a:endParaRPr lang="en-US" sz="1300" dirty="0"/>
          </a:p>
        </p:txBody>
      </p:sp>
      <p:sp>
        <p:nvSpPr>
          <p:cNvPr id="3" name="Text 1"/>
          <p:cNvSpPr/>
          <p:nvPr/>
        </p:nvSpPr>
        <p:spPr>
          <a:xfrm>
            <a:off x="457200" y="603504"/>
            <a:ext cx="11247120" cy="731520"/>
          </a:xfrm>
          <a:prstGeom prst="rect">
            <a:avLst/>
          </a:prstGeom>
          <a:noFill/>
          <a:ln/>
        </p:spPr>
        <p:txBody>
          <a:bodyPr wrap="square" rtlCol="0" anchor="ctr"/>
          <a:lstStyle/>
          <a:p>
            <a:pPr algn="l" indent="0" marL="0">
              <a:buNone/>
            </a:pPr>
            <a:r>
              <a:rPr lang="en-US" sz="2600" b="1" dirty="0">
                <a:solidFill>
                  <a:srgbClr val="1E293B"/>
                </a:solidFill>
              </a:rPr>
              <a:t>The one analysis still owed: gene-set testing</a:t>
            </a:r>
            <a:endParaRPr lang="en-US" sz="2600" dirty="0"/>
          </a:p>
        </p:txBody>
      </p:sp>
      <p:sp>
        <p:nvSpPr>
          <p:cNvPr id="4" name="Text 2"/>
          <p:cNvSpPr/>
          <p:nvPr/>
        </p:nvSpPr>
        <p:spPr>
          <a:xfrm>
            <a:off x="731520" y="1554480"/>
            <a:ext cx="10607040" cy="4572000"/>
          </a:xfrm>
          <a:prstGeom prst="rect">
            <a:avLst/>
          </a:prstGeom>
          <a:noFill/>
          <a:ln/>
        </p:spPr>
        <p:txBody>
          <a:bodyPr wrap="square" rtlCol="0" anchor="t"/>
          <a:lstStyle/>
          <a:p>
            <a:pPr algn="l" marL="342900" indent="-342900">
              <a:spcAft>
                <a:spcPts val="900"/>
              </a:spcAft>
              <a:buSzPct val="100000"/>
              <a:buChar char="•"/>
            </a:pPr>
            <a:r>
              <a:rPr lang="en-US" sz="2000" dirty="0">
                <a:solidFill>
                  <a:srgbClr val="1E293B"/>
                </a:solidFill>
              </a:rPr>
              <a:t>Gene-level FDR can miss a coordinated WEAK program (many genes, small shifts).</a:t>
            </a:r>
            <a:endParaRPr lang="en-US" sz="2000" dirty="0"/>
          </a:p>
          <a:p>
            <a:pPr algn="l" marL="342900" indent="-342900">
              <a:spcAft>
                <a:spcPts val="900"/>
              </a:spcAft>
              <a:buSzPct val="100000"/>
              <a:buChar char="•"/>
            </a:pPr>
            <a:r>
              <a:rPr lang="en-US" sz="2000" dirty="0">
                <a:solidFill>
                  <a:srgbClr val="1E293B"/>
                </a:solidFill>
              </a:rPr>
              <a:t>CAMERA + ROAST on pre-specified sets: PC, PP, detox, urea cycle, bile-acid/lipid,</a:t>
            </a:r>
            <a:endParaRPr lang="en-US" sz="2000" dirty="0"/>
          </a:p>
          <a:p>
            <a:pPr algn="l" marL="342900" indent="-342900">
              <a:spcAft>
                <a:spcPts val="900"/>
              </a:spcAft>
              <a:buSzPct val="100000"/>
              <a:buChar char="•"/>
            </a:pPr>
            <a:r>
              <a:rPr lang="en-US" sz="2000" dirty="0">
                <a:solidFill>
                  <a:srgbClr val="1E293B"/>
                </a:solidFill>
              </a:rPr>
              <a:t>mitochondrial, ER stress, interferon, hypoxia, EMT/fetal/progenitor, cholangiocyte/ductular.</a:t>
            </a:r>
            <a:endParaRPr lang="en-US" sz="2000" dirty="0"/>
          </a:p>
          <a:p>
            <a:pPr algn="l" marL="342900" indent="-342900">
              <a:spcAft>
                <a:spcPts val="900"/>
              </a:spcAft>
              <a:buSzPct val="100000"/>
              <a:buChar char="•"/>
            </a:pPr>
            <a:r>
              <a:rPr lang="en-US" sz="2000" dirty="0">
                <a:solidFill>
                  <a:srgbClr val="1E293B"/>
                </a:solidFill>
              </a:rPr>
              <a:t>Closes the caveat behind “no other large hepatocyte program.”</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Matched biopsies preserve hepatocyte transcriptional zonation in MASLD</dc:title>
  <dc:subject>PptxGenJS Presentation</dc:subject>
  <dc:creator>MASLD re-analysis</dc:creator>
  <cp:lastModifiedBy>MASLD re-analysis</cp:lastModifiedBy>
  <cp:revision>1</cp:revision>
  <dcterms:created xsi:type="dcterms:W3CDTF">2026-06-23T17:24:09Z</dcterms:created>
  <dcterms:modified xsi:type="dcterms:W3CDTF">2026-06-23T17:24:09Z</dcterms:modified>
</cp:coreProperties>
</file>