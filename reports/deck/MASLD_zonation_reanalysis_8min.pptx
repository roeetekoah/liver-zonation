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Open: the paper's claim is exciting — as chronic liver disease progresses, hepatocytes lose their zonation, and the most de-zonated ones move toward a biliary/cholangiocyte identity (the headline plasticity finding). Note these are two distinct axes: de-zonation = losing your position along the lobule (still a hepatocyte); transdifferentiation = losing your cell-type identity. We asked whether the single-nucleus EXPRESSION evidence for progressive de-zonation survives once acquisition differences are controlled. Answer up front: in matched needle biopsies, transcriptional zonation is preserved.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what's needed: zonation = different hepatocytes run different programs by lobule position. The zonation EXPRESSION signal can break down several ways — cells disappear, turn markers off, co-express both poles, or shift composition. We list CYP2E1 as a familiar pericentral marker, but the strict ANCHOR classification uses GLUL and CYP3A4 only. A single correlation score or UMAP conflates these mechanisms, so we use count signatures tied to each.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load-bearing slide. If stage and acquisition are collinear, a progressive trajectory can be manufactured by procurement, ischemia, dissociation, or batch — not biology. Healthy and end-stage are deceased-donor / explant organ tissue; the disease spectrum F0–F4 is fresh needle biopsies. We restrict the disease axis to matched biopsies. On F0 vs F1–F4: F0 has only 2 donors, so primary inference is F1–F4; we show F0 descriptively.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decisive point is cross-lineage. Stress is ~22× higher in end-stage explants than biopsies — but if endothelial cells, which have NO zonation program, show the same immediate-early spike (18.2× vs 18.5× in hepatocytes), this cannot be a hepatocyte zonation program. It is organ-wide acute handling/procurement stress. That justifies excluding the deceased-donor and explant groups from the disease axis.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we changed the measurement: the legacy approach used a z-scored relative ruler and marker correlations, which are depth-sensitive and conflate mechanisms. We instead count molecules: extract raw RNA-assay counts, down-thin every nucleus to a common 1,500-UMI budget so detection reflects biology not depth, call a marker on only at ≥2 UMIs to suppress ambient, classify each hepatocyte PC/PP/dual/null, and summarize per donor — the donor is the unit of inference, never the cell.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enlarged plots carry the result. Pericentral-anchor fraction is flat/non-monotone across F0–F4 — no depletion. Dual co-expression at the ambient-robust ≥2-UMI cut stays ~0.4% and does not trend — vs ~2.9% in the confounded explants. The other two mechanisms (null turn-off, PP:PC composition) are also flat — shown as callouts here, full four-panel in backup. And the equivalence bound: we exclude a large ~20-percentage-point shift, but cannot exclude subtle drift below ~10 points, because F4 has only 4 donors. Bottom line: donor-level anchor fractions do not support large biopsy-axis de-zonation.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Pseudobulk in one sentence: we collapse thousands of nuclei to one profile per donor, because donors — not cells — are the biological replicates. This is an independent count-based check (zonation genes flat, GLUL FDR 0.80) plus a discovery layer. Only 64 of ~21,000 genes are significant, and they are biliary/ductular markers, not a broad metabolic/stress program. Careful wording: no large single-GENE program outside the biliary burden — and I flag on the slide that gene-LEVEL FDR can miss a weak coordinated pathway, which needs gene-set testing. I show them I know that limitation.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Cautious wording — distinguish evidence levels. STRONG: the genes are 5–78× more abundant in cholangiocytes, and per-cell hepatocyte co-expression is only ~0.4%. SUGGESTIVE: decontX halves the hits and drops SOX4/SOX9 — this supports an ambient contribution but is not proof; decontX can over- or under-correct. OPEN: EPCAM/SPINT2/B3GNT3 survive. So the dominant evidence points to composition/ambient RNA, but a rare intrinsic state is not excluded — say that, do not say 'we proved contamination.' CXCL10 is set aside as a candidate real inflammatory signal.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methodological lesson: in single-cell disease atlases, acquisition matching can dominate apparent disease trajectories. The bottom line is narrow and honest: the snRNA-seq transcriptomic evidence for progressive de-zonation does not survive matched-source re-analysis; imaging/protein/organoid evidence is untouched. And keep the biliary claim careful — most consistent with composition/ambient RNA, a rare intrinsic state not excluded.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Matched biopsies preserve hepatocyte transcriptional zonation in MASLD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0116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BD5E1"/>
                </a:solidFill>
              </a:rPr>
              <a:t>A critical re-analysis of Gribben et al., Nature 2024 — snRNA-seq, GSE202379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640080" y="274320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3F1D2B"/>
          </a:solidFill>
          <a:ln w="19050">
            <a:solidFill>
              <a:srgbClr val="BE123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852928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CA5A5"/>
                </a:solidFill>
              </a:rPr>
              <a:t>Published claim — Gribben et al.
</a:t>
            </a:r>
            <a:pPr algn="l" indent="0" marL="0">
              <a:buNone/>
            </a:pPr>
            <a:r>
              <a:rPr lang="en-US" sz="1350" dirty="0">
                <a:solidFill>
                  <a:srgbClr val="FECACA"/>
                </a:solidFill>
              </a:rPr>
              <a:t>“Hepatocytes lose their zonation” as MASLD progresses, and de-zonated hepatocytes transdifferentiate toward cholangiocytes (epithelial plasticity).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806440" y="3337560"/>
            <a:ext cx="502920" cy="320040"/>
          </a:xfrm>
          <a:prstGeom prst="rtTriangle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6492240" y="2743200"/>
            <a:ext cx="5029200" cy="1554480"/>
          </a:xfrm>
          <a:prstGeom prst="roundRect">
            <a:avLst>
              <a:gd name="adj" fmla="val 5882"/>
            </a:avLst>
          </a:prstGeom>
          <a:solidFill>
            <a:srgbClr val="0B3B38"/>
          </a:solidFill>
          <a:ln w="19050">
            <a:solidFill>
              <a:srgbClr val="0D948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675120" y="2852928"/>
            <a:ext cx="466344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5EEAD4"/>
                </a:solidFill>
              </a:rPr>
              <a:t>This re-analysis — matched biopsies
</a:t>
            </a:r>
            <a:pPr algn="l" indent="0" marL="0">
              <a:buNone/>
            </a:pPr>
            <a:r>
              <a:rPr lang="en-US" sz="1350" dirty="0">
                <a:solidFill>
                  <a:srgbClr val="99F6E4"/>
                </a:solidFill>
              </a:rPr>
              <a:t>transcriptional zonation preserved; the reported de-zonation tracks tissue-source confounding; the biliary signal is most consistent with composition / ambient RNA.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4617720"/>
            <a:ext cx="108813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93C5FD"/>
                </a:solidFill>
              </a:rPr>
              <a:t>Question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E2E8F0"/>
                </a:solidFill>
              </a:rPr>
              <a:t>is the snRNA-seq evidence for progressive de-zonation robust?
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5EEAD4"/>
                </a:solidFill>
              </a:rPr>
              <a:t>Answer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E2E8F0"/>
                </a:solidFill>
              </a:rPr>
              <a:t>not across matched biopsy F1–F4 tissue.
</a:t>
            </a:r>
            <a:endParaRPr lang="en-US" sz="18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CBD5E1"/>
                </a:solidFill>
              </a:rPr>
              <a:t>Scope  </a:t>
            </a:r>
            <a:pPr algn="l" indent="0" marL="0">
              <a:spcAft>
                <a:spcPts val="800"/>
              </a:spcAft>
              <a:buNone/>
            </a:pPr>
            <a:r>
              <a:rPr lang="en-US" sz="1800" dirty="0">
                <a:solidFill>
                  <a:srgbClr val="E2E8F0"/>
                </a:solidFill>
              </a:rPr>
              <a:t>transcriptomic re-analysis only; imaging / organoids not re-tested.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Loss of the zonation expression signal is not one mechanism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600200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1D4ED8"/>
          </a:solidFill>
          <a:ln/>
        </p:spPr>
      </p:sp>
      <p:sp>
        <p:nvSpPr>
          <p:cNvPr id="4" name="Shape 2"/>
          <p:cNvSpPr/>
          <p:nvPr/>
        </p:nvSpPr>
        <p:spPr>
          <a:xfrm>
            <a:off x="5669280" y="1600200"/>
            <a:ext cx="4754880" cy="502920"/>
          </a:xfrm>
          <a:prstGeom prst="roundRect">
            <a:avLst>
              <a:gd name="adj" fmla="val 9091"/>
            </a:avLst>
          </a:prstGeom>
          <a:solidFill>
            <a:srgbClr val="EA580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Central vein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595360" y="21488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64748B"/>
                </a:solidFill>
              </a:rPr>
              <a:t>Portal tract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914400" y="1600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Pericentral program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669280" y="160020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Periportal program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14400" y="239572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D4ED8"/>
                </a:solidFill>
              </a:rPr>
              <a:t>Example PC markers: 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GLUL, CYP3A4, CYP2E1 / detox</a:t>
            </a:r>
            <a:pPr algn="l" indent="0" marL="0">
              <a:buNone/>
            </a:pPr>
            <a:r>
              <a:rPr lang="en-US" sz="1200" i="1" dirty="0">
                <a:solidFill>
                  <a:srgbClr val="64748B"/>
                </a:solidFill>
              </a:rPr>
              <a:t>     (anchor markers used: GLUL, CYP3A4)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4400" y="2715768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EA580C"/>
                </a:solidFill>
              </a:rPr>
              <a:t>Example PP markers: </a:t>
            </a:r>
            <a:pPr algn="l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ASS1, CPS1, PCK1, HAL, ALDOB / urea cycle, gluconeogenesis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29184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De-zonation (within hepatocytes) can take several forms — count signatures distinguish them: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914400" y="3794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794760"/>
            <a:ext cx="22860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PC depletion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(pericentral cells lost)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3429000" y="3794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429000" y="3794760"/>
            <a:ext cx="22860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Co-expression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(both poles on)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0" y="3794760"/>
            <a:ext cx="2286000" cy="1005840"/>
          </a:xfrm>
          <a:prstGeom prst="roundRect">
            <a:avLst>
              <a:gd name="adj" fmla="val 7273"/>
            </a:avLst>
          </a:prstGeom>
          <a:solidFill>
            <a:srgbClr val="9CA3A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3794760"/>
            <a:ext cx="228600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Turn-off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(neither pole on)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458200" y="3794760"/>
            <a:ext cx="1965960" cy="1005840"/>
          </a:xfrm>
          <a:prstGeom prst="roundRect">
            <a:avLst>
              <a:gd name="adj" fmla="val 7273"/>
            </a:avLst>
          </a:prstGeom>
          <a:solidFill>
            <a:srgbClr val="EA58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8458200" y="3794760"/>
            <a:ext cx="1965960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Composition shift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(PP : PC changes)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4400" y="5074920"/>
            <a:ext cx="9692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64748B"/>
                </a:solidFill>
              </a:rPr>
              <a:t>A single anti-correlation or UMAP impression conflates these. We test each with absolute counts. (Transdifferentiation — a different, cross-cell-type axis — is on slide 8.)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Minimal context     ·     2 / 9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Disease stage is entangled with tissue acquisition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14400" y="1828800"/>
            <a:ext cx="1280160" cy="640080"/>
          </a:xfrm>
          <a:prstGeom prst="roundRect">
            <a:avLst>
              <a:gd name="adj" fmla="val 8571"/>
            </a:avLst>
          </a:prstGeom>
          <a:solidFill>
            <a:srgbClr val="BE123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82880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Healthy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31720" y="1828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331720" y="1828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F0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520440" y="1828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520440" y="1828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F1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709160" y="1828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709160" y="1828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F2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897880" y="1828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897880" y="1828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F3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7086600" y="1828800"/>
            <a:ext cx="109728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086600" y="182880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F4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686800" y="1828800"/>
            <a:ext cx="2011680" cy="640080"/>
          </a:xfrm>
          <a:prstGeom prst="roundRect">
            <a:avLst>
              <a:gd name="adj" fmla="val 8571"/>
            </a:avLst>
          </a:prstGeom>
          <a:solidFill>
            <a:srgbClr val="86198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686800" y="182880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End-stage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914400" y="1627632"/>
            <a:ext cx="97840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7863840" y="13258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disease progression →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40080" y="265176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E123C"/>
                </a:solidFill>
              </a:rPr>
              <a:t>deceased-donor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BE123C"/>
                </a:solidFill>
              </a:rPr>
              <a:t>organ cubes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331720" y="2651760"/>
            <a:ext cx="6035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</a:rPr>
              <a:t>16-gauge needle biopsies, right lobe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686800" y="2651760"/>
            <a:ext cx="2011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6198F"/>
                </a:solidFill>
              </a:rPr>
              <a:t>explanted cirrhotic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86198F"/>
                </a:solidFill>
              </a:rPr>
              <a:t>organs, multi-lobe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68680" y="1783080"/>
            <a:ext cx="1371600" cy="1600200"/>
          </a:xfrm>
          <a:prstGeom prst="rect">
            <a:avLst/>
          </a:prstGeom>
          <a:ln w="25400">
            <a:solidFill>
              <a:srgbClr val="BE123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8641080" y="1783080"/>
            <a:ext cx="2103120" cy="1600200"/>
          </a:xfrm>
          <a:prstGeom prst="rect">
            <a:avLst/>
          </a:prstGeom>
          <a:ln w="25400">
            <a:solidFill>
              <a:srgbClr val="BE123C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8046720" y="3429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E123C"/>
                </a:solidFill>
              </a:rPr>
              <a:t>not acquisition-matched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14400" y="3931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47 donors   ·   biopsy axis F0/F1/F2/F3/F4 = 2 / 8 / 12 / 12 / 4   ·   end-stage = 5   ·   healthy = 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914400" y="4370832"/>
            <a:ext cx="10058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0D9488"/>
                </a:solidFill>
              </a:rPr>
              <a:t>Primary inference: biopsy F1–F4.  F0 (n=2) shown for context.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554480" y="4846320"/>
            <a:ext cx="91440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The full trajectory is also an acquisition trajectory.</a:t>
            </a:r>
            <a:endParaRPr lang="en-US" sz="18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dirty="0">
                <a:solidFill>
                  <a:srgbClr val="1E293B"/>
                </a:solidFill>
              </a:rPr>
              <a:t>Healthy / end-stage comparisons cannot cleanly isolate disease biology.</a:t>
            </a:r>
            <a:endParaRPr lang="en-US" sz="1800" dirty="0"/>
          </a:p>
          <a:p>
            <a:pPr algn="l" marL="342900" indent="-342900">
              <a:spcAft>
                <a:spcPts val="500"/>
              </a:spcAft>
              <a:buSzPct val="100000"/>
              <a:buChar char="•"/>
            </a:pPr>
            <a:r>
              <a:rPr lang="en-US" sz="1800" b="1" dirty="0">
                <a:solidFill>
                  <a:srgbClr val="0D9488"/>
                </a:solidFill>
              </a:rPr>
              <a:t>Clean axis used here: biopsy-only F1–F4.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The load-bearing confound     ·     3 / 9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Endpoint samples carry an organ-wide stress signature</a:t>
            </a:r>
            <a:endParaRPr lang="en-US" sz="3000" dirty="0"/>
          </a:p>
        </p:txBody>
      </p:sp>
      <p:pic>
        <p:nvPicPr>
          <p:cNvPr id="3" name="Image 0" descr="D:\CS\Genomics\Hackathon\reports\deck/assets/fig_stres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417320"/>
            <a:ext cx="8229600" cy="411480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595360" y="1554480"/>
            <a:ext cx="3291840" cy="1371600"/>
          </a:xfrm>
          <a:prstGeom prst="roundRect">
            <a:avLst>
              <a:gd name="adj" fmla="val 5333"/>
            </a:avLst>
          </a:prstGeom>
          <a:solidFill>
            <a:srgbClr val="FEF2F2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Text 2"/>
          <p:cNvSpPr/>
          <p:nvPr/>
        </p:nvSpPr>
        <p:spPr>
          <a:xfrm>
            <a:off x="8686800" y="1627632"/>
            <a:ext cx="310896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DC2626"/>
                </a:solidFill>
              </a:rPr>
              <a:t>Same immediate-early stress spike in hepatocytes AND endothelial cells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641080" y="3154680"/>
            <a:ext cx="33832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1E293B"/>
                </a:solidFill>
              </a:rPr>
              <a:t>Stress genes: FOS, JUN, JUNB, JUND, ATF3, DUSP1, HSPA1A/B.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1E293B"/>
                </a:solidFill>
              </a:rPr>
              <a:t>Endothelial cells have no zonation program.</a:t>
            </a:r>
            <a:endParaRPr lang="en-US" sz="16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1600" b="1" dirty="0">
                <a:solidFill>
                  <a:srgbClr val="DC2626"/>
                </a:solidFill>
              </a:rPr>
              <a:t>→ acquisition / procurement signal, not hepatocyte zonation biology.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Stress validates the confound  ·  donor-level, down-thinned to 1,500 UMIs     ·     4 / 9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We test zonation with raw counts at the donor level, not a relative ruler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1600200"/>
            <a:ext cx="2148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raw UMI counts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697480" y="1984248"/>
            <a:ext cx="20116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2898648" y="160020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898648" y="1600200"/>
            <a:ext cx="2148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down-thin every nucleus to 1,500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47488" y="1984248"/>
            <a:ext cx="20116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5248656" y="160020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EDE9FE"/>
          </a:solidFill>
          <a:ln w="15240">
            <a:solidFill>
              <a:srgbClr val="7C3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48656" y="1600200"/>
            <a:ext cx="2148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C3AED"/>
                </a:solidFill>
              </a:rPr>
              <a:t>marker ON only if ≥ 2 UMI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97496" y="1984248"/>
            <a:ext cx="20116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7598664" y="160020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98664" y="1600200"/>
            <a:ext cx="2148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classify each nucleus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9747504" y="1984248"/>
            <a:ext cx="201168" cy="0"/>
          </a:xfrm>
          <a:prstGeom prst="line">
            <a:avLst/>
          </a:prstGeom>
          <a:noFill/>
          <a:ln w="2032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9948672" y="1600200"/>
            <a:ext cx="2148840" cy="777240"/>
          </a:xfrm>
          <a:prstGeom prst="roundRect">
            <a:avLst>
              <a:gd name="adj" fmla="val 8235"/>
            </a:avLst>
          </a:prstGeom>
          <a:solidFill>
            <a:srgbClr val="F1F5F9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948672" y="1600200"/>
            <a:ext cx="2148840" cy="777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E293B"/>
                </a:solidFill>
              </a:rPr>
              <a:t>fraction per donor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14400" y="29260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1D4ED8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2926080"/>
            <a:ext cx="2468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PC-anchor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PC on / PP off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0" y="29260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0" y="2926080"/>
            <a:ext cx="2468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PP-anchor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PP on / PC off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2468880" cy="914400"/>
          </a:xfrm>
          <a:prstGeom prst="roundRect">
            <a:avLst>
              <a:gd name="adj" fmla="val 80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2926080"/>
            <a:ext cx="246888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Dual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both programs on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9144000" y="2926080"/>
            <a:ext cx="2103120" cy="914400"/>
          </a:xfrm>
          <a:prstGeom prst="roundRect">
            <a:avLst>
              <a:gd name="adj" fmla="val 8000"/>
            </a:avLst>
          </a:prstGeom>
          <a:solidFill>
            <a:srgbClr val="9CA3AF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144000" y="2926080"/>
            <a:ext cx="210312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Null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neither on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914400" y="4160520"/>
            <a:ext cx="1060704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E293B"/>
                </a:solidFill>
              </a:rPr>
              <a:t>Why raw counts: </a:t>
            </a:r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a single KRT19 or GLUL molecule may be ambient RNA — absolute detection matters, so SCT-normalized values are the wrong object.
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7C3AED"/>
                </a:solidFill>
              </a:rPr>
              <a:t>≥2-UMI threshold </a:t>
            </a:r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suppresses single-molecule ambient artifacts.   </a:t>
            </a:r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0D9488"/>
                </a:solidFill>
              </a:rPr>
              <a:t>Unit = donor (~47), never the nucleus </a:t>
            </a:r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→ no pseudoreplication.
</a:t>
            </a:r>
            <a:endParaRPr lang="en-US" sz="1600" dirty="0"/>
          </a:p>
          <a:p>
            <a:pPr algn="l" indent="0" marL="0">
              <a:spcAft>
                <a:spcPts val="700"/>
              </a:spcAft>
              <a:buNone/>
            </a:pPr>
            <a:r>
              <a:rPr lang="en-US" sz="1600" b="1" dirty="0">
                <a:solidFill>
                  <a:srgbClr val="1E293B"/>
                </a:solidFill>
              </a:rPr>
              <a:t>Robust across the sensitivity grid </a:t>
            </a:r>
            <a:pPr algn="l" indent="0" marL="0">
              <a:spcAft>
                <a:spcPts val="700"/>
              </a:spcAft>
              <a:buNone/>
            </a:pPr>
            <a:r>
              <a:rPr lang="en-US" sz="1600" dirty="0">
                <a:solidFill>
                  <a:srgbClr val="1E293B"/>
                </a:solidFill>
              </a:rPr>
              <a:t>(anchor genes, periportal rule, ALDOB in/out, CPS1-based, 1 vs 2 UMI).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Method  ·  count-based anchor classification     ·     5 / 9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Matched biopsies do not show PC loss or robust co-expression</a:t>
            </a:r>
            <a:endParaRPr lang="en-US" sz="3000" dirty="0"/>
          </a:p>
        </p:txBody>
      </p:sp>
      <p:pic>
        <p:nvPicPr>
          <p:cNvPr id="3" name="Image 0" descr="D:\CS\Genomics\Hackathon\reports\deck/assets/fig_result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7955280" cy="4206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412480" y="173736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475569"/>
                </a:solidFill>
              </a:rPr>
              <a:t>Null fraction (turn-off): </a:t>
            </a:r>
            <a:pPr algn="l"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stable across F1–F4.
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EA580C"/>
                </a:solidFill>
              </a:rPr>
              <a:t>PP : PC ratio (composition): </a:t>
            </a:r>
            <a:pPr algn="l"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non-monotone, no drift.
</a:t>
            </a:r>
            <a:endParaRPr lang="en-US" sz="1700" dirty="0"/>
          </a:p>
          <a:p>
            <a:pPr algn="l" indent="0" marL="0">
              <a:buNone/>
            </a:pPr>
            <a:r>
              <a:rPr lang="en-US" sz="1700" b="1" dirty="0">
                <a:solidFill>
                  <a:srgbClr val="1D4ED8"/>
                </a:solidFill>
              </a:rPr>
              <a:t>Equivalence bound: </a:t>
            </a:r>
            <a:pPr algn="l" indent="0" marL="0">
              <a:buNone/>
            </a:pPr>
            <a:r>
              <a:rPr lang="en-US" sz="1700" i="1" dirty="0">
                <a:solidFill>
                  <a:srgbClr val="64748B"/>
                </a:solidFill>
              </a:rPr>
              <a:t>a large shift (~20 pp) is excluded; a subtle drift ≤10 pp is not (F4 n=4).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412480" y="4617720"/>
            <a:ext cx="3566160" cy="1051560"/>
          </a:xfrm>
          <a:prstGeom prst="roundRect">
            <a:avLst>
              <a:gd name="adj" fmla="val 6957"/>
            </a:avLst>
          </a:prstGeom>
          <a:solidFill>
            <a:srgbClr val="ECFDF5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8549640" y="4681728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65F46"/>
                </a:solidFill>
              </a:rPr>
              <a:t>Donor-level anchor fractions do not support large biopsy-axis de-zonation.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Main result  ·  donor = point, line = median  ·  full 4-mechanism panel in backup     ·     6 / 9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Genome-wide pseudobulk finds one main signal: biliary markers</a:t>
            </a:r>
            <a:endParaRPr lang="en-US" sz="3000" dirty="0"/>
          </a:p>
        </p:txBody>
      </p:sp>
      <p:pic>
        <p:nvPicPr>
          <p:cNvPr id="3" name="Image 0" descr="D:\CS\Genomics\Hackathon\reports\deck/assets/fig_volcan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25880"/>
            <a:ext cx="8046720" cy="45720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503920" y="1828800"/>
            <a:ext cx="338328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E293B"/>
                </a:solidFill>
              </a:rPr>
              <a:t>Pseudobulk per donor (sum raw hepatocyte UMIs); edgeR TMM + NB quasi-likelihood.
</a:t>
            </a:r>
            <a:endParaRPr lang="en-US" sz="17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700" b="1" dirty="0">
                <a:solidFill>
                  <a:srgbClr val="1E293B"/>
                </a:solidFill>
              </a:rPr>
              <a:t>64 genes at FDR&lt;0.05 — mostly biliary/ductular.
</a:t>
            </a:r>
            <a:endParaRPr lang="en-US" sz="17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700" dirty="0">
                <a:solidFill>
                  <a:srgbClr val="1D4ED8"/>
                </a:solidFill>
              </a:rPr>
              <a:t>Zonation markers not significant (GLUL FDR 0.80).
</a:t>
            </a:r>
            <a:endParaRPr lang="en-US" sz="1700" dirty="0"/>
          </a:p>
          <a:p>
            <a:pPr algn="l" indent="0" marL="0">
              <a:spcAft>
                <a:spcPts val="900"/>
              </a:spcAft>
              <a:buNone/>
            </a:pPr>
            <a:r>
              <a:rPr lang="en-US" sz="1700" i="1" dirty="0">
                <a:solidFill>
                  <a:srgbClr val="7C3AED"/>
                </a:solidFill>
              </a:rPr>
              <a:t>“No large single-gene hepatocyte program outside the biliary/ductular burden.”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503920" y="5212080"/>
            <a:ext cx="3383280" cy="731520"/>
          </a:xfrm>
          <a:prstGeom prst="roundRect">
            <a:avLst>
              <a:gd name="adj" fmla="val 7500"/>
            </a:avLst>
          </a:prstGeom>
          <a:solidFill>
            <a:srgbClr val="F1F5F9"/>
          </a:solidFill>
          <a:ln/>
        </p:spPr>
      </p:sp>
      <p:sp>
        <p:nvSpPr>
          <p:cNvPr id="6" name="Text 3"/>
          <p:cNvSpPr/>
          <p:nvPr/>
        </p:nvSpPr>
        <p:spPr>
          <a:xfrm>
            <a:off x="8641080" y="5257800"/>
            <a:ext cx="3108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64748B"/>
                </a:solidFill>
              </a:rPr>
              <a:t>Caveat: weak coordinated pathways still require gene-set testing (backup).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Discovery scan  ·  cirrhotic F4 vs F1     ·     7 / 9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E293B"/>
                </a:solidFill>
              </a:rPr>
              <a:t>The biliary signal is real — but likely not broad transdifferentiation</a:t>
            </a:r>
            <a:endParaRPr lang="en-US" sz="3000" dirty="0"/>
          </a:p>
        </p:txBody>
      </p:sp>
      <p:pic>
        <p:nvPicPr>
          <p:cNvPr id="3" name="Image 0" descr="D:\CS\Genomics\Hackathon\reports\deck/assets/fig_compositio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74320" y="1371600"/>
            <a:ext cx="11612880" cy="3657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521208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065F46"/>
                </a:solidFill>
              </a:rPr>
              <a:t>Strong: </a:t>
            </a:r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biliary genes are far more abundant in cholangiocytes;  true hepatocyte co-expression is rare (~0.4%).  </a:t>
            </a:r>
            <a:pPr algn="l" indent="0" marL="0">
              <a:buNone/>
            </a:pPr>
            <a:r>
              <a:rPr lang="en-US" sz="1550" b="1" dirty="0">
                <a:solidFill>
                  <a:srgbClr val="B45309"/>
                </a:solidFill>
              </a:rPr>
              <a:t>Suggestive: </a:t>
            </a:r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decontX halves the hits (supports an ambient contribution — not proof).  </a:t>
            </a:r>
            <a:pPr algn="l" indent="0" marL="0">
              <a:buNone/>
            </a:pPr>
            <a:r>
              <a:rPr lang="en-US" sz="1550" b="1" dirty="0">
                <a:solidFill>
                  <a:srgbClr val="BE123C"/>
                </a:solidFill>
              </a:rPr>
              <a:t>Open: </a:t>
            </a:r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EPCAM / SPINT2 / B3GNT3 survive.</a:t>
            </a:r>
            <a:endParaRPr lang="en-US" sz="1550" dirty="0"/>
          </a:p>
        </p:txBody>
      </p:sp>
      <p:sp>
        <p:nvSpPr>
          <p:cNvPr id="5" name="Text 2"/>
          <p:cNvSpPr/>
          <p:nvPr/>
        </p:nvSpPr>
        <p:spPr>
          <a:xfrm>
            <a:off x="548640" y="5852160"/>
            <a:ext cx="11155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50" dirty="0">
                <a:solidFill>
                  <a:srgbClr val="1E293B"/>
                </a:solidFill>
              </a:rPr>
              <a:t>F4 cholangiocyte expansion is a plausible ambient-RNA source.   </a:t>
            </a:r>
            <a:pPr algn="l" indent="0" marL="0">
              <a:buNone/>
            </a:pPr>
            <a:r>
              <a:rPr lang="en-US" sz="1550" b="1" dirty="0">
                <a:solidFill>
                  <a:srgbClr val="DC2626"/>
                </a:solidFill>
              </a:rPr>
              <a:t>CXCL10 is separated as a possible real inflammatory signal — it does not track the cholangiocyte fraction.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11247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Source attribution: most consistent with ambient RNA + rare mixed nuclei (a lead, not closed)     ·     8 / 9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Matched biopsies support preservation, not progressive collapse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640080" y="15087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64008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EEAD4"/>
                </a:solidFill>
              </a:rPr>
              <a:t>Conclusions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68680" y="224028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Full healthy→end-stage trajectory is source-confounded.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In biopsy F1–F4, hepatocyte transcriptional zonation is preserved.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Main DGE signal = biliary/ductular burden, most consistent with composition / ambient RNA.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434840" y="15087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43484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CA5A5"/>
                </a:solidFill>
              </a:rPr>
              <a:t>Limits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4663440" y="224028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snRNA-seq ≠ lobule geometry / spatial architecture.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Imaging / protein / organoid evidence not re-analyzed.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F4 has only 4 biopsy donors.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Gene-level DGE can miss weak coordinated pathways.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8229600" y="1508760"/>
            <a:ext cx="3566160" cy="4023360"/>
          </a:xfrm>
          <a:prstGeom prst="roundRect">
            <a:avLst>
              <a:gd name="adj" fmla="val 2051"/>
            </a:avLst>
          </a:prstGeom>
          <a:solidFill>
            <a:srgbClr val="1E293B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229600" y="16459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93C5FD"/>
                </a:solidFill>
              </a:rPr>
              <a:t>Next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8458200" y="2240280"/>
            <a:ext cx="31546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CAMERA / ROAST gene-set tests.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Leave-one-F4-donor-out DGE.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Quantitative contamination model.</a:t>
            </a:r>
            <a:endParaRPr lang="en-US" sz="1450" dirty="0"/>
          </a:p>
          <a:p>
            <a:pPr algn="l"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E2E8F0"/>
                </a:solidFill>
              </a:rPr>
              <a:t>Spatial / independent biopsy validation.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640080" y="580644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i="1" dirty="0">
                <a:solidFill>
                  <a:srgbClr val="FFFFFF"/>
                </a:solidFill>
              </a:rPr>
              <a:t>The snRNA-seq transcriptomic evidence for progressive de-zonation does not survive matched-source re-analysis.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Full four-mechanism panel (all F0–F4)</a:t>
            </a:r>
            <a:endParaRPr lang="en-US" sz="2600" dirty="0"/>
          </a:p>
        </p:txBody>
      </p:sp>
      <p:pic>
        <p:nvPicPr>
          <p:cNvPr id="4" name="Image 0" descr="D:\CS\Genomics\Hackathon\reports\deck/assets/fig_anchor2x2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188720" y="1417320"/>
            <a:ext cx="8412480" cy="4663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692640" y="2377440"/>
            <a:ext cx="2286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293B"/>
                </a:solidFill>
              </a:rPr>
              <a:t>None of the four de-zonation routes shows a large monotone biopsy-axis change.
</a:t>
            </a:r>
            <a:endParaRPr lang="en-US" sz="15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BE123C"/>
                </a:solidFill>
              </a:rPr>
              <a:t>Confounded explants for contrast: dual ≈ 2.9% (~7×).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Are you overturning the paper? No — narrow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We re-tested only the snRNA-seq transcriptional zonation/plasticity evidence.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We did NOT test imaging, protein staining, organoids, or 3D architecture.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Claim: matched biopsy transcriptomes do not show progressive zonation loss.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We agree the strong signal is an end-stage phenomenon.</a:t>
            </a:r>
            <a:endParaRPr lang="en-US" sz="2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Maybe the caudate lobe caused it? Lobe-invariant</a:t>
            </a:r>
            <a:endParaRPr lang="en-US" sz="2600" dirty="0"/>
          </a:p>
        </p:txBody>
      </p:sp>
      <p:pic>
        <p:nvPicPr>
          <p:cNvPr id="4" name="Image 0" descr="D:\CS\Genomics\Hackathon\reports\deck/assets/fig_lob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694944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55280" y="2377440"/>
            <a:ext cx="36576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293B"/>
                </a:solidFill>
              </a:rPr>
              <a:t>Detection rates match across Right / Caudate / Left.
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Lobe does not explain the signal;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1E293B"/>
                </a:solidFill>
              </a:rPr>
              <a:t>explant-vs-biopsy acquisition still does.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What happens in end-stage? Five organs, five phenotypes</a:t>
            </a:r>
            <a:endParaRPr lang="en-US" sz="2600" dirty="0"/>
          </a:p>
        </p:txBody>
      </p:sp>
      <p:pic>
        <p:nvPicPr>
          <p:cNvPr id="4" name="Image 0" descr="D:\CS\Genomics\Hackathon\reports\deck/assets/fig_explan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31520" y="1463040"/>
            <a:ext cx="7498080" cy="4572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412480" y="2377440"/>
            <a:ext cx="32918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1E293B"/>
                </a:solidFill>
              </a:rPr>
              <a:t>PC-anchor 3% → 50%;  PP:PC 0.13 → 20.
</a:t>
            </a:r>
            <a:endParaRPr lang="en-US" sz="1700" dirty="0"/>
          </a:p>
          <a:p>
            <a:pPr algn="l" indent="0" marL="0">
              <a:buNone/>
            </a:pPr>
            <a:r>
              <a:rPr lang="en-US" sz="1700" dirty="0">
                <a:solidFill>
                  <a:srgbClr val="1E293B"/>
                </a:solidFill>
              </a:rPr>
              <a:t>Dramatic but NOT one coherent program — pooling them manufactures a uniform “collapse.”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Robustness: sensitivity grid + equivalence bound</a:t>
            </a:r>
            <a:endParaRPr lang="en-US" sz="2600" dirty="0"/>
          </a:p>
        </p:txBody>
      </p:sp>
      <p:pic>
        <p:nvPicPr>
          <p:cNvPr id="4" name="Image 0" descr="D:\CS\Genomics\Hackathon\reports\deck/assets/fig_tos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35040" y="1554480"/>
            <a:ext cx="5852160" cy="3657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737360"/>
            <a:ext cx="521208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E293B"/>
                </a:solidFill>
              </a:rPr>
              <a:t>Stable across every variant:
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1E293B"/>
                </a:solidFill>
              </a:rPr>
              <a:t>PC = GLUL-only / CYP3A4-only / both;  PP = 2-of-4 / 3-of-4;
ALDOB in/out;  CPS1-based;  threshold 1 vs 2 UMI.
</a:t>
            </a:r>
            <a:endParaRPr lang="en-US" sz="1600" dirty="0"/>
          </a:p>
          <a:p>
            <a:pPr algn="l" indent="0" marL="0">
              <a:buNone/>
            </a:pPr>
            <a:r>
              <a:rPr lang="en-US" sz="1600" b="1" dirty="0">
                <a:solidFill>
                  <a:srgbClr val="0D9488"/>
                </a:solidFill>
              </a:rPr>
              <a:t>No PC depletion · no dual increase · no turn-off — in all.
</a:t>
            </a:r>
            <a:endParaRPr lang="en-US" sz="1600" dirty="0"/>
          </a:p>
          <a:p>
            <a:pPr algn="l" indent="0" marL="0">
              <a:buNone/>
            </a:pPr>
            <a:r>
              <a:rPr lang="en-US" sz="1600" i="1" dirty="0">
                <a:solidFill>
                  <a:srgbClr val="64748B"/>
                </a:solidFill>
              </a:rPr>
              <a:t>Bound: large shift (~20 pp) excluded; subtle drift ≤10 pp not excluded (F4 n=4).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Why raw counts, not SCT?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SCT is great for clustering / visualization.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But this question depends on molecule detection and ambient RNA.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Raw counts + equal 1,500-UMI budget + ≥2-UMI threshold directly test marker co-detection.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 single-UMI event can easily be ambient; ≥2 is more robust (not proof).</a:t>
            </a:r>
            <a:endParaRPr lang="en-US" sz="2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Why pseudobulk, not per-cell DGE?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Cells from the same donor are not independent replicates (pseudoreplication).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Pseudobulk sums raw counts per donor → one profile per donor.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DGE then tests donor-level consistency (Squair et al. 2021).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38 biopsy donors; F4 = 4 donors → F4-specific signals treated with caution.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Why abandon the relative correlation/spread ruler?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It was source-confounded (the collapse lived in the confounded endpoints).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It was depth-sensitive (shallower F4 changes spread for non-biological reasons).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It conflated co-expression, turn-off, noise, and composition shift.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A Simpson/aggregation sign-reversal confirmed the artifact; count taxonomy separates mechanisms.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Why not the 2D PC-vs-PP joint-count plot?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Broad metabolic program sums are ON in most normal hepatocytes.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So “both programs high” is satisfied by normal cells — not a co-expression test.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It is a pole-collapse visual (fuller in biopsy than explant).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The clean metric is strict anchor dual at ≥2 UMI: ~0.4% biopsy vs ~2.9% explant.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DGE model details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Raw hepatocyte UMI counts summed per donor.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filterByExpr retained 21,022 genes; TMM normalization.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edgeR negative-binomial quasi-likelihood GLM, robust dispersion; common BCV 0.405.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Primary contrast F4 vs F1.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Primary signal persists in DIRECTION with a run covariate and within a single run; significance attenuates with the smaller n (not a batch artifact).</a:t>
            </a:r>
            <a:endParaRPr lang="en-US" sz="2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Does decontX prove contamination? No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decontX models a native + ambient RNA mixture and subtracts the estimate.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Hits 64 → 34; SOX4/SOX9 drop below significance → supports an ambient contribution.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But it can remove true hybrid signal OR leave residual contamination.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Therefore source attribution is a lead, not a closed verdict.</a:t>
            </a:r>
            <a:endParaRPr lang="en-US" sz="2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560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</a:rPr>
              <a:t>Backup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457200" y="603504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E293B"/>
                </a:solidFill>
              </a:rPr>
              <a:t>The one analysis still owed: gene-set testing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554480"/>
            <a:ext cx="1060704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Gene-level FDR can miss a coordinated WEAK program (many genes, small shifts).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CAMERA + ROAST on pre-specified sets: PC, PP, detox, urea cycle, bile-acid/lipid,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mitochondrial, ER stress, interferon, hypoxia, EMT/fetal/progenitor, cholangiocyte/ductular.</a:t>
            </a:r>
            <a:endParaRPr lang="en-US" sz="2000" dirty="0"/>
          </a:p>
          <a:p>
            <a:pPr algn="l" marL="342900" indent="-342900">
              <a:spcAft>
                <a:spcPts val="900"/>
              </a:spcAft>
              <a:buSzPct val="100000"/>
              <a:buChar char="•"/>
            </a:pPr>
            <a:r>
              <a:rPr lang="en-US" sz="2000" dirty="0">
                <a:solidFill>
                  <a:srgbClr val="1E293B"/>
                </a:solidFill>
              </a:rPr>
              <a:t>Closes the caveat behind “no other large hepatocyte program.”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Matched biopsies preserve hepatocyte transcriptional zonation in MASLD</dc:title>
  <dc:subject>PptxGenJS Presentation</dc:subject>
  <dc:creator>MASLD re-analysis</dc:creator>
  <cp:lastModifiedBy>MASLD re-analysis</cp:lastModifiedBy>
  <cp:revision>1</cp:revision>
  <dcterms:created xsi:type="dcterms:W3CDTF">2026-06-23T17:20:25Z</dcterms:created>
  <dcterms:modified xsi:type="dcterms:W3CDTF">2026-06-23T17:20:25Z</dcterms:modified>
</cp:coreProperties>
</file>