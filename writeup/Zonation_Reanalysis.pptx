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biopsy</c:v>
                </c:pt>
              </c:strCache>
            </c:strRef>
          </c:tx>
          <c:spPr>
            <a:solidFill>
              <a:srgbClr val="1B6E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B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Hepatocyte</c:v>
                  </c:pt>
                  <c:pt idx="1">
                    <c:v>Endothelial</c:v>
                  </c:pt>
                  <c:pt idx="2">
                    <c:v>Stellate</c:v>
                  </c:pt>
                  <c:pt idx="3">
                    <c:v>Macrophage</c:v>
                  </c:pt>
                  <c:pt idx="4">
                    <c:v>Cholangiocyte</c:v>
                  </c:pt>
                  <c:pt idx="5">
                    <c:v>Lymphocyte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0.3</c:v>
                </c:pt>
                <c:pt idx="2">
                  <c:v>0.4</c:v>
                </c:pt>
                <c:pt idx="3">
                  <c:v>0.6</c:v>
                </c:pt>
                <c:pt idx="4">
                  <c:v>0.6</c:v>
                </c:pt>
                <c:pt idx="5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explant</c:v>
                </c:pt>
              </c:strCache>
            </c:strRef>
          </c:tx>
          <c:spPr>
            <a:solidFill>
              <a:srgbClr val="C056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B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Hepatocyte</c:v>
                  </c:pt>
                  <c:pt idx="1">
                    <c:v>Endothelial</c:v>
                  </c:pt>
                  <c:pt idx="2">
                    <c:v>Stellate</c:v>
                  </c:pt>
                  <c:pt idx="3">
                    <c:v>Macrophage</c:v>
                  </c:pt>
                  <c:pt idx="4">
                    <c:v>Cholangiocyte</c:v>
                  </c:pt>
                  <c:pt idx="5">
                    <c:v>Lymphocyte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7.4</c:v>
                </c:pt>
                <c:pt idx="1">
                  <c:v>6.3</c:v>
                </c:pt>
                <c:pt idx="2">
                  <c:v>5.2</c:v>
                </c:pt>
                <c:pt idx="3">
                  <c:v>5.8</c:v>
                </c:pt>
                <c:pt idx="4">
                  <c:v>5.2</c:v>
                </c:pt>
                <c:pt idx="5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B2B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E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C6E7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7F5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PC-anchor fraction</c:v>
                </c:pt>
              </c:strCache>
            </c:strRef>
          </c:tx>
          <c:spPr>
            <a:solidFill>
              <a:srgbClr val="1B6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B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0.24</c:v>
                </c:pt>
                <c:pt idx="2">
                  <c:v>0.2</c:v>
                </c:pt>
                <c:pt idx="3">
                  <c:v>0.23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B2B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E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5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GENOMICS  ·  SINGLE-NUCLEUS RE-ANALYSIS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detectable hepatocyte de-zonation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biopsy-stage MASLD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collapse is inseparable from tissue-source / procurement confounding.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Raw-count, donor-level re-analysis of Gribben et al., Nature 2024 (GSE202379)  ·  47 donors  ·  69,426 hepatocyte nuclei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liver zonation lost in fatty-liver disease?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healthy lobule is ZONATED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4937760" cy="50292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97480"/>
            <a:ext cx="2468880" cy="50292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PERIPORTAL (zone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(zone 3)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Periportal: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ASS1, CPS1, PCK1 — urea cycle, gluconeogenesis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GLUL, CYP3A4, drug-metabolizing enzymes (Wnt-driven)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opposing programs along the portal→central axis.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23F4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CLAIM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“Hepatocytes lose their zonation”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20840" y="3566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Gribben et al., Nature 2024 — end-stage hepatocytes co-express pericentral + periportal markers.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20840" y="4983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</a:t>
            </a:r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hepatocyte zonation collapse across disease stage?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research question — and the answer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23F4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“Using Paper 2’s healthy zonation ruler, can we assign a pseudo-zonation coordinate to every spatially-blind Paper-1 hepatocyte — and measure how, and how much, hepatocyte zonation degrades from healthy to end-stage, and is that linked to the transdifferentiation Paper 1 reported?”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Answer, clause by clause: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5204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886200"/>
            <a:ext cx="3520440" cy="73152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87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a coordinate?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it’s the wrong instrument. The fitted ruler + marker-correlation turn depth and tissue differences into a fake collapse. We count molecules instead.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552" y="3886200"/>
            <a:ext cx="35204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6552" y="3886200"/>
            <a:ext cx="3520440" cy="73152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4087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degradation?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45152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detectable biopsy-stage change (F1→cirrhotic F4). The “healthy → end-stage” drop is the biopsy-vs-explant tissue axis — not identifiable as disease.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3886200"/>
            <a:ext cx="35204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3886200"/>
            <a:ext cx="3520440" cy="73152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4087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to transdifferentiation?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21624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establish. Biliary markers (KRT7/19, EPCAM, SOX4) stay ~0 across biopsy disease and rise only in explants — the same confound.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stage is confounded with how the tissue was collected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24688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surgical / atlas (mixed)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NAFLD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needle biopsy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 (no cirrhosis)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needle biopsy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 cirrhosis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needle biopsy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transplant EXPLANT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+ right + caudate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61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201168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06840" y="224028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collinearity.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end-stage sample is a transplant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explant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every milder disease sample is a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biopsy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disease and acquisition cannot be separated.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from the paper's Methods + the dataset metadata.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end-stage “collapse” rides on organ-wide procurement stress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stress UMIs per 10⁴ by lineage (donor-median); explant/biopsy ≈ 5–21× across lineages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5528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23F4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83880" y="2240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Endothelial cells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irrelevant to hepatocyte zonation — are as stressed as hepatocytes.
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organ-level ischemia / handling, not a hepatocyte disease program.
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End-stage excluded as a disease endpoint.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changed the measurement, not just the plot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109728" cy="17830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UMI counts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770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matrix is an SCT model output (depth squeezed to ~5k). We extracted real molecule counts from the RNA assay.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20574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109728" cy="178308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Depth-matched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770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every nucleus to a common budget so detection differences reflect biology, not sequencing depth. Averaged over draws.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14800"/>
            <a:ext cx="109728" cy="17830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is the unit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8280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at the donor level (~47), never the cell — no pseudoreplication of tens of thousands of nuclei.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41148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4114800"/>
            <a:ext cx="109728" cy="178308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Counts, not summaries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48280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counts, fractions, molecule burdens — never marker correlations / spreads / z-scores that hide who moved.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snRNA marker-count signatures expected under zonation collapse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signature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Biopsy F0–F4 &amp; NAS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Pericentral-cell depletion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PC-anchor nuclei fall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Within-cell program dimming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detox in PC nuclei falls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De-zonation: co-expression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PC⁺ PP⁺ nuclei rise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De-zonation: gradient compression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per-nucleus balance → middle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turn-off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double-negative nuclei rise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Compositional shift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: PC anchor ratio shifts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detected — within biopsy-stage power (F1→cirrhotic F4)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Pericentral-anchor fraction of hepatocyte nuclei vs fibrosis stage (flat, non-monotone)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0" y="2011680"/>
            <a:ext cx="43891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6092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everything that could fake a null: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788920"/>
            <a:ext cx="3931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budget 1,000 / 1,500 / 3,000 UMIs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= GLUL-only / CYP3A4-only / both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thinning draws (noise SD 0.006–0.010)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UMI threshold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co-expression (≥2 UMI): ~0 in biopsy vs 7× in explants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contamination, ploidy: tested in counts — none drives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gradient stays broad through cirrhosis — collapses only in explants</a:t>
            </a:r>
            <a:endParaRPr lang="en-US" sz="3000" dirty="0"/>
          </a:p>
        </p:txBody>
      </p:sp>
      <p:pic>
        <p:nvPicPr>
          <p:cNvPr id="5" name="Image 0" descr="../results/figures/h2/gapfill_polariz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85953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2514600"/>
            <a:ext cx="2103120" cy="3063240"/>
          </a:xfrm>
          <a:prstGeom prst="roundRect">
            <a:avLst>
              <a:gd name="adj" fmla="val 3478"/>
            </a:avLst>
          </a:prstGeom>
          <a:solidFill>
            <a:srgbClr val="123F4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710928" y="2514600"/>
            <a:ext cx="1737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= per-nucleus zonal balance, PC ↔ PP.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F0–F4: broad, spread — zonation intact.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Explant: abnormal only here, and heterogeneous across donors (one even retains PC).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ANSWER — HONEST ABOUT POWER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3A4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SAY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detectable hepatocyte de-zonation across acquisition-matched biopsy MASLD (F0–F4 + NAS), by any mechanism.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PC↔PP gradient is present at every stage, including cirrhotic F4.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Near-total collapse is excluded.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3A2A2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CLAIM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“zonation preserved” — the design is underpowered (smallest detectable change ≈ 85% of the mean; F0, F4 each ~one donor).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Single-nucleus counts cannot see lobular spatial position — “PC-like program,” not location.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cohort; no protein / spatial validation.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correct one evidence leg — not the whole claim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128016" cy="1207008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snRNA marker-correlation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92040" y="239572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1B6E78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3957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0" y="2130552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 statistic, on procurement-confounded explant tissue. No progressive drift toward co-expression in biopsy (dual ≥2 UMI: 0.003 → 0.0, F1→F4).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383280"/>
            <a:ext cx="128016" cy="1207008"/>
          </a:xfrm>
          <a:prstGeom prst="rect">
            <a:avLst/>
          </a:prstGeom>
          <a:solidFill>
            <a:srgbClr val="5C6E7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Immunofluorescence (GLUL+ASS1)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92040" y="376732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ECF1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7673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3502152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co-localization — different molecule and timescale than the acute RNA stress we measure.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754880"/>
            <a:ext cx="128016" cy="1207008"/>
          </a:xfrm>
          <a:prstGeom prst="rect">
            <a:avLst/>
          </a:prstGeom>
          <a:solidFill>
            <a:srgbClr val="5C6E7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92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 3D whole-organ imaging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92040" y="513892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ECF1F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51389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4873752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end-stage explants; cirrhosis genuinely remodels the lobule. We cannot call it artifact.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GENOME-WIDE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Genome-wide, the biopsy hepatocyte transcriptome is broadly stable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Transcriptome-wide donor-level DE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pseudobulk, 38 biopsy donors, 17,572 genes, Spearman vs fibrosis, BH-FDR — tested with no curated panel: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8346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Zonation &amp; detox genes: all flat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CYP2E1 FDR .98 · CYP1A2 .91 · ADH4 .97 · SLCO1B3 .80 · GLUL .85 · all periportal &gt; .79.  The null holds far beyond the panel.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651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8346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genes do trend — but not zonation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 are stromal/immune ambient (stellate, cholangiocyte, endothelial). The one clear hepatocyte-intrinsic signal: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A2M acute-phase, CPM 219→718.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ECF1F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within-pericentral xenobiotic dip (12.7→8.9 molecules/nucleus)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survive this genome-wide test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is no longer reported as a finding. Net: a stable hepatocyte transcriptome with a modest acute-phase response — not de-zonation.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dataset cannot settle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03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null: near-total loss excluded, moderate graded change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20574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203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End-stage disease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720840" y="25877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Unrecoverable here — no end-stage biopsies, no non-end-stage explants exist.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ground truth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snRNA gives a PC-like program, not lobule position; focal / architectural de-zonation is invisible.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3401568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393192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GLUL is dropout-prone; CYP3A4 covaries with detox — so no independent “identity preserved” claim.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45736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covariates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27608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etiology / alcohol / medication / fasting — fatal for any disease-specific gene claim.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745736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cohort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527608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biopsy series or protein validation.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acquisition-matched biopsy MASLD, raw-count donor-level snRNA shows 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1B6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detectable marker-count de-zonation</a:t>
            </a:r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excluding near-total collapse, but underpowered for moderate/focal change. The end-stage signal is confined to heterogeneous explants and is 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inseparable from organ-wide procurement stress</a:t>
            </a:r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not identifiable as progressive disease.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19050">
            <a:solidFill>
              <a:srgbClr val="3551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transferable lesson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i="1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summary statistics — marker correlations, spreads, z-scores — on cohorts where disease stage tracks tissue acquisition can manufacture biology. Count-based, depth-matched, donor-level analysis with an explicit confound audit is the more conservative standard.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10896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METHODS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Methods, in brief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109728" cy="17830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molecule counts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70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RNA-assay counts from the Seurat object — the shipped matrix is an SCT model output, not molecules. 45-gene panel + full library size per nucleus.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0574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109728" cy="178308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Depth-matched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66560" y="27706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every nucleus to a common budget (1,000 / 1,500 / 3,000 UMIs) by binomial thinning, averaged over 8 draws — the standard count-preserving depth control.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14800"/>
            <a:ext cx="109728" cy="17830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census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8280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nucleus PC / PP / dual / null on the canonical landmarks (GLUL, CYP3A4 vs ASS1, CPS1, PCK1, HAL, ALDOB); sweep thresholds, anchor genes, and programs.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411480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4114800"/>
            <a:ext cx="109728" cy="178308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Donor-level inference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48280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is the unit (~47): per-donor medians + ranges by stage. Two axes — fibrosis F0–F4 and NAS. Minimum detectable effect estimated at donor level.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GSE202379 (Gribben et al., Nature 2024) · 47 donors · 69,426 hepatocyte nuclei · full numeric record in FINDINGS.md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detectable hepatocyte de-zonation across biopsy-stage MASLD</dc:title>
  <dc:subject>PptxGenJS Presentation</dc:subject>
  <dc:creator>Zonation re-analysis</dc:creator>
  <cp:lastModifiedBy>Zonation re-analysis</cp:lastModifiedBy>
  <cp:revision>1</cp:revision>
  <dcterms:created xsi:type="dcterms:W3CDTF">2026-06-22T20:48:57Z</dcterms:created>
  <dcterms:modified xsi:type="dcterms:W3CDTF">2026-06-22T20:48:57Z</dcterms:modified>
</cp:coreProperties>
</file>