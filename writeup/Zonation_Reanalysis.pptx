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biopsy</c:v>
                </c:pt>
              </c:strCache>
            </c:strRef>
          </c:tx>
          <c:spPr>
            <a:solidFill>
              <a:srgbClr val="1B6E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B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Hepatocyte</c:v>
                  </c:pt>
                  <c:pt idx="1">
                    <c:v>Endothelial</c:v>
                  </c:pt>
                  <c:pt idx="2">
                    <c:v>Stellate</c:v>
                  </c:pt>
                  <c:pt idx="3">
                    <c:v>Macrophage</c:v>
                  </c:pt>
                  <c:pt idx="4">
                    <c:v>Cholangiocyte</c:v>
                  </c:pt>
                  <c:pt idx="5">
                    <c:v>Lymphocyte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0.3</c:v>
                </c:pt>
                <c:pt idx="2">
                  <c:v>0.4</c:v>
                </c:pt>
                <c:pt idx="3">
                  <c:v>0.6</c:v>
                </c:pt>
                <c:pt idx="4">
                  <c:v>0.6</c:v>
                </c:pt>
                <c:pt idx="5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explant</c:v>
                </c:pt>
              </c:strCache>
            </c:strRef>
          </c:tx>
          <c:spPr>
            <a:solidFill>
              <a:srgbClr val="C0561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B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Hepatocyte</c:v>
                  </c:pt>
                  <c:pt idx="1">
                    <c:v>Endothelial</c:v>
                  </c:pt>
                  <c:pt idx="2">
                    <c:v>Stellate</c:v>
                  </c:pt>
                  <c:pt idx="3">
                    <c:v>Macrophage</c:v>
                  </c:pt>
                  <c:pt idx="4">
                    <c:v>Cholangiocyte</c:v>
                  </c:pt>
                  <c:pt idx="5">
                    <c:v>Lymphocyte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7.4</c:v>
                </c:pt>
                <c:pt idx="1">
                  <c:v>6.3</c:v>
                </c:pt>
                <c:pt idx="2">
                  <c:v>5.2</c:v>
                </c:pt>
                <c:pt idx="3">
                  <c:v>5.8</c:v>
                </c:pt>
                <c:pt idx="4">
                  <c:v>5.2</c:v>
                </c:pt>
                <c:pt idx="5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50" u="none">
                  <a:solidFill>
                    <a:srgbClr val="1B2B3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C6E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E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E7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7F5F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PC-anchor fraction</c:v>
                </c:pt>
              </c:strCache>
            </c:strRef>
          </c:tx>
          <c:spPr>
            <a:solidFill>
              <a:srgbClr val="1B6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B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F1</c:v>
                  </c:pt>
                  <c:pt idx="1">
                    <c:v>F2</c:v>
                  </c:pt>
                  <c:pt idx="2">
                    <c:v>F3</c:v>
                  </c:pt>
                  <c:pt idx="3">
                    <c:v>F4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0.18</c:v>
                </c:pt>
                <c:pt idx="1">
                  <c:v>0.24</c:v>
                </c:pt>
                <c:pt idx="2">
                  <c:v>0.2</c:v>
                </c:pt>
                <c:pt idx="3">
                  <c:v>0.23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300" u="none">
                  <a:solidFill>
                    <a:srgbClr val="1B2B3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C6E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7F5F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GENOMICS  ·  SINGLE-NUCLEUS RE-ANALYSIS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detectable hepatocyte de-zonation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across biopsy-stage MASLD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collapse is inseparable from tissue-source / procurement confounding.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Raw-count, donor-level re-analysis of Gribben et al., Nature 2024 (GSE202379)  ·  47 donors  ·  69,426 hepatocyte nuclei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liver zonation lost in fatty-liver disease?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healthy lobule is ZONATED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937760" cy="50292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697480"/>
            <a:ext cx="2468880" cy="50292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697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PERIPORTAL (zone 1)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7472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PERICENTRAL (zone 3)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Periportal: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ASS1, CPS1, PCK1 — urea cycle, gluconeogenesis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Pericentral: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GLUL, CYP3A4, drug-metabolizing enzymes (Wnt-driven)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opposing programs along the portal→central axis.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92024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2084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PUBLISHED CLAIM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20840" y="26060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3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“Hepatocytes lose their zonation”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720840" y="3566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Gribben et al., Nature 2024 — end-stage hepatocytes co-express pericentral + periportal markers.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20840" y="49834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 </a:t>
            </a:r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hepatocyte zonation collapse across disease stage?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QUESTION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research question — and the answer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2880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“Using Paper 2’s healthy zonation ruler, can we assign a pseudo-zonation coordinate to every spatially-blind Paper-1 hepatocyte — and measure how, and how much, hepatocyte zonation degrades from healthy to end-stage, and is that linked to the transdifferentiation Paper 1 reported?”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Answer, clause by clause: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3520440" cy="20574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3886200"/>
            <a:ext cx="3520440" cy="73152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873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coordinate?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562856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it’s the wrong instrument. The fitted ruler + marker-correlation turn depth and tissue differences into a fake collapse. We count molecules instead.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16552" y="3886200"/>
            <a:ext cx="3520440" cy="20574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16552" y="3886200"/>
            <a:ext cx="3520440" cy="73152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4" name="Text 12"/>
          <p:cNvSpPr/>
          <p:nvPr/>
        </p:nvSpPr>
        <p:spPr>
          <a:xfrm>
            <a:off x="4645152" y="40873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degradation?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45152" y="4562856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detectable biopsy-stage change (F1→cirrhotic F4). The “healthy → end-stage” drop is the biopsy-vs-explant tissue axis — not identifiable as disease.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93024" y="3886200"/>
            <a:ext cx="3520440" cy="20574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3886200"/>
            <a:ext cx="3520440" cy="73152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8" name="Text 16"/>
          <p:cNvSpPr/>
          <p:nvPr/>
        </p:nvSpPr>
        <p:spPr>
          <a:xfrm>
            <a:off x="8421624" y="40873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 to transdifferentiation?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21624" y="4562856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establish. Biliary markers (KRT7/19, EPCAM, SOX4) stay ~0 across biopsy disease and rise only in explants — the same confound.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first read the data — and the claim it produced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6E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metrics we used at first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z-scored zonation coordinate — 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z(PC) − z(PP) per cell
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PC–PP marker anti-correlation
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spread / IQR per stage
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zonation heatmaps &amp; slope-loss plots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874520"/>
            <a:ext cx="5166360" cy="3200400"/>
          </a:xfrm>
          <a:prstGeom prst="roundRect">
            <a:avLst>
              <a:gd name="adj" fmla="val 2286"/>
            </a:avLst>
          </a:prstGeom>
          <a:solidFill>
            <a:srgbClr val="16242B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C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claim it produced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6060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“Hepatocytes lose their zonation;</a:t>
            </a:r>
            <a:endParaRPr lang="en-US" sz="20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pericentral program turns off,</a:t>
            </a:r>
            <a:endParaRPr lang="en-US" sz="20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strongest at end-stage.”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4023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FE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 is a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summary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FE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z-scored, correlation-based, pooled across all samples. It hides who moved, how many, and from where.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ECF1F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statistics pool healthy, biopsy and end-stage samples together — across a hidden sampling discontinuity. The next slides show what that discontinuity is, and why it fakes a collapse.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stage is confounded with how the tissue was collected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246888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/ atlas (mixed)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NAFLD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 biopsy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NASH (no cirrhosis)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 biopsy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NASH cirrhosis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 biopsy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6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61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transplant EXPLANT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61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+ right + caudate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61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778240" y="2011680"/>
            <a:ext cx="2743200" cy="35204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006840" y="224028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collinearity.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end-stage sample is a transplant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explant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every milder disease sample is a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biopsy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disease and acquisition cannot be separated.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5806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directly from the paper's Methods + the dataset metadata.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end-stage “collapse” rides on organ-wide procurement stress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stress UMIs per 10⁴ by lineage (donor-median); explant/biopsy ≈ 5–21× across lineages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55280" y="196596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183880" y="2240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Endothelial cells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irrelevant to hepatocyte zonation — are as stressed as hepatocytes.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organ-level ischemia / handling, not a hepatocyte disease program.
</a:t>
            </a:r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End-stage excluded as a disease endpoint.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PARADOX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Simpson's paradox: the collapse is between groups, not within them</a:t>
            </a:r>
            <a:endParaRPr lang="en-US" sz="3000" dirty="0"/>
          </a:p>
        </p:txBody>
      </p:sp>
      <p:pic>
        <p:nvPicPr>
          <p:cNvPr id="5" name="Image 0" descr="../results/figures/h2/simpson_antico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040880" cy="35844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783080"/>
            <a:ext cx="36576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46720" y="19019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E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collapse dissolves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0" y="22860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(legacy):  </a:t>
            </a:r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+0.44, p=.002
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 F0–F4 only:  </a:t>
            </a:r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+0.29, p=.078 n.s.
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depth-matched counts:  </a:t>
            </a:r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63840" y="4251960"/>
            <a:ext cx="3657600" cy="1097280"/>
          </a:xfrm>
          <a:prstGeom prst="roundRect">
            <a:avLst>
              <a:gd name="adj" fmla="val 5833"/>
            </a:avLst>
          </a:prstGeom>
          <a:solidFill>
            <a:srgbClr val="ECF1F1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Lurking variable: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stress, maximal in end-stage organ cubes — collinear with disease stage.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16242B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56509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reversal: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FE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healthy donor is individually zonated (anti-corr −0.21), yet pooling the four flips the sign to +0.01 — “de-zonation” manufactured purely by aggregation.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changed the measurement, not just the plot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57400"/>
            <a:ext cx="109728" cy="178308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585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UMI counts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770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shipped matrix is an SCT model output (depth squeezed to ~5k). We extracted real molecule counts from the RNA assay.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46520" y="20574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57400"/>
            <a:ext cx="109728" cy="178308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22585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Depth-matched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766560" y="2770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 every nucleus to a common budget so detection differences reflect biology, not sequencing depth. Averaged over draws.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114800"/>
            <a:ext cx="109728" cy="178308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315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 is the unit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" y="48280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at the donor level (~47), never the cell — no pseudoreplication of tens of thousands of nuclei.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46520" y="41148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114800"/>
            <a:ext cx="109728" cy="178308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315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Counts, not summaries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66560" y="48280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counts, fractions, molecule burdens — never marker correlations / spreads / z-scores that hide who moved.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snRNA marker-count signatures expected under zonation collapse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8813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206240"/>
                <a:gridCol w="31089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signature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Biopsy F0–F4 &amp; NAS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Pericentral-cell depletion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PC-anchor nuclei fall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Within-cell program dimming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detox in PC nuclei falls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De-zonation: co-expression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 PC⁺ PP⁺ nuclei rise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De-zonation: gradient compression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per-nucleus balance → middle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turn-off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double-negative nuclei rise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Compositional shift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 : PC anchor ratio shifts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 detected — within biopsy-stage power (F1→cirrhotic F4)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6126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521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Pericentral-anchor fraction of hepatocyte nuclei vs fibrosis stage (flat, non-monotone)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132320" y="2011680"/>
            <a:ext cx="43891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609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everything that could fake a null: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60920" y="2788920"/>
            <a:ext cx="393192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budget 1,000 / 1,500 / 3,000 UMIs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= GLUL-only / CYP3A4-only / both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thinning draws (noise SD 0.006–0.010)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UMI threshold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co-expression (≥2 UMI): ~0 in biopsy vs 7× in explants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ambient, contamination, ploidy: tested in counts — none drives 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gradient stays broad through cirrhosis — collapses only in explants</a:t>
            </a:r>
            <a:endParaRPr lang="en-US" sz="3000" dirty="0"/>
          </a:p>
        </p:txBody>
      </p:sp>
      <p:pic>
        <p:nvPicPr>
          <p:cNvPr id="5" name="Image 0" descr="../results/figures/h2/gapfill_polariz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48840"/>
            <a:ext cx="859536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09760" y="2514600"/>
            <a:ext cx="2103120" cy="3063240"/>
          </a:xfrm>
          <a:prstGeom prst="roundRect">
            <a:avLst>
              <a:gd name="adj" fmla="val 3478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710928" y="2514600"/>
            <a:ext cx="17373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= per-nucleus zonal balance, PC ↔ PP.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F0–F4: broad, spread — zonation intact.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Explant: abnormal only here, and heterogeneous across donors (one even retains PC).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ANSWER — HONEST ABOUT POWER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1E3A40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SAY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214884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detectable hepatocyte de-zonation across acquisition-matched biopsy MASLD (F0–F4 + NAS), by any mechanism.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 PC↔PP gradient is present at every stage, including cirrhotic F4.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Near-total collapse is excluded.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029200" cy="4480560"/>
          </a:xfrm>
          <a:prstGeom prst="roundRect">
            <a:avLst>
              <a:gd name="adj" fmla="val 1633"/>
            </a:avLst>
          </a:prstGeom>
          <a:solidFill>
            <a:srgbClr val="3A2A20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CLAIM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14884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“zonation preserved” — the design is underpowered (smallest detectable change ≈ 85% of the mean; F0, F4 each ~one donor).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Single-nucleus counts cannot see lobular spatial position — “PC-like program,” not location.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cohort; no protein / spatial validation.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correct one evidence leg — not the whole claim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128016" cy="1207008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488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snRNA marker-correlation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892040" y="239572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B6E78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239572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0" y="2130552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relative statistic, on procurement-confounded explant tissue. No progressive drift toward co-expression in biopsy (dual ≥2 UMI: 0.003 → 0.0, F1→F4).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383280"/>
            <a:ext cx="128016" cy="1207008"/>
          </a:xfrm>
          <a:prstGeom prst="rect">
            <a:avLst/>
          </a:prstGeom>
          <a:solidFill>
            <a:srgbClr val="5C6E73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5204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Immunofluorescence (GLUL+ASS1)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892040" y="376732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CF1F1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376732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ADDRESSED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766560" y="3502152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co-localization — different molecule and timescale than the acute RNA stress we measure.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754880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754880"/>
            <a:ext cx="128016" cy="1207008"/>
          </a:xfrm>
          <a:prstGeom prst="rect">
            <a:avLst/>
          </a:prstGeom>
          <a:solidFill>
            <a:srgbClr val="5C6E73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8920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FLASH 3D whole-organ imaging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892040" y="513892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CF1F1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513892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ADDRESSED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66560" y="4873752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of end-stage explants; cirrhosis genuinely remodels the lobule. We cannot call it artifact.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GENOME-WIDE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Genome-wide, the biopsy hepatocyte transcriptome is broadly stable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Transcriptome-wide donor-level DE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pseudobulk, 38 biopsy donors, 17,572 genes, Spearman vs fibrosis, BH-FDR — tested with no curated panel: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8346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Zonation &amp; detox genes: all flat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CYP2E1 FDR .98 · CYP1A2 .91 · ADH4 .97 · SLCO1B3 .80 · GLUL .85 · all periportal &gt; .79.  The null holds far beyond the panel.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2651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28346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genes do trend — but not zonation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15/23 are stromal/immune ambient (stellate, cholangiocyte, endothelial). The one clear hepatocyte-intrinsic signal: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A2M acute-phase, CPM 219→718.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4667"/>
            </a:avLst>
          </a:prstGeom>
          <a:solidFill>
            <a:srgbClr val="ECF1F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8920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Correction: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within-pericentral xenobiotic dip (12.7→8.9 molecules/nucleus)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survive this genome-wide test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is no longer reported as a finding. Net: a stable hepatocyte transcriptome with a modest acute-phase response — not de-zonation.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dataset cannot settle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037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87752"/>
            <a:ext cx="49834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null: near-total loss excluded, moderate graded change not.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46520" y="20574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20840" y="22037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End-stage disease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720840" y="2587752"/>
            <a:ext cx="49834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Unrecoverable here — no end-stage biopsies, no non-end-stage explants exist.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5478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spatial ground truth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14400" y="3931920"/>
            <a:ext cx="49834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snRNA gives a PC-like program, not lobule position; focal / architectural de-zonation is invisible.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46520" y="3401568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20840" y="35478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720840" y="3931920"/>
            <a:ext cx="49834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GLUL is dropout-prone; CYP3A4 covaries with detox — so no independent “identity preserved” claim.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745736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892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covariates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5276088"/>
            <a:ext cx="49834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etiology / alcohol / medication / fasting — fatal for any disease-specific gene claim.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46520" y="4745736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720840" y="4892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cohort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720840" y="5276088"/>
            <a:ext cx="49834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independent biopsy series or protein validation.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Across acquisition-matched biopsy MASLD, raw-count donor-level snRNA shows </a:t>
            </a:r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1B6E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detectable marker-count de-zonation</a:t>
            </a:r>
            <a:pPr indent="0" marL="0">
              <a:lnSpc>
                <a:spcPts val="32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excluding near-total collapse, but underpowered for moderate/focal change. The end-stage signal is confined to heterogeneous explants and is </a:t>
            </a:r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C05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inseparable from organ-wide procurement stress</a:t>
            </a:r>
            <a:pPr indent="0" marL="0">
              <a:lnSpc>
                <a:spcPts val="32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not identifiable as progressive disease.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914400" y="3611880"/>
            <a:ext cx="10332720" cy="0"/>
          </a:xfrm>
          <a:prstGeom prst="line">
            <a:avLst/>
          </a:prstGeom>
          <a:noFill/>
          <a:ln w="19050">
            <a:solidFill>
              <a:srgbClr val="3551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transferable lesson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i="1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summary statistics — marker correlations, spreads, z-scores — on cohorts where disease stage tracks tissue acquisition can manufacture biology. Count-based, depth-matched, donor-level analysis with an explicit confound audit is the more conservative standard.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10896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029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METHODS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Methods, in brief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57400"/>
            <a:ext cx="109728" cy="178308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585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molecule counts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770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the RNA-assay counts from the Seurat object — the shipped matrix is an SCT model output, not molecules. 45-gene panel + full library size per nucleus.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46520" y="20574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57400"/>
            <a:ext cx="109728" cy="178308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22585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Depth-matched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66560" y="2770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 every nucleus to a common budget (1,000 / 1,500 / 3,000 UMIs) by binomial thinning, averaged over 8 draws — the standard count-preserving depth control.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114800"/>
            <a:ext cx="109728" cy="178308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315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census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" y="48280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each nucleus PC / PP / dual / null on the canonical landmarks (GLUL, CYP3A4 vs ASS1, CPS1, PCK1, HAL, ALDOB); sweep thresholds, anchor genes, and programs.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46520" y="411480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114800"/>
            <a:ext cx="109728" cy="178308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315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Donor-level inference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766560" y="48280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55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is the unit (~47): per-donor medians + ranges by stage. Two axes — fibrosis F0–F4 and NAS. Minimum detectable effect estimated at donor level.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GSE202379 (Gribben et al., Nature 2024) · 47 donors · 69,426 hepatocyte nuclei · full numeric record in FINDINGS.md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612880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detectable hepatocyte de-zonation across biopsy-stage MASLD</dc:title>
  <dc:subject>PptxGenJS Presentation</dc:subject>
  <dc:creator>Zonation re-analysis</dc:creator>
  <cp:lastModifiedBy>Zonation re-analysis</cp:lastModifiedBy>
  <cp:revision>1</cp:revision>
  <dcterms:created xsi:type="dcterms:W3CDTF">2026-06-23T09:52:42Z</dcterms:created>
  <dcterms:modified xsi:type="dcterms:W3CDTF">2026-06-23T09:52:42Z</dcterms:modified>
</cp:coreProperties>
</file>