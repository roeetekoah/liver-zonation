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liver is zoned — and a paper says disease un-zones it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100584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508760"/>
            <a:ext cx="502920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PERICENTRAL zone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5087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PERIPORTAL zone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detox / drug metabolism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</a:rPr>
              <a:t>urea cycle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7780">
            <a:solidFill>
              <a:srgbClr val="1B6E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852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B6E78"/>
                </a:solidFill>
              </a:rPr>
              <a:t>WHAT WAS KNOWN  ·  zonation atlas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B31"/>
                </a:solidFill>
              </a:rPr>
              <a:t>A healthy-liver atlas mapped the </a:t>
            </a:r>
            <a:pPr algn="l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marker genes</a:t>
            </a:r>
            <a:pPr algn="l" indent="0" marL="0">
              <a:buNone/>
            </a:pPr>
            <a:r>
              <a:rPr lang="en-US" sz="1450" dirty="0">
                <a:solidFill>
                  <a:srgbClr val="1B2B31"/>
                </a:solidFill>
              </a:rPr>
              <a:t> that say which zone a cell belongs to. That is our </a:t>
            </a:r>
            <a:pPr algn="l" indent="0" marL="0">
              <a:buNone/>
            </a:pPr>
            <a:r>
              <a:rPr lang="en-US" sz="1450" b="1" dirty="0">
                <a:solidFill>
                  <a:srgbClr val="1B6E78"/>
                </a:solidFill>
              </a:rPr>
              <a:t>ruler</a:t>
            </a:r>
            <a:pPr algn="l" indent="0" marL="0">
              <a:buNone/>
            </a:pPr>
            <a:r>
              <a:rPr lang="en-US" sz="1450" dirty="0">
                <a:solidFill>
                  <a:srgbClr val="1B2B31"/>
                </a:solidFill>
              </a:rPr>
              <a:t> for “what zonation is.”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5080" y="2697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7780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852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E123C"/>
                </a:solidFill>
              </a:rPr>
              <a:t>THE CLAIM  ·  Gribben et al., Nature 2024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1"/>
                </a:solidFill>
              </a:rPr>
              <a:t>In fatty-liver disease (MASLD), hepatocytes:
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B31"/>
                </a:solidFill>
              </a:rPr>
              <a:t>1.  lose their zonation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1"/>
                </a:solidFill>
              </a:rPr>
              <a:t>  (the two groups blur together), and
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B31"/>
                </a:solidFill>
              </a:rPr>
              <a:t>2.  turn into bile-duct cells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1"/>
                </a:solidFill>
              </a:rPr>
              <a:t>  (transdifferentiation).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30368"/>
            <a:ext cx="11082528" cy="1115568"/>
          </a:xfrm>
          <a:prstGeom prst="roundRect">
            <a:avLst>
              <a:gd name="adj" fmla="val 7377"/>
            </a:avLst>
          </a:prstGeom>
          <a:solidFill>
            <a:srgbClr val="E7F0EE"/>
          </a:solidFill>
          <a:ln w="22860">
            <a:solidFill>
              <a:srgbClr val="1B6E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37667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23F47"/>
                </a:solidFill>
              </a:rPr>
              <a:t>OUR IDEA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68756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atlas’s healthy-zonation ruler, and measure the “gap” across the MASLD disease stages — does it really shrink?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question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036015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0320">
            <a:solidFill>
              <a:srgbClr val="C0561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2331720"/>
            <a:ext cx="9646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hepatocyte zonation really degrade across MASLD — and is it linked to the hepatocyte→bile-duct transdifferentiation the paper describes?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E73"/>
                </a:solidFill>
              </a:rPr>
              <a:t>We re-checked both claims in the raw data — and ran into two catches: first our ruler, then the experiment itself.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OUR FIRST RULER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THE CATCH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ruler — a school-class analogy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B31"/>
                </a:solidFill>
              </a:rPr>
              <a:t>Imagine a make-believe school</a:t>
            </a:r>
            <a:pPr algn="l" indent="0" marL="0">
              <a:buNone/>
            </a:pPr>
            <a:r>
              <a:rPr lang="en-US" sz="1550" dirty="0">
                <a:solidFill>
                  <a:srgbClr val="1B2B31"/>
                </a:solidFill>
              </a:rPr>
              <a:t> where — by design — every student is clearly one of two kinds: </a:t>
            </a:r>
            <a:pPr algn="l" indent="0" marL="0">
              <a:buNone/>
            </a:pPr>
            <a:r>
              <a:rPr lang="en-US" sz="1550" b="1" dirty="0">
                <a:solidFill>
                  <a:srgbClr val="1D4ED8"/>
                </a:solidFill>
              </a:rPr>
              <a:t>top</a:t>
            </a:r>
            <a:pPr algn="l" indent="0" marL="0">
              <a:buNone/>
            </a:pPr>
            <a:r>
              <a:rPr lang="en-US" sz="1550" dirty="0">
                <a:solidFill>
                  <a:srgbClr val="1B2B31"/>
                </a:solidFill>
              </a:rPr>
              <a:t> (≥ 90) or </a:t>
            </a:r>
            <a:pPr algn="l" indent="0" marL="0">
              <a:buNone/>
            </a:pPr>
            <a:r>
              <a:rPr lang="en-US" sz="1550" b="1" dirty="0">
                <a:solidFill>
                  <a:srgbClr val="EA580C"/>
                </a:solidFill>
              </a:rPr>
              <a:t>failing</a:t>
            </a:r>
            <a:pPr algn="l" indent="0" marL="0">
              <a:buNone/>
            </a:pPr>
            <a:r>
              <a:rPr lang="en-US" sz="1550" i="1" dirty="0">
                <a:solidFill>
                  <a:srgbClr val="5C6E73"/>
                </a:solidFill>
              </a:rPr>
              <a:t> (≤ 30), nobody in between. (A thought experiment — real grades vary, but the two-bin picture makes the idea clear.)</a:t>
            </a:r>
            <a:endParaRPr lang="en-US" sz="1550" dirty="0"/>
          </a:p>
        </p:txBody>
      </p:sp>
      <p:pic>
        <p:nvPicPr>
          <p:cNvPr id="8" name="Image 0" descr="D:\CS\Genomics\Hackathon\presentation/assets/catch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520" y="2011680"/>
            <a:ext cx="8320479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In this imagined class, two clear groups (top = pericentral cells, failing = periportal). The first method measures only the GAP between them.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80160" y="5532120"/>
            <a:ext cx="9601200" cy="603504"/>
          </a:xfrm>
          <a:prstGeom prst="roundRect">
            <a:avLst>
              <a:gd name="adj" fmla="val 9091"/>
            </a:avLst>
          </a:prstGeom>
          <a:solidFill>
            <a:srgbClr val="FBEEE9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81328" y="5532120"/>
            <a:ext cx="9235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E123C"/>
                </a:solidFill>
              </a:rPr>
              <a:t>The naive reading:  </a:t>
            </a:r>
            <a:pPr algn="l" indent="0" marL="0">
              <a:buNone/>
            </a:pPr>
            <a:r>
              <a:rPr lang="en-US" sz="1450" dirty="0">
                <a:solidFill>
                  <a:srgbClr val="1B2B31"/>
                </a:solidFill>
              </a:rPr>
              <a:t>if the gap collapses to zero — everyone looks average — it reads as “zonation lost.”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WHY THE RULER MISLEADS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THE CATCH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zero gap can mean very different things</a:t>
            </a:r>
            <a:endParaRPr lang="en-US" sz="2700" dirty="0"/>
          </a:p>
        </p:txBody>
      </p:sp>
      <p:pic>
        <p:nvPicPr>
          <p:cNvPr id="7" name="Image 0" descr="D:\CS\Genomics\Hackathon\presentation/assets/catch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300" y="1371600"/>
            <a:ext cx="9724921" cy="269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11480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Three classes that all read GAP ≈ 0 — yet only the first is real de-zonation.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52628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4526280"/>
            <a:ext cx="91440" cy="129844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4636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E123C"/>
                </a:solidFill>
              </a:rPr>
              <a:t>It hides who moved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3232" y="498348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Real de-zonation? A top↔failing swap? Or did the failing students simply leave? The gap reads the same.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24528" y="452628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24528" y="4526280"/>
            <a:ext cx="91440" cy="129844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4636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E123C"/>
                </a:solidFill>
              </a:rPr>
              <a:t>It’s bent by tweaks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480560" y="498348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Give the failing a grade bonus and they “look” top: gap = 0, yet nothing real changed. Any across-the-board shift fools a relative ruler.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91856" y="452628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91856" y="4526280"/>
            <a:ext cx="91440" cy="1298448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9" name="Text 16"/>
          <p:cNvSpPr/>
          <p:nvPr/>
        </p:nvSpPr>
        <p:spPr>
          <a:xfrm>
            <a:off x="8247888" y="4636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0561B"/>
                </a:solidFill>
              </a:rPr>
              <a:t>One number, re-graded data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47888" y="498348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A single relative score crams all of these together — and it’s built on normalized grades tuned for the original question, not ours.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5943600"/>
            <a:ext cx="11356848" cy="457200"/>
          </a:xfrm>
          <a:prstGeom prst="roundRect">
            <a:avLst>
              <a:gd name="adj" fmla="val 12000"/>
            </a:avLst>
          </a:prstGeom>
          <a:solidFill>
            <a:srgbClr val="E7F0EE"/>
          </a:solidFill>
          <a:ln w="12700">
            <a:solidFill>
              <a:srgbClr val="1B6E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F47"/>
                </a:solidFill>
              </a:rPr>
              <a:t>→ So we drop the gap and count the raw work each cell does</a:t>
            </a:r>
            <a:pPr algn="l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 — actual molecules, not a relative score — which can tell these apart.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SECOND CATCH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THE CATCH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the setup itself fake the signal?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9235440" cy="0"/>
          </a:xfrm>
          <a:prstGeom prst="line">
            <a:avLst/>
          </a:prstGeom>
          <a:noFill/>
          <a:ln w="1905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1673352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BE12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67335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Healthy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68880" y="16733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66160" y="16733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6733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16733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1673352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1673352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86198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End-stage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" y="1618488"/>
            <a:ext cx="1362456" cy="868680"/>
          </a:xfrm>
          <a:prstGeom prst="rect">
            <a:avLst/>
          </a:prstGeom>
          <a:ln w="22860">
            <a:solidFill>
              <a:srgbClr val="BE12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156448" y="1618488"/>
            <a:ext cx="2066544" cy="868680"/>
          </a:xfrm>
          <a:prstGeom prst="rect">
            <a:avLst/>
          </a:prstGeom>
          <a:ln w="22860">
            <a:solidFill>
              <a:srgbClr val="BE123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229600" y="2487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E123C"/>
                </a:solidFill>
              </a:rPr>
              <a:t>invasive whole-organ surgery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468880" y="2487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quick needle biopsies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31546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BE12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cut tissue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invasively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77640" y="3154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6E73"/>
                </a:solidFill>
              </a:rPr>
              <a:t>→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4709160" y="31546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STRESS programs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switch 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63840" y="3154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6E73"/>
                </a:solidFill>
              </a:rPr>
              <a:t>→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8595360" y="31546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B2B3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59536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expression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changes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2960" y="452628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BEEE9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46634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two ends carry an extra stress signal.
</a:t>
            </a:r>
            <a:endParaRPr lang="en-US" sz="1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coming from how they were collected — and could it be faking the “de-zonation”?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2296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C6E73"/>
                </a:solidFill>
              </a:rPr>
              <a:t>We ran two checks  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SECOND CATCH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THE CATCH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the stress be the real signal? Two reasons to doubt it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</a:t>
            </a:r>
            <a:pPr algn="l" indent="0" marL="0">
              <a:buNone/>
            </a:pPr>
            <a:r>
              <a:rPr lang="en-US" sz="2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Can’t be pinned on zonation</a:t>
            </a:r>
            <a:endParaRPr lang="en-US" sz="2000" dirty="0"/>
          </a:p>
        </p:txBody>
      </p:sp>
      <p:pic>
        <p:nvPicPr>
          <p:cNvPr id="8" name="Image 0" descr="D:\CS\Genomics\Hackathon\presentation/assets/catch2_line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81" y="1874520"/>
            <a:ext cx="5233838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8006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Even if the stress </a:t>
            </a:r>
            <a:pPr algn="l" indent="0" marL="0">
              <a:buNone/>
            </a:pPr>
            <a:r>
              <a:rPr lang="en-US" sz="1250" i="1" dirty="0">
                <a:solidFill>
                  <a:srgbClr val="1B2B31"/>
                </a:solidFill>
              </a:rPr>
              <a:t>is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 a zonation change, we can’t separate it from handling — cells with </a:t>
            </a:r>
            <a:pPr algn="l"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no zonation program at all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 (e.g. endothelium) show the same spike. So it’s at least confounded.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0" cy="4206240"/>
          </a:xfrm>
          <a:prstGeom prst="line">
            <a:avLst/>
          </a:prstGeom>
          <a:noFill/>
          <a:ln w="12700">
            <a:solidFill>
              <a:srgbClr val="D7D0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</a:t>
            </a:r>
            <a:pPr algn="l" indent="0" marL="0">
              <a:buNone/>
            </a:pPr>
            <a:r>
              <a:rPr lang="en-US" sz="20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Doesn’t behave like disease</a:t>
            </a:r>
            <a:endParaRPr lang="en-US" sz="2000" dirty="0"/>
          </a:p>
        </p:txBody>
      </p:sp>
      <p:pic>
        <p:nvPicPr>
          <p:cNvPr id="12" name="Image 1" descr="D:\CS\Genomics\Hackathon\presentation/assets/catch2_bysour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072" y="1874520"/>
            <a:ext cx="4354417" cy="2834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48006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If it were the disease, this pattern is odd: </a:t>
            </a:r>
            <a:pPr algn="l"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loud in HEALTHY tissue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 and </a:t>
            </a:r>
            <a:pPr algn="l"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silent in cirrhosis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. A disease signal should rise with severity — so the pattern leans to procurement.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5852160"/>
            <a:ext cx="11356848" cy="512064"/>
          </a:xfrm>
          <a:prstGeom prst="roundRect">
            <a:avLst>
              <a:gd name="adj" fmla="val 10714"/>
            </a:avLst>
          </a:prstGeom>
          <a:solidFill>
            <a:srgbClr val="E7F0EE"/>
          </a:solidFill>
          <a:ln w="12700">
            <a:solidFill>
              <a:srgbClr val="1B6E7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852160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F47"/>
                </a:solidFill>
              </a:rPr>
              <a:t>→ so we look at every group — </a:t>
            </a:r>
            <a:pPr algn="l" indent="0" marL="0">
              <a:buNone/>
            </a:pPr>
            <a:r>
              <a:rPr lang="en-US" sz="1250" b="1" dirty="0">
                <a:solidFill>
                  <a:srgbClr val="1B2B31"/>
                </a:solidFill>
              </a:rPr>
              <a:t>healthy · F0 · F1–F4 · end-stage</a:t>
            </a:r>
            <a:pPr algn="l" indent="0" marL="0">
              <a:buNone/>
            </a:pPr>
            <a:r>
              <a:rPr lang="en-US" sz="1250" b="1" dirty="0">
                <a:solidFill>
                  <a:srgbClr val="123F47"/>
                </a:solidFill>
              </a:rPr>
              <a:t> — but the two ends are procurement-confounded; disease is read from the matched biopsies (F1–F4).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HOW WE MEASURE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fix: count, control, look finer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B31"/>
                </a:solidFill>
              </a:rPr>
              <a:t>The two catches told us what to fix. So we changed three things — same data, read more honestly: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84448" cy="37033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358444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2677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4672" y="30632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real molecules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384048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We stop measuring the relative gap and count the actual molecules in each cell — so we can see who moved and how many.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52578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fixes: the gap hid who moved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2011680"/>
            <a:ext cx="3584448" cy="37033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2011680"/>
            <a:ext cx="3584448" cy="109728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677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81144" y="30632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the grading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81144" y="384048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We pin down the normalization ourselves, so an across-the-board tweak — an artifact — can’t quietly shift the answer.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81144" y="52578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fixes: the gap was bent by tweaks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2011680"/>
            <a:ext cx="3584448" cy="37033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011680"/>
            <a:ext cx="3584448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2677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357616" y="30632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finer than two bins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57616" y="384048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B31"/>
                </a:solidFill>
              </a:rPr>
              <a:t>Not just top vs failing. For every cell: clearly pericentral? periportal? both? neither? — and how loud is its program?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57616" y="52578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fixes: the coarse top / failing split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897880"/>
            <a:ext cx="11265408" cy="457200"/>
          </a:xfrm>
          <a:prstGeom prst="roundRect">
            <a:avLst>
              <a:gd name="adj" fmla="val 12000"/>
            </a:avLst>
          </a:prstGeom>
          <a:solidFill>
            <a:srgbClr val="E7F0EE"/>
          </a:solidFill>
          <a:ln w="12700">
            <a:solidFill>
              <a:srgbClr val="1B6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F47"/>
                </a:solidFill>
              </a:rPr>
              <a:t>Same data — raw, normalization-controlled, and read at a finer grain. </a:t>
            </a:r>
            <a:pPr algn="l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Now the ruler can’t fool us.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2026-06-27T18:46:45Z</dcterms:created>
  <dcterms:modified xsi:type="dcterms:W3CDTF">2026-06-27T18:46:45Z</dcterms:modified>
</cp:coreProperties>
</file>