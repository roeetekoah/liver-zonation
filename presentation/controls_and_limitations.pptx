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FE6E9"/>
                </a:solidFill>
                <a:latin typeface="Calibri"/>
              </a:rPr>
              <a:t> 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Georgia"/>
              </a:rPr>
              <a:t>Controls — does the result hold up?</a:t>
            </a:r>
          </a:p>
        </p:txBody>
      </p:sp>
      <p:pic>
        <p:nvPicPr>
          <p:cNvPr id="6" name="Picture 5" descr="p2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325880"/>
            <a:ext cx="10058400" cy="27854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3434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F855A"/>
                </a:solidFill>
                <a:latin typeface="Calibri"/>
              </a:rPr>
              <a:t>✓  Positive control —  </a:t>
            </a:r>
            <a:r>
              <a:rPr sz="1400" b="0" i="0">
                <a:solidFill>
                  <a:srgbClr val="1F2733"/>
                </a:solidFill>
                <a:latin typeface="Calibri"/>
              </a:rPr>
              <a:t>on healthy liver the coordinate recovers zonation: pericentral CYP2E1 rises with it, periportal ASS1 falls (real data, above).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983480"/>
            <a:ext cx="10927080" cy="1143000"/>
          </a:xfrm>
          <a:prstGeom prst="roundRect">
            <a:avLst>
              <a:gd name="adj" fmla="val 7000"/>
            </a:avLst>
          </a:prstGeom>
          <a:solidFill>
            <a:srgbClr val="FBE7D8"/>
          </a:solidFill>
          <a:ln w="1524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074920"/>
            <a:ext cx="10515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C05621"/>
                </a:solidFill>
                <a:latin typeface="Calibri"/>
              </a:rPr>
              <a:t>✗  Negative control —  </a:t>
            </a:r>
            <a:r>
              <a:rPr sz="1400" b="0" i="0">
                <a:solidFill>
                  <a:srgbClr val="1F2733"/>
                </a:solidFill>
                <a:latin typeface="Calibri"/>
              </a:rPr>
              <a:t>shuffle the disease-stage labels and re-run: the collapse trend must VANISH. A 'signal' that survives shuffling is an artefact, not biology.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FE6E9"/>
                </a:solidFill>
                <a:latin typeface="Calibri"/>
              </a:rPr>
              <a:t>  HONEST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Georgia"/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1" i="0">
                <a:solidFill>
                  <a:srgbClr val="16545C"/>
                </a:solidFill>
                <a:latin typeface="Calibri"/>
              </a:rPr>
              <a:t>Ruler-validity — the real one.  </a:t>
            </a:r>
            <a:r>
              <a:rPr sz="1400" b="0" i="0">
                <a:solidFill>
                  <a:srgbClr val="1F2733"/>
                </a:solidFill>
                <a:latin typeface="Calibri"/>
              </a:rPr>
              <a:t>Disease may corrupt the very marker genes the coordinate relies on, so a 'collapse' could be the ruler falling apart rather than true de-zonation. Step 5b diagnostics (internal coherence, PC–PP anti-correlation, split-half reproducibility) tell these apart before we make any claim.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1" i="0">
                <a:solidFill>
                  <a:srgbClr val="16545C"/>
                </a:solidFill>
                <a:latin typeface="Calibri"/>
              </a:rPr>
              <a:t>Few patients at the extremes.  </a:t>
            </a:r>
            <a:r>
              <a:rPr sz="1400" b="0" i="0">
                <a:solidFill>
                  <a:srgbClr val="1F2733"/>
                </a:solidFill>
                <a:latin typeface="Calibri"/>
              </a:rPr>
              <a:t>The cohort thins at the ends — cirrhosis (n = 4) and end-stage (n = 5) — so the donor-level trend rests on a handful of people there; the tails of the curve carry the widest confidence intervals.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1" i="0">
                <a:solidFill>
                  <a:srgbClr val="16545C"/>
                </a:solidFill>
                <a:latin typeface="Calibri"/>
              </a:rPr>
              <a:t>Cross-dataset transfer.  </a:t>
            </a:r>
            <a:r>
              <a:rPr sz="1400" b="0" i="0">
                <a:solidFill>
                  <a:srgbClr val="1F2733"/>
                </a:solidFill>
                <a:latin typeface="Calibri"/>
              </a:rPr>
              <a:t>The ruler is learned on a different healthy cohort and platform; residual batch effects could tilt the coordinate. We mitigate with rank/z features, a same-platform (snRNA) classifier, and the healthy positive control — but it remains a caveat.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6636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5A6472"/>
                </a:solidFill>
                <a:latin typeface="Calibri"/>
              </a:rPr>
              <a:t>Minor caveat — spatial scrambling.  </a:t>
            </a:r>
            <a:r>
              <a:rPr sz="1250" b="0" i="0">
                <a:solidFill>
                  <a:srgbClr val="1F2733"/>
                </a:solidFill>
                <a:latin typeface="Calibri"/>
              </a:rPr>
              <a:t>If cells kept their expression identity but were physically rearranged, dissociated data couldn't see it. We judge this biologically very unlikely in MASLD, and note it only for completeness.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