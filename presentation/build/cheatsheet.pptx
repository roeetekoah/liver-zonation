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REFERENCE · 1 /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Counts, normalization &amp; differential expression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5770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</a:rPr>
                        <a:t>Pseudobulk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Sum all of one donor's hepatocyte UMIs into a single profile, so the donor — not the cell — is the statistical unit (cells in a donor are not independent).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</a:rPr>
                        <a:t>CPM (counts per million)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Each gene as a share of the donor's total counts; simple but compositional — if a few genes surge, everyone else's share mechanically shrinks.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</a:rPr>
                        <a:t>TMM (trimmed mean of M-values)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Pick one sample as reference, take each other sample's gene-wise log-ratios to it, trim the extreme movers, average the rest → the library's scaling factor, so surging genes can't distort it (composition-robust).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</a:rPr>
                        <a:t>edgeR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The R / Bioconductor package that runs our per-gene differential-expression test on the pseudobulk counts.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</a:rPr>
                        <a:t>GLM (generalized linear model)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 regression linking a predictor (here: fibrosis stage) to a response that isn't normally distributed — for counts, through a negative-binomial noise model.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</a:rPr>
                        <a:t>NB quasi-likelihood GLM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edgeR's engine: model each gene's counts as negative-binomial (mean + overdispersion) and fit a quasi-likelihood GLM that estimates the extra variability robustly → calibrated p-values with few replicates.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</a:rPr>
                        <a:t>filterByExpr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edgeR's pre-filter: keep a gene only if it has enough reads in enough samples of the smallest stage group, else drop it (≈21,000 of ~36k kept). Low-count genes carry no statistical power and only inflate the multiple-testing burden, so removing them sharpens the real hits.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</a:rPr>
                        <a:t>Binomial down-sampling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Randomly thin every nucleus to a common 1,500 UMIs (each molecule kept with equal probability) so sequencing depth can't drive detection.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E73"/>
                </a:solidFill>
              </a:rPr>
              <a:t>Computational Genomics 76553  ·  HUJI  ·  MASLD snRNA-seq hackathon  —  methods &amp; concepts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REFERENCE · 2 /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Gene-set tests &amp; statistics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5770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</a:rPr>
                        <a:t>GSEA (pre-rank)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Rank every gene by its fibrosis-trend statistic, then test whether a gene set clusters near one end of that ranking instead of being scattered.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</a:rPr>
                        <a:t>CAMERA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 competitive set test: is this set shifted more than the rest of the genome? — and it corrects for correlation between the set's genes.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</a:rPr>
                        <a:t>ROAST / mroast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 self-contained set test: does the set move away from zero on its own (p-value from rotations)? — ignores the rest of the genome, more conservative.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</a:rPr>
                        <a:t>competitive vs self-contained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Competitive asks “more shifted than other genes?”; self-contained asks “different from no change at all?” — a set can pass one and fail the other.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</a:rPr>
                        <a:t>TOST (two one-sided tests)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An equivalence test: not “is there a difference?” but “is the difference small enough to rule out anything bigger than a set bound?” — lets us say “no large change,” not just “nothing significant.”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</a:rPr>
                        <a:t>Cramer's V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 0–1 score of association between two categorical variables (e.g. sequencing run vs tissue source): 0 = independent, 1 = perfectly confounded.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</a:rPr>
                        <a:t>Spearman correlation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Correlation of ranks — captures any monotonic trend, robust to outliers and non-linear scaling (used for donor-level fibrosis trends).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</a:rPr>
                        <a:t>Partial correlation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Correlation between two variables after removing a third's effect (e.g. detox vs fibrosis, controlling for age).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E73"/>
                </a:solidFill>
              </a:rPr>
              <a:t>Computational Genomics 76553  ·  HUJI  ·  MASLD snRNA-seq hackathon  —  methods &amp; concepts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REFERENCE · 3 /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data terms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5770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561B"/>
                          </a:solidFill>
                        </a:rPr>
                        <a:t>decontX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Models each droplet as native RNA + a shared ambient “soup,” estimates each cell's ambient fraction, and subtracts it → a decontaminated count matrix.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561B"/>
                          </a:solidFill>
                        </a:rPr>
                        <a:t>SCT (SCTransform) — why we dropped it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Seurat normalization that swaps raw UMIs for model-smoothed values. Our two core questions are defined on integer molecules, which SCT destroys: (a) marker co-detection asks “does this nucleus carry ≥ 2 real molecules of marker X?” — a “≥ 2 UMI” call is meaningless on smoothed residuals; (b) ambient sensitivity must tell 0 vs 1 vs 2 true molecules apart, but SCT pools / imputes across cells and would manufacture apparent co-expression. So we work on raw counts.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561B"/>
                          </a:solidFill>
                        </a:rPr>
                        <a:t>Ambient RNA (“soup”)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Cell-free RNA from lysed cells floating in the droplet suspension; every droplet absorbs some, so genes from abundant cell types leak into other cells.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561B"/>
                          </a:solidFill>
                        </a:rPr>
                        <a:t>Ductular reaction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The expansion of bile-duct / cholangiocyte cells in cirrhosis — it makes the soup richer in biliary RNA exactly at F4.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561B"/>
                          </a:solidFill>
                        </a:rPr>
                        <a:t>Doublets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Two nuclei captured in one droplet and read as a single “cell” — a hepatocyte + cholangiocyte doublet fakes co-expression.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561B"/>
                          </a:solidFill>
                        </a:rPr>
                        <a:t>BCV / dispersion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Biological coefficient of variation — how much a gene's counts vary beyond Poisson noise; edgeR estimates it to avoid false positives.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0561B"/>
                          </a:solidFill>
                        </a:rPr>
                        <a:t>Anchor classification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 yes/no detection call: a nucleus is “PC” if it detects GLUL/CYP3A4 at ≥ 2 UMI — robust to a level drop, which is why the fraction can stay flat while the program dims.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E73"/>
                </a:solidFill>
              </a:rPr>
              <a:t>Computational Genomics 76553  ·  HUJI  ·  MASLD snRNA-seq hackathon  —  methods &amp; concepts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REFERENCE · 4 /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confounder battery, explained (1 / 2)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5770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Tissue source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Could fool us because disease stage is tangled with how the tissue was obtained — healthy &amp; end-stage are deceased-donor organ cubes / explants while F0–F4 are needle biopsies; since the ends aren't acquisition-matched, the verdict is to exclude them and analyze biopsy-only F1–F4.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Procurement stress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Tissue handling switches on stress genes that could masquerade as disease; we measured immediate-early + heat-shock genes across 6 cell lineages — hepatocytes spike ~18× but endothelium (which has no zonation program) spikes the same ~18×, so the verdict is organ-wide handling stress, not a zonation change.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Sequencing batch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If sequencing runs line up with stage, batch effects could mimic disease; the run↔source association is high (Cramér's V = 0.84) but run↔fibrosis within biopsies is only 0.40 — so batch is fully confounded at the ends, yet the biopsy axis stays estimable.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Lobe (R / C / L)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Explants sample several liver lobes (right / caudate / left) and lobe differences could skew detection; comparing marker detection across the three lobes shows it is lobe-invariant, so lobe is not the driver.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Sequencing depth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Deeper-sequenced nuclei detect more genes, so depth alone can fake “more zonation”; we binomially down-thinned every nucleus to a common budget (1,000 / 1,500 / 3,000 UMIs) and the PC-share stayed flat at every budget (SD only 0.006–0.010), so depth is not driving it.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E73"/>
                </a:solidFill>
              </a:rPr>
              <a:t>Computational Genomics 76553  ·  HUJI  ·  MASLD snRNA-seq hackathon  —  methods &amp; concepts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REFERENCE · 5 /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confounder battery, explained (2 / 2)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5770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Ambient RNA (“soup”)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Ambient RNA from abundant genes (e.g. albumin / ALB) could create fake co-expression; across 38 donors the correlation between a donor's ALB ambient share and their dual (co-expression) fraction is +0.04 — essentially zero — so ambient does not drive co-expression.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Cholangiocyte mis-annotation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If some “hepatocytes” are actually mislabeled cholangiocytes they would fake a biliary signal; within every anchor class the cholangiocyte markers are near-absent (KRT19⁺ ≤ 0.1%, EPCAM⁺ ≤ 0.3%), so the anchor cells are not contaminating cholangiocytes.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Ploidy / complexity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Cells of different complexity (number of genes detected, nFeatures) could track stage and bias detection; mean nFeatures by stage is non-monotone (2218 / 3063 / 3169 / 2641 / 1984), so complexity does not track stage.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Depth-match discard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Down-thinning discards nuclei that fall below the UMI budget, and if those discards were pericentral-biased it would skew the result; the 3.5–7.8% dropped are uniformly lower-detection cells — depth-driven, not PC-biased.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E123C"/>
                          </a:solidFill>
                        </a:rPr>
                        <a:t>Clinical covariates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Demographics like age correlate with fibrosis and could explain the detox trend; the partial correlation of detox with fibrosis controlling for age is −0.32 (age–fibrosis = +0.43), so demographics do not explain the trend.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E73"/>
                </a:solidFill>
              </a:rPr>
              <a:t>Computational Genomics 76553  ·  HUJI  ·  MASLD snRNA-seq hackathon  —  methods &amp; concepts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REFERENCE · 6 /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Distinctions we kept confusing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5770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Dimming vs de-zonation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De-zonation = cells change class (no signal in matched biopsies); dimming = cells keep their class but the pericentral program's level drops (the one real change). Radio: genre change vs volume down.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Class gates vs the program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Classification is a detection call on the gating anchors GLUL + CYP3A4 — individually flat (FDR 0.8); the program dims more broadly around them (the detox genes CYP2E1, CYP1A2 … and the pericentral landmark set), so the class stays put while the program's level falls.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Depletion vs turn-off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Depletion = an anchor (pole) box shrinks; turn-off = the null (double-negative) box grows — different boxes, opposite directions, neither implies the other.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Compression vs dimming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Compression = the gradient's shape flattens (cells drift to the middle); dimming = the level drops with the shape kept.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Relative vs absolute metric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 z-score / correlation reads the gradient's shape (scale-free); only counting molecules reads how many cells sit where.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Donor as the replicate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The ~47 donors are the independent units; cells within a donor are pseudoreplicates → summarize per donor, or you fake significance (SE ≈ SD/√n).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Biliary = compositional confounder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At F4 a ductular reaction adds cholangiocytes whose ambient RNA enriches hepatocyte droplets — so a “hepatocyte biliary” signal can rise from tissue composition, not transdifferentiation. decontX removes most hits; EPCAM/SPINT2/B3GNT3 survive → a rare real state not excluded.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D4ED8"/>
                          </a:solidFill>
                        </a:rPr>
                        <a:t>Equivalence bound vs proof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TOST excludes shifts &gt; ±19 pp; a ≤ 10-pp drift stays possible — “no large change,” not “exactly zero.”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E73"/>
                </a:solidFill>
              </a:rPr>
              <a:t>Computational Genomics 76553  ·  HUJI  ·  MASLD snRNA-seq hackathon  —  methods &amp; concepts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74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REFERENCE · 7 /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 figures: display &amp; honest claims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5770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6E78"/>
                          </a:solidFill>
                        </a:rPr>
                        <a:t>What the bar shows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Dots = every donor (the spread + outliers — nothing hidden). The error bar shows the precision of the center — NOT the spread again (the dots already show that).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6E78"/>
                          </a:solidFill>
                        </a:rPr>
                        <a:t>SD / IQR / whiskers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Spread of donors (descriptive); redundant with the dots — and median + IQR is literally the box plot's box.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6E78"/>
                          </a:solidFill>
                        </a:rPr>
                        <a:t>SEM = SD/√n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Precision of the mean; tight because of the ÷√n. ← what we use: a big donor spread still gives a well-pinned mean.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6E78"/>
                          </a:solidFill>
                        </a:rPr>
                        <a:t>95% CI = SEM × 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Also precision, but t ≈ 3.2 at n = 4 blows it up → reads “uncertain” and fights the “confident” message.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6E78"/>
                          </a:solidFill>
                        </a:rPr>
                        <a:t>Mean, not median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The inference (TOST, SE ≈ 4 pp) is mean-based; a median center would describe a different quantity than the test. Median + IQR is the box again.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6E78"/>
                          </a:solidFill>
                        </a:rPr>
                        <a:t>Honest, not stat-picking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Raw dots shown; equivalence stated both ways; and a real change WAS found (detox dimming, ρ = −0.48) → a genuine null, not a power failure. Soft spot: F4 n = 4.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6E78"/>
                          </a:solidFill>
                        </a:rPr>
                        <a:t>✗ Don't claim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“zonation is intact / preserved” — can't prove a negative; underpowered (F4 n = 4).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6E78"/>
                          </a:solidFill>
                        </a:rPr>
                        <a:t>✓ Do claim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1"/>
                          </a:solidFill>
                        </a:rPr>
                        <a:t>No detectable de-zonation signal; a large shift (&gt; ±19 pp) is excluded (TOST); a subtle ≤ 10 pp drift is not (F4 n = 4).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E73"/>
                </a:solidFill>
              </a:rPr>
              <a:t>Computational Genomics 76553  ·  HUJI  ·  MASLD snRNA-seq hackathon  —  methods &amp; concepts reference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Roee Tekoah</dc:creator>
  <cp:lastModifiedBy>Roee Tekoah</cp:lastModifiedBy>
  <cp:revision>1</cp:revision>
  <dcterms:created xsi:type="dcterms:W3CDTF">2026-06-27T20:10:11Z</dcterms:created>
  <dcterms:modified xsi:type="dcterms:W3CDTF">2026-06-27T20:10:11Z</dcterms:modified>
</cp:coreProperties>
</file>