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DONOR VARIANCE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BACKUP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flat result is readable despite huge donor spread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B31"/>
                </a:solidFill>
              </a:rPr>
              <a:t>Within each fibrosis stage the per-donor pericentral-anchor fraction spans ~25–35 pp (SD ≈ 12 pp). </a:t>
            </a:r>
            <a:pPr algn="l" indent="0" marL="0">
              <a:buNone/>
            </a:pPr>
            <a:r>
              <a:rPr lang="en-US" sz="1500" b="1" dirty="0">
                <a:solidFill>
                  <a:srgbClr val="1B2B31"/>
                </a:solidFill>
              </a:rPr>
              <a:t>Could that scatter be hiding a real trend? No — four reasons: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11680"/>
            <a:ext cx="91440" cy="1417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21579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The donor is the replicate — not the cell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63040" y="25786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Inference is donor-level (F1–F4 = 8 / 12 / 12 / 4). A stage MEAN has standard error SE ≈ SD/√n ≈ 12/√10 ≈ 4 pp — we compare stage means (± 4 pp), not individual donors (± 12 pp).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2011680"/>
            <a:ext cx="9144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95160" y="21579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The spread is the same at every stage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995160" y="25786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Variance is homoscedastic — as wide at F1 as at F4. A real progression would shift the mean monotonically beyond ± 4 pp; it doesn’t. This is noise around a flat line, not a trend buried in noise.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584448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584448"/>
            <a:ext cx="91440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63040" y="3730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We bound what is excluded (TOST)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63040" y="415137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Not merely “no trend found”: a shift &gt; ± 19 pp between F1 and F4 is positively rejected at the donor level. Only a subtle drift (≤ 10 pp) remains possible — limited by F4’s n = 4.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3584448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584448"/>
            <a:ext cx="91440" cy="141732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95160" y="3730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Stable across marker sets &amp; thresholds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95160" y="415137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flat result holds on 6 marker sets (2–1,637 genes, incl. Paper 2’s own) and the full ≥1 / ≥2 / ≥3-UMI grid — no setting-dependent signal hiding in the variance.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10927080" cy="658368"/>
          </a:xfrm>
          <a:prstGeom prst="roundRect">
            <a:avLst>
              <a:gd name="adj" fmla="val 8333"/>
            </a:avLst>
          </a:prstGeom>
          <a:solidFill>
            <a:srgbClr val="E7F0EE"/>
          </a:solidFill>
          <a:ln w="12700">
            <a:solidFill>
              <a:srgbClr val="1B6E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25780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F47"/>
                </a:solidFill>
              </a:rPr>
              <a:t>Bottom line:  </a:t>
            </a:r>
            <a:pPr algn="l" indent="0" marL="0">
              <a:buNone/>
            </a:pPr>
            <a:r>
              <a:rPr lang="en-US" sz="1350" dirty="0">
                <a:solidFill>
                  <a:srgbClr val="1B2B31"/>
                </a:solidFill>
              </a:rPr>
              <a:t>large person-to-person variance ≠ an undetectable signal. With donor-level inference and an equivalence bound, a large progressive de-zonation is </a:t>
            </a:r>
            <a:pPr algn="l" indent="0" marL="0">
              <a:buNone/>
            </a:pPr>
            <a:r>
              <a:rPr lang="en-US" sz="1350" b="1" dirty="0">
                <a:solidFill>
                  <a:srgbClr val="123F47"/>
                </a:solidFill>
              </a:rPr>
              <a:t>excluded</a:t>
            </a:r>
            <a:pPr algn="l" indent="0" marL="0">
              <a:buNone/>
            </a:pPr>
            <a:r>
              <a:rPr lang="en-US" sz="1350" dirty="0">
                <a:solidFill>
                  <a:srgbClr val="1B2B31"/>
                </a:solidFill>
              </a:rPr>
              <a:t> (a subtle ≤10-pp drift is not).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METHODS &amp; SOFTWARE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analysis stack, end to end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C6E73"/>
                </a:solidFill>
              </a:rPr>
              <a:t>Every quantitative claim runs at the donor level on raw molecule counts. The methods, grouped by step: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20240"/>
            <a:ext cx="539496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665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1D4ED8"/>
                </a:solidFill>
              </a:rPr>
              <a:t>COUNTS &amp; DEPTH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1"/>
                </a:solidFill>
              </a:rPr>
              <a:t>• Raw UMI extraction (not SCT) 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— absolute detection needs molecules, not normalized residuals — Seurat / Matrix (R)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1"/>
                </a:solidFill>
              </a:rPr>
              <a:t>• Binomial down-sampling → 1,500 UMIs / nucleus 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— removes sequencing depth as a confound (the depth-match)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0240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920240"/>
            <a:ext cx="5394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0665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D9488"/>
                </a:solidFill>
              </a:rPr>
              <a:t>PER-GENE 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1"/>
                </a:solidFill>
              </a:rPr>
              <a:t>• Pseudobulk, donor-level 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— sum each donor’s hepatocyte counts → one profile per donor (Squair 2021)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1"/>
                </a:solidFill>
              </a:rPr>
              <a:t>• edgeR — TMM + NB quasi-likelihood GLM 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— composition-robust normalization + per-gene fibrosis trend (filterByExpr gene filter)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023360"/>
            <a:ext cx="5394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69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7C3AED"/>
                </a:solidFill>
              </a:rPr>
              <a:t>GENE-SET TESTS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526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1"/>
                </a:solidFill>
              </a:rPr>
              <a:t>• GSEA pre-rank — gseapy 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— is a set enriched at one end of the ranked genome?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983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1"/>
                </a:solidFill>
              </a:rPr>
              <a:t>• CAMERA — competitive (limma) 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— set shifted more than the rest of the transcriptome? (Wu &amp; Smyth 2012)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5440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1"/>
                </a:solidFill>
              </a:rPr>
              <a:t>• ROAST / mroast — self-contained (limma) 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— does the set move against zero? rotation p-value (Wu 2010)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4023360"/>
            <a:ext cx="5394960" cy="5486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169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0561B"/>
                </a:solidFill>
              </a:rPr>
              <a:t>SOURCE &amp; STATISTICS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526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1"/>
                </a:solidFill>
              </a:rPr>
              <a:t>• decontX — ambient-RNA removal 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— models native + ambient mixture, subtracts the estimate (celda; Yang 2020)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983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1"/>
                </a:solidFill>
              </a:rPr>
              <a:t>• TOST equivalence  ·  Cramér’s V  ·  Spearman / partial corr. 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— bound the null · test batch confounding · trend &amp; covariate control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199632"/>
            <a:ext cx="2926080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254496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256"/>
                </a:solidFill>
              </a:rPr>
              <a:t>Stack: R (edgeR, limma, decontX/celda, Seurat) · Python (numpy, scipy, pandas, gseapy).   Refs: edgeR / TMM — Robinson, McCarthy &amp; Smyth 2010; Robinson &amp; Oshlack 2010 · CAMERA — Wu &amp; Smyth 2012 · ROAST — Wu et al. 2010 · decontX — Yang et al. 2020 · pseudobulk — Squair et al. 2021 · GSEA — Subramanian et al. 2005.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Roee Tekoah, Shira Gelbstein</dc:creator>
  <cp:lastModifiedBy>Roee Tekoah, Shira Gelbstein</cp:lastModifiedBy>
  <cp:revision>1</cp:revision>
  <dcterms:created xsi:type="dcterms:W3CDTF">2026-06-24T18:58:52Z</dcterms:created>
  <dcterms:modified xsi:type="dcterms:W3CDTF">2026-06-24T18:58:52Z</dcterms:modified>
</cp:coreProperties>
</file>