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06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074920"/>
            <a:ext cx="384048" cy="146304"/>
          </a:xfrm>
          <a:prstGeom prst="rect">
            <a:avLst/>
          </a:prstGeom>
          <a:solidFill>
            <a:srgbClr val="F0C247"/>
          </a:solidFill>
          <a:ln w="12700">
            <a:solidFill>
              <a:srgbClr val="F0C2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5074920"/>
            <a:ext cx="384048" cy="146304"/>
          </a:xfrm>
          <a:prstGeom prst="rect">
            <a:avLst/>
          </a:prstGeom>
          <a:solidFill>
            <a:srgbClr val="E0BC54"/>
          </a:solidFill>
          <a:ln w="12700">
            <a:solidFill>
              <a:srgbClr val="E0BC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5074920"/>
            <a:ext cx="384048" cy="146304"/>
          </a:xfrm>
          <a:prstGeom prst="rect">
            <a:avLst/>
          </a:prstGeom>
          <a:solidFill>
            <a:srgbClr val="CFB660"/>
          </a:solidFill>
          <a:ln w="12700">
            <a:solidFill>
              <a:srgbClr val="CFB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5074920"/>
            <a:ext cx="384048" cy="146304"/>
          </a:xfrm>
          <a:prstGeom prst="rect">
            <a:avLst/>
          </a:prstGeom>
          <a:solidFill>
            <a:srgbClr val="BFB06D"/>
          </a:solidFill>
          <a:ln w="12700">
            <a:solidFill>
              <a:srgbClr val="BFB0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9152" y="5074920"/>
            <a:ext cx="384048" cy="146304"/>
          </a:xfrm>
          <a:prstGeom prst="rect">
            <a:avLst/>
          </a:prstGeom>
          <a:solidFill>
            <a:srgbClr val="AEAA79"/>
          </a:solidFill>
          <a:ln w="12700">
            <a:solidFill>
              <a:srgbClr val="AEAA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5074920"/>
            <a:ext cx="384048" cy="146304"/>
          </a:xfrm>
          <a:prstGeom prst="rect">
            <a:avLst/>
          </a:prstGeom>
          <a:solidFill>
            <a:srgbClr val="9EA486"/>
          </a:solidFill>
          <a:ln w="12700">
            <a:solidFill>
              <a:srgbClr val="9EA4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5074920"/>
            <a:ext cx="384048" cy="146304"/>
          </a:xfrm>
          <a:prstGeom prst="rect">
            <a:avLst/>
          </a:prstGeom>
          <a:solidFill>
            <a:srgbClr val="8D9D92"/>
          </a:solidFill>
          <a:ln w="12700">
            <a:solidFill>
              <a:srgbClr val="8D9D9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5074920"/>
            <a:ext cx="384048" cy="146304"/>
          </a:xfrm>
          <a:prstGeom prst="rect">
            <a:avLst/>
          </a:prstGeom>
          <a:solidFill>
            <a:srgbClr val="7D979F"/>
          </a:solidFill>
          <a:ln w="12700">
            <a:solidFill>
              <a:srgbClr val="7D9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95344" y="5074920"/>
            <a:ext cx="384048" cy="146304"/>
          </a:xfrm>
          <a:prstGeom prst="rect">
            <a:avLst/>
          </a:prstGeom>
          <a:solidFill>
            <a:srgbClr val="6C91AB"/>
          </a:solidFill>
          <a:ln w="12700">
            <a:solidFill>
              <a:srgbClr val="6C91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5074920"/>
            <a:ext cx="384048" cy="146304"/>
          </a:xfrm>
          <a:prstGeom prst="rect">
            <a:avLst/>
          </a:prstGeom>
          <a:solidFill>
            <a:srgbClr val="5C8BB8"/>
          </a:solidFill>
          <a:ln w="12700">
            <a:solidFill>
              <a:srgbClr val="5C8B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5074920"/>
            <a:ext cx="384048" cy="146304"/>
          </a:xfrm>
          <a:prstGeom prst="rect">
            <a:avLst/>
          </a:prstGeom>
          <a:solidFill>
            <a:srgbClr val="4B85C4"/>
          </a:solidFill>
          <a:ln w="12700">
            <a:solidFill>
              <a:srgbClr val="4B85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5074920"/>
            <a:ext cx="384048" cy="146304"/>
          </a:xfrm>
          <a:prstGeom prst="rect">
            <a:avLst/>
          </a:prstGeom>
          <a:solidFill>
            <a:srgbClr val="3B7FD1"/>
          </a:solidFill>
          <a:ln w="12700">
            <a:solidFill>
              <a:srgbClr val="3B7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486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52486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1737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Degradation of Hepatocyte Zonation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collapse of liver cell identity across the fatty-liver disease course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Roee  ·  Shira      |      Computational Genomics 76553 — Final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39" y="566928"/>
            <a:ext cx="1020248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liver does — and the zonation gradient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38" y="1359645"/>
            <a:ext cx="5577840" cy="1462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is a metabolic factory: </a:t>
            </a:r>
          </a:p>
          <a:p>
            <a:pPr marL="0" indent="0">
              <a:lnSpc>
                <a:spcPct val="105000"/>
              </a:lnSpc>
              <a:buNone/>
            </a:pPr>
            <a:endParaRPr lang="en-US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blood sugar, 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plasma proteins 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bile acids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nitrogen waste to urea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detoxifies drugs.</a:t>
            </a:r>
            <a:endParaRPr lang="en-US" dirty="0"/>
          </a:p>
        </p:txBody>
      </p:sp>
      <p:pic>
        <p:nvPicPr>
          <p:cNvPr id="6" name="Image 0" descr="/sessions/hopeful-blissful-volta/mnt/Genomics/Hackathon/presentation/assets/fig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7648" y="1286097"/>
            <a:ext cx="5684301" cy="2495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B4AB1C-4C32-AF6A-5482-BE3B3C297B71}"/>
              </a:ext>
            </a:extLst>
          </p:cNvPr>
          <p:cNvSpPr txBox="1"/>
          <p:nvPr/>
        </p:nvSpPr>
        <p:spPr>
          <a:xfrm>
            <a:off x="455218" y="3593631"/>
            <a:ext cx="115428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epithelial cells: </a:t>
            </a:r>
          </a:p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hepatocytes (the bulk factory) </a:t>
            </a:r>
          </a:p>
          <a:p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and cholangiocytes (bile-duct lining).
Blood flows portal → central, so a cell's environment — and the genes it switches on — depends on where it sits:</a:t>
            </a:r>
          </a:p>
          <a:p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		</a:t>
            </a:r>
            <a:r>
              <a:rPr lang="en-US" b="1" dirty="0">
                <a:solidFill>
                  <a:srgbClr val="16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Periportal: 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 cycle, gluconeogenesis (ASS1, PCK1).
		</a:t>
            </a:r>
            <a:r>
              <a:rPr lang="en-US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Pericentral: 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metabolism, glutamine (CYP2E1, GLUL).
</a:t>
            </a:r>
          </a:p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Zonation = this position-dependent gene gradient. </a:t>
            </a:r>
          </a:p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hinge: position is encoded in expression, so it can be decoded back out.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72500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identity breaks: de-zonation vs plasticity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like 'a cell expressing two opposite things at once' — the difference is WHICH boundary is crossed.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2514600"/>
          </a:xfrm>
          <a:prstGeom prst="roundRect">
            <a:avLst>
              <a:gd name="adj" fmla="val 254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82296" cy="25146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85416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De-zonation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5157216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its POSITION on the portal ↔ central axis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Co-expresses opposite zonal programs (e.g. CYP2E1 + ASS1).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the pericentral / periportal zonation genes.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86400" cy="2514600"/>
          </a:xfrm>
          <a:prstGeom prst="roundRect">
            <a:avLst>
              <a:gd name="adj" fmla="val 254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057400"/>
            <a:ext cx="82296" cy="25146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2185416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606040"/>
            <a:ext cx="5157216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its CELL-TYPE identity (hepatocyte → bile-duct).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Co-expresses hepatocyte + duct programs (e.g. ALB + KRT7).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KRT7, KRT19, SOX9 … (from Paper 1).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who forgets which station they man (de-zonation) is still a factory worker; one who forgets they work in the factory at all (plasticity) is something else.  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asks whether these are the same cells — does losing your address predict losing your job?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datasets, one gap</a:t>
            </a:r>
            <a:endParaRPr lang="en-US" sz="2800" dirty="0"/>
          </a:p>
        </p:txBody>
      </p:sp>
      <p:pic>
        <p:nvPicPr>
          <p:cNvPr id="5" name="Image 0" descr="/sessions/hopeful-blissful-volta/mnt/Genomics/Hackathon/presentation/assets/fig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1160420"/>
            <a:ext cx="667512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793973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793973"/>
            <a:ext cx="82296" cy="173736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3921989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— the ruler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4342613"/>
            <a:ext cx="51114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human liver with spatial coordinates KEPT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→ a quantitative porto-central zone index.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healthy only.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3793973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3793973"/>
            <a:ext cx="82296" cy="17373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2" name="Text 9"/>
          <p:cNvSpPr/>
          <p:nvPr/>
        </p:nvSpPr>
        <p:spPr>
          <a:xfrm>
            <a:off x="6373368" y="3921989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the cells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373368" y="4342613"/>
            <a:ext cx="51114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69k disease nuclei across all stages,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but snRNA-seq THREW AWAY position.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601861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move: use the healthy ruler to assign each diseased cell a pseudo-zonal coordinate. Neither paper did this.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6E78"/>
                </a:solidFill>
                <a:latin typeface="Calibri"/>
              </a:rPr>
              <a:t>WHAT WE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3A40"/>
                </a:solidFill>
                <a:latin typeface="Georgia"/>
              </a:rPr>
              <a:t>Research question &amp; hypotheses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AF7F0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527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 i="0">
                <a:solidFill>
                  <a:srgbClr val="2F855A"/>
                </a:solidFill>
                <a:latin typeface="Calibri"/>
              </a:rPr>
              <a:t>Q   </a:t>
            </a:r>
            <a:r>
              <a:rPr sz="1300" b="0" i="0">
                <a:solidFill>
                  <a:srgbClr val="0E3A40"/>
                </a:solidFill>
                <a:latin typeface="Calibri"/>
              </a:rPr>
              <a:t>Using the healthy porto–central zonation ruler from Paper 2, can we assign a quantitative pseudo-zonation coordinate to every spatially-blind hepatocyte in Paper 1 — and so measure how, and how much, hepatocyte zonation degrades as MASLD advances from healthy to end-stage, and whether that degradation is linked to the transdifferentiation Paper 1 reports?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E7F2F3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118872" cy="2194560"/>
          </a:xfrm>
          <a:prstGeom prst="rect">
            <a:avLst/>
          </a:prstGeom>
          <a:solidFill>
            <a:srgbClr val="165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734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545C"/>
                </a:solidFill>
                <a:latin typeface="Calibri"/>
              </a:rPr>
              <a:t>H1 — Erosion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209544"/>
            <a:ext cx="3227832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733"/>
                </a:solidFill>
                <a:latin typeface="Calibri"/>
              </a:rPr>
              <a:t>A de-zonation score rises monotonically across stages (Healthy → end-stage).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1">
                <a:solidFill>
                  <a:srgbClr val="1B6E78"/>
                </a:solidFill>
                <a:latin typeface="Calibri"/>
              </a:rPr>
              <a:t>Test:  ordered trend on per-donor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606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DEEDE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2606040"/>
            <a:ext cx="118872" cy="219456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734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5621"/>
                </a:solidFill>
                <a:latin typeface="Calibri"/>
              </a:rPr>
              <a:t>H2 — Which programs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209544"/>
            <a:ext cx="3227832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733"/>
                </a:solidFill>
                <a:latin typeface="Calibri"/>
              </a:rPr>
              <a:t>Specific programs (e.g. pericentral CYP detox) lose their zonal pattern earliest.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1">
                <a:solidFill>
                  <a:srgbClr val="1B6E78"/>
                </a:solidFill>
                <a:latin typeface="Calibri"/>
              </a:rPr>
              <a:t>Test:  pseudobulk donor×zone DE + BH-FDR.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606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E7F2F3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2606040"/>
            <a:ext cx="118872" cy="2194560"/>
          </a:xfrm>
          <a:prstGeom prst="rect">
            <a:avLst/>
          </a:prstGeom>
          <a:solidFill>
            <a:srgbClr val="165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7340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545C"/>
                </a:solidFill>
                <a:latin typeface="Calibri"/>
              </a:rPr>
              <a:t>H3 — Plasticity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09544"/>
            <a:ext cx="3227832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733"/>
                </a:solidFill>
                <a:latin typeface="Calibri"/>
              </a:rPr>
              <a:t>The most de-zonated hepatocytes are the ones drifting toward bile-duct identity.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1">
                <a:solidFill>
                  <a:srgbClr val="1B6E78"/>
                </a:solidFill>
                <a:latin typeface="Calibri"/>
              </a:rPr>
              <a:t>Test:  within-donor correlation.</a:t>
            </a:r>
          </a:p>
        </p:txBody>
      </p:sp>
      <p:pic>
        <p:nvPicPr>
          <p:cNvPr id="19" name="Picture 18" descr="fi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0"/>
            <a:ext cx="3474720" cy="151150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510528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5A6472"/>
                </a:solidFill>
                <a:latin typeface="Calibri"/>
              </a:rPr>
              <a:t>illustrative — the H1 collapse curve we're 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029200"/>
            <a:ext cx="7342631" cy="137160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5074920"/>
            <a:ext cx="69494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C05621"/>
                </a:solidFill>
                <a:latin typeface="Calibri"/>
              </a:rPr>
              <a:t>Why it matters:  </a:t>
            </a:r>
            <a:r>
              <a:rPr sz="1250" b="0" i="0">
                <a:solidFill>
                  <a:srgbClr val="1F2733"/>
                </a:solidFill>
                <a:latin typeface="Calibri"/>
              </a:rPr>
              <a:t>drug dosing (pericentral CYP) · ammonia / encephalopathy (periportal urea) · finer-than-histology staging · cancer / de-differentiation link · a reusable decoder for the many spatially-blind disease atlases.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decode position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719072"/>
            <a:ext cx="457200" cy="457200"/>
          </a:xfrm>
          <a:prstGeom prst="ellipse">
            <a:avLst/>
          </a:prstGeom>
          <a:solidFill>
            <a:srgbClr val="16545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&amp; periportal gene sets — landmark &amp; full, compared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9067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E7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55848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719072"/>
            <a:ext cx="457200" cy="45720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87368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mean_z(PC) − mean_z(PP) per cell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E7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63056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1719072"/>
            <a:ext cx="457200" cy="457200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94576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45936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probabilities → entropy = confusion = de-zonation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05088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E78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70264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53144" y="1719072"/>
            <a:ext cx="457200" cy="45720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25" name="Text 23"/>
          <p:cNvSpPr/>
          <p:nvPr/>
        </p:nvSpPr>
        <p:spPr>
          <a:xfrm>
            <a:off x="9153144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01784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53144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per donor, tested across stages</a:t>
            </a:r>
            <a:endParaRPr lang="en-US" sz="1050" dirty="0"/>
          </a:p>
        </p:txBody>
      </p:sp>
      <p:pic>
        <p:nvPicPr>
          <p:cNvPr id="28" name="Image 0" descr="/sessions/hopeful-blissful-volta/mnt/Genomics/Hackathon/presentation/assets/fig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429000"/>
            <a:ext cx="5394960" cy="3108960"/>
          </a:xfrm>
          <a:prstGeom prst="rect">
            <a:avLst/>
          </a:prstGeom>
        </p:spPr>
      </p:pic>
      <p:pic>
        <p:nvPicPr>
          <p:cNvPr id="29" name="Image 1" descr="/sessions/hopeful-blissful-volta/mnt/Genomics/Hackathon/presentation/assets/fig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356616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6E78"/>
                </a:solidFill>
                <a:latin typeface="Calibri"/>
              </a:rPr>
              <a:t>WHY IT HOLDS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3A40"/>
                </a:solidFill>
                <a:latin typeface="Calibri"/>
              </a:rPr>
              <a:t>Doing it honestly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FDEEDE"/>
          </a:solidFill>
          <a:ln w="1524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C05621"/>
                </a:solidFill>
                <a:latin typeface="Calibri"/>
              </a:rPr>
              <a:t>Negative control.  </a:t>
            </a:r>
            <a:r>
              <a:rPr sz="1350" b="0" i="0">
                <a:solidFill>
                  <a:srgbClr val="1F2733"/>
                </a:solidFill>
                <a:latin typeface="Calibri"/>
              </a:rPr>
              <a:t>Shuffle the disease-stage labels and re-run: the collapse trend must VANISH. A 'signal' that survives shuffling was an artefact. (The positive control — recovering zonation in healthy liver — is the previous slide.)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3A40"/>
                </a:solidFill>
                <a:latin typeface="Calibri"/>
              </a:rPr>
              <a:t>What de-zonation is — and isn't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F855A"/>
                </a:solidFill>
                <a:latin typeface="Calibri"/>
              </a:rPr>
              <a:t>IS  </a:t>
            </a:r>
            <a:r>
              <a:rPr sz="1350" b="0" i="0">
                <a:solidFill>
                  <a:srgbClr val="1F2733"/>
                </a:solidFill>
                <a:latin typeface="Calibri"/>
              </a:rPr>
              <a:t>— loss of the expression program: pericentral–periportal mutual exclusivity weakens and the coordinate spread narrows.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C05621"/>
                </a:solidFill>
                <a:latin typeface="Calibri"/>
              </a:rPr>
              <a:t>ISN'T  </a:t>
            </a:r>
            <a:r>
              <a:rPr sz="1350" b="0" i="0">
                <a:solidFill>
                  <a:srgbClr val="1F2733"/>
                </a:solidFill>
                <a:latin typeface="Calibri"/>
              </a:rPr>
              <a:t>— physical spatial scrambling with intact expression: dissociated data couldn't see it, and it's very unlikely here.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88920"/>
            <a:ext cx="4526280" cy="17943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A6472"/>
                </a:solidFill>
                <a:latin typeface="Calibri"/>
              </a:rPr>
              <a:t>Donor-level inference (no pseudoreplication) and held-out-gene / circularity guards underpin every test — details in backup.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ruler works on healthy liver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— REAL DATA</a:t>
            </a:r>
            <a:endParaRPr lang="en-US" sz="1100" dirty="0"/>
          </a:p>
        </p:txBody>
      </p:sp>
      <p:pic>
        <p:nvPicPr>
          <p:cNvPr id="7" name="Image 0" descr="/sessions/hopeful-blissful-volta/mnt/Genomics/Hackathon/presentation/assets/p2_valid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1097280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Paper 2 healthy hepatocytes the coordinate recovers zonation: </a:t>
            </a: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CYP2E1 rises with it and periportal ASS1 falls.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broad central hump is exactly what a continuum looks like — the proof of zonation is the marker slopes, not two peaks. We validated before trusting it on disease.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Does zonation collapse across stages?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pic>
        <p:nvPicPr>
          <p:cNvPr id="7" name="Image 0" descr="/sessions/hopeful-blissful-volta/mnt/Genomics/Hackathon/presentation/assets/fig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658368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94360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943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SHAPE — swap for real A6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98080" y="18288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0" y="1828800"/>
            <a:ext cx="82296" cy="187452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2" name="Text 9"/>
          <p:cNvSpPr/>
          <p:nvPr/>
        </p:nvSpPr>
        <p:spPr>
          <a:xfrm>
            <a:off x="7699248" y="19568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99248" y="2377440"/>
            <a:ext cx="383133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spread NARROWS and pericentral–periportal anti-correlation weakens toward 0 across stages.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3886200"/>
            <a:ext cx="416052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886200"/>
            <a:ext cx="82296" cy="21945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6" name="Text 13"/>
          <p:cNvSpPr/>
          <p:nvPr/>
        </p:nvSpPr>
        <p:spPr>
          <a:xfrm>
            <a:off x="7699248" y="40142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99248" y="4434840"/>
            <a:ext cx="383133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ρ, donor-bootstrap 95% CI, permutation p]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plot_a6_collapse · pipeline.py:collapse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Which programs collapse, and where?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per zone (portal / central): effect vs −log10 q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plot_a7_volcano  ·  signature genes flagged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828800"/>
            <a:ext cx="82296" cy="187452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19568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99248" y="2377440"/>
            <a:ext cx="383133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 set of genes at q&lt;0.05 — surviving EXCLUSION of the signature genes — concentrated in one zone first.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886200"/>
            <a:ext cx="416052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886200"/>
            <a:ext cx="82296" cy="21945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5" name="Text 13"/>
          <p:cNvSpPr/>
          <p:nvPr/>
        </p:nvSpPr>
        <p:spPr>
          <a:xfrm>
            <a:off x="7699248" y="40142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99248" y="4434840"/>
            <a:ext cx="383133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# genes q&lt;0.05 per zone; name the 3–5 earliest-collapsing programs]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pipeline.py:de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Are de-zonated cells the plastic ones?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Stage-stratified scatter: de-zonation vs plasticity score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plot_a8_plasticity  ·  WITHIN donor/stage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828800"/>
            <a:ext cx="82296" cy="187452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19568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99248" y="2377440"/>
            <a:ext cx="383133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within-donor link — not a pooled one (late disease trivially has more of both).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886200"/>
            <a:ext cx="416052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886200"/>
            <a:ext cx="82296" cy="21945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5" name="Text 13"/>
          <p:cNvSpPr/>
          <p:nvPr/>
        </p:nvSpPr>
        <p:spPr>
          <a:xfrm>
            <a:off x="7699248" y="40142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99248" y="4434840"/>
            <a:ext cx="383133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mean per-donor ρ; OLS dez coefficient controlling stage+donor]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pipeline.py:plasticity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CAN'T CLAIM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honest scope</a:t>
            </a:r>
            <a:endParaRPr lang="en-US" sz="2800" dirty="0"/>
          </a:p>
        </p:txBody>
      </p:sp>
      <p:pic>
        <p:nvPicPr>
          <p:cNvPr id="5" name="Image 0" descr="/sessions/hopeful-blissful-volta/mnt/Genomics/Hackathon/presentation/assets/fig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45920"/>
            <a:ext cx="60350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737360"/>
            <a:ext cx="4663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to pure spatial scrambling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if cells keep identity but move, dissociated data sees nothing.
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Pseudo-zonal, not (x,y)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1-D reconstructed coordinate, never a true position.
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Ruler-validity matters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disease may corrupt the marker genes; Step 5b checks whether the ruler still holds.
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Associational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measure collapse, not its cause.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4" name="Text 2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[did zonation collapse, and how monotonically? ___]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programs eroded first, and in which zone? ___]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[did de-zonation track plasticity, within donors? ___]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10515600" cy="18288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takeaway: a reference-decoder turns the many spatially-blind disease atlases into a quantitative readout of how liver identity disintegrates. [refine with results]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Roee · Shira   |   Computational Genomics 76553         (backup slides follow)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ruler still a ruler? (validity battery)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Per-stage: internal coherence · cross-program anti-corr · split-half · program-off vs restriction-lost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plot_a5b_ruler  (Step 5b)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 — held-out confusion matrix (Paper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held-out accuracy on Paper 2 before applying to Paper 1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4b · calibrated multinomial logistic regression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rigor — the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73936"/>
            <a:ext cx="256032" cy="256032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BH-FDR q&lt;0.05, never raw 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256032" cy="25603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450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trend test, not pairwise only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56032" cy="256032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638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Donor-level resampling (never 69k cells as independent)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913632"/>
            <a:ext cx="256032" cy="25603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7705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Pseudobulk donor×zone DE; H2 via coordinate×stage interaction on held-out genes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626864"/>
            <a:ext cx="256032" cy="256032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+ negative controls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340096"/>
            <a:ext cx="256032" cy="25603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3035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beside p/q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— collapse vs inherited risk (Paper 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IF IT RAN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Hypergeometric overlap: Step-7 collapse drivers vs Paper-3 risk-variant targets, expression-matched background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step9_bonus_enrichment.py · report fold + BH q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reproducibility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processed: 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Seurat .rds → counts.mtx; MATLAB .mat → paper2_train.npz. Pipeline reads only data/processed/.
</a:t>
            </a: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src/{prep,steps,plotting,tools}, signatures/{paper2_landmark,core,expanded,sensitivity}, results/. run_all.py reproduces every figure on a clean checkout.
</a:t>
            </a: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Signatures: 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EXACT Paper 2 landmark set (paper2_landmark); expanded from the ranked snRNA table; core = curated.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1477</Words>
  <Application>Microsoft Office PowerPoint</Application>
  <PresentationFormat>Widescreen</PresentationFormat>
  <Paragraphs>181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Roee Tekoah</cp:lastModifiedBy>
  <cp:revision>7</cp:revision>
  <dcterms:created xsi:type="dcterms:W3CDTF">2026-06-20T20:09:01Z</dcterms:created>
  <dcterms:modified xsi:type="dcterms:W3CDTF">2026-06-20T20:30:04Z</dcterms:modified>
</cp:coreProperties>
</file>