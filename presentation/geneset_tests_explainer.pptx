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BACKUP · METHOD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052560" y="2926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6E78"/>
                </a:solidFill>
              </a:rPr>
              <a:t>QA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56692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gene-set tests — and why a robust claim needs both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E73"/>
                </a:solidFill>
              </a:rPr>
              <a:t>Every program is run through two tests that ask different questions. Each, alone, has a blind spot.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548640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778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27632"/>
            <a:ext cx="91440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7373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spc="100" kern="0" dirty="0">
                <a:solidFill>
                  <a:srgbClr val="0D9488"/>
                </a:solidFill>
              </a:rPr>
              <a:t>SELF-CONTAINED   ·   ROAST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4672" y="20482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the program’s own genes actually change — up or down — at all?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2505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C6E73"/>
                </a:solidFill>
              </a:rPr>
              <a:t>tests the set’s fold-changes against “no change” (zero); ignores other genes.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4672" y="281635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803D"/>
                </a:solidFill>
              </a:rPr>
              <a:t>✓  </a:t>
            </a:r>
            <a:pPr algn="l" indent="0" marL="0">
              <a:buNone/>
            </a:pPr>
            <a:r>
              <a:rPr lang="en-US" sz="1150" dirty="0">
                <a:solidFill>
                  <a:srgbClr val="1B2B31"/>
                </a:solidFill>
              </a:rPr>
              <a:t>immune to the relative-share effect — what other genes do can’t fake it.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4672" y="312724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E123C"/>
                </a:solidFill>
              </a:rPr>
              <a:t>✗  </a:t>
            </a:r>
            <a:pPr algn="l" indent="0" marL="0">
              <a:buNone/>
            </a:pPr>
            <a:r>
              <a:rPr lang="en-US" sz="1150" dirty="0">
                <a:solidFill>
                  <a:srgbClr val="1B2B31"/>
                </a:solidFill>
              </a:rPr>
              <a:t>alone: if the whole genome drifts, the set can look like it moves too.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1627632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7780">
            <a:solidFill>
              <a:srgbClr val="1D4ED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627632"/>
            <a:ext cx="91440" cy="18288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6519672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spc="100" kern="0" dirty="0">
                <a:solidFill>
                  <a:srgbClr val="1D4ED8"/>
                </a:solidFill>
              </a:rPr>
              <a:t>COMPETITIVE   ·   CAMERA · GSEA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519672" y="2048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program move MORE than the rest of the genome?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19672" y="250545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C6E73"/>
                </a:solidFill>
              </a:rPr>
              <a:t>compares the set’s shift against the background of all other genes.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19672" y="281635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803D"/>
                </a:solidFill>
              </a:rPr>
              <a:t>✓  </a:t>
            </a:r>
            <a:pPr algn="l" indent="0" marL="0">
              <a:buNone/>
            </a:pPr>
            <a:r>
              <a:rPr lang="en-US" sz="1150" dirty="0">
                <a:solidFill>
                  <a:srgbClr val="1B2B31"/>
                </a:solidFill>
              </a:rPr>
              <a:t>shows the change is specific to this program, not everywhere.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19672" y="3127248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E123C"/>
                </a:solidFill>
              </a:rPr>
              <a:t>✗  </a:t>
            </a:r>
            <a:pPr algn="l" indent="0" marL="0">
              <a:buNone/>
            </a:pPr>
            <a:r>
              <a:rPr lang="en-US" sz="1150" dirty="0">
                <a:solidFill>
                  <a:srgbClr val="1B2B31"/>
                </a:solidFill>
              </a:rPr>
              <a:t>alone: a few strong genes can make the whole set look significant, even if most of it doesn’t move.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828800" y="37673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SELF-CONTAINED  moves ✓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12280" y="37673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6E73"/>
                </a:solidFill>
              </a:rPr>
              <a:t>SELF-CONTAINED  flat ✗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40690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COMPETITIVE 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95604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E73"/>
                </a:solidFill>
              </a:rPr>
              <a:t>COMPETITIVE 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0" y="4069080"/>
            <a:ext cx="4846320" cy="822960"/>
          </a:xfrm>
          <a:prstGeom prst="roundRect">
            <a:avLst>
              <a:gd name="adj" fmla="val 5556"/>
            </a:avLst>
          </a:prstGeom>
          <a:solidFill>
            <a:srgbClr val="E7F3EC"/>
          </a:solidFill>
          <a:ln w="1651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41605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5803D"/>
                </a:solidFill>
              </a:rPr>
              <a:t>ROBUST — real &amp; specific</a:t>
            </a:r>
            <a:pPr algn="l" indent="0" marL="0">
              <a:buNone/>
            </a:pPr>
            <a:r>
              <a:rPr lang="en-US" sz="1150" b="1" dirty="0">
                <a:solidFill>
                  <a:srgbClr val="15803D"/>
                </a:solidFill>
              </a:rPr>
              <a:t>   ✓ keep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011680" y="445312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B31"/>
                </a:solidFill>
              </a:rPr>
              <a:t>→ pericentral detox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12280" y="4069080"/>
            <a:ext cx="4846320" cy="822960"/>
          </a:xfrm>
          <a:prstGeom prst="roundRect">
            <a:avLst>
              <a:gd name="adj" fmla="val 5556"/>
            </a:avLst>
          </a:prstGeom>
          <a:solidFill>
            <a:srgbClr val="FBEEE9"/>
          </a:solidFill>
          <a:ln w="16510">
            <a:solidFill>
              <a:srgbClr val="BE12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41605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E123C"/>
                </a:solidFill>
              </a:rPr>
              <a:t>Not coherent — not robust</a:t>
            </a:r>
            <a:pPr algn="l" indent="0" marL="0">
              <a:buNone/>
            </a:pP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995160" y="445312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B31"/>
                </a:solidFill>
              </a:rPr>
              <a:t>→ PC identity · phase-II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995160" y="445312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C6E73"/>
                </a:solidFill>
              </a:rPr>
              <a:t>a few genes move (or a relative-share effect) — not the whole set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828800" y="4956048"/>
            <a:ext cx="4846320" cy="822960"/>
          </a:xfrm>
          <a:prstGeom prst="roundRect">
            <a:avLst>
              <a:gd name="adj" fmla="val 5556"/>
            </a:avLst>
          </a:prstGeom>
          <a:solidFill>
            <a:srgbClr val="FCF3E6"/>
          </a:solidFill>
          <a:ln w="16510">
            <a:solidFill>
              <a:srgbClr val="C0561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0" y="504748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0561B"/>
                </a:solidFill>
              </a:rPr>
              <a:t>Genome-wide drift</a:t>
            </a:r>
            <a:pPr algn="l" indent="0" marL="0">
              <a:buNone/>
            </a:pP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2011680" y="534009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B31"/>
                </a:solidFill>
              </a:rPr>
              <a:t>not specific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011680" y="534009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C6E73"/>
                </a:solidFill>
              </a:rPr>
              <a:t>moves, but no more than everything else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12280" y="4956048"/>
            <a:ext cx="4846320" cy="822960"/>
          </a:xfrm>
          <a:prstGeom prst="roundRect">
            <a:avLst>
              <a:gd name="adj" fmla="val 5556"/>
            </a:avLst>
          </a:prstGeom>
          <a:solidFill>
            <a:srgbClr val="F1EFEA"/>
          </a:solidFill>
          <a:ln w="16510">
            <a:solidFill>
              <a:srgbClr val="5C6E7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95160" y="504748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C6E73"/>
                </a:solidFill>
              </a:rPr>
              <a:t>No change</a:t>
            </a:r>
            <a:pPr algn="l" indent="0" marL="0">
              <a:buNone/>
            </a:pP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995160" y="534009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48640" y="5943600"/>
            <a:ext cx="11201400" cy="566928"/>
          </a:xfrm>
          <a:prstGeom prst="roundRect">
            <a:avLst>
              <a:gd name="adj" fmla="val 9677"/>
            </a:avLst>
          </a:prstGeom>
          <a:solidFill>
            <a:srgbClr val="E7F0EE"/>
          </a:solidFill>
          <a:ln w="15240">
            <a:solidFill>
              <a:srgbClr val="1B6E7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59436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3F47"/>
                </a:solidFill>
              </a:rPr>
              <a:t>A robust positive claim needs BOTH ticks:  </a:t>
            </a:r>
            <a:pPr algn="l" indent="0" marL="0">
              <a:buNone/>
            </a:pPr>
            <a:r>
              <a:rPr lang="en-US" sz="1300" dirty="0">
                <a:solidFill>
                  <a:srgbClr val="1B2B31"/>
                </a:solidFill>
              </a:rPr>
              <a:t>self-contained says it’s real (its own genes moved off zero); competitive says it’s specific (more than the background). Only pericentral detox passes both — that’s our one confident finding.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BACKUP · STATS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052560" y="2926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6E78"/>
                </a:solidFill>
              </a:rPr>
              <a:t>QA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56692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stats terms in your part, in plain words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15568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AD4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81328"/>
            <a:ext cx="91440" cy="10241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276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ρ  ·  Spearman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840480" y="1627632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B31"/>
                </a:solidFill>
              </a:rPr>
              <a:t>How strongly two things move together, by rank, from −1 to +1.   ρ = −0.48 → a moderate trend: detox falls as fibrosis rises.   (−1 = perfect opposite · 0 = no link · +1 = perfectly together.)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1115568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AD4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651760"/>
            <a:ext cx="91440" cy="10241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9806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p-value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840480" y="2798064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B31"/>
                </a:solidFill>
              </a:rPr>
              <a:t>The chance of seeing a trend this strong if there were really nothing there — pure noise.   p = 0.003 → about 3 in 1,000 → very unlikely a fluke.   The usual bar is p &lt; 0.05.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822192"/>
            <a:ext cx="1115568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AD4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822192"/>
            <a:ext cx="91440" cy="1024128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6849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5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FDR  ·  q-value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840480" y="3968496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B31"/>
                </a:solidFill>
              </a:rPr>
              <a:t>A p-value corrected for testing thousands of genes at once.   FDR = 0.05 → about 5% of the called “hits” are expected to be false.   This is why a single gene must clear FDR, not raw p.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992624"/>
            <a:ext cx="1115568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AD4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992624"/>
            <a:ext cx="91440" cy="1024128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1389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E1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  ·  GSEA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840480" y="513892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B31"/>
                </a:solidFill>
              </a:rPr>
              <a:t>How strongly a gene set piles up at the down (or up) end of the genome-wide ranking, vs random.   More negative = a stronger coordinated down-shift of the whole set.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2026-06-27T21:35:09Z</dcterms:created>
  <dcterms:modified xsi:type="dcterms:W3CDTF">2026-06-27T21:35:09Z</dcterms:modified>
</cp:coreProperties>
</file>