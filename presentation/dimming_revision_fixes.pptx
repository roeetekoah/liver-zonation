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GRADIENT AXIS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the boxes — zonation is a gradient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B31"/>
                </a:solidFill>
              </a:rPr>
              <a:t>Zonation is a continuous gradient — cells strung on an anti-diagonal. It can weaken two ways </a:t>
            </a:r>
            <a:pPr algn="l" indent="0" marL="0">
              <a:buNone/>
            </a:pPr>
            <a:r>
              <a:rPr lang="en-US" sz="1550" b="1" dirty="0">
                <a:solidFill>
                  <a:srgbClr val="1B2B31"/>
                </a:solidFill>
              </a:rPr>
              <a:t>without any cell changing class:</a:t>
            </a:r>
            <a:endParaRPr lang="en-US" sz="1550" dirty="0"/>
          </a:p>
        </p:txBody>
      </p:sp>
      <p:pic>
        <p:nvPicPr>
          <p:cNvPr id="7" name="Image 0" descr="D:\CS\Genomics\Hackathon\presentation/assets/fig_gradient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144" y="1874520"/>
            <a:ext cx="6568113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920240"/>
            <a:ext cx="42519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204825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6E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Compression  </a:t>
            </a:r>
            <a:pPr algn="l" indent="0" marL="0">
              <a:buNone/>
            </a:pPr>
            <a:r>
              <a:rPr lang="en-US" sz="1300" i="1" dirty="0">
                <a:solidFill>
                  <a:srgbClr val="5C6E73"/>
                </a:solidFill>
              </a:rPr>
              <a:t>— shape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26680" y="243230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31"/>
                </a:solidFill>
              </a:rPr>
              <a:t>Balance drifts to the middle; the poles’ contrast shrinks.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26680" y="310896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4532D"/>
                </a:solidFill>
              </a:rPr>
              <a:t>Mild, non-monotone → </a:t>
            </a:r>
            <a:pPr algn="l" indent="0" marL="0">
              <a:buNone/>
            </a:pPr>
            <a:r>
              <a:rPr lang="en-US" sz="1200" b="1" i="1" dirty="0">
                <a:solidFill>
                  <a:srgbClr val="14532D"/>
                </a:solidFill>
              </a:rPr>
              <a:t>gradient present.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43800" y="3794760"/>
            <a:ext cx="425196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DCC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26680" y="3922776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Dimming  </a:t>
            </a:r>
            <a:pPr algn="l" indent="0" marL="0">
              <a:buNone/>
            </a:pPr>
            <a:r>
              <a:rPr lang="en-US" sz="1300" i="1" dirty="0">
                <a:solidFill>
                  <a:srgbClr val="5C6E73"/>
                </a:solidFill>
              </a:rPr>
              <a:t>— level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726680" y="4306824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B31"/>
                </a:solidFill>
              </a:rPr>
              <a:t>The pericentral detox program declines in level — same balance, lower volume.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26680" y="50292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C2D12"/>
                </a:solidFill>
              </a:rPr>
              <a:t>Real coordinated decline → </a:t>
            </a:r>
            <a:pPr algn="l" indent="0" marL="0">
              <a:buNone/>
            </a:pPr>
            <a:r>
              <a:rPr lang="en-US" sz="1200" b="1" i="1" dirty="0">
                <a:solidFill>
                  <a:srgbClr val="7C2D12"/>
                </a:solidFill>
              </a:rPr>
              <a:t>a finding (Results).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11480" y="57607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34155"/>
                </a:solidFill>
              </a:rPr>
              <a:t>Matched biopsies: shape holds (no compression); level dims (detox — confirmed next). </a:t>
            </a:r>
            <a:pPr algn="l" indent="0" marL="0">
              <a:buNone/>
            </a:pPr>
            <a:r>
              <a:rPr lang="en-US" sz="1250" i="1" dirty="0">
                <a:solidFill>
                  <a:srgbClr val="5C6E73"/>
                </a:solidFill>
              </a:rPr>
              <a:t>Only the explant collapses to one pole.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RESULTS · THE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one program robustly changes — pericentral detox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B31"/>
                </a:solidFill>
              </a:rPr>
              <a:t>Each dot is one pre-specified program. </a:t>
            </a:r>
            <a:pPr algn="l" indent="0" marL="0">
              <a:buNone/>
            </a:pPr>
            <a:r>
              <a:rPr lang="en-US" sz="1450" dirty="0">
                <a:solidFill>
                  <a:srgbClr val="1B2B31"/>
                </a:solidFill>
              </a:rPr>
              <a:t>Right = it moves more than the genome (competitive); up/down = it moves on its own (self-contained). Only a dot in a far corner is robust.</a:t>
            </a:r>
            <a:endParaRPr lang="en-US" sz="1450" dirty="0"/>
          </a:p>
        </p:txBody>
      </p:sp>
      <p:pic>
        <p:nvPicPr>
          <p:cNvPr id="7" name="Image 0" descr="D:\CS\Genomics\Hackathon\presentation/assets/fig_geneset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359" y="1828800"/>
            <a:ext cx="6776643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58200" y="1901952"/>
            <a:ext cx="32918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778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41080" y="20116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D9488"/>
                </a:solidFill>
              </a:rPr>
              <a:t>Pericentral detox (CYP)
</a:t>
            </a:r>
            <a:endParaRPr lang="en-US" sz="13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B2B31"/>
                </a:solidFill>
              </a:rPr>
              <a:t>falls coherently and hard enough → clears both tests + the per-cell trend (ρ=−0.48). The one robust change.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458200" y="3291840"/>
            <a:ext cx="3291840" cy="1965960"/>
          </a:xfrm>
          <a:prstGeom prst="roundRect">
            <a:avLst>
              <a:gd name="adj" fmla="val 3256"/>
            </a:avLst>
          </a:prstGeom>
          <a:solidFill>
            <a:srgbClr val="FBEEE9"/>
          </a:solidFill>
          <a:ln w="21590">
            <a:solidFill>
              <a:srgbClr val="BE123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4108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E123C"/>
                </a:solidFill>
              </a:rPr>
              <a:t>WHY THE OTHERS AREN’T ROBUST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41080" y="3694176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B31"/>
                </a:solidFill>
              </a:rPr>
              <a:t>The landmark &amp; phase-II sets only lean down </a:t>
            </a:r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2B31"/>
                </a:solidFill>
              </a:rPr>
              <a:t>faintly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B31"/>
                </a:solidFill>
              </a:rPr>
              <a:t> — far too weakly to clear the self-contained test (no single gene moves). </a:t>
            </a:r>
            <a:pPr algn="l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BE123C"/>
                </a:solidFill>
              </a:rPr>
              <a:t>A shift this faint isn’t a real turn-off;</a:t>
            </a:r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B31"/>
                </a:solidFill>
              </a:rPr>
              <a:t> only the CYP detox core moves hard enough to count as a robust change.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458200" y="5358384"/>
            <a:ext cx="3291840" cy="658368"/>
          </a:xfrm>
          <a:prstGeom prst="roundRect">
            <a:avLst>
              <a:gd name="adj" fmla="val 9722"/>
            </a:avLst>
          </a:prstGeom>
          <a:solidFill>
            <a:srgbClr val="F2EFE8"/>
          </a:solidFill>
          <a:ln w="12700">
            <a:solidFill>
              <a:srgbClr val="5C6E7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535838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C6E73"/>
                </a:solidFill>
              </a:rPr>
              <a:t>Controls behaved ↑ </a:t>
            </a:r>
            <a:pPr algn="l" indent="0" marL="0">
              <a:buNone/>
            </a:pPr>
            <a:r>
              <a:rPr lang="en-US" sz="1100" i="1" dirty="0">
                <a:solidFill>
                  <a:srgbClr val="5C6E73"/>
                </a:solidFill>
              </a:rPr>
              <a:t>— the test reads real biology.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0561B"/>
                </a:solidFill>
              </a:rPr>
              <a:t>THE ONE REAL CHANGE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595360" y="2926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1B6E78"/>
                </a:solidFill>
              </a:rPr>
              <a:t>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8912" y="585216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B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Pericentral detox dims — dimming, not de-zonation</a:t>
            </a:r>
            <a:endParaRPr lang="en-US" sz="2800" dirty="0"/>
          </a:p>
        </p:txBody>
      </p:sp>
      <p:pic>
        <p:nvPicPr>
          <p:cNvPr id="6" name="Image 0" descr="D:\CS\Genomics\Hackathon\presentation/assets/fig_within_pc_det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668" y="1554480"/>
            <a:ext cx="6304505" cy="3840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691640"/>
            <a:ext cx="9144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7991856" y="16916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Per-cell, depth-matched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91856" y="2020824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composition can’t fake it — the decisive evidence (ρ=−0.48).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0" y="2770632"/>
            <a:ext cx="91440" cy="86868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8"/>
          <p:cNvSpPr/>
          <p:nvPr/>
        </p:nvSpPr>
        <p:spPr>
          <a:xfrm>
            <a:off x="7991856" y="2770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Cells keep their class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991856" y="3099816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the pericentral anchor fractions stay flat — no de-zonation; no identity gene is individually lost.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0" y="3849624"/>
            <a:ext cx="91440" cy="86868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14" name="Text 11"/>
          <p:cNvSpPr/>
          <p:nvPr/>
        </p:nvSpPr>
        <p:spPr>
          <a:xfrm>
            <a:off x="7991856" y="38496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Coordinated, not a switch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991856" y="417880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B31"/>
                </a:solidFill>
              </a:rPr>
              <a:t>no single gene clears FDR — many genes each shift a little, same direction.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498348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E7F0EE"/>
          </a:solidFill>
          <a:ln w="15240">
            <a:solidFill>
              <a:srgbClr val="1B6E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73568" y="4983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3F47"/>
                </a:solidFill>
              </a:rPr>
              <a:t>Like a radio: </a:t>
            </a:r>
            <a:pPr algn="l" indent="0" marL="0">
              <a:buNone/>
            </a:pPr>
            <a:r>
              <a:rPr lang="en-US" sz="1250" i="1" dirty="0">
                <a:solidFill>
                  <a:srgbClr val="1B2B31"/>
                </a:solidFill>
              </a:rPr>
              <a:t>same genre (cells stay pericentral), lower volume (the detox channel dims).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6199632"/>
            <a:ext cx="2926080" cy="0"/>
          </a:xfrm>
          <a:prstGeom prst="line">
            <a:avLst/>
          </a:prstGeom>
          <a:noFill/>
          <a:ln w="9525">
            <a:solidFill>
              <a:srgbClr val="C9C0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254496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6256"/>
                </a:solidFill>
              </a:rPr>
              <a:t>A relative decline within a fixed budget, not proven absolute molecule loss; a donor-level trend; could partly reflect a shift among PC subzones.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78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109728" cy="6858000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457200"/>
            <a:ext cx="146304" cy="237744"/>
          </a:xfrm>
          <a:prstGeom prst="rect">
            <a:avLst/>
          </a:prstGeom>
          <a:solidFill>
            <a:srgbClr val="C0561B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42062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0561B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de-zonation signal — the pericentral detox program dims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41248" y="1865376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2194560" y="19202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transcriptional de-zonation signal — cells keep their zonal class (large shift excluded)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41248" y="2962656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700" dirty="0"/>
          </a:p>
        </p:txBody>
      </p:sp>
      <p:sp>
        <p:nvSpPr>
          <p:cNvPr id="10" name="Text 8"/>
          <p:cNvSpPr/>
          <p:nvPr/>
        </p:nvSpPr>
        <p:spPr>
          <a:xfrm>
            <a:off x="2194560" y="301752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real change: the pericentral detox program dims (gates held)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4059936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C05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2194560" y="41148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 of the dramatic trajectory may track acquisition, not disease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194560" y="5212080"/>
            <a:ext cx="9098280" cy="0"/>
          </a:xfrm>
          <a:prstGeom prst="line">
            <a:avLst/>
          </a:prstGeom>
          <a:noFill/>
          <a:ln w="12700">
            <a:solidFill>
              <a:srgbClr val="2E4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We correct one evidence leg</a:t>
            </a:r>
            <a:pPr algn="l" indent="0" marL="0">
              <a:buNone/>
            </a:pPr>
            <a:r>
              <a:rPr lang="en-US" sz="1500" i="1" dirty="0">
                <a:solidFill>
                  <a:srgbClr val="C9D6D3"/>
                </a:solidFill>
              </a:rPr>
              <a:t> — the snRNA marker-correlation; the paper’s imaging and protein staining are untouched. The biliary signal is a separate compositional lead.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61447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A0"/>
                </a:solidFill>
              </a:rPr>
              <a:t>Scope — a “PC-like program,” not lobular location; a weak coordinated gene-set program is not excluded; F4 is only 4 donors.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E73"/>
                </a:solidFill>
              </a:rPr>
              <a:t>Computational Genomics 76553  ·  HUJI  ·  MASLD snRNA-seq 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2026-06-27T22:28:37Z</dcterms:created>
  <dcterms:modified xsi:type="dcterms:W3CDTF">2026-06-27T22:28:37Z</dcterms:modified>
</cp:coreProperties>
</file>