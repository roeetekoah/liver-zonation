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74" r:id="rId9"/>
    <p:sldId id="264" r:id="rId10"/>
    <p:sldId id="265" r:id="rId11"/>
    <p:sldId id="266" r:id="rId12"/>
    <p:sldId id="275" r:id="rId13"/>
    <p:sldId id="268" r:id="rId14"/>
    <p:sldId id="269" r:id="rId15"/>
    <p:sldId id="270" r:id="rId16"/>
    <p:sldId id="271" r:id="rId17"/>
    <p:sldId id="272" r:id="rId18"/>
    <p:sldId id="273" r:id="rId19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111" d="100"/>
          <a:sy n="111" d="100"/>
        </p:scale>
        <p:origin x="558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885009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6/21/2026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71688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72784"/>
            <a:ext cx="12191695" cy="128016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22960" y="5029200"/>
            <a:ext cx="384048" cy="146304"/>
          </a:xfrm>
          <a:prstGeom prst="rect">
            <a:avLst/>
          </a:prstGeom>
          <a:solidFill>
            <a:srgbClr val="F0C247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1207008" y="5029200"/>
            <a:ext cx="384048" cy="146304"/>
          </a:xfrm>
          <a:prstGeom prst="rect">
            <a:avLst/>
          </a:prstGeom>
          <a:solidFill>
            <a:srgbClr val="E0BC5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" name="Shape 3"/>
          <p:cNvSpPr/>
          <p:nvPr/>
        </p:nvSpPr>
        <p:spPr>
          <a:xfrm>
            <a:off x="1591056" y="5029200"/>
            <a:ext cx="384048" cy="146304"/>
          </a:xfrm>
          <a:prstGeom prst="rect">
            <a:avLst/>
          </a:prstGeom>
          <a:solidFill>
            <a:srgbClr val="CFB66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1975104" y="5029200"/>
            <a:ext cx="384048" cy="146304"/>
          </a:xfrm>
          <a:prstGeom prst="rect">
            <a:avLst/>
          </a:prstGeom>
          <a:solidFill>
            <a:srgbClr val="BFB06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2359152" y="5029200"/>
            <a:ext cx="384048" cy="146304"/>
          </a:xfrm>
          <a:prstGeom prst="rect">
            <a:avLst/>
          </a:prstGeom>
          <a:solidFill>
            <a:srgbClr val="AEAA7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2743200" y="5029200"/>
            <a:ext cx="384048" cy="146304"/>
          </a:xfrm>
          <a:prstGeom prst="rect">
            <a:avLst/>
          </a:prstGeom>
          <a:solidFill>
            <a:srgbClr val="9EA486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127248" y="5029200"/>
            <a:ext cx="384048" cy="146304"/>
          </a:xfrm>
          <a:prstGeom prst="rect">
            <a:avLst/>
          </a:prstGeom>
          <a:solidFill>
            <a:srgbClr val="8D9D92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511296" y="5029200"/>
            <a:ext cx="384048" cy="146304"/>
          </a:xfrm>
          <a:prstGeom prst="rect">
            <a:avLst/>
          </a:prstGeom>
          <a:solidFill>
            <a:srgbClr val="7D979F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Shape 9"/>
          <p:cNvSpPr/>
          <p:nvPr/>
        </p:nvSpPr>
        <p:spPr>
          <a:xfrm>
            <a:off x="3895344" y="5029200"/>
            <a:ext cx="384048" cy="146304"/>
          </a:xfrm>
          <a:prstGeom prst="rect">
            <a:avLst/>
          </a:prstGeom>
          <a:solidFill>
            <a:srgbClr val="6C91A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4279392" y="5029200"/>
            <a:ext cx="384048" cy="146304"/>
          </a:xfrm>
          <a:prstGeom prst="rect">
            <a:avLst/>
          </a:prstGeom>
          <a:solidFill>
            <a:srgbClr val="5C8BB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4663440" y="5029200"/>
            <a:ext cx="384048" cy="146304"/>
          </a:xfrm>
          <a:prstGeom prst="rect">
            <a:avLst/>
          </a:prstGeom>
          <a:solidFill>
            <a:srgbClr val="4B85C4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5047488" y="5029200"/>
            <a:ext cx="384048" cy="146304"/>
          </a:xfrm>
          <a:prstGeom prst="rect">
            <a:avLst/>
          </a:prstGeom>
          <a:solidFill>
            <a:srgbClr val="3B7FD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822960" y="5202936"/>
            <a:ext cx="1280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4297680" y="5202936"/>
            <a:ext cx="128016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r">
              <a:lnSpc>
                <a:spcPct val="100000"/>
              </a:lnSpc>
              <a:buNone/>
            </a:pPr>
            <a:r>
              <a:rPr lang="en-US" sz="9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central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822960" y="1600200"/>
            <a:ext cx="10515600" cy="17373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Spatial Degradation of Hepatocyte Zonation</a:t>
            </a:r>
            <a:endParaRPr lang="en-US" sz="4200" dirty="0"/>
          </a:p>
        </p:txBody>
      </p:sp>
      <p:sp>
        <p:nvSpPr>
          <p:cNvPr id="18" name="Text 16"/>
          <p:cNvSpPr/>
          <p:nvPr/>
        </p:nvSpPr>
        <p:spPr>
          <a:xfrm>
            <a:off x="822960" y="3337560"/>
            <a:ext cx="10058400" cy="7315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800" i="1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Decoding the collapse of liver cell identity across the fatty-liver disease course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822960" y="6355080"/>
            <a:ext cx="105156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  ·  Shira      |      Computational Genomics 76553 — Final Hackathon</a:t>
            </a:r>
            <a:endParaRPr lang="en-US" sz="13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BIOLOGY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liver does — and the zonation gradient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63040"/>
            <a:ext cx="3375660" cy="162738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liver is a metabolic factory:</a:t>
            </a:r>
            <a:endParaRPr lang="en-US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5000"/>
              </a:lnSpc>
              <a:buNone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buffers blood sugar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detoxifies drugs,</a:t>
            </a:r>
          </a:p>
          <a:p>
            <a:pPr marL="742950" lvl="1" indent="-285750">
              <a:lnSpc>
                <a:spcPct val="105000"/>
              </a:lnSpc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nitrogen waste 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  <a:sym typeface="Wingdings" panose="05000000000000000000" pitchFamily="2" charset="2"/>
              </a:rPr>
              <a:t></a:t>
            </a: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urea</a:t>
            </a:r>
          </a:p>
          <a:p>
            <a:pPr>
              <a:lnSpc>
                <a:spcPct val="105000"/>
              </a:lnSpc>
            </a:pPr>
            <a:endParaRPr lang="en-US" sz="1600" dirty="0">
              <a:solidFill>
                <a:srgbClr val="000000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5000"/>
              </a:lnSpc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</a:t>
            </a:r>
          </a:p>
          <a:p>
            <a:pPr marL="0" indent="0" algn="l">
              <a:lnSpc>
                <a:spcPct val="105000"/>
              </a:lnSpc>
              <a:buNone/>
            </a:pPr>
            <a:r>
              <a:rPr lang="en-US" sz="16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			 
</a:t>
            </a:r>
            <a:endParaRPr lang="en-US" sz="1600" dirty="0"/>
          </a:p>
        </p:txBody>
      </p:sp>
      <p:pic>
        <p:nvPicPr>
          <p:cNvPr id="7" name="Image 0" descr="/sessions/hopeful-blissful-volta/mnt/Genomics/Hackathon/presentation/assets/fig2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633633" y="1554480"/>
            <a:ext cx="5116407" cy="2390987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CD7387B3-0AB7-0C61-5C6B-2B6E9195C0A6}"/>
              </a:ext>
            </a:extLst>
          </p:cNvPr>
          <p:cNvSpPr txBox="1"/>
          <p:nvPr/>
        </p:nvSpPr>
        <p:spPr>
          <a:xfrm>
            <a:off x="249766" y="3120937"/>
            <a:ext cx="7349067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Two epithelial cells: 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hepatocytes (the bulk factory)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cholangiocytes (bile-duct lining)</a:t>
            </a: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C4C1E44-F212-A646-2E9A-F9000A61136D}"/>
              </a:ext>
            </a:extLst>
          </p:cNvPr>
          <p:cNvSpPr txBox="1"/>
          <p:nvPr/>
        </p:nvSpPr>
        <p:spPr>
          <a:xfrm>
            <a:off x="4072467" y="2099733"/>
            <a:ext cx="268816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produces bile acids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make plasma proteins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6EA53AA-79D7-3184-2012-24B73A104F8D}"/>
              </a:ext>
            </a:extLst>
          </p:cNvPr>
          <p:cNvSpPr txBox="1"/>
          <p:nvPr/>
        </p:nvSpPr>
        <p:spPr>
          <a:xfrm>
            <a:off x="723053" y="4242401"/>
            <a:ext cx="505883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Blood flows portal → central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A0F8C2C9-B992-9432-96F1-3D58386A4A3F}"/>
              </a:ext>
            </a:extLst>
          </p:cNvPr>
          <p:cNvSpPr txBox="1"/>
          <p:nvPr/>
        </p:nvSpPr>
        <p:spPr>
          <a:xfrm>
            <a:off x="1092200" y="6133391"/>
            <a:ext cx="966724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hinge: </a:t>
            </a:r>
            <a:r>
              <a:rPr lang="en-US" sz="24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position is encoded in expression, so it can be decoded back out.</a:t>
            </a:r>
            <a:endParaRPr lang="en-US" sz="2400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6FA1532-E91F-9897-1362-0AE933A1BFFA}"/>
              </a:ext>
            </a:extLst>
          </p:cNvPr>
          <p:cNvSpPr txBox="1"/>
          <p:nvPr/>
        </p:nvSpPr>
        <p:spPr>
          <a:xfrm>
            <a:off x="1515533" y="4763345"/>
            <a:ext cx="8305800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gene a cell in the liver expresses depends on where it sits:
</a:t>
            </a:r>
            <a:r>
              <a:rPr lang="en-US" sz="2000" b="1" dirty="0">
                <a:solidFill>
                  <a:srgbClr val="1654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Periportal: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urea cycle, gluconeogenesis (ASS1, PCK1).
</a:t>
            </a:r>
            <a:r>
              <a:rPr lang="en-US" sz="2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 Pericentral: </a:t>
            </a:r>
            <a:r>
              <a:rPr lang="en-US" sz="20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metabolism, glutamine (CYP2E1, GLUL).</a:t>
            </a:r>
            <a:endParaRPr lang="en-US" sz="2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MEASURE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ways identity breaks: de-zonation vs plasticity</a:t>
            </a:r>
            <a:endParaRPr lang="en-US" sz="2500" dirty="0"/>
          </a:p>
        </p:txBody>
      </p:sp>
      <p:sp>
        <p:nvSpPr>
          <p:cNvPr id="6" name="Text 4"/>
          <p:cNvSpPr/>
          <p:nvPr/>
        </p:nvSpPr>
        <p:spPr>
          <a:xfrm>
            <a:off x="548640" y="1417320"/>
            <a:ext cx="1106424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look like 'a cell expressing two opposite things at once' — the difference is WHICH boundary is crossed.</a:t>
            </a:r>
            <a:endParaRPr lang="en-US" sz="1400" dirty="0"/>
          </a:p>
        </p:txBody>
      </p:sp>
      <p:sp>
        <p:nvSpPr>
          <p:cNvPr id="7" name="Shape 5"/>
          <p:cNvSpPr/>
          <p:nvPr/>
        </p:nvSpPr>
        <p:spPr>
          <a:xfrm>
            <a:off x="548640" y="2103120"/>
            <a:ext cx="5486400" cy="2468880"/>
          </a:xfrm>
          <a:prstGeom prst="roundRect">
            <a:avLst>
              <a:gd name="adj" fmla="val 2593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" name="Shape 6"/>
          <p:cNvSpPr/>
          <p:nvPr/>
        </p:nvSpPr>
        <p:spPr>
          <a:xfrm>
            <a:off x="548640" y="2103120"/>
            <a:ext cx="5486400" cy="475488"/>
          </a:xfrm>
          <a:prstGeom prst="roundRect">
            <a:avLst>
              <a:gd name="adj" fmla="val 13462"/>
            </a:avLst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340864"/>
            <a:ext cx="5486400" cy="237744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749808" y="2103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De-zonation</a:t>
            </a:r>
            <a:endParaRPr lang="en-US" sz="1450" dirty="0"/>
          </a:p>
        </p:txBody>
      </p:sp>
      <p:sp>
        <p:nvSpPr>
          <p:cNvPr id="11" name="Text 9"/>
          <p:cNvSpPr/>
          <p:nvPr/>
        </p:nvSpPr>
        <p:spPr>
          <a:xfrm>
            <a:off x="749808" y="2706624"/>
            <a:ext cx="5102352" cy="171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its POSITION 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35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>
              <a:lnSpc>
                <a:spcPct val="106000"/>
              </a:lnSpc>
            </a:pPr>
            <a:r>
              <a:rPr lang="en-US" sz="14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 the (portal ↔ central) axis – </a:t>
            </a: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still a hepatocyte</a:t>
            </a:r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Co-expresses opposite zonal programs (CYP2E1 + ASS1)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35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Signature: the pericentral / periportal zonation genes.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153912" y="2103120"/>
            <a:ext cx="5486400" cy="2468880"/>
          </a:xfrm>
          <a:prstGeom prst="roundRect">
            <a:avLst>
              <a:gd name="adj" fmla="val 2593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6153912" y="2103120"/>
            <a:ext cx="5486400" cy="475488"/>
          </a:xfrm>
          <a:prstGeom prst="roundRect">
            <a:avLst>
              <a:gd name="adj" fmla="val 13462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6153912" y="2340864"/>
            <a:ext cx="5486400" cy="23774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6355080" y="2103120"/>
            <a:ext cx="5120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Plasticity</a:t>
            </a:r>
            <a:endParaRPr lang="en-US" sz="1450" dirty="0"/>
          </a:p>
        </p:txBody>
      </p:sp>
      <p:sp>
        <p:nvSpPr>
          <p:cNvPr id="16" name="Text 14"/>
          <p:cNvSpPr/>
          <p:nvPr/>
        </p:nvSpPr>
        <p:spPr>
          <a:xfrm>
            <a:off x="6355080" y="2706624"/>
            <a:ext cx="5102352" cy="17190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06000"/>
              </a:lnSpc>
              <a:buNone/>
            </a:pPr>
            <a:r>
              <a:rPr lang="en-US" sz="2400" b="1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Loses its CELL-TYPE identity </a:t>
            </a:r>
          </a:p>
          <a:p>
            <a:pPr marL="0" indent="0" algn="ctr">
              <a:lnSpc>
                <a:spcPct val="106000"/>
              </a:lnSpc>
              <a:buNone/>
            </a:pPr>
            <a:endParaRPr lang="en-US" sz="135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hepatocyte → bile-duct
Co-expresses hepatocyte + duct programs (ALB + KRT7).</a:t>
            </a:r>
          </a:p>
          <a:p>
            <a:pPr marL="0" indent="0" algn="l">
              <a:lnSpc>
                <a:spcPct val="106000"/>
              </a:lnSpc>
              <a:buNone/>
            </a:pPr>
            <a:endParaRPr lang="en-US" sz="1350" dirty="0">
              <a:solidFill>
                <a:srgbClr val="1F2733"/>
              </a:solidFill>
              <a:latin typeface="Calibri" pitchFamily="34" charset="0"/>
              <a:ea typeface="Calibri" pitchFamily="34" charset="-122"/>
              <a:cs typeface="Calibri" pitchFamily="34" charset="-120"/>
            </a:endParaRPr>
          </a:p>
          <a:p>
            <a:pPr marL="0" indent="0" algn="l">
              <a:lnSpc>
                <a:spcPct val="106000"/>
              </a:lnSpc>
              <a:buNone/>
            </a:pPr>
            <a:r>
              <a:rPr lang="en-US" sz="13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Signature: KRT7, KRT19, SOX9 … (from Paper 1).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48640" y="4846320"/>
            <a:ext cx="11091672" cy="1417320"/>
          </a:xfrm>
          <a:prstGeom prst="roundRect">
            <a:avLst>
              <a:gd name="adj" fmla="val 5161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777240" y="4956048"/>
            <a:ext cx="10607040" cy="12344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Analogy: 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worker who forgets which station they man (de-zonation) is still a factory worker; one who forgets they work in the factory at all (plasticity) is something else.  </a:t>
            </a:r>
            <a:r>
              <a:rPr lang="en-US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asks whether these are the same cells — does losing your address predict losing your job?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OPPORTUNITY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Two datasets, one gap</a:t>
            </a:r>
            <a:endParaRPr lang="en-US" sz="2500" dirty="0"/>
          </a:p>
        </p:txBody>
      </p:sp>
      <p:pic>
        <p:nvPicPr>
          <p:cNvPr id="6" name="Image 0" descr="/sessions/hopeful-blissful-volta/mnt/Genomics/Hackathon/presentation/assets/fig3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2743200" y="1210565"/>
            <a:ext cx="6583680" cy="2743200"/>
          </a:xfrm>
          <a:prstGeom prst="rect">
            <a:avLst/>
          </a:prstGeom>
        </p:spPr>
      </p:pic>
      <p:grpSp>
        <p:nvGrpSpPr>
          <p:cNvPr id="18" name="Group 17">
            <a:extLst>
              <a:ext uri="{FF2B5EF4-FFF2-40B4-BE49-F238E27FC236}">
                <a16:creationId xmlns:a16="http://schemas.microsoft.com/office/drawing/2014/main" id="{CB27757E-1BFF-0BC3-6BE5-3133DF33885E}"/>
              </a:ext>
            </a:extLst>
          </p:cNvPr>
          <p:cNvGrpSpPr/>
          <p:nvPr/>
        </p:nvGrpSpPr>
        <p:grpSpPr>
          <a:xfrm>
            <a:off x="548640" y="3764110"/>
            <a:ext cx="11091672" cy="1783080"/>
            <a:chOff x="548640" y="4343400"/>
            <a:chExt cx="11091672" cy="1783080"/>
          </a:xfrm>
        </p:grpSpPr>
        <p:sp>
          <p:nvSpPr>
            <p:cNvPr id="7" name="Shape 4"/>
            <p:cNvSpPr/>
            <p:nvPr/>
          </p:nvSpPr>
          <p:spPr>
            <a:xfrm>
              <a:off x="548640" y="4343400"/>
              <a:ext cx="5486400" cy="1783080"/>
            </a:xfrm>
            <a:prstGeom prst="roundRect">
              <a:avLst>
                <a:gd name="adj" fmla="val 3590"/>
              </a:avLst>
            </a:prstGeom>
            <a:solidFill>
              <a:srgbClr val="E7F2F3"/>
            </a:solidFill>
            <a:ln w="12700">
              <a:solidFill>
                <a:srgbClr val="D7DD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8" name="Shape 5"/>
            <p:cNvSpPr/>
            <p:nvPr/>
          </p:nvSpPr>
          <p:spPr>
            <a:xfrm>
              <a:off x="548640" y="4343400"/>
              <a:ext cx="5486400" cy="475488"/>
            </a:xfrm>
            <a:prstGeom prst="roundRect">
              <a:avLst>
                <a:gd name="adj" fmla="val 13462"/>
              </a:avLst>
            </a:prstGeom>
            <a:solidFill>
              <a:srgbClr val="16545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9" name="Shape 6"/>
            <p:cNvSpPr/>
            <p:nvPr/>
          </p:nvSpPr>
          <p:spPr>
            <a:xfrm>
              <a:off x="548640" y="4581144"/>
              <a:ext cx="5486400" cy="237744"/>
            </a:xfrm>
            <a:prstGeom prst="rect">
              <a:avLst/>
            </a:prstGeom>
            <a:solidFill>
              <a:srgbClr val="16545C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0" name="Text 7"/>
            <p:cNvSpPr/>
            <p:nvPr/>
          </p:nvSpPr>
          <p:spPr>
            <a:xfrm>
              <a:off x="749808" y="4343400"/>
              <a:ext cx="51206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Paper 2 — the ruler</a:t>
              </a:r>
              <a:endParaRPr lang="en-US" sz="1450" dirty="0"/>
            </a:p>
          </p:txBody>
        </p:sp>
        <p:sp>
          <p:nvSpPr>
            <p:cNvPr id="11" name="Text 8"/>
            <p:cNvSpPr/>
            <p:nvPr/>
          </p:nvSpPr>
          <p:spPr>
            <a:xfrm>
              <a:off x="749808" y="4946903"/>
              <a:ext cx="5102352" cy="1094063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/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dirty="0">
                  <a:solidFill>
                    <a:srgbClr val="1F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Healthy human liver with spatial coordinates KEPT</a:t>
              </a:r>
              <a:br>
                <a:rPr lang="en-US" dirty="0">
                  <a:solidFill>
                    <a:srgbClr val="1F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br>
                <a:rPr lang="en-US" dirty="0">
                  <a:solidFill>
                    <a:srgbClr val="1F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</a:br>
              <a:r>
                <a:rPr lang="en-US" dirty="0">
                  <a:solidFill>
                    <a:srgbClr val="1F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→ a quantitative porto-central zone index. </a:t>
              </a:r>
              <a:endParaRPr lang="en-US" dirty="0"/>
            </a:p>
          </p:txBody>
        </p:sp>
        <p:sp>
          <p:nvSpPr>
            <p:cNvPr id="12" name="Shape 9"/>
            <p:cNvSpPr/>
            <p:nvPr/>
          </p:nvSpPr>
          <p:spPr>
            <a:xfrm>
              <a:off x="6153912" y="4343400"/>
              <a:ext cx="5486400" cy="1783080"/>
            </a:xfrm>
            <a:prstGeom prst="roundRect">
              <a:avLst>
                <a:gd name="adj" fmla="val 3590"/>
              </a:avLst>
            </a:prstGeom>
            <a:solidFill>
              <a:srgbClr val="FBE7D8"/>
            </a:solidFill>
            <a:ln w="12700">
              <a:solidFill>
                <a:srgbClr val="D7DDE3"/>
              </a:solidFill>
              <a:prstDash val="solid"/>
            </a:ln>
          </p:spPr>
          <p:txBody>
            <a:bodyPr/>
            <a:lstStyle/>
            <a:p>
              <a:endParaRPr lang="en-US"/>
            </a:p>
          </p:txBody>
        </p:sp>
        <p:sp>
          <p:nvSpPr>
            <p:cNvPr id="13" name="Shape 10"/>
            <p:cNvSpPr/>
            <p:nvPr/>
          </p:nvSpPr>
          <p:spPr>
            <a:xfrm>
              <a:off x="6153912" y="4343400"/>
              <a:ext cx="5486400" cy="475488"/>
            </a:xfrm>
            <a:prstGeom prst="roundRect">
              <a:avLst>
                <a:gd name="adj" fmla="val 13462"/>
              </a:avLst>
            </a:prstGeom>
            <a:solidFill>
              <a:srgbClr val="C0562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4" name="Shape 11"/>
            <p:cNvSpPr/>
            <p:nvPr/>
          </p:nvSpPr>
          <p:spPr>
            <a:xfrm>
              <a:off x="6153912" y="4581144"/>
              <a:ext cx="5486400" cy="237744"/>
            </a:xfrm>
            <a:prstGeom prst="rect">
              <a:avLst/>
            </a:prstGeom>
            <a:solidFill>
              <a:srgbClr val="C05621"/>
            </a:solidFill>
            <a:ln/>
          </p:spPr>
          <p:txBody>
            <a:bodyPr/>
            <a:lstStyle/>
            <a:p>
              <a:endParaRPr lang="en-US"/>
            </a:p>
          </p:txBody>
        </p:sp>
        <p:sp>
          <p:nvSpPr>
            <p:cNvPr id="15" name="Text 12"/>
            <p:cNvSpPr/>
            <p:nvPr/>
          </p:nvSpPr>
          <p:spPr>
            <a:xfrm>
              <a:off x="6355080" y="4343400"/>
              <a:ext cx="5120640" cy="475488"/>
            </a:xfrm>
            <a:prstGeom prst="rect">
              <a:avLst/>
            </a:prstGeom>
            <a:noFill/>
            <a:ln/>
          </p:spPr>
          <p:txBody>
            <a:bodyPr wrap="square" lIns="0" tIns="0" rIns="0" bIns="0" rtlCol="0" anchor="ctr"/>
            <a:lstStyle/>
            <a:p>
              <a:pPr marL="0" indent="0" algn="l">
                <a:lnSpc>
                  <a:spcPct val="100000"/>
                </a:lnSpc>
                <a:buNone/>
              </a:pPr>
              <a:r>
                <a:rPr lang="en-US" sz="1450" b="1" dirty="0">
                  <a:solidFill>
                    <a:srgbClr val="FFFFFF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Paper 1 — the cells</a:t>
              </a:r>
              <a:endParaRPr lang="en-US" sz="1450" dirty="0"/>
            </a:p>
          </p:txBody>
        </p:sp>
        <p:sp>
          <p:nvSpPr>
            <p:cNvPr id="16" name="Text 13"/>
            <p:cNvSpPr/>
            <p:nvPr/>
          </p:nvSpPr>
          <p:spPr>
            <a:xfrm>
              <a:off x="6355080" y="4946904"/>
              <a:ext cx="5102352" cy="1033272"/>
            </a:xfrm>
            <a:prstGeom prst="rect">
              <a:avLst/>
            </a:prstGeom>
            <a:noFill/>
            <a:ln/>
          </p:spPr>
          <p:txBody>
            <a:bodyPr wrap="square" lIns="25400" tIns="25400" rIns="25400" bIns="25400" rtlCol="0" anchor="t"/>
            <a:lstStyle/>
            <a:p>
              <a:pPr marL="0" indent="0" algn="ctr">
                <a:lnSpc>
                  <a:spcPct val="106000"/>
                </a:lnSpc>
                <a:buNone/>
              </a:pPr>
              <a:r>
                <a:rPr lang="en-US" dirty="0">
                  <a:solidFill>
                    <a:srgbClr val="1F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69k disease nuclei across all stages — </a:t>
              </a:r>
            </a:p>
            <a:p>
              <a:pPr marL="0" indent="0" algn="ctr">
                <a:lnSpc>
                  <a:spcPct val="106000"/>
                </a:lnSpc>
                <a:buNone/>
              </a:pPr>
              <a:endPara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endParaRPr>
            </a:p>
            <a:p>
              <a:pPr marL="0" indent="0" algn="ctr">
                <a:lnSpc>
                  <a:spcPct val="106000"/>
                </a:lnSpc>
                <a:buNone/>
              </a:pPr>
              <a:r>
                <a:rPr lang="en-US" dirty="0">
                  <a:solidFill>
                    <a:srgbClr val="1F2733"/>
                  </a:solidFill>
                  <a:latin typeface="Calibri" pitchFamily="34" charset="0"/>
                  <a:ea typeface="Calibri" pitchFamily="34" charset="-122"/>
                  <a:cs typeface="Calibri" pitchFamily="34" charset="-120"/>
                </a:rPr>
                <a:t>but snRNA-seq THREW AWAY position.</a:t>
              </a:r>
              <a:endParaRPr lang="en-US" dirty="0"/>
            </a:p>
          </p:txBody>
        </p:sp>
      </p:grpSp>
      <p:sp>
        <p:nvSpPr>
          <p:cNvPr id="17" name="Text 14"/>
          <p:cNvSpPr/>
          <p:nvPr/>
        </p:nvSpPr>
        <p:spPr>
          <a:xfrm>
            <a:off x="502920" y="5852160"/>
            <a:ext cx="11091672" cy="4114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24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Our move: use the healthy ruler to assign each diseased cell a pseudo-zonal coordinate. Neither paper did this.</a:t>
            </a:r>
            <a:endParaRPr lang="en-US" sz="2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WE TEST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 &amp; hypotheses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371600"/>
            <a:ext cx="11091672" cy="1078992"/>
          </a:xfrm>
          <a:prstGeom prst="roundRect">
            <a:avLst>
              <a:gd name="adj" fmla="val 5932"/>
            </a:avLst>
          </a:prstGeom>
          <a:solidFill>
            <a:srgbClr val="E6F2EC"/>
          </a:solidFill>
          <a:ln w="16510">
            <a:solidFill>
              <a:srgbClr val="2F855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26464"/>
            <a:ext cx="10652760" cy="969264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3000"/>
              </a:lnSpc>
              <a:buNone/>
            </a:pPr>
            <a:r>
              <a:rPr lang="en-US" sz="17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   </a:t>
            </a:r>
            <a:r>
              <a:rPr lang="en-US" sz="2000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Using the healthy zonation ruler, can we measure how — and how much — hepatocyte zonation degrades as MASLD advances from healthy to end-stage, and is that degradation linked to plasticity?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548640" y="2651760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548640" y="2651760"/>
            <a:ext cx="3611880" cy="475488"/>
          </a:xfrm>
          <a:prstGeom prst="roundRect">
            <a:avLst>
              <a:gd name="adj" fmla="val 13462"/>
            </a:avLst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548640" y="2889504"/>
            <a:ext cx="3611880" cy="237744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749808" y="26517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Erosion</a:t>
            </a:r>
            <a:endParaRPr lang="en-US" dirty="0"/>
          </a:p>
        </p:txBody>
      </p:sp>
      <p:sp>
        <p:nvSpPr>
          <p:cNvPr id="12" name="Text 10"/>
          <p:cNvSpPr/>
          <p:nvPr/>
        </p:nvSpPr>
        <p:spPr>
          <a:xfrm>
            <a:off x="749808" y="3255264"/>
            <a:ext cx="3227832" cy="149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de-zonation score rises monotonically Healthy → end-stage.
</a:t>
            </a:r>
            <a:r>
              <a:rPr lang="en-US" sz="1600" i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ordered trend on per-donor values.</a:t>
            </a:r>
            <a:endParaRPr lang="en-US" sz="1600" dirty="0"/>
          </a:p>
        </p:txBody>
      </p:sp>
      <p:sp>
        <p:nvSpPr>
          <p:cNvPr id="13" name="Shape 11"/>
          <p:cNvSpPr/>
          <p:nvPr/>
        </p:nvSpPr>
        <p:spPr>
          <a:xfrm>
            <a:off x="4288536" y="2651760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288536" y="2651760"/>
            <a:ext cx="3611880" cy="475488"/>
          </a:xfrm>
          <a:prstGeom prst="roundRect">
            <a:avLst>
              <a:gd name="adj" fmla="val 13462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4288536" y="2889504"/>
            <a:ext cx="3611880" cy="23774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4489704" y="26517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Which programs</a:t>
            </a:r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4489704" y="3255264"/>
            <a:ext cx="3227832" cy="149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Specific programs (e.g. pericentral CYP detox) collapse earliest.
</a:t>
            </a:r>
            <a:r>
              <a:rPr lang="en-US" sz="1600" i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pseudobulk donor×zone DE + FDR.</a:t>
            </a:r>
            <a:endParaRPr lang="en-US" sz="1600" dirty="0"/>
          </a:p>
        </p:txBody>
      </p:sp>
      <p:sp>
        <p:nvSpPr>
          <p:cNvPr id="18" name="Shape 16"/>
          <p:cNvSpPr/>
          <p:nvPr/>
        </p:nvSpPr>
        <p:spPr>
          <a:xfrm>
            <a:off x="8028432" y="2651760"/>
            <a:ext cx="3611880" cy="2240280"/>
          </a:xfrm>
          <a:prstGeom prst="roundRect">
            <a:avLst>
              <a:gd name="adj" fmla="val 2857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8028432" y="2651760"/>
            <a:ext cx="3611880" cy="475488"/>
          </a:xfrm>
          <a:prstGeom prst="roundRect">
            <a:avLst>
              <a:gd name="adj" fmla="val 13462"/>
            </a:avLst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8028432" y="2889504"/>
            <a:ext cx="3611880" cy="237744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8229600" y="2651760"/>
            <a:ext cx="32461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Plasticity link</a:t>
            </a:r>
            <a:endParaRPr lang="en-US" dirty="0"/>
          </a:p>
        </p:txBody>
      </p:sp>
      <p:sp>
        <p:nvSpPr>
          <p:cNvPr id="22" name="Text 20"/>
          <p:cNvSpPr/>
          <p:nvPr/>
        </p:nvSpPr>
        <p:spPr>
          <a:xfrm>
            <a:off x="8229600" y="3255264"/>
            <a:ext cx="3227832" cy="149047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most de-zonated cells are the ones gaining bile-duct identity.
</a:t>
            </a:r>
            <a:r>
              <a:rPr lang="en-US" sz="1600" i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Test: within-donor correlation.</a:t>
            </a:r>
            <a:endParaRPr lang="en-US" sz="1600" dirty="0"/>
          </a:p>
        </p:txBody>
      </p:sp>
      <p:pic>
        <p:nvPicPr>
          <p:cNvPr id="23" name="Image 0" descr="/sessions/hopeful-blissful-volta/mnt/Genomics/Hackathon/presentation/assets/fig8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548640" y="5029200"/>
            <a:ext cx="3474720" cy="1417320"/>
          </a:xfrm>
          <a:prstGeom prst="rect">
            <a:avLst/>
          </a:prstGeom>
        </p:spPr>
      </p:pic>
      <p:sp>
        <p:nvSpPr>
          <p:cNvPr id="24" name="Text 21"/>
          <p:cNvSpPr/>
          <p:nvPr/>
        </p:nvSpPr>
        <p:spPr>
          <a:xfrm>
            <a:off x="548640" y="6473952"/>
            <a:ext cx="3474720" cy="2286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8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illustrative — the H1 collapse curve we're after</a:t>
            </a:r>
            <a:endParaRPr lang="en-US" sz="800" dirty="0"/>
          </a:p>
        </p:txBody>
      </p:sp>
      <p:sp>
        <p:nvSpPr>
          <p:cNvPr id="25" name="Shape 22"/>
          <p:cNvSpPr/>
          <p:nvPr/>
        </p:nvSpPr>
        <p:spPr>
          <a:xfrm>
            <a:off x="4297680" y="5029200"/>
            <a:ext cx="7342632" cy="1371600"/>
          </a:xfrm>
          <a:prstGeom prst="roundRect">
            <a:avLst>
              <a:gd name="adj" fmla="val 5333"/>
            </a:avLst>
          </a:prstGeom>
          <a:solidFill>
            <a:srgbClr val="F4F8F9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3"/>
          <p:cNvSpPr/>
          <p:nvPr/>
        </p:nvSpPr>
        <p:spPr>
          <a:xfrm>
            <a:off x="4526280" y="5074920"/>
            <a:ext cx="6949440" cy="129844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matters: 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drug dosing (pericentral CYP) · ammonia / encephalopathy (periportal urea) · finer-than-histology staging · cancer / de-differentiation link · a reusable decoder for spatially-blind atlases.</a:t>
            </a:r>
            <a:endParaRPr lang="en-US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METHOD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decode position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630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Shape 5"/>
          <p:cNvSpPr/>
          <p:nvPr/>
        </p:nvSpPr>
        <p:spPr>
          <a:xfrm>
            <a:off x="749808" y="1627632"/>
            <a:ext cx="475488" cy="475488"/>
          </a:xfrm>
          <a:prstGeom prst="ellipse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8" name="Text 6"/>
          <p:cNvSpPr/>
          <p:nvPr/>
        </p:nvSpPr>
        <p:spPr>
          <a:xfrm>
            <a:off x="749808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1316736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Signatures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749808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pericentral &amp; periportal gene sets — landmark &amp; full, compared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3108960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355848" y="14630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557016" y="1627632"/>
            <a:ext cx="475488" cy="475488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557016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4123944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</a:t>
            </a:r>
            <a:endParaRPr lang="en-US" sz="2000" dirty="0"/>
          </a:p>
        </p:txBody>
      </p:sp>
      <p:sp>
        <p:nvSpPr>
          <p:cNvPr id="16" name="Text 14"/>
          <p:cNvSpPr/>
          <p:nvPr/>
        </p:nvSpPr>
        <p:spPr>
          <a:xfrm>
            <a:off x="3474720" y="2240280"/>
            <a:ext cx="2368296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score = </a:t>
            </a:r>
          </a:p>
          <a:p>
            <a:pPr marL="0" indent="0" algn="ctr">
              <a:lnSpc>
                <a:spcPct val="100000"/>
              </a:lnSpc>
              <a:buNone/>
            </a:pPr>
            <a:r>
              <a:rPr lang="en-US" sz="1600" dirty="0" err="1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mean_z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(PC) − mean_z(PP)</a:t>
            </a:r>
          </a:p>
        </p:txBody>
      </p:sp>
      <p:sp>
        <p:nvSpPr>
          <p:cNvPr id="17" name="Text 15"/>
          <p:cNvSpPr/>
          <p:nvPr/>
        </p:nvSpPr>
        <p:spPr>
          <a:xfrm>
            <a:off x="5916168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6163056" y="14630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7"/>
          <p:cNvSpPr/>
          <p:nvPr/>
        </p:nvSpPr>
        <p:spPr>
          <a:xfrm>
            <a:off x="6364224" y="1627632"/>
            <a:ext cx="475488" cy="475488"/>
          </a:xfrm>
          <a:prstGeom prst="ellipse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6364224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800" dirty="0"/>
          </a:p>
        </p:txBody>
      </p:sp>
      <p:sp>
        <p:nvSpPr>
          <p:cNvPr id="21" name="Text 19"/>
          <p:cNvSpPr/>
          <p:nvPr/>
        </p:nvSpPr>
        <p:spPr>
          <a:xfrm>
            <a:off x="6931152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Classifier</a:t>
            </a:r>
            <a:endParaRPr lang="en-US" sz="2000" dirty="0"/>
          </a:p>
        </p:txBody>
      </p:sp>
      <p:sp>
        <p:nvSpPr>
          <p:cNvPr id="22" name="Text 20"/>
          <p:cNvSpPr/>
          <p:nvPr/>
        </p:nvSpPr>
        <p:spPr>
          <a:xfrm>
            <a:off x="6364224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zone probabilities → entropy = confusion = de-zonation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8723376" y="1920240"/>
            <a:ext cx="3657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400" b="1" dirty="0">
                <a:solidFill>
                  <a:srgbClr val="1B6E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▶</a:t>
            </a:r>
            <a:endParaRPr lang="en-US" sz="1400" dirty="0"/>
          </a:p>
        </p:txBody>
      </p:sp>
      <p:sp>
        <p:nvSpPr>
          <p:cNvPr id="24" name="Shape 22"/>
          <p:cNvSpPr/>
          <p:nvPr/>
        </p:nvSpPr>
        <p:spPr>
          <a:xfrm>
            <a:off x="8970264" y="1463040"/>
            <a:ext cx="2606040" cy="1691640"/>
          </a:xfrm>
          <a:prstGeom prst="roundRect">
            <a:avLst>
              <a:gd name="adj" fmla="val 4324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9171432" y="1627632"/>
            <a:ext cx="475488" cy="475488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9171432" y="1627632"/>
            <a:ext cx="47548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9738360" y="1682496"/>
            <a:ext cx="173736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Collapse</a:t>
            </a:r>
            <a:endParaRPr lang="en-US" sz="2000" dirty="0"/>
          </a:p>
        </p:txBody>
      </p:sp>
      <p:sp>
        <p:nvSpPr>
          <p:cNvPr id="28" name="Text 26"/>
          <p:cNvSpPr/>
          <p:nvPr/>
        </p:nvSpPr>
        <p:spPr>
          <a:xfrm>
            <a:off x="9171432" y="2240280"/>
            <a:ext cx="22860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metric per donor, tested across stages</a:t>
            </a:r>
            <a:endParaRPr lang="en-US" sz="1600" dirty="0"/>
          </a:p>
        </p:txBody>
      </p:sp>
      <p:pic>
        <p:nvPicPr>
          <p:cNvPr id="29" name="Image 0" descr="/sessions/hopeful-blissful-volta/mnt/Genomics/Hackathon/presentation/assets/fig5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3383280"/>
            <a:ext cx="5394960" cy="3108960"/>
          </a:xfrm>
          <a:prstGeom prst="rect">
            <a:avLst/>
          </a:prstGeom>
        </p:spPr>
      </p:pic>
      <p:pic>
        <p:nvPicPr>
          <p:cNvPr id="30" name="Image 1" descr="/sessions/hopeful-blissful-volta/mnt/Genomics/Hackathon/presentation/assets/fig6.png"/>
          <p:cNvPicPr>
            <a:picLocks noChangeAspect="1"/>
          </p:cNvPicPr>
          <p:nvPr/>
        </p:nvPicPr>
        <p:blipFill>
          <a:blip r:embed="rId4"/>
          <a:srcRect/>
          <a:stretch/>
        </p:blipFill>
        <p:spPr>
          <a:xfrm>
            <a:off x="6355080" y="3520440"/>
            <a:ext cx="5349240" cy="27432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IT HOLDS 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Doing it honestly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548640" y="1417320"/>
            <a:ext cx="11091672" cy="1051560"/>
          </a:xfrm>
          <a:prstGeom prst="roundRect">
            <a:avLst>
              <a:gd name="adj" fmla="val 6087"/>
            </a:avLst>
          </a:prstGeom>
          <a:solidFill>
            <a:srgbClr val="FBE7D8"/>
          </a:solidFill>
          <a:ln w="15240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777240" y="1463040"/>
            <a:ext cx="10607040" cy="9601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20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Negative control.  </a:t>
            </a: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Shuffle the disease-stage labels and re-run: the collapse trend must VANISH. A 'signal' that survives shuffling was an artefact. (The positive control — recovering zonation in healthy liver — is the next slide.)</a:t>
            </a:r>
            <a:endParaRPr lang="en-US" sz="2000" dirty="0"/>
          </a:p>
        </p:txBody>
      </p:sp>
      <p:sp>
        <p:nvSpPr>
          <p:cNvPr id="8" name="Text 6"/>
          <p:cNvSpPr/>
          <p:nvPr/>
        </p:nvSpPr>
        <p:spPr>
          <a:xfrm>
            <a:off x="548640" y="2697480"/>
            <a:ext cx="640080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b="1" dirty="0">
                <a:solidFill>
                  <a:srgbClr val="0E3A4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de-zonation is — and isn't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548640" y="3127248"/>
            <a:ext cx="6400800" cy="2194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10000"/>
              </a:lnSpc>
              <a:buNone/>
            </a:pPr>
            <a:r>
              <a:rPr lang="en-US" sz="1600" b="1" dirty="0">
                <a:solidFill>
                  <a:srgbClr val="2F855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  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loss of the expression program: pericentral–periportal mutual exclusivity weakens and the coordinate spread narrows.</a:t>
            </a:r>
          </a:p>
          <a:p>
            <a:pPr marL="0" indent="0" algn="l">
              <a:lnSpc>
                <a:spcPct val="110000"/>
              </a:lnSpc>
              <a:buNone/>
            </a:pPr>
            <a:r>
              <a:rPr lang="en-US" sz="500" dirty="0">
                <a:solidFill>
                  <a:srgbClr val="00000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
</a:t>
            </a:r>
            <a:r>
              <a:rPr lang="en-US" sz="16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ISN'T  </a:t>
            </a:r>
            <a:r>
              <a:rPr lang="en-US" sz="16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physical spatial scrambling with intact expression: dissociated data couldn't see it, and it's very unlikely here.</a:t>
            </a:r>
            <a:endParaRPr lang="en-US" sz="1200" dirty="0"/>
          </a:p>
        </p:txBody>
      </p:sp>
      <p:pic>
        <p:nvPicPr>
          <p:cNvPr id="10" name="Image 0" descr="/sessions/hopeful-blissful-volta/mnt/Genomics/Hackathon/presentation/assets/fig7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7297947" y="2788920"/>
            <a:ext cx="4406373" cy="2240280"/>
          </a:xfrm>
          <a:prstGeom prst="rect">
            <a:avLst/>
          </a:prstGeom>
        </p:spPr>
      </p:pic>
      <p:sp>
        <p:nvSpPr>
          <p:cNvPr id="11" name="Text 8"/>
          <p:cNvSpPr/>
          <p:nvPr/>
        </p:nvSpPr>
        <p:spPr>
          <a:xfrm>
            <a:off x="548640" y="6355080"/>
            <a:ext cx="11064240" cy="3657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Donor-level inference (no pseudoreplication) and held-out-gene / circularity guards underpin every test — details in backup.</a:t>
            </a:r>
            <a:endParaRPr lang="en-US" sz="10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E6E9"/>
                </a:solidFill>
                <a:latin typeface="Calibri"/>
              </a:rPr>
              <a:t>  VALIDATION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 dirty="0">
                <a:solidFill>
                  <a:srgbClr val="FFFFFF"/>
                </a:solidFill>
                <a:latin typeface="Georgia"/>
              </a:rPr>
              <a:t>Controls — does the result hold up?</a:t>
            </a:r>
          </a:p>
        </p:txBody>
      </p:sp>
      <p:pic>
        <p:nvPicPr>
          <p:cNvPr id="6" name="Picture 5" descr="p2_validation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51560" y="1325880"/>
            <a:ext cx="10058400" cy="2785403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640080" y="4343400"/>
            <a:ext cx="10972800" cy="5699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5000"/>
              </a:lnSpc>
            </a:pPr>
            <a:r>
              <a:rPr b="1" i="0" dirty="0">
                <a:solidFill>
                  <a:srgbClr val="2F855A"/>
                </a:solidFill>
                <a:latin typeface="Calibri"/>
              </a:rPr>
              <a:t>✓  Positive control —  </a:t>
            </a:r>
            <a:r>
              <a:rPr b="0" i="0" dirty="0">
                <a:solidFill>
                  <a:srgbClr val="1F2733"/>
                </a:solidFill>
                <a:latin typeface="Calibri"/>
              </a:rPr>
              <a:t>on healthy liver the coordinate recovers zonation: pericentral CYP2E1 rises with it, periportal ASS1 falls (real data, above).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255863"/>
            <a:ext cx="10515600" cy="569900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5000"/>
              </a:lnSpc>
            </a:pPr>
            <a:r>
              <a:rPr b="1" i="0" dirty="0">
                <a:solidFill>
                  <a:srgbClr val="C05621"/>
                </a:solidFill>
                <a:latin typeface="Calibri"/>
              </a:rPr>
              <a:t>✗  Negative control —  </a:t>
            </a:r>
            <a:r>
              <a:rPr b="0" i="0" dirty="0">
                <a:solidFill>
                  <a:srgbClr val="1F2733"/>
                </a:solidFill>
                <a:latin typeface="Calibri"/>
              </a:rPr>
              <a:t>shuffle the disease-stage labels and re-run: the collapse trend must VANISH. A 'signal' that survives shuffling is an artefact, not biology.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H1 — Does zonation collapse across stages?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pic>
        <p:nvPicPr>
          <p:cNvPr id="8" name="Image 0" descr="/sessions/hopeful-blissful-volta/mnt/Genomics/Hackathon/presentation/assets/fig4.png"/>
          <p:cNvPicPr>
            <a:picLocks noChangeAspect="1"/>
          </p:cNvPicPr>
          <p:nvPr/>
        </p:nvPicPr>
        <p:blipFill>
          <a:blip r:embed="rId3"/>
          <a:srcRect/>
          <a:stretch/>
        </p:blipFill>
        <p:spPr>
          <a:xfrm>
            <a:off x="640080" y="1463040"/>
            <a:ext cx="6583680" cy="4114800"/>
          </a:xfrm>
          <a:prstGeom prst="rect">
            <a:avLst/>
          </a:prstGeom>
        </p:spPr>
      </p:pic>
      <p:sp>
        <p:nvSpPr>
          <p:cNvPr id="9" name="Shape 6"/>
          <p:cNvSpPr/>
          <p:nvPr/>
        </p:nvSpPr>
        <p:spPr>
          <a:xfrm>
            <a:off x="640080" y="5669280"/>
            <a:ext cx="3200400" cy="384048"/>
          </a:xfrm>
          <a:prstGeom prst="roundRect">
            <a:avLst>
              <a:gd name="adj" fmla="val 47619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7"/>
          <p:cNvSpPr/>
          <p:nvPr/>
        </p:nvSpPr>
        <p:spPr>
          <a:xfrm>
            <a:off x="640080" y="5669280"/>
            <a:ext cx="32004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SHAPE — swap for real A6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7498080" y="1463040"/>
            <a:ext cx="4160520" cy="1828800"/>
          </a:xfrm>
          <a:prstGeom prst="roundRect">
            <a:avLst>
              <a:gd name="adj" fmla="val 3500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9"/>
          <p:cNvSpPr/>
          <p:nvPr/>
        </p:nvSpPr>
        <p:spPr>
          <a:xfrm>
            <a:off x="7498080" y="1463040"/>
            <a:ext cx="4160520" cy="475488"/>
          </a:xfrm>
          <a:prstGeom prst="roundRect">
            <a:avLst>
              <a:gd name="adj" fmla="val 13462"/>
            </a:avLst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0"/>
          <p:cNvSpPr/>
          <p:nvPr/>
        </p:nvSpPr>
        <p:spPr>
          <a:xfrm>
            <a:off x="7498080" y="1700784"/>
            <a:ext cx="4160520" cy="237744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1"/>
          <p:cNvSpPr/>
          <p:nvPr/>
        </p:nvSpPr>
        <p:spPr>
          <a:xfrm>
            <a:off x="7699248" y="146304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5" name="Text 12"/>
          <p:cNvSpPr/>
          <p:nvPr/>
        </p:nvSpPr>
        <p:spPr>
          <a:xfrm>
            <a:off x="7699248" y="2066544"/>
            <a:ext cx="3776472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Coordinate spread NARROWS and pericentral–periportal anti-correlation weakens toward 0 across stages.</a:t>
            </a:r>
            <a:endParaRPr lang="en-US" sz="1250" dirty="0"/>
          </a:p>
        </p:txBody>
      </p:sp>
      <p:sp>
        <p:nvSpPr>
          <p:cNvPr id="16" name="Shape 13"/>
          <p:cNvSpPr/>
          <p:nvPr/>
        </p:nvSpPr>
        <p:spPr>
          <a:xfrm>
            <a:off x="7498080" y="3474720"/>
            <a:ext cx="4160520" cy="2148840"/>
          </a:xfrm>
          <a:prstGeom prst="roundRect">
            <a:avLst>
              <a:gd name="adj" fmla="val 2979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4"/>
          <p:cNvSpPr/>
          <p:nvPr/>
        </p:nvSpPr>
        <p:spPr>
          <a:xfrm>
            <a:off x="7498080" y="3474720"/>
            <a:ext cx="4160520" cy="475488"/>
          </a:xfrm>
          <a:prstGeom prst="roundRect">
            <a:avLst>
              <a:gd name="adj" fmla="val 13462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5"/>
          <p:cNvSpPr/>
          <p:nvPr/>
        </p:nvSpPr>
        <p:spPr>
          <a:xfrm>
            <a:off x="7498080" y="3712464"/>
            <a:ext cx="4160520" cy="23774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6"/>
          <p:cNvSpPr/>
          <p:nvPr/>
        </p:nvSpPr>
        <p:spPr>
          <a:xfrm>
            <a:off x="7699248" y="34747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20" name="Text 17"/>
          <p:cNvSpPr/>
          <p:nvPr/>
        </p:nvSpPr>
        <p:spPr>
          <a:xfrm>
            <a:off x="7699248" y="4078224"/>
            <a:ext cx="3776472" cy="1399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ρ, donor-bootstrap 95% CI, permutation p]
</a:t>
            </a: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plot_a6_collapse · pipeline.py:collapse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H2 — Which programs collapse, and where?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6583680" cy="4206240"/>
          </a:xfrm>
          <a:prstGeom prst="roundRect">
            <a:avLst>
              <a:gd name="adj" fmla="val 1739"/>
            </a:avLst>
          </a:prstGeom>
          <a:ln w="22225">
            <a:solidFill>
              <a:srgbClr val="C0562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658368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Volcano per zone (portal / central): effect vs −log10 q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plot_a7_volcano · signature genes flagged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1463040"/>
            <a:ext cx="4160520" cy="1828800"/>
          </a:xfrm>
          <a:prstGeom prst="roundRect">
            <a:avLst>
              <a:gd name="adj" fmla="val 3500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1463040"/>
            <a:ext cx="4160520" cy="475488"/>
          </a:xfrm>
          <a:prstGeom prst="roundRect">
            <a:avLst>
              <a:gd name="adj" fmla="val 13462"/>
            </a:avLst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700784"/>
            <a:ext cx="4160520" cy="237744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9248" y="146304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99248" y="2066544"/>
            <a:ext cx="3776472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coherent set of genes at q&lt;0.05 — surviving EXCLUSION of the signature genes — concentrated in one zone first.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3474720"/>
            <a:ext cx="4160520" cy="2148840"/>
          </a:xfrm>
          <a:prstGeom prst="roundRect">
            <a:avLst>
              <a:gd name="adj" fmla="val 2979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0" y="3474720"/>
            <a:ext cx="4160520" cy="475488"/>
          </a:xfrm>
          <a:prstGeom prst="roundRect">
            <a:avLst>
              <a:gd name="adj" fmla="val 13462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0" y="3712464"/>
            <a:ext cx="4160520" cy="23774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99248" y="34747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699248" y="4078224"/>
            <a:ext cx="3776472" cy="1399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# genes q&lt;0.05 per zone; name the 3–5 earliest-collapsing programs]
</a:t>
            </a: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pipeline.py:de</a:t>
            </a:r>
            <a:endParaRPr lang="en-US" sz="125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RESULT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H3 — Are de-zonated cells the plastic ones?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463040"/>
            <a:ext cx="6583680" cy="4206240"/>
          </a:xfrm>
          <a:prstGeom prst="roundRect">
            <a:avLst>
              <a:gd name="adj" fmla="val 1739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463040"/>
            <a:ext cx="6583680" cy="4206240"/>
          </a:xfrm>
          <a:prstGeom prst="roundRect">
            <a:avLst>
              <a:gd name="adj" fmla="val 1739"/>
            </a:avLst>
          </a:prstGeom>
          <a:ln w="22225">
            <a:solidFill>
              <a:srgbClr val="C0562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463040"/>
            <a:ext cx="6583680" cy="420624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Stage-stratified scatter: de-zonation vs plasticity score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plot_a8_plasticity · WITHIN donor/stage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7498080" y="1463040"/>
            <a:ext cx="4160520" cy="1828800"/>
          </a:xfrm>
          <a:prstGeom prst="roundRect">
            <a:avLst>
              <a:gd name="adj" fmla="val 3500"/>
            </a:avLst>
          </a:prstGeom>
          <a:solidFill>
            <a:srgbClr val="E7F2F3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7498080" y="1463040"/>
            <a:ext cx="4160520" cy="475488"/>
          </a:xfrm>
          <a:prstGeom prst="roundRect">
            <a:avLst>
              <a:gd name="adj" fmla="val 13462"/>
            </a:avLst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7498080" y="1700784"/>
            <a:ext cx="4160520" cy="237744"/>
          </a:xfrm>
          <a:prstGeom prst="rect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7699248" y="146304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What to look for</a:t>
            </a:r>
            <a:endParaRPr lang="en-US" sz="1450" dirty="0"/>
          </a:p>
        </p:txBody>
      </p:sp>
      <p:sp>
        <p:nvSpPr>
          <p:cNvPr id="15" name="Text 13"/>
          <p:cNvSpPr/>
          <p:nvPr/>
        </p:nvSpPr>
        <p:spPr>
          <a:xfrm>
            <a:off x="7699248" y="2066544"/>
            <a:ext cx="3776472" cy="107899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positive within-donor link — not a pooled one (late disease trivially has more of both).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7498080" y="3474720"/>
            <a:ext cx="4160520" cy="2148840"/>
          </a:xfrm>
          <a:prstGeom prst="roundRect">
            <a:avLst>
              <a:gd name="adj" fmla="val 2979"/>
            </a:avLst>
          </a:prstGeom>
          <a:solidFill>
            <a:srgbClr val="FBE7D8"/>
          </a:solidFill>
          <a:ln w="12700">
            <a:solidFill>
              <a:srgbClr val="D7DDE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7498080" y="3474720"/>
            <a:ext cx="4160520" cy="475488"/>
          </a:xfrm>
          <a:prstGeom prst="roundRect">
            <a:avLst>
              <a:gd name="adj" fmla="val 13462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7498080" y="3712464"/>
            <a:ext cx="4160520" cy="237744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7699248" y="3474720"/>
            <a:ext cx="37947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 found: ___</a:t>
            </a:r>
            <a:endParaRPr lang="en-US" sz="1450" dirty="0"/>
          </a:p>
        </p:txBody>
      </p:sp>
      <p:sp>
        <p:nvSpPr>
          <p:cNvPr id="20" name="Text 18"/>
          <p:cNvSpPr/>
          <p:nvPr/>
        </p:nvSpPr>
        <p:spPr>
          <a:xfrm>
            <a:off x="7699248" y="4078224"/>
            <a:ext cx="3776472" cy="139903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6000"/>
              </a:lnSpc>
              <a:buNone/>
            </a:pPr>
            <a:r>
              <a:rPr lang="en-US" sz="125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[fill: mean per-donor ρ; OLS dez coefficient controlling stage+donor]
</a:t>
            </a:r>
            <a:r>
              <a:rPr lang="en-US" sz="105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pipeline.py:plasticity</a:t>
            </a:r>
            <a:endParaRPr lang="en-US" sz="12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0000"/>
              </a:lnSpc>
            </a:pPr>
            <a:r>
              <a:rPr sz="1100" b="1" i="0">
                <a:solidFill>
                  <a:srgbClr val="CFE6E9"/>
                </a:solidFill>
                <a:latin typeface="Calibri"/>
              </a:rPr>
              <a:t>  HONEST SCOPE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02920" y="493776"/>
            <a:ext cx="10515600" cy="566928"/>
          </a:xfrm>
          <a:prstGeom prst="rect">
            <a:avLst/>
          </a:prstGeom>
          <a:noFill/>
        </p:spPr>
        <p:txBody>
          <a:bodyPr wrap="square" lIns="0" tIns="0" rIns="0" bIns="0" anchor="ctr">
            <a:spAutoFit/>
          </a:bodyPr>
          <a:lstStyle/>
          <a:p>
            <a:pPr algn="l">
              <a:lnSpc>
                <a:spcPct val="100000"/>
              </a:lnSpc>
            </a:pPr>
            <a:r>
              <a:rPr sz="2500" b="1" i="0">
                <a:solidFill>
                  <a:srgbClr val="FFFFFF"/>
                </a:solidFill>
                <a:latin typeface="Georgia"/>
              </a:rPr>
              <a:t>Limitations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1463040"/>
            <a:ext cx="10972800" cy="77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 dirty="0">
                <a:solidFill>
                  <a:srgbClr val="16545C"/>
                </a:solidFill>
                <a:latin typeface="Calibri"/>
              </a:rPr>
              <a:t>Ruler-validity.  </a:t>
            </a:r>
            <a:r>
              <a:rPr sz="1600" b="0" i="0" dirty="0">
                <a:solidFill>
                  <a:srgbClr val="1F2733"/>
                </a:solidFill>
                <a:latin typeface="Calibri"/>
              </a:rPr>
              <a:t>Disease may corrupt the very marker genes the coordinate relies on</a:t>
            </a:r>
            <a:r>
              <a:rPr lang="en-US" sz="1600" b="0" i="0" dirty="0">
                <a:solidFill>
                  <a:srgbClr val="1F2733"/>
                </a:solidFill>
                <a:latin typeface="Calibri"/>
              </a:rPr>
              <a:t>,</a:t>
            </a:r>
            <a:r>
              <a:rPr sz="1600" b="0" i="0" dirty="0">
                <a:solidFill>
                  <a:srgbClr val="1F2733"/>
                </a:solidFill>
                <a:latin typeface="Calibri"/>
              </a:rPr>
              <a:t> so a 'collapse' could be the ruler falling apart rather than true de-zonation. </a:t>
            </a:r>
            <a:r>
              <a:rPr lang="en-US" sz="1600" b="0" i="0" dirty="0">
                <a:solidFill>
                  <a:srgbClr val="1F2733"/>
                </a:solidFill>
                <a:latin typeface="Calibri"/>
              </a:rPr>
              <a:t>Step 5b diagnostics (internal coherence, PC–PP anti-correlation, split-half reproducibility) tell these apart before we make any claim.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697480"/>
            <a:ext cx="10972800" cy="510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 dirty="0">
                <a:solidFill>
                  <a:srgbClr val="16545C"/>
                </a:solidFill>
                <a:latin typeface="Calibri"/>
              </a:rPr>
              <a:t>Few patients at the extremes.  </a:t>
            </a:r>
            <a:r>
              <a:rPr sz="1600" b="0" i="0" dirty="0">
                <a:solidFill>
                  <a:srgbClr val="1F2733"/>
                </a:solidFill>
                <a:latin typeface="Calibri"/>
              </a:rPr>
              <a:t>The cohort thins at the ends — cirrhosis (n = 4) and end-stage (n = 5) — so the donor-level trend rests on a handful of people there; the tails of the curve carry the widest confidence intervals.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40080" y="3931920"/>
            <a:ext cx="10972800" cy="77181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 dirty="0">
                <a:solidFill>
                  <a:srgbClr val="16545C"/>
                </a:solidFill>
                <a:latin typeface="Calibri"/>
              </a:rPr>
              <a:t>Cross-dataset transfer.  </a:t>
            </a:r>
            <a:r>
              <a:rPr sz="1600" b="0" i="0" dirty="0">
                <a:solidFill>
                  <a:srgbClr val="1F2733"/>
                </a:solidFill>
                <a:latin typeface="Calibri"/>
              </a:rPr>
              <a:t>The ruler is learned on a different healthy cohort and platform; residual batch effects could tilt the coordinate. We mitigate with rank/z features, a same-platform (snRNA) classifier, and the healthy positive control — but it remains a caveat.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40080" y="5166360"/>
            <a:ext cx="10972800" cy="5108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algn="l">
              <a:lnSpc>
                <a:spcPct val="106000"/>
              </a:lnSpc>
            </a:pPr>
            <a:r>
              <a:rPr sz="1600" b="1" i="0" dirty="0">
                <a:solidFill>
                  <a:srgbClr val="5A6472"/>
                </a:solidFill>
                <a:latin typeface="Calibri"/>
              </a:rPr>
              <a:t>Minor caveat — spatial scrambling.  </a:t>
            </a:r>
            <a:r>
              <a:rPr sz="1600" b="0" i="0" dirty="0">
                <a:solidFill>
                  <a:srgbClr val="1F2733"/>
                </a:solidFill>
                <a:latin typeface="Calibri"/>
              </a:rPr>
              <a:t>If cells kept their expression identity but were physically rearranged, dissociated data couldn't see it. We judge this biologically very unlikely in MASLD, and note it only for completeness.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72784"/>
            <a:ext cx="12191695" cy="128016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640080" y="502920"/>
            <a:ext cx="7315200" cy="8229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Conclusions</a:t>
            </a:r>
            <a:endParaRPr lang="en-US" sz="3000" dirty="0"/>
          </a:p>
        </p:txBody>
      </p:sp>
      <p:sp>
        <p:nvSpPr>
          <p:cNvPr id="6" name="Text 4"/>
          <p:cNvSpPr/>
          <p:nvPr/>
        </p:nvSpPr>
        <p:spPr>
          <a:xfrm>
            <a:off x="822960" y="1783080"/>
            <a:ext cx="10515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H1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[did zonation collapse, and how monotonically? ___]</a:t>
            </a:r>
            <a:endParaRPr lang="en-US" sz="1700" dirty="0"/>
          </a:p>
        </p:txBody>
      </p:sp>
      <p:sp>
        <p:nvSpPr>
          <p:cNvPr id="7" name="Text 5"/>
          <p:cNvSpPr/>
          <p:nvPr/>
        </p:nvSpPr>
        <p:spPr>
          <a:xfrm>
            <a:off x="822960" y="2743200"/>
            <a:ext cx="10515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H2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[which programs eroded first, and in which zone? ___]</a:t>
            </a:r>
            <a:endParaRPr lang="en-US" sz="1700" dirty="0"/>
          </a:p>
        </p:txBody>
      </p:sp>
      <p:sp>
        <p:nvSpPr>
          <p:cNvPr id="8" name="Text 6"/>
          <p:cNvSpPr/>
          <p:nvPr/>
        </p:nvSpPr>
        <p:spPr>
          <a:xfrm>
            <a:off x="822960" y="3703320"/>
            <a:ext cx="10515600" cy="8686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7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H3 —  </a:t>
            </a:r>
            <a:r>
              <a:rPr lang="en-US" sz="17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[did de-zonation track plasticity, within donors? ___]</a:t>
            </a:r>
            <a:endParaRPr lang="en-US" sz="1700" dirty="0"/>
          </a:p>
        </p:txBody>
      </p:sp>
      <p:sp>
        <p:nvSpPr>
          <p:cNvPr id="9" name="Shape 7"/>
          <p:cNvSpPr/>
          <p:nvPr/>
        </p:nvSpPr>
        <p:spPr>
          <a:xfrm>
            <a:off x="822960" y="4754880"/>
            <a:ext cx="10515600" cy="18288"/>
          </a:xfrm>
          <a:prstGeom prst="rect">
            <a:avLst/>
          </a:prstGeom>
          <a:solidFill>
            <a:srgbClr val="1B6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822960" y="4983480"/>
            <a:ext cx="105156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5000"/>
              </a:lnSpc>
              <a:buNone/>
            </a:pPr>
            <a:r>
              <a:rPr lang="en-US" sz="15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One-line takeaway: a reference-decoder turns the many spatially-blind disease atlases into a quantitative readout of how liver identity disintegrates. [refine with results]</a:t>
            </a:r>
            <a:endParaRPr lang="en-US" sz="15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0E3A4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6272784"/>
            <a:ext cx="12191695" cy="128016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822960" y="2468880"/>
            <a:ext cx="10515600" cy="109728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4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Thank you — questions?</a:t>
            </a:r>
            <a:endParaRPr lang="en-US" sz="4000" dirty="0"/>
          </a:p>
        </p:txBody>
      </p:sp>
      <p:sp>
        <p:nvSpPr>
          <p:cNvPr id="4" name="Text 2"/>
          <p:cNvSpPr/>
          <p:nvPr/>
        </p:nvSpPr>
        <p:spPr>
          <a:xfrm>
            <a:off x="822960" y="3657600"/>
            <a:ext cx="10515600" cy="45720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5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Roee · Shira   |   Computational Genomics 76553         (backup slides follow)</a:t>
            </a:r>
            <a:endParaRPr lang="en-US" sz="15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Is the ruler still a ruler? (validity battery)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972800" cy="4480560"/>
          </a:xfrm>
          <a:prstGeom prst="roundRect">
            <a:avLst>
              <a:gd name="adj" fmla="val 1633"/>
            </a:avLst>
          </a:prstGeom>
          <a:ln w="22225">
            <a:solidFill>
              <a:srgbClr val="C0562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Per-stage: internal coherence · cross-program anti-corr · split-half · program-off vs restriction-lost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plot_a5b_ruler (Step 5b)</a:t>
            </a:r>
            <a:endParaRPr lang="en-US" sz="15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Classifier — held-out confusion matrix (Paper 2)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 FILL AFTER HACKATHON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972800" cy="4480560"/>
          </a:xfrm>
          <a:prstGeom prst="roundRect">
            <a:avLst>
              <a:gd name="adj" fmla="val 1633"/>
            </a:avLst>
          </a:prstGeom>
          <a:ln w="22225">
            <a:solidFill>
              <a:srgbClr val="C0562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Confusion matrix + held-out accuracy on Paper 2 before applying to Paper 1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 4b · calibrated multinomial logistic regression</a:t>
            </a:r>
            <a:endParaRPr lang="en-US" sz="15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Statistical rigor — the checklist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640080" y="1627632"/>
            <a:ext cx="274320" cy="274320"/>
          </a:xfrm>
          <a:prstGeom prst="ellipse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1078992" y="1600200"/>
            <a:ext cx="10424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BH-FDR q&lt;0.05, never raw p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640080" y="2377440"/>
            <a:ext cx="274320" cy="274320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1078992" y="2350008"/>
            <a:ext cx="10424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Ordered trend test, not pairwise only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640080" y="3127248"/>
            <a:ext cx="274320" cy="274320"/>
          </a:xfrm>
          <a:prstGeom prst="ellipse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1078992" y="3099816"/>
            <a:ext cx="10424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Donor-level resampling (never 69k cells as independent)</a:t>
            </a:r>
            <a:endParaRPr lang="en-US" sz="2000" dirty="0"/>
          </a:p>
        </p:txBody>
      </p:sp>
      <p:sp>
        <p:nvSpPr>
          <p:cNvPr id="12" name="Shape 10"/>
          <p:cNvSpPr/>
          <p:nvPr/>
        </p:nvSpPr>
        <p:spPr>
          <a:xfrm>
            <a:off x="640080" y="3877056"/>
            <a:ext cx="274320" cy="274320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078992" y="3849624"/>
            <a:ext cx="10424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Pseudobulk donor×zone DE; H2 via coordinate×stage interaction on held-out genes (repeated random splits)</a:t>
            </a:r>
            <a:endParaRPr lang="en-US" dirty="0"/>
          </a:p>
        </p:txBody>
      </p:sp>
      <p:sp>
        <p:nvSpPr>
          <p:cNvPr id="14" name="Shape 12"/>
          <p:cNvSpPr/>
          <p:nvPr/>
        </p:nvSpPr>
        <p:spPr>
          <a:xfrm>
            <a:off x="640080" y="4626864"/>
            <a:ext cx="274320" cy="274320"/>
          </a:xfrm>
          <a:prstGeom prst="ellipse">
            <a:avLst/>
          </a:prstGeom>
          <a:solidFill>
            <a:srgbClr val="16545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1078992" y="4599432"/>
            <a:ext cx="10424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Positive + negative controls</a:t>
            </a:r>
            <a:endParaRPr lang="en-US" sz="2000" dirty="0"/>
          </a:p>
        </p:txBody>
      </p:sp>
      <p:sp>
        <p:nvSpPr>
          <p:cNvPr id="16" name="Shape 14"/>
          <p:cNvSpPr/>
          <p:nvPr/>
        </p:nvSpPr>
        <p:spPr>
          <a:xfrm>
            <a:off x="640080" y="5376672"/>
            <a:ext cx="274320" cy="274320"/>
          </a:xfrm>
          <a:prstGeom prst="ellipse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/>
          <p:nvPr/>
        </p:nvSpPr>
        <p:spPr>
          <a:xfrm>
            <a:off x="1078992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0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Effect sizes beside p/q</a:t>
            </a:r>
            <a:endParaRPr lang="en-US" sz="20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1078992"/>
          </a:xfrm>
          <a:prstGeom prst="rect">
            <a:avLst/>
          </a:prstGeom>
          <a:solidFill>
            <a:srgbClr val="0E3A40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0" y="1078992"/>
            <a:ext cx="12191695" cy="64008"/>
          </a:xfrm>
          <a:prstGeom prst="rect">
            <a:avLst/>
          </a:prstGeom>
          <a:solidFill>
            <a:srgbClr val="C05621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502920" y="237744"/>
            <a:ext cx="8229600" cy="27432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1100" b="1" kern="0" spc="300" dirty="0">
                <a:solidFill>
                  <a:srgbClr val="CFE6E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100" dirty="0"/>
          </a:p>
        </p:txBody>
      </p:sp>
      <p:sp>
        <p:nvSpPr>
          <p:cNvPr id="5" name="Text 3"/>
          <p:cNvSpPr/>
          <p:nvPr/>
        </p:nvSpPr>
        <p:spPr>
          <a:xfrm>
            <a:off x="502920" y="493776"/>
            <a:ext cx="10058400" cy="566928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l">
              <a:lnSpc>
                <a:spcPct val="100000"/>
              </a:lnSpc>
              <a:buNone/>
            </a:pPr>
            <a:r>
              <a:rPr lang="en-US" sz="25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Bonus — collapse vs inherited risk (Paper 3)</a:t>
            </a:r>
            <a:endParaRPr lang="en-US" sz="2500" dirty="0"/>
          </a:p>
        </p:txBody>
      </p:sp>
      <p:sp>
        <p:nvSpPr>
          <p:cNvPr id="6" name="Shape 4"/>
          <p:cNvSpPr/>
          <p:nvPr/>
        </p:nvSpPr>
        <p:spPr>
          <a:xfrm>
            <a:off x="8869680" y="329184"/>
            <a:ext cx="2788920" cy="420624"/>
          </a:xfrm>
          <a:prstGeom prst="roundRect">
            <a:avLst>
              <a:gd name="adj" fmla="val 50000"/>
            </a:avLst>
          </a:prstGeom>
          <a:solidFill>
            <a:srgbClr val="1B6E78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8869680" y="329184"/>
            <a:ext cx="278892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OPTIONAL — IF IT RAN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640080" y="1554480"/>
            <a:ext cx="10972800" cy="4480560"/>
          </a:xfrm>
          <a:prstGeom prst="roundRect">
            <a:avLst>
              <a:gd name="adj" fmla="val 1633"/>
            </a:avLst>
          </a:prstGeom>
          <a:solidFill>
            <a:srgbClr val="EDF1F3"/>
          </a:solidFill>
          <a:ln w="22225">
            <a:solidFill>
              <a:srgbClr val="C05621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640080" y="1554480"/>
            <a:ext cx="10972800" cy="4480560"/>
          </a:xfrm>
          <a:prstGeom prst="roundRect">
            <a:avLst>
              <a:gd name="adj" fmla="val 1633"/>
            </a:avLst>
          </a:prstGeom>
          <a:ln w="22225">
            <a:solidFill>
              <a:srgbClr val="C05621"/>
            </a:solidFill>
            <a:prstDash val="dash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640080" y="1554480"/>
            <a:ext cx="10972800" cy="448056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ctr"/>
          <a:lstStyle/>
          <a:p>
            <a:pPr marL="0" indent="0" algn="ctr">
              <a:lnSpc>
                <a:spcPct val="100000"/>
              </a:lnSpc>
              <a:buNone/>
            </a:pPr>
            <a:r>
              <a:rPr lang="en-US" sz="1500" b="1" dirty="0">
                <a:solidFill>
                  <a:srgbClr val="C056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FIGURE GOES HERE
</a:t>
            </a:r>
            <a:r>
              <a:rPr lang="en-US" sz="1300" dirty="0">
                <a:solidFill>
                  <a:srgbClr val="1F27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Hypergeometric overlap: Step-7 collapse drivers vs Paper-3 risk-variant targets, expression-matched background
</a:t>
            </a:r>
            <a:r>
              <a:rPr lang="en-US" sz="1100" i="1" dirty="0">
                <a:solidFill>
                  <a:srgbClr val="5A64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step9_bonus_enrichment.py · report fold + BH q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38</TotalTime>
  <Words>1504</Words>
  <Application>Microsoft Office PowerPoint</Application>
  <PresentationFormat>Widescreen</PresentationFormat>
  <Paragraphs>163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Arial</vt:lpstr>
      <vt:lpstr>Calibri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Roee Tekoah</cp:lastModifiedBy>
  <cp:revision>23</cp:revision>
  <dcterms:created xsi:type="dcterms:W3CDTF">2026-06-20T21:53:13Z</dcterms:created>
  <dcterms:modified xsi:type="dcterms:W3CDTF">2026-06-21T10:29:00Z</dcterms:modified>
</cp:coreProperties>
</file>