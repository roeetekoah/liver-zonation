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8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850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72784"/>
            <a:ext cx="12191695" cy="128016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" y="5029200"/>
            <a:ext cx="384048" cy="146304"/>
          </a:xfrm>
          <a:prstGeom prst="rect">
            <a:avLst/>
          </a:prstGeom>
          <a:solidFill>
            <a:srgbClr val="F0C2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207008" y="5029200"/>
            <a:ext cx="384048" cy="146304"/>
          </a:xfrm>
          <a:prstGeom prst="rect">
            <a:avLst/>
          </a:prstGeom>
          <a:solidFill>
            <a:srgbClr val="E0BC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91056" y="5029200"/>
            <a:ext cx="384048" cy="146304"/>
          </a:xfrm>
          <a:prstGeom prst="rect">
            <a:avLst/>
          </a:prstGeom>
          <a:solidFill>
            <a:srgbClr val="CFB6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975104" y="5029200"/>
            <a:ext cx="384048" cy="146304"/>
          </a:xfrm>
          <a:prstGeom prst="rect">
            <a:avLst/>
          </a:prstGeom>
          <a:solidFill>
            <a:srgbClr val="BFB06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359152" y="5029200"/>
            <a:ext cx="384048" cy="146304"/>
          </a:xfrm>
          <a:prstGeom prst="rect">
            <a:avLst/>
          </a:prstGeom>
          <a:solidFill>
            <a:srgbClr val="AEAA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0" y="5029200"/>
            <a:ext cx="384048" cy="146304"/>
          </a:xfrm>
          <a:prstGeom prst="rect">
            <a:avLst/>
          </a:prstGeom>
          <a:solidFill>
            <a:srgbClr val="9EA4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127248" y="5029200"/>
            <a:ext cx="384048" cy="146304"/>
          </a:xfrm>
          <a:prstGeom prst="rect">
            <a:avLst/>
          </a:prstGeom>
          <a:solidFill>
            <a:srgbClr val="8D9D9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11296" y="5029200"/>
            <a:ext cx="384048" cy="146304"/>
          </a:xfrm>
          <a:prstGeom prst="rect">
            <a:avLst/>
          </a:prstGeom>
          <a:solidFill>
            <a:srgbClr val="7D979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895344" y="5029200"/>
            <a:ext cx="384048" cy="146304"/>
          </a:xfrm>
          <a:prstGeom prst="rect">
            <a:avLst/>
          </a:prstGeom>
          <a:solidFill>
            <a:srgbClr val="6C91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79392" y="5029200"/>
            <a:ext cx="384048" cy="146304"/>
          </a:xfrm>
          <a:prstGeom prst="rect">
            <a:avLst/>
          </a:prstGeom>
          <a:solidFill>
            <a:srgbClr val="5C8B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5029200"/>
            <a:ext cx="384048" cy="146304"/>
          </a:xfrm>
          <a:prstGeom prst="rect">
            <a:avLst/>
          </a:prstGeom>
          <a:solidFill>
            <a:srgbClr val="4B85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47488" y="5029200"/>
            <a:ext cx="384048" cy="146304"/>
          </a:xfrm>
          <a:prstGeom prst="rect">
            <a:avLst/>
          </a:prstGeom>
          <a:solidFill>
            <a:srgbClr val="3B7FD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5202936"/>
            <a:ext cx="12801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97680" y="5202936"/>
            <a:ext cx="12801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600200"/>
            <a:ext cx="1051560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Spatial Degradation of Hepatocyte Zonation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822960" y="3337560"/>
            <a:ext cx="100584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the collapse of liver cell identity across the fatty-liver disease course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Roee  ·  Shira      |      Computational Genomics 76553 — Final Hackathon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BIOLOGY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liver does — and the zonation gradient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375660" cy="16273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liver is a metabolic factory:</a:t>
            </a:r>
            <a:endParaRPr lang="en-US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742950" lvl="1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blood sugar</a:t>
            </a:r>
          </a:p>
          <a:p>
            <a:pPr marL="742950" lvl="1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detoxifies drugs,</a:t>
            </a:r>
          </a:p>
          <a:p>
            <a:pPr marL="742950" lvl="1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waste </a:t>
            </a: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urea</a:t>
            </a:r>
          </a:p>
          <a:p>
            <a:pPr>
              <a:lnSpc>
                <a:spcPct val="105000"/>
              </a:lnSpc>
            </a:pPr>
            <a:endParaRPr lang="en-US" sz="16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05000"/>
              </a:lnSpc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 
</a:t>
            </a:r>
            <a:endParaRPr lang="en-US" sz="1600" dirty="0"/>
          </a:p>
        </p:txBody>
      </p:sp>
      <p:pic>
        <p:nvPicPr>
          <p:cNvPr id="7" name="Image 0" descr="/sessions/hopeful-blissful-volta/mnt/Genomics/Hackathon/presentation/assets/fig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633633" y="1554480"/>
            <a:ext cx="5116407" cy="23909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7387B3-0AB7-0C61-5C6B-2B6E9195C0A6}"/>
              </a:ext>
            </a:extLst>
          </p:cNvPr>
          <p:cNvSpPr txBox="1"/>
          <p:nvPr/>
        </p:nvSpPr>
        <p:spPr>
          <a:xfrm>
            <a:off x="249766" y="3120937"/>
            <a:ext cx="73490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epithelial cells: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hepatocytes (the bulk factory)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cholangiocytes (bile-duct lining)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4C1E44-F212-A646-2E9A-F9000A61136D}"/>
              </a:ext>
            </a:extLst>
          </p:cNvPr>
          <p:cNvSpPr txBox="1"/>
          <p:nvPr/>
        </p:nvSpPr>
        <p:spPr>
          <a:xfrm>
            <a:off x="4072467" y="2099733"/>
            <a:ext cx="26881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bile acids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plasma proteins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EA53AA-79D7-3184-2012-24B73A104F8D}"/>
              </a:ext>
            </a:extLst>
          </p:cNvPr>
          <p:cNvSpPr txBox="1"/>
          <p:nvPr/>
        </p:nvSpPr>
        <p:spPr>
          <a:xfrm>
            <a:off x="723053" y="4242401"/>
            <a:ext cx="505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flows portal → central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F8C2C9-B992-9432-96F1-3D58386A4A3F}"/>
              </a:ext>
            </a:extLst>
          </p:cNvPr>
          <p:cNvSpPr txBox="1"/>
          <p:nvPr/>
        </p:nvSpPr>
        <p:spPr>
          <a:xfrm>
            <a:off x="1092200" y="6133391"/>
            <a:ext cx="9667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hinge: </a:t>
            </a: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is encoded in expression, so it can be decoded back out.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FA1532-E91F-9897-1362-0AE933A1BFFA}"/>
              </a:ext>
            </a:extLst>
          </p:cNvPr>
          <p:cNvSpPr txBox="1"/>
          <p:nvPr/>
        </p:nvSpPr>
        <p:spPr>
          <a:xfrm>
            <a:off x="1515533" y="4763345"/>
            <a:ext cx="8305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 a cell in the liver expresses depends on where it sits:
</a:t>
            </a:r>
            <a:r>
              <a:rPr lang="en-US" sz="2000" b="1" dirty="0">
                <a:solidFill>
                  <a:srgbClr val="16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Periportal: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 cycle, gluconeogenesis (ASS1, PCK1).
</a:t>
            </a:r>
            <a:r>
              <a:rPr lang="en-US" sz="20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Pericentral: 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metabolism, glutamine (CYP2E1, GLUL).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MEASURE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ways identity breaks: de-zonation vs plasticity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look like 'a cell expressing two opposite things at once' — the difference is WHICH boundary is crossed.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486400" cy="475488"/>
          </a:xfrm>
          <a:prstGeom prst="roundRect">
            <a:avLst>
              <a:gd name="adj" fmla="val 13462"/>
            </a:avLst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5486400" cy="237744"/>
          </a:xfrm>
          <a:prstGeom prst="rect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10312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De-zonation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9808" y="2706624"/>
            <a:ext cx="5102352" cy="1719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Loses its POSITION on the portal↔central axis (still a hepatocyte).
Co-expresses opposite zonal programs (CYP2E1 + ASS1).
Signature: the pericentral / periportal zonation genes.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53912" y="210312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53912" y="2103120"/>
            <a:ext cx="5486400" cy="475488"/>
          </a:xfrm>
          <a:prstGeom prst="roundRect">
            <a:avLst>
              <a:gd name="adj" fmla="val 13462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53912" y="2340864"/>
            <a:ext cx="5486400" cy="237744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55080" y="210312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Plasticity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55080" y="2706624"/>
            <a:ext cx="5102352" cy="1719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Loses its CELL-TYPE identity (hepatocyte → bile-duct).
Co-expresses hepatocyte + duct programs (ALB + KRT7).
Signature: KRT7, KRT19, SOX9 … (from Paper 1).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F4F8F9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956048"/>
            <a:ext cx="1060704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 </a:t>
            </a: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 who forgets which station they man (de-zonation) is still a factory worker; one who forgets they work in the factory at all (plasticity) is something else.  </a:t>
            </a:r>
            <a:r>
              <a:rPr lang="en-US" sz="135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asks whether these are the same cells — does losing your address predict losing your job?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datasets, one gap</a:t>
            </a:r>
            <a:endParaRPr lang="en-US" sz="2500" dirty="0"/>
          </a:p>
        </p:txBody>
      </p:sp>
      <p:pic>
        <p:nvPicPr>
          <p:cNvPr id="6" name="Image 0" descr="/sessions/hopeful-blissful-volta/mnt/Genomics/Hackathon/presentation/assets/fig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0" y="1210565"/>
            <a:ext cx="6583680" cy="27432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B27757E-1BFF-0BC3-6BE5-3133DF33885E}"/>
              </a:ext>
            </a:extLst>
          </p:cNvPr>
          <p:cNvGrpSpPr/>
          <p:nvPr/>
        </p:nvGrpSpPr>
        <p:grpSpPr>
          <a:xfrm>
            <a:off x="548640" y="3764110"/>
            <a:ext cx="11091672" cy="1783080"/>
            <a:chOff x="548640" y="4343400"/>
            <a:chExt cx="11091672" cy="1783080"/>
          </a:xfrm>
        </p:grpSpPr>
        <p:sp>
          <p:nvSpPr>
            <p:cNvPr id="7" name="Shape 4"/>
            <p:cNvSpPr/>
            <p:nvPr/>
          </p:nvSpPr>
          <p:spPr>
            <a:xfrm>
              <a:off x="548640" y="4343400"/>
              <a:ext cx="5486400" cy="1783080"/>
            </a:xfrm>
            <a:prstGeom prst="roundRect">
              <a:avLst>
                <a:gd name="adj" fmla="val 3590"/>
              </a:avLst>
            </a:prstGeom>
            <a:solidFill>
              <a:srgbClr val="E7F2F3"/>
            </a:solidFill>
            <a:ln w="12700">
              <a:solidFill>
                <a:srgbClr val="D7DDE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5"/>
            <p:cNvSpPr/>
            <p:nvPr/>
          </p:nvSpPr>
          <p:spPr>
            <a:xfrm>
              <a:off x="548640" y="4343400"/>
              <a:ext cx="5486400" cy="475488"/>
            </a:xfrm>
            <a:prstGeom prst="roundRect">
              <a:avLst>
                <a:gd name="adj" fmla="val 13462"/>
              </a:avLst>
            </a:prstGeom>
            <a:solidFill>
              <a:srgbClr val="16545C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548640" y="4581144"/>
              <a:ext cx="5486400" cy="237744"/>
            </a:xfrm>
            <a:prstGeom prst="rect">
              <a:avLst/>
            </a:prstGeom>
            <a:solidFill>
              <a:srgbClr val="16545C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7"/>
            <p:cNvSpPr/>
            <p:nvPr/>
          </p:nvSpPr>
          <p:spPr>
            <a:xfrm>
              <a:off x="749808" y="4343400"/>
              <a:ext cx="51206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Paper 2 — the ruler</a:t>
              </a:r>
              <a:endParaRPr lang="en-US" sz="145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749808" y="4946903"/>
              <a:ext cx="5102352" cy="109406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/>
            <a:lstStyle/>
            <a:p>
              <a:pPr marL="0" indent="0" algn="ctr">
                <a:lnSpc>
                  <a:spcPct val="106000"/>
                </a:lnSpc>
                <a:buNone/>
              </a:pPr>
              <a:r>
                <a:rPr lang="en-US" dirty="0">
                  <a:solidFill>
                    <a:srgbClr val="1F27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Healthy human liver with spatial coordinates KEPT</a:t>
              </a:r>
              <a:br>
                <a:rPr lang="en-US" dirty="0">
                  <a:solidFill>
                    <a:srgbClr val="1F27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br>
                <a:rPr lang="en-US" dirty="0">
                  <a:solidFill>
                    <a:srgbClr val="1F27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dirty="0">
                  <a:solidFill>
                    <a:srgbClr val="1F27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a quantitative porto-central zone index. </a:t>
              </a:r>
              <a:endParaRPr lang="en-US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6153912" y="4343400"/>
              <a:ext cx="5486400" cy="1783080"/>
            </a:xfrm>
            <a:prstGeom prst="roundRect">
              <a:avLst>
                <a:gd name="adj" fmla="val 3590"/>
              </a:avLst>
            </a:prstGeom>
            <a:solidFill>
              <a:srgbClr val="FBE7D8"/>
            </a:solidFill>
            <a:ln w="12700">
              <a:solidFill>
                <a:srgbClr val="D7DDE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0"/>
            <p:cNvSpPr/>
            <p:nvPr/>
          </p:nvSpPr>
          <p:spPr>
            <a:xfrm>
              <a:off x="6153912" y="4343400"/>
              <a:ext cx="5486400" cy="475488"/>
            </a:xfrm>
            <a:prstGeom prst="roundRect">
              <a:avLst>
                <a:gd name="adj" fmla="val 13462"/>
              </a:avLst>
            </a:prstGeom>
            <a:solidFill>
              <a:srgbClr val="C05621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6153912" y="4581144"/>
              <a:ext cx="5486400" cy="237744"/>
            </a:xfrm>
            <a:prstGeom prst="rect">
              <a:avLst/>
            </a:prstGeom>
            <a:solidFill>
              <a:srgbClr val="C05621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6355080" y="4343400"/>
              <a:ext cx="51206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Paper 1 — the cells</a:t>
              </a:r>
              <a:endParaRPr lang="en-US" sz="145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6355080" y="4946904"/>
              <a:ext cx="5102352" cy="103327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/>
            <a:lstStyle/>
            <a:p>
              <a:pPr marL="0" indent="0" algn="ctr">
                <a:lnSpc>
                  <a:spcPct val="106000"/>
                </a:lnSpc>
                <a:buNone/>
              </a:pPr>
              <a:r>
                <a:rPr lang="en-US" dirty="0">
                  <a:solidFill>
                    <a:srgbClr val="1F27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69k disease nuclei across all stages — </a:t>
              </a:r>
            </a:p>
            <a:p>
              <a:pPr marL="0" indent="0" algn="ctr">
                <a:lnSpc>
                  <a:spcPct val="106000"/>
                </a:lnSpc>
                <a:buNone/>
              </a:pPr>
              <a:endParaRPr lang="en-US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0" indent="0" algn="ctr">
                <a:lnSpc>
                  <a:spcPct val="106000"/>
                </a:lnSpc>
                <a:buNone/>
              </a:pPr>
              <a:r>
                <a:rPr lang="en-US" dirty="0">
                  <a:solidFill>
                    <a:srgbClr val="1F27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but snRNA-seq THREW AWAY position.</a:t>
              </a:r>
              <a:endParaRPr lang="en-US" dirty="0"/>
            </a:p>
          </p:txBody>
        </p:sp>
      </p:grpSp>
      <p:sp>
        <p:nvSpPr>
          <p:cNvPr id="17" name="Text 14"/>
          <p:cNvSpPr/>
          <p:nvPr/>
        </p:nvSpPr>
        <p:spPr>
          <a:xfrm>
            <a:off x="50292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move: use the healthy ruler to assign each diseased cell a pseudo-zonal coordinate. Neither paper did this.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 &amp; hypotheses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91672" cy="1078992"/>
          </a:xfrm>
          <a:prstGeom prst="roundRect">
            <a:avLst>
              <a:gd name="adj" fmla="val 5932"/>
            </a:avLst>
          </a:prstGeom>
          <a:solidFill>
            <a:srgbClr val="E6F2EC"/>
          </a:solidFill>
          <a:ln w="1651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426464"/>
            <a:ext cx="1065276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7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 </a:t>
            </a:r>
            <a:r>
              <a:rPr lang="en-US" sz="2000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healthy zonation ruler, can we measure how — and how much — hepatocyte zonation degrades as MASLD advances from healthy to end-stage, and is that degradation linked to plasticity?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3611880" cy="2240280"/>
          </a:xfrm>
          <a:prstGeom prst="roundRect">
            <a:avLst>
              <a:gd name="adj" fmla="val 2857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3611880" cy="475488"/>
          </a:xfrm>
          <a:prstGeom prst="roundRect">
            <a:avLst>
              <a:gd name="adj" fmla="val 13462"/>
            </a:avLst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889504"/>
            <a:ext cx="3611880" cy="237744"/>
          </a:xfrm>
          <a:prstGeom prst="rect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Erosion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9808" y="3255264"/>
            <a:ext cx="3227832" cy="149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de-zonation score rises monotonically Healthy → end-stage.
</a:t>
            </a:r>
            <a:r>
              <a:rPr lang="en-US" sz="1600" i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ordered trend on per-donor values.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88536" y="2651760"/>
            <a:ext cx="3611880" cy="2240280"/>
          </a:xfrm>
          <a:prstGeom prst="roundRect">
            <a:avLst>
              <a:gd name="adj" fmla="val 2857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88536" y="2651760"/>
            <a:ext cx="3611880" cy="475488"/>
          </a:xfrm>
          <a:prstGeom prst="roundRect">
            <a:avLst>
              <a:gd name="adj" fmla="val 13462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88536" y="2889504"/>
            <a:ext cx="3611880" cy="237744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89704" y="2651760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Which programs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89704" y="3255264"/>
            <a:ext cx="3227832" cy="149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programs (e.g. pericentral CYP detox) collapse earliest.
</a:t>
            </a:r>
            <a:r>
              <a:rPr lang="en-US" sz="1600" i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pseudobulk donor×zone DE + FDR.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28432" y="2651760"/>
            <a:ext cx="3611880" cy="2240280"/>
          </a:xfrm>
          <a:prstGeom prst="roundRect">
            <a:avLst>
              <a:gd name="adj" fmla="val 2857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28432" y="2651760"/>
            <a:ext cx="3611880" cy="475488"/>
          </a:xfrm>
          <a:prstGeom prst="roundRect">
            <a:avLst>
              <a:gd name="adj" fmla="val 13462"/>
            </a:avLst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28432" y="2889504"/>
            <a:ext cx="3611880" cy="237744"/>
          </a:xfrm>
          <a:prstGeom prst="rect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0" y="2651760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Plasticity link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9600" y="3255264"/>
            <a:ext cx="3227832" cy="1490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de-zonated cells are the ones gaining bile-duct identity.
</a:t>
            </a:r>
            <a:r>
              <a:rPr lang="en-US" sz="1600" i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within-donor correlation.</a:t>
            </a:r>
            <a:endParaRPr lang="en-US" sz="1600" dirty="0"/>
          </a:p>
        </p:txBody>
      </p:sp>
      <p:pic>
        <p:nvPicPr>
          <p:cNvPr id="23" name="Image 0" descr="/sessions/hopeful-blissful-volta/mnt/Genomics/Hackathon/presentation/assets/fig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5029200"/>
            <a:ext cx="3474720" cy="1417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48640" y="6473952"/>
            <a:ext cx="34747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the H1 collapse curve we're after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297680" y="5029200"/>
            <a:ext cx="7342632" cy="1371600"/>
          </a:xfrm>
          <a:prstGeom prst="roundRect">
            <a:avLst>
              <a:gd name="adj" fmla="val 5333"/>
            </a:avLst>
          </a:prstGeom>
          <a:solidFill>
            <a:srgbClr val="F4F8F9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26280" y="5074920"/>
            <a:ext cx="6949440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r>
              <a:rPr lang="en-US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dosing (pericentral CYP) · ammonia / encephalopathy (periportal urea) · finer-than-histology staging · cancer / de-differentiation link · a reusable decoder for spatially-blind atlases.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decode position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" y="1627632"/>
            <a:ext cx="475488" cy="475488"/>
          </a:xfrm>
          <a:prstGeom prst="ellipse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16736" y="1682496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49808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pericentral &amp; periportal gene sets — landmark &amp; full, compared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5848" y="14630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57016" y="1627632"/>
            <a:ext cx="475488" cy="475488"/>
          </a:xfrm>
          <a:prstGeom prst="ellipse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57016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23944" y="1682496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74720" y="2240280"/>
            <a:ext cx="23682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dirty="0" err="1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mean_z</a:t>
            </a: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(PC) − mean_z(PP)</a:t>
            </a:r>
          </a:p>
        </p:txBody>
      </p:sp>
      <p:sp>
        <p:nvSpPr>
          <p:cNvPr id="17" name="Text 15"/>
          <p:cNvSpPr/>
          <p:nvPr/>
        </p:nvSpPr>
        <p:spPr>
          <a:xfrm>
            <a:off x="5916168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63056" y="14630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64224" y="1627632"/>
            <a:ext cx="475488" cy="475488"/>
          </a:xfrm>
          <a:prstGeom prst="ellipse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64224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931152" y="1682496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64224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probabilities → entropy = confusion = de-zonation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23376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70264" y="14630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71432" y="1627632"/>
            <a:ext cx="475488" cy="475488"/>
          </a:xfrm>
          <a:prstGeom prst="ellipse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7143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738360" y="1682496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171432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metric per donor, tested across stages</a:t>
            </a:r>
            <a:endParaRPr lang="en-US" sz="1600" dirty="0"/>
          </a:p>
        </p:txBody>
      </p:sp>
      <p:pic>
        <p:nvPicPr>
          <p:cNvPr id="29" name="Image 0" descr="/sessions/hopeful-blissful-volta/mnt/Genomics/Hackathon/presentation/assets/fig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3383280"/>
            <a:ext cx="5394960" cy="3108960"/>
          </a:xfrm>
          <a:prstGeom prst="rect">
            <a:avLst/>
          </a:prstGeom>
        </p:spPr>
      </p:pic>
      <p:pic>
        <p:nvPicPr>
          <p:cNvPr id="30" name="Image 1" descr="/sessions/hopeful-blissful-volta/mnt/Genomics/Hackathon/presentation/assets/fig6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55080" y="3520440"/>
            <a:ext cx="534924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HOLDS 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 it honestly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FBE7D8"/>
          </a:solidFill>
          <a:ln w="1524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control.  </a:t>
            </a: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disease-stage labels and re-run: the collapse trend must VANISH. A 'signal' that survives shuffling was an artefact. (The positive control — recovering zonation in healthy liver — is the next slide.)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de-zonation is — and isn't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127248"/>
            <a:ext cx="640080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 </a:t>
            </a: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loss of the expression program: pericentral–periportal mutual exclusivity weakens and the coordinate spread narrows.</a:t>
            </a: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5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ISN'T  </a:t>
            </a: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physical spatial scrambling with intact expression: dissociated data couldn't see it, and it's very unlikely here.</a:t>
            </a:r>
            <a:endParaRPr lang="en-US" sz="1350" dirty="0"/>
          </a:p>
        </p:txBody>
      </p:sp>
      <p:pic>
        <p:nvPicPr>
          <p:cNvPr id="10" name="Image 0" descr="/sessions/hopeful-blissful-volta/mnt/Genomics/Hackathon/presentation/assets/fig7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788920"/>
            <a:ext cx="4526280" cy="23317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Donor-level inference (no pseudoreplication) and held-out-gene / circularity guards underpin every test — details in backup.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CONTROL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ruler works on healthy liver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 — REAL DATA</a:t>
            </a:r>
            <a:endParaRPr lang="en-US" sz="1100" dirty="0"/>
          </a:p>
        </p:txBody>
      </p:sp>
      <p:pic>
        <p:nvPicPr>
          <p:cNvPr id="8" name="Image 0" descr="/sessions/hopeful-blissful-volta/mnt/Genomics/Hackathon/presentation/assets/p2_valid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554480"/>
            <a:ext cx="10972800" cy="3429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Paper 2 healthy hepatocytes score recovers zonation:  </a:t>
            </a: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pericentral CYP2E1 rises with it and periportal ASS1 falls.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163056"/>
            <a:ext cx="10972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broad central hump is exactly what a continuum looks like — the proof of zonation is the marker slopes, not two peaks. We validated before trusting it on disease.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Does zonation collapse across stages?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AFTER HACKATHON</a:t>
            </a:r>
            <a:endParaRPr lang="en-US" sz="1100" dirty="0"/>
          </a:p>
        </p:txBody>
      </p:sp>
      <p:pic>
        <p:nvPicPr>
          <p:cNvPr id="8" name="Image 0" descr="/sessions/hopeful-blissful-volta/mnt/Genomics/Hackathon/presentation/assets/fig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463040"/>
            <a:ext cx="658368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5669280"/>
            <a:ext cx="3200400" cy="384048"/>
          </a:xfrm>
          <a:prstGeom prst="roundRect">
            <a:avLst>
              <a:gd name="adj" fmla="val 47619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56692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SHAPE — swap for real A6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498080" y="1463040"/>
            <a:ext cx="4160520" cy="1828800"/>
          </a:xfrm>
          <a:prstGeom prst="roundRect">
            <a:avLst>
              <a:gd name="adj" fmla="val 3500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498080" y="1463040"/>
            <a:ext cx="4160520" cy="475488"/>
          </a:xfrm>
          <a:prstGeom prst="roundRect">
            <a:avLst>
              <a:gd name="adj" fmla="val 13462"/>
            </a:avLst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7498080" y="1700784"/>
            <a:ext cx="4160520" cy="237744"/>
          </a:xfrm>
          <a:prstGeom prst="rect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699248" y="14630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99248" y="2066544"/>
            <a:ext cx="3776472" cy="1078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spread NARROWS and pericentral–periportal anti-correlation weakens toward 0 across stages.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98080" y="3474720"/>
            <a:ext cx="4160520" cy="2148840"/>
          </a:xfrm>
          <a:prstGeom prst="roundRect">
            <a:avLst>
              <a:gd name="adj" fmla="val 2979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498080" y="3474720"/>
            <a:ext cx="4160520" cy="475488"/>
          </a:xfrm>
          <a:prstGeom prst="roundRect">
            <a:avLst>
              <a:gd name="adj" fmla="val 13462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498080" y="3712464"/>
            <a:ext cx="4160520" cy="237744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699248" y="347472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found: ___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99248" y="4078224"/>
            <a:ext cx="3776472" cy="1399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ρ, donor-bootstrap 95% CI, permutation p]
</a:t>
            </a: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plot_a6_collapse · pipeline.py:collapse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Which programs collapse, and where?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AFTER HACKATHON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6583680" cy="4206240"/>
          </a:xfrm>
          <a:prstGeom prst="roundRect">
            <a:avLst>
              <a:gd name="adj" fmla="val 1739"/>
            </a:avLst>
          </a:prstGeom>
          <a:solidFill>
            <a:srgbClr val="EDF1F3"/>
          </a:solidFill>
          <a:ln w="22225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6583680" cy="4206240"/>
          </a:xfrm>
          <a:prstGeom prst="roundRect">
            <a:avLst>
              <a:gd name="adj" fmla="val 1739"/>
            </a:avLst>
          </a:prstGeom>
          <a:ln w="22225">
            <a:solidFill>
              <a:srgbClr val="C0562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658368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GOES HERE
</a:t>
            </a: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 per zone (portal / central): effect vs −log10 q
</a:t>
            </a: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plot_a7_volcano · signature genes flagged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98080" y="1463040"/>
            <a:ext cx="4160520" cy="1828800"/>
          </a:xfrm>
          <a:prstGeom prst="roundRect">
            <a:avLst>
              <a:gd name="adj" fmla="val 3500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498080" y="1463040"/>
            <a:ext cx="4160520" cy="475488"/>
          </a:xfrm>
          <a:prstGeom prst="roundRect">
            <a:avLst>
              <a:gd name="adj" fmla="val 13462"/>
            </a:avLst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98080" y="1700784"/>
            <a:ext cx="4160520" cy="237744"/>
          </a:xfrm>
          <a:prstGeom prst="rect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99248" y="14630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99248" y="2066544"/>
            <a:ext cx="3776472" cy="1078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coherent set of genes at q&lt;0.05 — surviving EXCLUSION of the signature genes — concentrated in one zone first.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0" y="3474720"/>
            <a:ext cx="4160520" cy="2148840"/>
          </a:xfrm>
          <a:prstGeom prst="roundRect">
            <a:avLst>
              <a:gd name="adj" fmla="val 2979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98080" y="3474720"/>
            <a:ext cx="4160520" cy="475488"/>
          </a:xfrm>
          <a:prstGeom prst="roundRect">
            <a:avLst>
              <a:gd name="adj" fmla="val 13462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98080" y="3712464"/>
            <a:ext cx="4160520" cy="237744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699248" y="347472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found: ___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99248" y="4078224"/>
            <a:ext cx="3776472" cy="1399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# genes q&lt;0.05 per zone; name the 3–5 earliest-collapsing programs]
</a:t>
            </a: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pipeline.py:de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Are de-zonated cells the plastic ones?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AFTER HACKATHON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6583680" cy="4206240"/>
          </a:xfrm>
          <a:prstGeom prst="roundRect">
            <a:avLst>
              <a:gd name="adj" fmla="val 1739"/>
            </a:avLst>
          </a:prstGeom>
          <a:solidFill>
            <a:srgbClr val="EDF1F3"/>
          </a:solidFill>
          <a:ln w="22225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6583680" cy="4206240"/>
          </a:xfrm>
          <a:prstGeom prst="roundRect">
            <a:avLst>
              <a:gd name="adj" fmla="val 1739"/>
            </a:avLst>
          </a:prstGeom>
          <a:ln w="22225">
            <a:solidFill>
              <a:srgbClr val="C0562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658368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GOES HERE
</a:t>
            </a: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Stage-stratified scatter: de-zonation vs plasticity score
</a:t>
            </a: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plot_a8_plasticity · WITHIN donor/stage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98080" y="1463040"/>
            <a:ext cx="4160520" cy="1828800"/>
          </a:xfrm>
          <a:prstGeom prst="roundRect">
            <a:avLst>
              <a:gd name="adj" fmla="val 3500"/>
            </a:avLst>
          </a:prstGeom>
          <a:solidFill>
            <a:srgbClr val="E7F2F3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498080" y="1463040"/>
            <a:ext cx="4160520" cy="475488"/>
          </a:xfrm>
          <a:prstGeom prst="roundRect">
            <a:avLst>
              <a:gd name="adj" fmla="val 13462"/>
            </a:avLst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98080" y="1700784"/>
            <a:ext cx="4160520" cy="237744"/>
          </a:xfrm>
          <a:prstGeom prst="rect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99248" y="14630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99248" y="2066544"/>
            <a:ext cx="3776472" cy="1078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within-donor link — not a pooled one (late disease trivially has more of both).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0" y="3474720"/>
            <a:ext cx="4160520" cy="2148840"/>
          </a:xfrm>
          <a:prstGeom prst="roundRect">
            <a:avLst>
              <a:gd name="adj" fmla="val 2979"/>
            </a:avLst>
          </a:prstGeom>
          <a:solidFill>
            <a:srgbClr val="FBE7D8"/>
          </a:solidFill>
          <a:ln w="12700">
            <a:solidFill>
              <a:srgbClr val="D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98080" y="3474720"/>
            <a:ext cx="4160520" cy="475488"/>
          </a:xfrm>
          <a:prstGeom prst="roundRect">
            <a:avLst>
              <a:gd name="adj" fmla="val 13462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98080" y="3712464"/>
            <a:ext cx="4160520" cy="237744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699248" y="347472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found: ___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99248" y="4078224"/>
            <a:ext cx="3776472" cy="1399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mean per-donor ρ; OLS dez coefficient controlling stage+donor]
</a:t>
            </a: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pipeline.py:plasticity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CAN'T CLAIM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honest scope</a:t>
            </a:r>
            <a:endParaRPr lang="en-US" sz="2500" dirty="0"/>
          </a:p>
        </p:txBody>
      </p:sp>
      <p:pic>
        <p:nvPicPr>
          <p:cNvPr id="6" name="Image 0" descr="/sessions/hopeful-blissful-volta/mnt/Genomics/Hackathon/presentation/assets/fig7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41068" y="1554481"/>
            <a:ext cx="5012266" cy="22174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38667" y="1634914"/>
            <a:ext cx="6654800" cy="2374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Associational</a:t>
            </a:r>
            <a:endParaRPr lang="en-US" sz="2000" dirty="0"/>
          </a:p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	— we measure collapse, not its cause</a:t>
            </a:r>
          </a:p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Pseudo-zonal, not (x,y)</a:t>
            </a:r>
            <a:endParaRPr lang="en-US" sz="2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 — a 1-D reconstructed coordinate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DA51D-162C-D6C3-0789-29FE43F6EC36}"/>
              </a:ext>
            </a:extLst>
          </p:cNvPr>
          <p:cNvSpPr txBox="1"/>
          <p:nvPr/>
        </p:nvSpPr>
        <p:spPr>
          <a:xfrm>
            <a:off x="338667" y="3486649"/>
            <a:ext cx="1133263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Ruler-validity matters</a:t>
            </a:r>
            <a:endParaRPr lang="en-US" sz="2000" dirty="0"/>
          </a:p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 — disease may corrupt the marker genes; Step 5b checks the ruler still holds.</a:t>
            </a:r>
          </a:p>
          <a:p>
            <a:pPr>
              <a:lnSpc>
                <a:spcPct val="110000"/>
              </a:lnSpc>
            </a:pPr>
            <a:endParaRPr lang="en-US" sz="2000" dirty="0">
              <a:solidFill>
                <a:srgbClr val="1F27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rgbClr val="0E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Blind to pure spatial scrambling</a:t>
            </a: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 — if cells keep identity but move, dissociated data sees nothing (very unlikely).</a:t>
            </a:r>
            <a:endParaRPr lang="en-US" sz="2000" dirty="0"/>
          </a:p>
          <a:p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72784"/>
            <a:ext cx="12191695" cy="128016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AFTER HACKATHON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515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 </a:t>
            </a:r>
            <a:r>
              <a:rPr lang="en-US" sz="17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[did zonation collapse, and how monotonically? ___]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15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 </a:t>
            </a:r>
            <a:r>
              <a:rPr lang="en-US" sz="17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[which programs eroded first, and in which zone? ___]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703320"/>
            <a:ext cx="10515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 </a:t>
            </a:r>
            <a:r>
              <a:rPr lang="en-US" sz="17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[did de-zonation track plasticity, within donors? ___]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754880"/>
            <a:ext cx="10515600" cy="18288"/>
          </a:xfrm>
          <a:prstGeom prst="rect">
            <a:avLst/>
          </a:prstGeom>
          <a:solidFill>
            <a:srgbClr val="1B6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4983480"/>
            <a:ext cx="1051560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takeaway: a reference-decoder turns the many spatially-blind disease atlases into a quantitative readout of how liver identity disintegrates. [refine with results]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72784"/>
            <a:ext cx="12191695" cy="128016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Roee · Shira   |   Computational Genomics 76553         (backup slides follow)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ruler still a ruler? (validity battery)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AFTER HACKATHON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10972800" cy="4480560"/>
          </a:xfrm>
          <a:prstGeom prst="roundRect">
            <a:avLst>
              <a:gd name="adj" fmla="val 1633"/>
            </a:avLst>
          </a:prstGeom>
          <a:solidFill>
            <a:srgbClr val="EDF1F3"/>
          </a:solidFill>
          <a:ln w="22225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554480"/>
            <a:ext cx="10972800" cy="4480560"/>
          </a:xfrm>
          <a:prstGeom prst="roundRect">
            <a:avLst>
              <a:gd name="adj" fmla="val 1633"/>
            </a:avLst>
          </a:prstGeom>
          <a:ln w="22225">
            <a:solidFill>
              <a:srgbClr val="C0562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10972800" cy="448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GOES HERE
</a:t>
            </a: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Per-stage: internal coherence · cross-program anti-corr · split-half · program-off vs restriction-lost
</a:t>
            </a: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plot_a5b_ruler (Step 5b)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Classifier — held-out confusion matrix (Paper 2)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AFTER HACKATHON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10972800" cy="4480560"/>
          </a:xfrm>
          <a:prstGeom prst="roundRect">
            <a:avLst>
              <a:gd name="adj" fmla="val 1633"/>
            </a:avLst>
          </a:prstGeom>
          <a:solidFill>
            <a:srgbClr val="EDF1F3"/>
          </a:solidFill>
          <a:ln w="22225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554480"/>
            <a:ext cx="10972800" cy="4480560"/>
          </a:xfrm>
          <a:prstGeom prst="roundRect">
            <a:avLst>
              <a:gd name="adj" fmla="val 1633"/>
            </a:avLst>
          </a:prstGeom>
          <a:ln w="22225">
            <a:solidFill>
              <a:srgbClr val="C0562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10972800" cy="448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GOES HERE
</a:t>
            </a: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+ held-out accuracy on Paper 2 before applying to Paper 1
</a:t>
            </a: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4b · calibrated multinomial logistic regression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rigor — the checklist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274320" cy="274320"/>
          </a:xfrm>
          <a:prstGeom prst="ellipse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78992" y="1600200"/>
            <a:ext cx="10424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BH-FDR q&lt;0.05, never raw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8992" y="2350008"/>
            <a:ext cx="10424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trend test, not pairwise only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274320" cy="274320"/>
          </a:xfrm>
          <a:prstGeom prst="ellipse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78992" y="3099816"/>
            <a:ext cx="10424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Donor-level resampling (never 69k cells as independent)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274320" cy="274320"/>
          </a:xfrm>
          <a:prstGeom prst="ellipse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78992" y="3849624"/>
            <a:ext cx="10424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Pseudobulk donor×zone DE; H2 via coordinate×stage interaction on held-out genes (repeated random splits)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40080" y="4626864"/>
            <a:ext cx="274320" cy="274320"/>
          </a:xfrm>
          <a:prstGeom prst="ellipse">
            <a:avLst/>
          </a:prstGeom>
          <a:solidFill>
            <a:srgbClr val="1654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8992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+ negative controls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5376672"/>
            <a:ext cx="274320" cy="274320"/>
          </a:xfrm>
          <a:prstGeom prst="ellipse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8992" y="5349240"/>
            <a:ext cx="10424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sizes beside p/q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E3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056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"/>
            <a:ext cx="8229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300" dirty="0">
                <a:solidFill>
                  <a:srgbClr val="CF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493776"/>
            <a:ext cx="10058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 — collapse vs inherited risk (Paper 3)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869680" y="329184"/>
            <a:ext cx="2788920" cy="420624"/>
          </a:xfrm>
          <a:prstGeom prst="roundRect">
            <a:avLst>
              <a:gd name="adj" fmla="val 50000"/>
            </a:avLst>
          </a:prstGeom>
          <a:solidFill>
            <a:srgbClr val="1B6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0" y="32918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IF IT RAN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10972800" cy="4480560"/>
          </a:xfrm>
          <a:prstGeom prst="roundRect">
            <a:avLst>
              <a:gd name="adj" fmla="val 1633"/>
            </a:avLst>
          </a:prstGeom>
          <a:solidFill>
            <a:srgbClr val="EDF1F3"/>
          </a:solidFill>
          <a:ln w="22225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554480"/>
            <a:ext cx="10972800" cy="4480560"/>
          </a:xfrm>
          <a:prstGeom prst="roundRect">
            <a:avLst>
              <a:gd name="adj" fmla="val 1633"/>
            </a:avLst>
          </a:prstGeom>
          <a:ln w="22225">
            <a:solidFill>
              <a:srgbClr val="C0562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10972800" cy="448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5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GOES HERE
</a:t>
            </a: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Hypergeometric overlap: Step-7 collapse drivers vs Paper-3 risk-variant targets, expression-matched background
</a:t>
            </a: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step9_bonus_enrichment.py · report fold + BH q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1394</Words>
  <Application>Microsoft Office PowerPoint</Application>
  <PresentationFormat>Widescreen</PresentationFormat>
  <Paragraphs>162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Roee Tekoah</cp:lastModifiedBy>
  <cp:revision>11</cp:revision>
  <dcterms:created xsi:type="dcterms:W3CDTF">2026-06-20T21:53:13Z</dcterms:created>
  <dcterms:modified xsi:type="dcterms:W3CDTF">2026-06-20T22:13:48Z</dcterms:modified>
</cp:coreProperties>
</file>