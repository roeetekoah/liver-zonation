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1" d="100"/>
          <a:sy n="161" d="100"/>
        </p:scale>
        <p:origin x="26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2180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 are Roee Tekoah and Shira Gelbstein; this is our hackathon re-analysis of the single-nucleus RNA-seq in Gribben et al., Nature 2024, asking whether the evidence for progressive hepatocyte de-zonation in MASLD survives once tissue acquisition is controlled. One-line answer: in matched biopsies we find no detectable progressive de-zonation — a large collapse is excluded, subtle drift is not. We are not claiming zonation is 'preserved' in any positive sense, and we do not touch the paper's imaging/protein evidence.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Minimal background: the liver lobule is zonated — pericentral hepatocytes (near the central vein) run one program (GLUL, CYP3A4, the CYP/detox genes), periportal hepatocytes (near the portal tract) run another (ASS1, CPS1, PCK1, urea cycle). Gribben et al.'s claim is that in MASLD hepatocytes lose this zonation and acquire cholangiocyte-like identity. That is what we test.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catch: the metric. We first read it with a relative ruler — a z-scored zonation coordinate + marker correlations pooled over all samples — which produced 'hepatocytes lose zonation; pericentral turns off, strongest at end-stage.' But a relative summary hides who moved, pools healthy+biopsy+end-stage across a hidden sampling break, and is bent by depth/cell-number/tissue-source; and even biopsy-only it stays depth-sensitive and conflates turn-off vs de-zonation vs noise. So we switched to raw molecule counts. The second catch is the tissue itself (next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tissue catch, both halves on one slide. (1) Stage is collinear with acquisition: healthy and end-stage are deceased-donor cubes/explants, F0-F4 are needle biopsies (2/8/12/12/4) — the ends are not acquisition-matched, so a 'progressive' trajectory can be manufactured by procurement/ischemia/dissociation/batch. (2) The ends also carry organ-wide stress: IEG+HSP spike ~18x in explants, but endothelium (no zonation program) spikes the same ~18x, and hypoxia (HIF) stays flat (1.7-2.6x) — acute handling, not a zonation program. Both reasons → exclude the deceased-donor/explant ends, use biopsy-only F1-F4. Verified from the paper's Methods + dataset metadata.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 moves on one slide. LEFT — the 2x2: every hepatocyte is sorted into exactly one of four classes by which program it runs (pericentral detected? x periportal detected?): PC-anchor (PC only), PP-anchor (PP only), Dual (both — co-expression), Null (neither — double-negative). RIGHT — 'losing zonation' is not one event but four distinct moves among these boxes, each with its own count signature: Depletion (an anchor box shrinks), Co-expression (the dual box fills), Turn-off (the null box fills), Composition shift (the PP:PC ratio tilts); chip colours match the box each move touches. They are dissociable — a pole can convert to the opposite pole (depletion, null untouched) and cells can go double-negative without any pole shrinking (turn-off, no depletion). A single relative summary (z-score, correlation, UMAP axis) is scale-free — it divides out the level and reads only the gradient's shape, collapsing all four into one number; absolute counts keep them separate. We track all four, not just the pericentral depletion we expected.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continuous-gradient axis, which the discrete box-counts cannot capture. Compression = loss of SHAPE (per-cell PC/(PC+PP) balance drifts to the middle); dimming = loss of LEVEL (the program's relative magnitude falls while the balance is unchanged). Compression: mild non-monotone middle drift peaking at F3, both poles populated — gradient present; only the explant collapses. Dimming: the pericentral detox program declines in relative level — a real coordinated finding, confirmed in Results by gene-set + per-cell tests. Cells keep their identity.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raw counts: a single marker molecule may be ambient, so absolute detection matters and SCT-normalized values are the wrong object. Down-thin every nucleus to a common 1,500-UMI budget, call a marker on at &gt;=2 UMIs, classify each hepatocyte PC/PP/dual/null, infer at the donor level (~47). The &gt;=2 cut matters: at &gt;=1 UMI apparent co-expression is ~7-10% (ambient soup), collapsing ~40x to ~0.2-0.5% at &gt;=2. Robust on 6 marker sets spanning 2 to 1,637 genes (incl. Paper 2's own) and the full threshold grid. Raw-extraction integrity: 9/9 sanity checks pass (integer UMIs, library 920-49,854 not the SCT band, hepatocyte count = the paper's 69,426).</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result. PC and PP anchor fractions are flat/non-monotone across F1-F4 — no depletion. Dual co-expression at the ambient-robust &gt;=2-UMI cut stays ~0.4% and does not trend (vs ~2.9% in confounded explants). Null (44/36/39/39%) and PP:PC (~1.1) are flat too. WHY READABLE DESPITE THE SPREAD: donors scatter ~25-35 pp within each stage (SD ~12 pp), but the donor is the replicate, so each stage average has SE ~ SD/sqrt(n) ~ 4 pp; the spread is the same at every stage — noise around a flat line, not a hidden trend. EQUIVALENCE (TOST): a shift &gt; ±19 pp is excluded; a &lt;=10 pp drift is not (F4 n=4). F0 OMITTED: its 2 donors disagree 16.6 pp on the PC anchor (44% vs 28%), too unstable to anchor a trend, and it carries the highest PC fraction of any stage so dropping it doesn't flatter the result. QA: 10 confounders audited (source, stress, batch, depth, ambient, ploidy, cholangiocyte, discard, covariates, lobe) — none manufactures the result. All in backup.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per-cell gradient view — the most direct test of compression. x-axis is each cell's pericentral share PC/(PC+PP): 0 = all periportal, 1 = all pericentral; a spread of positions means zonation is intact, cells bunching into one pile means collapse. Across biopsy F1-F4 the distribution stays spread, with only a mild non-monotone middle drift peaking at F3 (it reverts at F4) — gradient present, not collapsed. The explant collapses onto the periportal pole — the same acquisition confound. On the rightward lean: the histograms center above 0.5 because the pericentral program is summed over 7 broadly/highly expressed CYP/detox genes vs 6 periportal genes — a marker-set asymmetry, not biology, and irrelevant to the claim, which is the CHANGE across stages (the lean is constant and cancels out). The dashed reference line marks the F1 centre, repeated across panels, to show it does not move.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Per-gene pseudobulk: nothing usable moves (64/21,000 significant, mostly biliary/ductular; zonation flat, GLUL FDR 0.80). No large single-gene program. But per-gene FDR catches a big change in any ONE gene; a weak coordinated program (many genes each drifting a little, same direction) slips past — that is the pericentral-detox decline shown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evidence levels. Strong: the genes are 5-78x more abundant in cholangiocytes and per-cell hepatocyte co-expression is ~0.4%. Suggestive: decontX halves the hits and drops SOX4/SOX9 — supports an ambient contribution but not proof. Open: EPCAM/SPINT2/B3GNT3 survive — a rare intrinsic state is not excluded; CXCL10 is set aside as a candidate real inflammatory signal. So the dominant evidence points to composition/ambient RNA, a lead not a closed verdict.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real biopsy-internal change. LEFT: within-PC detox output (detox transcripts per PC nucleus, depth-matched to 1,500 UMIs) falls from ~11.9 at F1 to ~8.8 at F4; donor-level Spearman rho -0.48, p=0.003. F0 (n=2) faded. RIGHT: gene-set test (camera) — PC detox (CYP) FDR 2e-6, PC identity 1.5e-4, phase-II 7e-3, all DOWN; biliary/ductular + fibrogenesis/inflammation controls UP; ER-stress flat (validating controls). CAREFUL FRAMING: this is a RELATIVE transcript decline within a fixed 1,500-UMI budget, not proven absolute molecule loss; it is a donor-level trend (not pseudoreplicated); it could partly reflect a shift among PC subzones rather than pure within-cell downregulation; no single detox gene clears per-gene FDR. Cells retain their pericentral/periportal identities — functional dimming of a zonated program, NOT de-zonation or transdifferentiation. This was our original within-PC metric (the one count hint), conservatively shelved as borderline, now confirmed by the coordinated set test + the full-trajectory trend, after ruling out a composition artifact (TMM, contaminant removal, the per-cell measure).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methodological lesson: in single-cell disease atlases, acquisition matching can dominate apparent disease trajectories. Bottom line, narrow and honest: the snRNA-seq evidence for progressive de-zonation does not survive matched-source re-analysis — we correct one evidence leg, the marker-correlation; imaging/protein/organoid untouched; the biliary signal is most consistent with composition/ambient RNA, a rare intrinsic state not excluded.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2B"/>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sp>
      <p:sp>
        <p:nvSpPr>
          <p:cNvPr id="3" name="Shape 1"/>
          <p:cNvSpPr/>
          <p:nvPr/>
        </p:nvSpPr>
        <p:spPr>
          <a:xfrm>
            <a:off x="256032" y="0"/>
            <a:ext cx="109728" cy="6858000"/>
          </a:xfrm>
          <a:prstGeom prst="rect">
            <a:avLst/>
          </a:prstGeom>
          <a:solidFill>
            <a:srgbClr val="C0561B"/>
          </a:solidFill>
          <a:ln/>
        </p:spPr>
      </p:sp>
      <p:sp>
        <p:nvSpPr>
          <p:cNvPr id="4" name="Text 2"/>
          <p:cNvSpPr/>
          <p:nvPr/>
        </p:nvSpPr>
        <p:spPr>
          <a:xfrm>
            <a:off x="777240" y="1051560"/>
            <a:ext cx="10881360" cy="365760"/>
          </a:xfrm>
          <a:prstGeom prst="rect">
            <a:avLst/>
          </a:prstGeom>
          <a:noFill/>
          <a:ln/>
        </p:spPr>
        <p:txBody>
          <a:bodyPr wrap="square" rtlCol="0" anchor="ctr"/>
          <a:lstStyle/>
          <a:p>
            <a:pPr marL="0" indent="0" algn="l">
              <a:buNone/>
            </a:pPr>
            <a:r>
              <a:rPr lang="en-US" sz="1500" b="1" kern="0" spc="300" dirty="0">
                <a:solidFill>
                  <a:srgbClr val="9FC0C4"/>
                </a:solidFill>
              </a:rPr>
              <a:t>LIVER GENOMICS  ·  SINGLE-NUCLEUS RE-ANALYSIS</a:t>
            </a:r>
            <a:endParaRPr lang="en-US" sz="1500" dirty="0"/>
          </a:p>
        </p:txBody>
      </p:sp>
      <p:sp>
        <p:nvSpPr>
          <p:cNvPr id="5" name="Text 3"/>
          <p:cNvSpPr/>
          <p:nvPr/>
        </p:nvSpPr>
        <p:spPr>
          <a:xfrm>
            <a:off x="777240" y="1463040"/>
            <a:ext cx="10698480" cy="1234440"/>
          </a:xfrm>
          <a:prstGeom prst="rect">
            <a:avLst/>
          </a:prstGeom>
          <a:noFill/>
          <a:ln/>
        </p:spPr>
        <p:txBody>
          <a:bodyPr wrap="square" rtlCol="0" anchor="t"/>
          <a:lstStyle/>
          <a:p>
            <a:pPr marL="0" indent="0" algn="l">
              <a:buNone/>
            </a:pPr>
            <a:r>
              <a:rPr lang="en-US" sz="3400" b="1" dirty="0">
                <a:solidFill>
                  <a:srgbClr val="FFFFFF"/>
                </a:solidFill>
                <a:latin typeface="Georgia" pitchFamily="34" charset="0"/>
                <a:ea typeface="Georgia" pitchFamily="34" charset="-122"/>
                <a:cs typeface="Georgia" pitchFamily="34" charset="-120"/>
              </a:rPr>
              <a:t>No transcriptional de-zonation signal in matched MASLD biopsies</a:t>
            </a:r>
            <a:endParaRPr lang="en-US" sz="3400" dirty="0"/>
          </a:p>
        </p:txBody>
      </p:sp>
      <p:sp>
        <p:nvSpPr>
          <p:cNvPr id="6" name="Text 4"/>
          <p:cNvSpPr/>
          <p:nvPr/>
        </p:nvSpPr>
        <p:spPr>
          <a:xfrm>
            <a:off x="777240" y="2697480"/>
            <a:ext cx="10698480" cy="548640"/>
          </a:xfrm>
          <a:prstGeom prst="rect">
            <a:avLst/>
          </a:prstGeom>
          <a:noFill/>
          <a:ln/>
        </p:spPr>
        <p:txBody>
          <a:bodyPr wrap="square" rtlCol="0" anchor="t"/>
          <a:lstStyle/>
          <a:p>
            <a:pPr marL="0" indent="0" algn="l">
              <a:buNone/>
            </a:pPr>
            <a:r>
              <a:rPr lang="en-US" sz="2300" i="1" dirty="0">
                <a:solidFill>
                  <a:srgbClr val="9FC0C4"/>
                </a:solidFill>
                <a:latin typeface="Georgia" pitchFamily="34" charset="0"/>
                <a:ea typeface="Georgia" pitchFamily="34" charset="-122"/>
                <a:cs typeface="Georgia" pitchFamily="34" charset="-120"/>
              </a:rPr>
              <a:t>— but the pericentral detox program dims</a:t>
            </a:r>
            <a:endParaRPr lang="en-US" sz="2300" dirty="0"/>
          </a:p>
        </p:txBody>
      </p:sp>
      <p:sp>
        <p:nvSpPr>
          <p:cNvPr id="7" name="Text 5"/>
          <p:cNvSpPr/>
          <p:nvPr/>
        </p:nvSpPr>
        <p:spPr>
          <a:xfrm>
            <a:off x="777240" y="3383280"/>
            <a:ext cx="10607040" cy="457200"/>
          </a:xfrm>
          <a:prstGeom prst="rect">
            <a:avLst/>
          </a:prstGeom>
          <a:noFill/>
          <a:ln/>
        </p:spPr>
        <p:txBody>
          <a:bodyPr wrap="square" rtlCol="0" anchor="ctr"/>
          <a:lstStyle/>
          <a:p>
            <a:pPr marL="0" indent="0" algn="l">
              <a:buNone/>
            </a:pPr>
            <a:r>
              <a:rPr lang="en-US" sz="1700" i="1" dirty="0">
                <a:solidFill>
                  <a:srgbClr val="C9D6D3"/>
                </a:solidFill>
              </a:rPr>
              <a:t>A critical re-analysis of the single-nucleus RNA-seq in Gribben et al., Nature 2024 (GSE202379)</a:t>
            </a:r>
            <a:endParaRPr lang="en-US" sz="1700" dirty="0"/>
          </a:p>
        </p:txBody>
      </p:sp>
      <p:sp>
        <p:nvSpPr>
          <p:cNvPr id="8" name="Shape 6"/>
          <p:cNvSpPr/>
          <p:nvPr/>
        </p:nvSpPr>
        <p:spPr>
          <a:xfrm>
            <a:off x="777240" y="4160520"/>
            <a:ext cx="4572000" cy="0"/>
          </a:xfrm>
          <a:prstGeom prst="line">
            <a:avLst/>
          </a:prstGeom>
          <a:noFill/>
          <a:ln w="19050">
            <a:solidFill>
              <a:srgbClr val="C0561B"/>
            </a:solidFill>
            <a:prstDash val="solid"/>
          </a:ln>
        </p:spPr>
      </p:sp>
      <p:sp>
        <p:nvSpPr>
          <p:cNvPr id="9" name="Text 7"/>
          <p:cNvSpPr/>
          <p:nvPr/>
        </p:nvSpPr>
        <p:spPr>
          <a:xfrm>
            <a:off x="777240" y="4343400"/>
            <a:ext cx="10607040" cy="411480"/>
          </a:xfrm>
          <a:prstGeom prst="rect">
            <a:avLst/>
          </a:prstGeom>
          <a:noFill/>
          <a:ln/>
        </p:spPr>
        <p:txBody>
          <a:bodyPr wrap="square" rtlCol="0" anchor="ctr"/>
          <a:lstStyle/>
          <a:p>
            <a:pPr marL="0" indent="0" algn="l">
              <a:buNone/>
            </a:pPr>
            <a:r>
              <a:rPr lang="en-US" sz="2000" b="1" dirty="0">
                <a:solidFill>
                  <a:srgbClr val="EDE7DB"/>
                </a:solidFill>
              </a:rPr>
              <a:t>Roee Tekoah</a:t>
            </a:r>
            <a:r>
              <a:rPr lang="en-US" sz="2000" dirty="0">
                <a:solidFill>
                  <a:srgbClr val="7E8F8B"/>
                </a:solidFill>
              </a:rPr>
              <a:t>   ·   </a:t>
            </a:r>
            <a:r>
              <a:rPr lang="en-US" sz="2000" b="1" dirty="0">
                <a:solidFill>
                  <a:srgbClr val="EDE7DB"/>
                </a:solidFill>
              </a:rPr>
              <a:t>Shira Gelbstein</a:t>
            </a:r>
            <a:endParaRPr lang="en-US" sz="2000" dirty="0"/>
          </a:p>
        </p:txBody>
      </p:sp>
      <p:sp>
        <p:nvSpPr>
          <p:cNvPr id="10" name="Text 8"/>
          <p:cNvSpPr/>
          <p:nvPr/>
        </p:nvSpPr>
        <p:spPr>
          <a:xfrm>
            <a:off x="777240" y="4846320"/>
            <a:ext cx="10607040" cy="365760"/>
          </a:xfrm>
          <a:prstGeom prst="rect">
            <a:avLst/>
          </a:prstGeom>
          <a:noFill/>
          <a:ln/>
        </p:spPr>
        <p:txBody>
          <a:bodyPr wrap="square" rtlCol="0" anchor="ctr"/>
          <a:lstStyle/>
          <a:p>
            <a:pPr marL="0" indent="0" algn="l">
              <a:buNone/>
            </a:pPr>
            <a:r>
              <a:rPr lang="en-US" sz="1500" dirty="0">
                <a:solidFill>
                  <a:srgbClr val="9CB0AC"/>
                </a:solidFill>
              </a:rPr>
              <a:t>Computational Genomics (76553)  ·  Hebrew University of Jerusalem  ·  Hackathon</a:t>
            </a:r>
            <a:endParaRPr lang="en-US" sz="1500" dirty="0"/>
          </a:p>
        </p:txBody>
      </p:sp>
      <p:sp>
        <p:nvSpPr>
          <p:cNvPr id="11" name="Text 9"/>
          <p:cNvSpPr/>
          <p:nvPr/>
        </p:nvSpPr>
        <p:spPr>
          <a:xfrm>
            <a:off x="777240" y="5806440"/>
            <a:ext cx="10607040" cy="365760"/>
          </a:xfrm>
          <a:prstGeom prst="rect">
            <a:avLst/>
          </a:prstGeom>
          <a:noFill/>
          <a:ln/>
        </p:spPr>
        <p:txBody>
          <a:bodyPr wrap="square" rtlCol="0" anchor="ctr"/>
          <a:lstStyle/>
          <a:p>
            <a:pPr marL="0" indent="0" algn="l">
              <a:buNone/>
            </a:pPr>
            <a:r>
              <a:rPr lang="en-US" sz="1300" dirty="0">
                <a:solidFill>
                  <a:srgbClr val="7E8F8B"/>
                </a:solidFill>
              </a:rPr>
              <a:t>47 donors  ·  ~99,809 nuclei  ·  69,426 hepatocytes  ·  raw-count, donor-level analysis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BACKGROUND</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BACKGROUND</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Hepatocytes are transcriptionally zonated</a:t>
            </a:r>
            <a:endParaRPr lang="en-US" sz="2800" dirty="0"/>
          </a:p>
        </p:txBody>
      </p:sp>
      <p:sp>
        <p:nvSpPr>
          <p:cNvPr id="6" name="Shape 4"/>
          <p:cNvSpPr/>
          <p:nvPr/>
        </p:nvSpPr>
        <p:spPr>
          <a:xfrm>
            <a:off x="914400" y="1691640"/>
            <a:ext cx="9509760" cy="502920"/>
          </a:xfrm>
          <a:prstGeom prst="rect">
            <a:avLst/>
          </a:prstGeom>
          <a:solidFill>
            <a:srgbClr val="EA580C"/>
          </a:solidFill>
          <a:ln/>
        </p:spPr>
      </p:sp>
      <p:sp>
        <p:nvSpPr>
          <p:cNvPr id="7" name="Shape 5"/>
          <p:cNvSpPr/>
          <p:nvPr/>
        </p:nvSpPr>
        <p:spPr>
          <a:xfrm>
            <a:off x="914400" y="1691640"/>
            <a:ext cx="4754880" cy="502920"/>
          </a:xfrm>
          <a:prstGeom prst="rect">
            <a:avLst/>
          </a:prstGeom>
          <a:solidFill>
            <a:srgbClr val="1D4ED8"/>
          </a:solidFill>
          <a:ln/>
        </p:spPr>
      </p:sp>
      <p:sp>
        <p:nvSpPr>
          <p:cNvPr id="8" name="Text 6"/>
          <p:cNvSpPr/>
          <p:nvPr/>
        </p:nvSpPr>
        <p:spPr>
          <a:xfrm>
            <a:off x="1051560" y="1691640"/>
            <a:ext cx="4572000" cy="502920"/>
          </a:xfrm>
          <a:prstGeom prst="rect">
            <a:avLst/>
          </a:prstGeom>
          <a:noFill/>
          <a:ln/>
        </p:spPr>
        <p:txBody>
          <a:bodyPr wrap="square" rtlCol="0" anchor="ctr"/>
          <a:lstStyle/>
          <a:p>
            <a:pPr marL="0" indent="0" algn="l">
              <a:buNone/>
            </a:pPr>
            <a:r>
              <a:rPr lang="en-US" sz="1500" b="1" dirty="0">
                <a:solidFill>
                  <a:srgbClr val="FFFFFF"/>
                </a:solidFill>
              </a:rPr>
              <a:t>Pericentral (zone 3)</a:t>
            </a:r>
            <a:endParaRPr lang="en-US" sz="1500" dirty="0"/>
          </a:p>
        </p:txBody>
      </p:sp>
      <p:sp>
        <p:nvSpPr>
          <p:cNvPr id="9" name="Text 7"/>
          <p:cNvSpPr/>
          <p:nvPr/>
        </p:nvSpPr>
        <p:spPr>
          <a:xfrm>
            <a:off x="5760720" y="1691640"/>
            <a:ext cx="4572000" cy="502920"/>
          </a:xfrm>
          <a:prstGeom prst="rect">
            <a:avLst/>
          </a:prstGeom>
          <a:noFill/>
          <a:ln/>
        </p:spPr>
        <p:txBody>
          <a:bodyPr wrap="square" rtlCol="0" anchor="ctr"/>
          <a:lstStyle/>
          <a:p>
            <a:pPr marL="0" indent="0" algn="r">
              <a:buNone/>
            </a:pPr>
            <a:r>
              <a:rPr lang="en-US" sz="1500" b="1" dirty="0">
                <a:solidFill>
                  <a:srgbClr val="FFFFFF"/>
                </a:solidFill>
              </a:rPr>
              <a:t>Periportal (zone 1)</a:t>
            </a:r>
            <a:endParaRPr lang="en-US" sz="1500" dirty="0"/>
          </a:p>
        </p:txBody>
      </p:sp>
      <p:sp>
        <p:nvSpPr>
          <p:cNvPr id="10" name="Text 8"/>
          <p:cNvSpPr/>
          <p:nvPr/>
        </p:nvSpPr>
        <p:spPr>
          <a:xfrm>
            <a:off x="548640" y="2240280"/>
            <a:ext cx="2194560" cy="274320"/>
          </a:xfrm>
          <a:prstGeom prst="rect">
            <a:avLst/>
          </a:prstGeom>
          <a:noFill/>
          <a:ln/>
        </p:spPr>
        <p:txBody>
          <a:bodyPr wrap="square" rtlCol="0" anchor="ctr"/>
          <a:lstStyle/>
          <a:p>
            <a:pPr marL="0" indent="0" algn="l">
              <a:buNone/>
            </a:pPr>
            <a:r>
              <a:rPr lang="en-US" sz="1250" dirty="0">
                <a:solidFill>
                  <a:srgbClr val="5C6E73"/>
                </a:solidFill>
              </a:rPr>
              <a:t>Central vein</a:t>
            </a:r>
            <a:endParaRPr lang="en-US" sz="1250" dirty="0"/>
          </a:p>
        </p:txBody>
      </p:sp>
      <p:sp>
        <p:nvSpPr>
          <p:cNvPr id="11" name="Text 9"/>
          <p:cNvSpPr/>
          <p:nvPr/>
        </p:nvSpPr>
        <p:spPr>
          <a:xfrm>
            <a:off x="8595360" y="2240280"/>
            <a:ext cx="2194560" cy="274320"/>
          </a:xfrm>
          <a:prstGeom prst="rect">
            <a:avLst/>
          </a:prstGeom>
          <a:noFill/>
          <a:ln/>
        </p:spPr>
        <p:txBody>
          <a:bodyPr wrap="square" rtlCol="0" anchor="ctr"/>
          <a:lstStyle/>
          <a:p>
            <a:pPr marL="0" indent="0" algn="r">
              <a:buNone/>
            </a:pPr>
            <a:r>
              <a:rPr lang="en-US" sz="1250" dirty="0">
                <a:solidFill>
                  <a:srgbClr val="5C6E73"/>
                </a:solidFill>
              </a:rPr>
              <a:t>Portal tract</a:t>
            </a:r>
            <a:endParaRPr lang="en-US" sz="1250" dirty="0"/>
          </a:p>
        </p:txBody>
      </p:sp>
      <p:sp>
        <p:nvSpPr>
          <p:cNvPr id="12" name="Text 10"/>
          <p:cNvSpPr/>
          <p:nvPr/>
        </p:nvSpPr>
        <p:spPr>
          <a:xfrm>
            <a:off x="914400" y="2560320"/>
            <a:ext cx="4754880" cy="320040"/>
          </a:xfrm>
          <a:prstGeom prst="rect">
            <a:avLst/>
          </a:prstGeom>
          <a:noFill/>
          <a:ln/>
        </p:spPr>
        <p:txBody>
          <a:bodyPr wrap="square" rtlCol="0" anchor="ctr"/>
          <a:lstStyle/>
          <a:p>
            <a:pPr marL="0" indent="0" algn="ctr">
              <a:buNone/>
            </a:pPr>
            <a:r>
              <a:rPr lang="en-US" sz="1400" b="1" dirty="0">
                <a:solidFill>
                  <a:srgbClr val="1D4ED8"/>
                </a:solidFill>
              </a:rPr>
              <a:t>GLUL, CYP3A4, CYP2E1 </a:t>
            </a:r>
            <a:r>
              <a:rPr lang="en-US" sz="1400" dirty="0">
                <a:solidFill>
                  <a:srgbClr val="1B2B31"/>
                </a:solidFill>
              </a:rPr>
              <a:t>— drug metabolism (Wnt-driven)</a:t>
            </a:r>
            <a:endParaRPr lang="en-US" sz="1400" dirty="0"/>
          </a:p>
        </p:txBody>
      </p:sp>
      <p:sp>
        <p:nvSpPr>
          <p:cNvPr id="13" name="Text 11"/>
          <p:cNvSpPr/>
          <p:nvPr/>
        </p:nvSpPr>
        <p:spPr>
          <a:xfrm>
            <a:off x="5669280" y="2560320"/>
            <a:ext cx="4754880" cy="320040"/>
          </a:xfrm>
          <a:prstGeom prst="rect">
            <a:avLst/>
          </a:prstGeom>
          <a:noFill/>
          <a:ln/>
        </p:spPr>
        <p:txBody>
          <a:bodyPr wrap="square" rtlCol="0" anchor="ctr"/>
          <a:lstStyle/>
          <a:p>
            <a:pPr marL="0" indent="0" algn="ctr">
              <a:buNone/>
            </a:pPr>
            <a:r>
              <a:rPr lang="en-US" sz="1400" b="1" dirty="0">
                <a:solidFill>
                  <a:srgbClr val="EA580C"/>
                </a:solidFill>
              </a:rPr>
              <a:t>ASS1, CPS1, PCK1, HAL, ALDOB </a:t>
            </a:r>
            <a:r>
              <a:rPr lang="en-US" sz="1400" dirty="0">
                <a:solidFill>
                  <a:srgbClr val="1B2B31"/>
                </a:solidFill>
              </a:rPr>
              <a:t>— urea cycle</a:t>
            </a:r>
            <a:endParaRPr lang="en-US" sz="1400" dirty="0"/>
          </a:p>
        </p:txBody>
      </p:sp>
      <p:sp>
        <p:nvSpPr>
          <p:cNvPr id="14" name="Shape 12"/>
          <p:cNvSpPr/>
          <p:nvPr/>
        </p:nvSpPr>
        <p:spPr>
          <a:xfrm>
            <a:off x="594360" y="3200400"/>
            <a:ext cx="5486400" cy="2542032"/>
          </a:xfrm>
          <a:prstGeom prst="roundRect">
            <a:avLst>
              <a:gd name="adj" fmla="val 2878"/>
            </a:avLst>
          </a:prstGeom>
          <a:solidFill>
            <a:srgbClr val="123F47"/>
          </a:solidFill>
          <a:ln/>
          <a:effectLst>
            <a:outerShdw blurRad="88900" dist="38100" dir="5400000" algn="bl" rotWithShape="0">
              <a:srgbClr val="000000">
                <a:alpha val="12000"/>
              </a:srgbClr>
            </a:outerShdw>
          </a:effectLst>
        </p:spPr>
      </p:sp>
      <p:sp>
        <p:nvSpPr>
          <p:cNvPr id="15" name="Text 13"/>
          <p:cNvSpPr/>
          <p:nvPr/>
        </p:nvSpPr>
        <p:spPr>
          <a:xfrm>
            <a:off x="822960" y="3346704"/>
            <a:ext cx="5029200" cy="274320"/>
          </a:xfrm>
          <a:prstGeom prst="rect">
            <a:avLst/>
          </a:prstGeom>
          <a:noFill/>
          <a:ln/>
        </p:spPr>
        <p:txBody>
          <a:bodyPr wrap="square" lIns="0" tIns="0" rIns="0" bIns="0" rtlCol="0" anchor="ctr"/>
          <a:lstStyle/>
          <a:p>
            <a:pPr marL="0" indent="0" algn="l">
              <a:buNone/>
            </a:pPr>
            <a:r>
              <a:rPr lang="en-US" sz="1200" b="1" kern="0" spc="200" dirty="0">
                <a:solidFill>
                  <a:srgbClr val="9FC0C4"/>
                </a:solidFill>
              </a:rPr>
              <a:t>THE PUBLISHED CLAIM   </a:t>
            </a:r>
            <a:r>
              <a:rPr lang="en-US" sz="1100" dirty="0">
                <a:solidFill>
                  <a:srgbClr val="7E9DA0"/>
                </a:solidFill>
              </a:rPr>
              <a:t>— Gribben 2024</a:t>
            </a:r>
            <a:endParaRPr lang="en-US" sz="1200" dirty="0"/>
          </a:p>
        </p:txBody>
      </p:sp>
      <p:sp>
        <p:nvSpPr>
          <p:cNvPr id="16" name="Text 14"/>
          <p:cNvSpPr/>
          <p:nvPr/>
        </p:nvSpPr>
        <p:spPr>
          <a:xfrm>
            <a:off x="822960" y="3657600"/>
            <a:ext cx="5029200" cy="384048"/>
          </a:xfrm>
          <a:prstGeom prst="rect">
            <a:avLst/>
          </a:prstGeom>
          <a:noFill/>
          <a:ln/>
        </p:spPr>
        <p:txBody>
          <a:bodyPr wrap="square" lIns="0" tIns="0" rIns="0" bIns="0" rtlCol="0" anchor="t"/>
          <a:lstStyle/>
          <a:p>
            <a:pPr marL="0" indent="0" algn="l">
              <a:buNone/>
            </a:pPr>
            <a:r>
              <a:rPr lang="en-US" sz="1800" b="1" dirty="0">
                <a:solidFill>
                  <a:srgbClr val="FFFFFF"/>
                </a:solidFill>
                <a:latin typeface="Georgia" pitchFamily="34" charset="0"/>
                <a:ea typeface="Georgia" pitchFamily="34" charset="-122"/>
                <a:cs typeface="Georgia" pitchFamily="34" charset="-120"/>
              </a:rPr>
              <a:t>“Hepatocytes lose their zonation.”</a:t>
            </a:r>
            <a:endParaRPr lang="en-US" sz="1800" dirty="0"/>
          </a:p>
        </p:txBody>
      </p:sp>
      <p:sp>
        <p:nvSpPr>
          <p:cNvPr id="17" name="Text 15"/>
          <p:cNvSpPr/>
          <p:nvPr/>
        </p:nvSpPr>
        <p:spPr>
          <a:xfrm>
            <a:off x="1005840" y="4224528"/>
            <a:ext cx="4892040" cy="1417320"/>
          </a:xfrm>
          <a:prstGeom prst="rect">
            <a:avLst/>
          </a:prstGeom>
          <a:noFill/>
          <a:ln/>
        </p:spPr>
        <p:txBody>
          <a:bodyPr wrap="square" rtlCol="0" anchor="t"/>
          <a:lstStyle/>
          <a:p>
            <a:pPr marL="342900" indent="-342900" algn="l">
              <a:spcAft>
                <a:spcPts val="800"/>
              </a:spcAft>
              <a:buSzPct val="100000"/>
              <a:buChar char="•"/>
            </a:pPr>
            <a:r>
              <a:rPr lang="en-US" sz="1250" dirty="0">
                <a:solidFill>
                  <a:srgbClr val="D7E6E8"/>
                </a:solidFill>
              </a:rPr>
              <a:t>End-stage hepatocytes co-express pericentral + periportal markers — validated by imaging + protein.</a:t>
            </a:r>
            <a:endParaRPr lang="en-US" sz="1250" dirty="0"/>
          </a:p>
          <a:p>
            <a:pPr marL="342900" indent="-342900" algn="l">
              <a:spcAft>
                <a:spcPts val="800"/>
              </a:spcAft>
              <a:buSzPct val="100000"/>
              <a:buChar char="•"/>
            </a:pPr>
            <a:r>
              <a:rPr lang="en-US" sz="1250" dirty="0">
                <a:solidFill>
                  <a:srgbClr val="D7E6E8"/>
                </a:solidFill>
              </a:rPr>
              <a:t>Hepatocyte↔cholangiocyte transdifferentiation, “prominent in end-stage.”</a:t>
            </a:r>
            <a:endParaRPr lang="en-US" sz="1250" dirty="0"/>
          </a:p>
        </p:txBody>
      </p:sp>
      <p:sp>
        <p:nvSpPr>
          <p:cNvPr id="18" name="Shape 16"/>
          <p:cNvSpPr/>
          <p:nvPr/>
        </p:nvSpPr>
        <p:spPr>
          <a:xfrm>
            <a:off x="6263640" y="3200400"/>
            <a:ext cx="5349240" cy="2542032"/>
          </a:xfrm>
          <a:prstGeom prst="roundRect">
            <a:avLst>
              <a:gd name="adj" fmla="val 2878"/>
            </a:avLst>
          </a:prstGeom>
          <a:solidFill>
            <a:srgbClr val="FFFFFF"/>
          </a:solidFill>
          <a:ln w="19050">
            <a:solidFill>
              <a:srgbClr val="C0561B"/>
            </a:solidFill>
            <a:prstDash val="solid"/>
          </a:ln>
          <a:effectLst>
            <a:outerShdw blurRad="88900" dist="38100" dir="5400000" algn="bl" rotWithShape="0">
              <a:srgbClr val="000000">
                <a:alpha val="12000"/>
              </a:srgbClr>
            </a:outerShdw>
          </a:effectLst>
        </p:spPr>
      </p:sp>
      <p:sp>
        <p:nvSpPr>
          <p:cNvPr id="19" name="Text 17"/>
          <p:cNvSpPr/>
          <p:nvPr/>
        </p:nvSpPr>
        <p:spPr>
          <a:xfrm>
            <a:off x="6492240" y="3346704"/>
            <a:ext cx="4937760" cy="274320"/>
          </a:xfrm>
          <a:prstGeom prst="rect">
            <a:avLst/>
          </a:prstGeom>
          <a:noFill/>
          <a:ln/>
        </p:spPr>
        <p:txBody>
          <a:bodyPr wrap="square" lIns="0" tIns="0" rIns="0" bIns="0" rtlCol="0" anchor="ctr"/>
          <a:lstStyle/>
          <a:p>
            <a:pPr marL="0" indent="0" algn="l">
              <a:buNone/>
            </a:pPr>
            <a:r>
              <a:rPr lang="en-US" sz="1200" b="1" kern="0" spc="200" dirty="0">
                <a:solidFill>
                  <a:srgbClr val="C0561B"/>
                </a:solidFill>
              </a:rPr>
              <a:t>OUR QUESTION</a:t>
            </a:r>
            <a:endParaRPr lang="en-US" sz="1200" dirty="0"/>
          </a:p>
        </p:txBody>
      </p:sp>
      <p:sp>
        <p:nvSpPr>
          <p:cNvPr id="20" name="Text 18"/>
          <p:cNvSpPr/>
          <p:nvPr/>
        </p:nvSpPr>
        <p:spPr>
          <a:xfrm>
            <a:off x="6492240" y="3703320"/>
            <a:ext cx="4937760" cy="1828800"/>
          </a:xfrm>
          <a:prstGeom prst="rect">
            <a:avLst/>
          </a:prstGeom>
          <a:noFill/>
          <a:ln/>
        </p:spPr>
        <p:txBody>
          <a:bodyPr wrap="square" lIns="0" tIns="0" rIns="0" bIns="0" rtlCol="0" anchor="t"/>
          <a:lstStyle/>
          <a:p>
            <a:pPr marL="0" indent="0" algn="l">
              <a:buNone/>
            </a:pPr>
            <a:r>
              <a:rPr lang="en-US" sz="1650" b="1" dirty="0">
                <a:solidFill>
                  <a:srgbClr val="1B2B31"/>
                </a:solidFill>
                <a:latin typeface="Georgia" pitchFamily="34" charset="0"/>
                <a:ea typeface="Georgia" pitchFamily="34" charset="-122"/>
                <a:cs typeface="Georgia" pitchFamily="34" charset="-120"/>
              </a:rPr>
              <a:t>Does hepatocyte zonation degrade across MASLD — and is it linked to the hepatocyte→cholangiocyte transdifferentiation they describe?</a:t>
            </a:r>
            <a:endParaRPr lang="en-US" sz="1650" dirty="0"/>
          </a:p>
        </p:txBody>
      </p:sp>
      <p:sp>
        <p:nvSpPr>
          <p:cNvPr id="21" name="Text 19"/>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22" name="Text 20"/>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42B"/>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sp>
      <p:sp>
        <p:nvSpPr>
          <p:cNvPr id="3" name="Shape 1"/>
          <p:cNvSpPr/>
          <p:nvPr/>
        </p:nvSpPr>
        <p:spPr>
          <a:xfrm>
            <a:off x="256032" y="0"/>
            <a:ext cx="109728" cy="6858000"/>
          </a:xfrm>
          <a:prstGeom prst="rect">
            <a:avLst/>
          </a:prstGeom>
          <a:solidFill>
            <a:srgbClr val="C0561B"/>
          </a:solidFill>
          <a:ln/>
        </p:spPr>
      </p:sp>
      <p:sp>
        <p:nvSpPr>
          <p:cNvPr id="4" name="Text 2"/>
          <p:cNvSpPr/>
          <p:nvPr/>
        </p:nvSpPr>
        <p:spPr>
          <a:xfrm>
            <a:off x="868680" y="2651760"/>
            <a:ext cx="10515600" cy="1005840"/>
          </a:xfrm>
          <a:prstGeom prst="rect">
            <a:avLst/>
          </a:prstGeom>
          <a:noFill/>
          <a:ln/>
        </p:spPr>
        <p:txBody>
          <a:bodyPr wrap="square" rtlCol="0" anchor="ctr"/>
          <a:lstStyle/>
          <a:p>
            <a:pPr marL="0" indent="0" algn="l">
              <a:buNone/>
            </a:pPr>
            <a:r>
              <a:rPr lang="en-US" sz="4400" b="1" dirty="0">
                <a:solidFill>
                  <a:srgbClr val="FFFFFF"/>
                </a:solidFill>
                <a:latin typeface="Georgia" pitchFamily="34" charset="0"/>
                <a:ea typeface="Georgia" pitchFamily="34" charset="-122"/>
                <a:cs typeface="Georgia" pitchFamily="34" charset="-120"/>
              </a:rPr>
              <a:t>The catch</a:t>
            </a:r>
            <a:endParaRPr lang="en-US" sz="4400" dirty="0"/>
          </a:p>
        </p:txBody>
      </p:sp>
      <p:sp>
        <p:nvSpPr>
          <p:cNvPr id="5" name="Text 3"/>
          <p:cNvSpPr/>
          <p:nvPr/>
        </p:nvSpPr>
        <p:spPr>
          <a:xfrm>
            <a:off x="896112" y="3794760"/>
            <a:ext cx="10515600" cy="457200"/>
          </a:xfrm>
          <a:prstGeom prst="rect">
            <a:avLst/>
          </a:prstGeom>
          <a:noFill/>
          <a:ln/>
        </p:spPr>
        <p:txBody>
          <a:bodyPr wrap="square" rtlCol="0" anchor="ctr"/>
          <a:lstStyle/>
          <a:p>
            <a:pPr marL="0" indent="0" algn="l">
              <a:buNone/>
            </a:pPr>
            <a:r>
              <a:rPr lang="en-US" sz="1700" i="1" dirty="0">
                <a:solidFill>
                  <a:srgbClr val="9FC0C4"/>
                </a:solidFill>
              </a:rPr>
              <a:t>our first approach is misleading — and the tissue itself is confounded</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THE FIRST APPROACH</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THE CATCH</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A relative ruler — and what it hides</a:t>
            </a:r>
            <a:endParaRPr lang="en-US" sz="2800" dirty="0"/>
          </a:p>
        </p:txBody>
      </p:sp>
      <p:sp>
        <p:nvSpPr>
          <p:cNvPr id="6" name="Text 4"/>
          <p:cNvSpPr/>
          <p:nvPr/>
        </p:nvSpPr>
        <p:spPr>
          <a:xfrm>
            <a:off x="640080" y="1645920"/>
            <a:ext cx="5486400" cy="274320"/>
          </a:xfrm>
          <a:prstGeom prst="rect">
            <a:avLst/>
          </a:prstGeom>
          <a:noFill/>
          <a:ln/>
        </p:spPr>
        <p:txBody>
          <a:bodyPr wrap="square" rtlCol="0" anchor="ctr"/>
          <a:lstStyle/>
          <a:p>
            <a:pPr marL="0" indent="0" algn="l">
              <a:buNone/>
            </a:pPr>
            <a:r>
              <a:rPr lang="en-US" sz="1300" b="1" kern="0" spc="200" dirty="0">
                <a:solidFill>
                  <a:srgbClr val="5C6E73"/>
                </a:solidFill>
              </a:rPr>
              <a:t>THE OLD RULER</a:t>
            </a:r>
            <a:endParaRPr lang="en-US" sz="1300" dirty="0"/>
          </a:p>
        </p:txBody>
      </p:sp>
      <p:sp>
        <p:nvSpPr>
          <p:cNvPr id="7" name="Text 5"/>
          <p:cNvSpPr/>
          <p:nvPr/>
        </p:nvSpPr>
        <p:spPr>
          <a:xfrm>
            <a:off x="640080" y="1965960"/>
            <a:ext cx="5486400" cy="822960"/>
          </a:xfrm>
          <a:prstGeom prst="rect">
            <a:avLst/>
          </a:prstGeom>
          <a:noFill/>
          <a:ln/>
        </p:spPr>
        <p:txBody>
          <a:bodyPr wrap="square" rtlCol="0" anchor="t"/>
          <a:lstStyle/>
          <a:p>
            <a:pPr marL="0" indent="0" algn="l">
              <a:buNone/>
            </a:pPr>
            <a:r>
              <a:rPr lang="en-US" sz="1500" dirty="0">
                <a:solidFill>
                  <a:srgbClr val="1B2B31"/>
                </a:solidFill>
              </a:rPr>
              <a:t>We first read it with a z-scored zonation coordinate and marker–marker correlations, pooled across all samples.</a:t>
            </a:r>
            <a:endParaRPr lang="en-US" sz="1500" dirty="0"/>
          </a:p>
        </p:txBody>
      </p:sp>
      <p:sp>
        <p:nvSpPr>
          <p:cNvPr id="8" name="Shape 6"/>
          <p:cNvSpPr/>
          <p:nvPr/>
        </p:nvSpPr>
        <p:spPr>
          <a:xfrm>
            <a:off x="640080" y="3154680"/>
            <a:ext cx="5486400" cy="1508760"/>
          </a:xfrm>
          <a:prstGeom prst="roundRect">
            <a:avLst>
              <a:gd name="adj" fmla="val 4242"/>
            </a:avLst>
          </a:prstGeom>
          <a:solidFill>
            <a:srgbClr val="FBEEE9"/>
          </a:solidFill>
          <a:ln w="12700">
            <a:solidFill>
              <a:srgbClr val="BE123C"/>
            </a:solidFill>
            <a:prstDash val="solid"/>
          </a:ln>
        </p:spPr>
      </p:sp>
      <p:sp>
        <p:nvSpPr>
          <p:cNvPr id="9" name="Text 7"/>
          <p:cNvSpPr/>
          <p:nvPr/>
        </p:nvSpPr>
        <p:spPr>
          <a:xfrm>
            <a:off x="841248" y="3291840"/>
            <a:ext cx="5120640" cy="274320"/>
          </a:xfrm>
          <a:prstGeom prst="rect">
            <a:avLst/>
          </a:prstGeom>
          <a:noFill/>
          <a:ln/>
        </p:spPr>
        <p:txBody>
          <a:bodyPr wrap="square" rtlCol="0" anchor="ctr"/>
          <a:lstStyle/>
          <a:p>
            <a:pPr marL="0" indent="0" algn="l">
              <a:buNone/>
            </a:pPr>
            <a:r>
              <a:rPr lang="en-US" sz="1200" b="1" kern="0" spc="200" dirty="0">
                <a:solidFill>
                  <a:srgbClr val="BE123C"/>
                </a:solidFill>
              </a:rPr>
              <a:t>WHAT IT SHOWED</a:t>
            </a:r>
            <a:endParaRPr lang="en-US" sz="1200" dirty="0"/>
          </a:p>
        </p:txBody>
      </p:sp>
      <p:sp>
        <p:nvSpPr>
          <p:cNvPr id="10" name="Text 8"/>
          <p:cNvSpPr/>
          <p:nvPr/>
        </p:nvSpPr>
        <p:spPr>
          <a:xfrm>
            <a:off x="841248" y="3611880"/>
            <a:ext cx="5120640" cy="960120"/>
          </a:xfrm>
          <a:prstGeom prst="rect">
            <a:avLst/>
          </a:prstGeom>
          <a:noFill/>
          <a:ln/>
        </p:spPr>
        <p:txBody>
          <a:bodyPr wrap="square" rtlCol="0" anchor="t"/>
          <a:lstStyle/>
          <a:p>
            <a:pPr marL="0" indent="0" algn="l">
              <a:buNone/>
            </a:pPr>
            <a:r>
              <a:rPr lang="en-US" sz="1500" b="1" i="1" dirty="0">
                <a:solidFill>
                  <a:srgbClr val="123F47"/>
                </a:solidFill>
              </a:rPr>
              <a:t>“Hepatocytes lose their zonation; the pericentral program turns off, strongest at end-stage.”</a:t>
            </a:r>
            <a:endParaRPr lang="en-US" sz="1500" dirty="0"/>
          </a:p>
        </p:txBody>
      </p:sp>
      <p:sp>
        <p:nvSpPr>
          <p:cNvPr id="11" name="Text 9"/>
          <p:cNvSpPr/>
          <p:nvPr/>
        </p:nvSpPr>
        <p:spPr>
          <a:xfrm>
            <a:off x="640080" y="4892040"/>
            <a:ext cx="5486400" cy="457200"/>
          </a:xfrm>
          <a:prstGeom prst="rect">
            <a:avLst/>
          </a:prstGeom>
          <a:noFill/>
          <a:ln/>
        </p:spPr>
        <p:txBody>
          <a:bodyPr wrap="square" rtlCol="0" anchor="t"/>
          <a:lstStyle/>
          <a:p>
            <a:pPr marL="0" indent="0" algn="l">
              <a:buNone/>
            </a:pPr>
            <a:r>
              <a:rPr lang="en-US" sz="1250" i="1" dirty="0">
                <a:solidFill>
                  <a:srgbClr val="5C6E73"/>
                </a:solidFill>
              </a:rPr>
              <a:t>This is the published finding — our first, relative reading reproduced it.</a:t>
            </a:r>
            <a:endParaRPr lang="en-US" sz="1250" dirty="0"/>
          </a:p>
        </p:txBody>
      </p:sp>
      <p:sp>
        <p:nvSpPr>
          <p:cNvPr id="12" name="Text 10"/>
          <p:cNvSpPr/>
          <p:nvPr/>
        </p:nvSpPr>
        <p:spPr>
          <a:xfrm>
            <a:off x="6400800" y="1645920"/>
            <a:ext cx="5394960" cy="274320"/>
          </a:xfrm>
          <a:prstGeom prst="rect">
            <a:avLst/>
          </a:prstGeom>
          <a:noFill/>
          <a:ln/>
        </p:spPr>
        <p:txBody>
          <a:bodyPr wrap="square" rtlCol="0" anchor="ctr"/>
          <a:lstStyle/>
          <a:p>
            <a:pPr marL="0" indent="0" algn="l">
              <a:buNone/>
            </a:pPr>
            <a:r>
              <a:rPr lang="en-US" sz="1300" b="1" kern="0" spc="200" dirty="0">
                <a:solidFill>
                  <a:srgbClr val="C0561B"/>
                </a:solidFill>
              </a:rPr>
              <a:t>THE TRAP</a:t>
            </a:r>
            <a:endParaRPr lang="en-US" sz="1300" dirty="0"/>
          </a:p>
        </p:txBody>
      </p:sp>
      <p:sp>
        <p:nvSpPr>
          <p:cNvPr id="13" name="Shape 11"/>
          <p:cNvSpPr/>
          <p:nvPr/>
        </p:nvSpPr>
        <p:spPr>
          <a:xfrm>
            <a:off x="6400800" y="2057400"/>
            <a:ext cx="5394960" cy="914400"/>
          </a:xfrm>
          <a:prstGeom prst="roundRect">
            <a:avLst>
              <a:gd name="adj" fmla="val 6000"/>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14" name="Shape 12"/>
          <p:cNvSpPr/>
          <p:nvPr/>
        </p:nvSpPr>
        <p:spPr>
          <a:xfrm>
            <a:off x="6400800" y="2057400"/>
            <a:ext cx="91440" cy="914400"/>
          </a:xfrm>
          <a:prstGeom prst="rect">
            <a:avLst/>
          </a:prstGeom>
          <a:solidFill>
            <a:srgbClr val="BE123C"/>
          </a:solidFill>
          <a:ln/>
        </p:spPr>
      </p:sp>
      <p:sp>
        <p:nvSpPr>
          <p:cNvPr id="15" name="Text 13"/>
          <p:cNvSpPr/>
          <p:nvPr/>
        </p:nvSpPr>
        <p:spPr>
          <a:xfrm>
            <a:off x="6693408" y="2185416"/>
            <a:ext cx="4937760" cy="320040"/>
          </a:xfrm>
          <a:prstGeom prst="rect">
            <a:avLst/>
          </a:prstGeom>
          <a:noFill/>
          <a:ln/>
        </p:spPr>
        <p:txBody>
          <a:bodyPr wrap="square" lIns="0" tIns="0" rIns="0" bIns="0" rtlCol="0" anchor="t"/>
          <a:lstStyle/>
          <a:p>
            <a:pPr marL="0" indent="0" algn="l">
              <a:buNone/>
            </a:pPr>
            <a:r>
              <a:rPr lang="en-US" sz="1600" b="1" dirty="0">
                <a:solidFill>
                  <a:srgbClr val="BE123C"/>
                </a:solidFill>
              </a:rPr>
              <a:t>Hides who moved</a:t>
            </a:r>
            <a:endParaRPr lang="en-US" sz="1600" dirty="0"/>
          </a:p>
        </p:txBody>
      </p:sp>
      <p:sp>
        <p:nvSpPr>
          <p:cNvPr id="16" name="Text 14"/>
          <p:cNvSpPr/>
          <p:nvPr/>
        </p:nvSpPr>
        <p:spPr>
          <a:xfrm>
            <a:off x="6693408" y="2532888"/>
            <a:ext cx="4937760" cy="384048"/>
          </a:xfrm>
          <a:prstGeom prst="rect">
            <a:avLst/>
          </a:prstGeom>
          <a:noFill/>
          <a:ln/>
        </p:spPr>
        <p:txBody>
          <a:bodyPr wrap="square" lIns="0" tIns="0" rIns="0" bIns="0" rtlCol="0" anchor="t"/>
          <a:lstStyle/>
          <a:p>
            <a:pPr marL="0" indent="0" algn="l">
              <a:buNone/>
            </a:pPr>
            <a:r>
              <a:rPr lang="en-US" sz="1250" dirty="0">
                <a:solidFill>
                  <a:srgbClr val="1B2B31"/>
                </a:solidFill>
              </a:rPr>
              <a:t>no counts — which cells, how many, and from where.</a:t>
            </a:r>
            <a:endParaRPr lang="en-US" sz="1250" dirty="0"/>
          </a:p>
        </p:txBody>
      </p:sp>
      <p:sp>
        <p:nvSpPr>
          <p:cNvPr id="17" name="Shape 15"/>
          <p:cNvSpPr/>
          <p:nvPr/>
        </p:nvSpPr>
        <p:spPr>
          <a:xfrm>
            <a:off x="6400800" y="3081528"/>
            <a:ext cx="5394960" cy="914400"/>
          </a:xfrm>
          <a:prstGeom prst="roundRect">
            <a:avLst>
              <a:gd name="adj" fmla="val 6000"/>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18" name="Shape 16"/>
          <p:cNvSpPr/>
          <p:nvPr/>
        </p:nvSpPr>
        <p:spPr>
          <a:xfrm>
            <a:off x="6400800" y="3081528"/>
            <a:ext cx="91440" cy="914400"/>
          </a:xfrm>
          <a:prstGeom prst="rect">
            <a:avLst/>
          </a:prstGeom>
          <a:solidFill>
            <a:srgbClr val="BE123C"/>
          </a:solidFill>
          <a:ln/>
        </p:spPr>
      </p:sp>
      <p:sp>
        <p:nvSpPr>
          <p:cNvPr id="19" name="Text 17"/>
          <p:cNvSpPr/>
          <p:nvPr/>
        </p:nvSpPr>
        <p:spPr>
          <a:xfrm>
            <a:off x="6693408" y="3209544"/>
            <a:ext cx="4937760" cy="320040"/>
          </a:xfrm>
          <a:prstGeom prst="rect">
            <a:avLst/>
          </a:prstGeom>
          <a:noFill/>
          <a:ln/>
        </p:spPr>
        <p:txBody>
          <a:bodyPr wrap="square" lIns="0" tIns="0" rIns="0" bIns="0" rtlCol="0" anchor="t"/>
          <a:lstStyle/>
          <a:p>
            <a:pPr marL="0" indent="0" algn="l">
              <a:buNone/>
            </a:pPr>
            <a:r>
              <a:rPr lang="en-US" sz="1600" b="1" dirty="0">
                <a:solidFill>
                  <a:srgbClr val="BE123C"/>
                </a:solidFill>
              </a:rPr>
              <a:t>Mixes the samples</a:t>
            </a:r>
            <a:endParaRPr lang="en-US" sz="1600" dirty="0"/>
          </a:p>
        </p:txBody>
      </p:sp>
      <p:sp>
        <p:nvSpPr>
          <p:cNvPr id="20" name="Text 18"/>
          <p:cNvSpPr/>
          <p:nvPr/>
        </p:nvSpPr>
        <p:spPr>
          <a:xfrm>
            <a:off x="6693408" y="3557016"/>
            <a:ext cx="4937760" cy="384048"/>
          </a:xfrm>
          <a:prstGeom prst="rect">
            <a:avLst/>
          </a:prstGeom>
          <a:noFill/>
          <a:ln/>
        </p:spPr>
        <p:txBody>
          <a:bodyPr wrap="square" lIns="0" tIns="0" rIns="0" bIns="0" rtlCol="0" anchor="t"/>
          <a:lstStyle/>
          <a:p>
            <a:pPr marL="0" indent="0" algn="l">
              <a:buNone/>
            </a:pPr>
            <a:r>
              <a:rPr lang="en-US" sz="1250" dirty="0">
                <a:solidFill>
                  <a:srgbClr val="1B2B31"/>
                </a:solidFill>
              </a:rPr>
              <a:t>pools healthy + biopsy + end-stage across a hidden acquisition break.</a:t>
            </a:r>
            <a:endParaRPr lang="en-US" sz="1250" dirty="0"/>
          </a:p>
        </p:txBody>
      </p:sp>
      <p:sp>
        <p:nvSpPr>
          <p:cNvPr id="21" name="Shape 19"/>
          <p:cNvSpPr/>
          <p:nvPr/>
        </p:nvSpPr>
        <p:spPr>
          <a:xfrm>
            <a:off x="6400800" y="4105656"/>
            <a:ext cx="5394960" cy="914400"/>
          </a:xfrm>
          <a:prstGeom prst="roundRect">
            <a:avLst>
              <a:gd name="adj" fmla="val 6000"/>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22" name="Shape 20"/>
          <p:cNvSpPr/>
          <p:nvPr/>
        </p:nvSpPr>
        <p:spPr>
          <a:xfrm>
            <a:off x="6400800" y="4105656"/>
            <a:ext cx="91440" cy="914400"/>
          </a:xfrm>
          <a:prstGeom prst="rect">
            <a:avLst/>
          </a:prstGeom>
          <a:solidFill>
            <a:srgbClr val="BE123C"/>
          </a:solidFill>
          <a:ln/>
        </p:spPr>
      </p:sp>
      <p:sp>
        <p:nvSpPr>
          <p:cNvPr id="23" name="Text 21"/>
          <p:cNvSpPr/>
          <p:nvPr/>
        </p:nvSpPr>
        <p:spPr>
          <a:xfrm>
            <a:off x="6693408" y="4233672"/>
            <a:ext cx="4937760" cy="320040"/>
          </a:xfrm>
          <a:prstGeom prst="rect">
            <a:avLst/>
          </a:prstGeom>
          <a:noFill/>
          <a:ln/>
        </p:spPr>
        <p:txBody>
          <a:bodyPr wrap="square" lIns="0" tIns="0" rIns="0" bIns="0" rtlCol="0" anchor="t"/>
          <a:lstStyle/>
          <a:p>
            <a:pPr marL="0" indent="0" algn="l">
              <a:buNone/>
            </a:pPr>
            <a:r>
              <a:rPr lang="en-US" sz="1600" b="1" dirty="0">
                <a:solidFill>
                  <a:srgbClr val="BE123C"/>
                </a:solidFill>
              </a:rPr>
              <a:t>Bent by artifacts</a:t>
            </a:r>
            <a:endParaRPr lang="en-US" sz="1600" dirty="0"/>
          </a:p>
        </p:txBody>
      </p:sp>
      <p:sp>
        <p:nvSpPr>
          <p:cNvPr id="24" name="Text 22"/>
          <p:cNvSpPr/>
          <p:nvPr/>
        </p:nvSpPr>
        <p:spPr>
          <a:xfrm>
            <a:off x="6693408" y="4581144"/>
            <a:ext cx="4937760" cy="384048"/>
          </a:xfrm>
          <a:prstGeom prst="rect">
            <a:avLst/>
          </a:prstGeom>
          <a:noFill/>
          <a:ln/>
        </p:spPr>
        <p:txBody>
          <a:bodyPr wrap="square" lIns="0" tIns="0" rIns="0" bIns="0" rtlCol="0" anchor="t"/>
          <a:lstStyle/>
          <a:p>
            <a:pPr marL="0" indent="0" algn="l">
              <a:buNone/>
            </a:pPr>
            <a:r>
              <a:rPr lang="en-US" sz="1250" dirty="0">
                <a:solidFill>
                  <a:srgbClr val="1B2B31"/>
                </a:solidFill>
              </a:rPr>
              <a:t>depth, cell number and tissue source all tilt a z-score or correlation.</a:t>
            </a:r>
            <a:endParaRPr lang="en-US" sz="1250" dirty="0"/>
          </a:p>
        </p:txBody>
      </p:sp>
      <p:sp>
        <p:nvSpPr>
          <p:cNvPr id="25" name="Shape 23"/>
          <p:cNvSpPr/>
          <p:nvPr/>
        </p:nvSpPr>
        <p:spPr>
          <a:xfrm>
            <a:off x="6400800" y="5157216"/>
            <a:ext cx="5394960" cy="566928"/>
          </a:xfrm>
          <a:prstGeom prst="roundRect">
            <a:avLst>
              <a:gd name="adj" fmla="val 9677"/>
            </a:avLst>
          </a:prstGeom>
          <a:solidFill>
            <a:srgbClr val="E7F0EE"/>
          </a:solidFill>
          <a:ln w="12700">
            <a:solidFill>
              <a:srgbClr val="1B6E78"/>
            </a:solidFill>
            <a:prstDash val="solid"/>
          </a:ln>
        </p:spPr>
      </p:sp>
      <p:sp>
        <p:nvSpPr>
          <p:cNvPr id="26" name="Text 24"/>
          <p:cNvSpPr/>
          <p:nvPr/>
        </p:nvSpPr>
        <p:spPr>
          <a:xfrm>
            <a:off x="6400800" y="5157216"/>
            <a:ext cx="5394960" cy="566928"/>
          </a:xfrm>
          <a:prstGeom prst="rect">
            <a:avLst/>
          </a:prstGeom>
          <a:noFill/>
          <a:ln/>
        </p:spPr>
        <p:txBody>
          <a:bodyPr wrap="square" rtlCol="0" anchor="ctr"/>
          <a:lstStyle/>
          <a:p>
            <a:pPr marL="0" indent="0" algn="ctr">
              <a:buNone/>
            </a:pPr>
            <a:r>
              <a:rPr lang="en-US" sz="1500" b="1" dirty="0">
                <a:solidFill>
                  <a:srgbClr val="123F47"/>
                </a:solidFill>
              </a:rPr>
              <a:t>→ so we count molecules instead.</a:t>
            </a:r>
            <a:endParaRPr lang="en-US" sz="1500" dirty="0"/>
          </a:p>
        </p:txBody>
      </p:sp>
      <p:sp>
        <p:nvSpPr>
          <p:cNvPr id="27" name="Text 25"/>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28" name="Text 26"/>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3</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THE TISSUE — A CONFOUND</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THE CATCH</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Stage is entangled with how the tissue was taken</a:t>
            </a:r>
            <a:endParaRPr lang="en-US" sz="2800" dirty="0"/>
          </a:p>
        </p:txBody>
      </p:sp>
      <p:sp>
        <p:nvSpPr>
          <p:cNvPr id="6" name="Text 4"/>
          <p:cNvSpPr/>
          <p:nvPr/>
        </p:nvSpPr>
        <p:spPr>
          <a:xfrm>
            <a:off x="548640" y="1371600"/>
            <a:ext cx="11247120" cy="292608"/>
          </a:xfrm>
          <a:prstGeom prst="rect">
            <a:avLst/>
          </a:prstGeom>
          <a:noFill/>
          <a:ln/>
        </p:spPr>
        <p:txBody>
          <a:bodyPr wrap="square" rtlCol="0" anchor="ctr"/>
          <a:lstStyle/>
          <a:p>
            <a:r>
              <a:rPr lang="en-US" sz="1450" b="1" dirty="0">
                <a:solidFill>
                  <a:srgbClr val="BE123C"/>
                </a:solidFill>
              </a:rPr>
              <a:t>①  The two extremities are rouge  - acquisition isn’t needle biopsy </a:t>
            </a:r>
            <a:endParaRPr lang="en-US" sz="1450" dirty="0"/>
          </a:p>
        </p:txBody>
      </p:sp>
      <p:sp>
        <p:nvSpPr>
          <p:cNvPr id="7" name="Shape 5"/>
          <p:cNvSpPr/>
          <p:nvPr/>
        </p:nvSpPr>
        <p:spPr>
          <a:xfrm>
            <a:off x="914400" y="1874520"/>
            <a:ext cx="9235440" cy="0"/>
          </a:xfrm>
          <a:prstGeom prst="line">
            <a:avLst/>
          </a:prstGeom>
          <a:noFill/>
          <a:ln w="19050">
            <a:solidFill>
              <a:srgbClr val="5C6E73"/>
            </a:solidFill>
            <a:prstDash val="solid"/>
            <a:tailEnd type="triangle"/>
          </a:ln>
        </p:spPr>
      </p:sp>
      <p:sp>
        <p:nvSpPr>
          <p:cNvPr id="8" name="Shape 6"/>
          <p:cNvSpPr/>
          <p:nvPr/>
        </p:nvSpPr>
        <p:spPr>
          <a:xfrm>
            <a:off x="914400" y="1993392"/>
            <a:ext cx="1234440" cy="512064"/>
          </a:xfrm>
          <a:prstGeom prst="roundRect">
            <a:avLst>
              <a:gd name="adj" fmla="val 10714"/>
            </a:avLst>
          </a:prstGeom>
          <a:solidFill>
            <a:srgbClr val="BE123C"/>
          </a:solidFill>
          <a:ln/>
          <a:effectLst>
            <a:outerShdw blurRad="88900" dist="38100" dir="5400000" algn="bl" rotWithShape="0">
              <a:srgbClr val="000000">
                <a:alpha val="12000"/>
              </a:srgbClr>
            </a:outerShdw>
          </a:effectLst>
        </p:spPr>
      </p:sp>
      <p:sp>
        <p:nvSpPr>
          <p:cNvPr id="9" name="Text 7"/>
          <p:cNvSpPr/>
          <p:nvPr/>
        </p:nvSpPr>
        <p:spPr>
          <a:xfrm>
            <a:off x="914400" y="1993392"/>
            <a:ext cx="1234440" cy="512064"/>
          </a:xfrm>
          <a:prstGeom prst="rect">
            <a:avLst/>
          </a:prstGeom>
          <a:noFill/>
          <a:ln/>
        </p:spPr>
        <p:txBody>
          <a:bodyPr wrap="square" rtlCol="0" anchor="ctr"/>
          <a:lstStyle/>
          <a:p>
            <a:pPr marL="0" indent="0" algn="ctr">
              <a:buNone/>
            </a:pPr>
            <a:r>
              <a:rPr lang="en-US" sz="1300" b="1" dirty="0">
                <a:solidFill>
                  <a:srgbClr val="FFFFFF"/>
                </a:solidFill>
              </a:rPr>
              <a:t>Healthy</a:t>
            </a:r>
            <a:endParaRPr lang="en-US" sz="1300" dirty="0"/>
          </a:p>
        </p:txBody>
      </p:sp>
      <p:sp>
        <p:nvSpPr>
          <p:cNvPr id="10" name="Shape 8"/>
          <p:cNvSpPr/>
          <p:nvPr/>
        </p:nvSpPr>
        <p:spPr>
          <a:xfrm>
            <a:off x="2468880" y="1993392"/>
            <a:ext cx="1005840" cy="512064"/>
          </a:xfrm>
          <a:prstGeom prst="roundRect">
            <a:avLst>
              <a:gd name="adj" fmla="val 10714"/>
            </a:avLst>
          </a:prstGeom>
          <a:solidFill>
            <a:srgbClr val="0D9488"/>
          </a:solidFill>
          <a:ln/>
          <a:effectLst>
            <a:outerShdw blurRad="88900" dist="38100" dir="5400000" algn="bl" rotWithShape="0">
              <a:srgbClr val="000000">
                <a:alpha val="12000"/>
              </a:srgbClr>
            </a:outerShdw>
          </a:effectLst>
        </p:spPr>
      </p:sp>
      <p:sp>
        <p:nvSpPr>
          <p:cNvPr id="11" name="Text 9"/>
          <p:cNvSpPr/>
          <p:nvPr/>
        </p:nvSpPr>
        <p:spPr>
          <a:xfrm>
            <a:off x="2468880" y="1993392"/>
            <a:ext cx="1005840" cy="512064"/>
          </a:xfrm>
          <a:prstGeom prst="rect">
            <a:avLst/>
          </a:prstGeom>
          <a:noFill/>
          <a:ln/>
        </p:spPr>
        <p:txBody>
          <a:bodyPr wrap="square" rtlCol="0" anchor="ctr"/>
          <a:lstStyle/>
          <a:p>
            <a:pPr marL="0" indent="0" algn="ctr">
              <a:buNone/>
            </a:pPr>
            <a:r>
              <a:rPr lang="en-US" sz="1300" b="1" dirty="0">
                <a:solidFill>
                  <a:srgbClr val="FFFFFF"/>
                </a:solidFill>
              </a:rPr>
              <a:t>F0</a:t>
            </a:r>
            <a:endParaRPr lang="en-US" sz="1300" dirty="0"/>
          </a:p>
        </p:txBody>
      </p:sp>
      <p:sp>
        <p:nvSpPr>
          <p:cNvPr id="12" name="Shape 10"/>
          <p:cNvSpPr/>
          <p:nvPr/>
        </p:nvSpPr>
        <p:spPr>
          <a:xfrm>
            <a:off x="3566160" y="1993392"/>
            <a:ext cx="1005840" cy="512064"/>
          </a:xfrm>
          <a:prstGeom prst="roundRect">
            <a:avLst>
              <a:gd name="adj" fmla="val 10714"/>
            </a:avLst>
          </a:prstGeom>
          <a:solidFill>
            <a:srgbClr val="0D9488"/>
          </a:solidFill>
          <a:ln/>
          <a:effectLst>
            <a:outerShdw blurRad="88900" dist="38100" dir="5400000" algn="bl" rotWithShape="0">
              <a:srgbClr val="000000">
                <a:alpha val="12000"/>
              </a:srgbClr>
            </a:outerShdw>
          </a:effectLst>
        </p:spPr>
      </p:sp>
      <p:sp>
        <p:nvSpPr>
          <p:cNvPr id="13" name="Text 11"/>
          <p:cNvSpPr/>
          <p:nvPr/>
        </p:nvSpPr>
        <p:spPr>
          <a:xfrm>
            <a:off x="3566160" y="1993392"/>
            <a:ext cx="1005840" cy="512064"/>
          </a:xfrm>
          <a:prstGeom prst="rect">
            <a:avLst/>
          </a:prstGeom>
          <a:noFill/>
          <a:ln/>
        </p:spPr>
        <p:txBody>
          <a:bodyPr wrap="square" rtlCol="0" anchor="ctr"/>
          <a:lstStyle/>
          <a:p>
            <a:pPr marL="0" indent="0" algn="ctr">
              <a:buNone/>
            </a:pPr>
            <a:r>
              <a:rPr lang="en-US" sz="1300" b="1" dirty="0">
                <a:solidFill>
                  <a:srgbClr val="FFFFFF"/>
                </a:solidFill>
              </a:rPr>
              <a:t>F1</a:t>
            </a:r>
            <a:endParaRPr lang="en-US" sz="1300" dirty="0"/>
          </a:p>
        </p:txBody>
      </p:sp>
      <p:sp>
        <p:nvSpPr>
          <p:cNvPr id="14" name="Shape 12"/>
          <p:cNvSpPr/>
          <p:nvPr/>
        </p:nvSpPr>
        <p:spPr>
          <a:xfrm>
            <a:off x="4663440" y="1993392"/>
            <a:ext cx="1005840" cy="512064"/>
          </a:xfrm>
          <a:prstGeom prst="roundRect">
            <a:avLst>
              <a:gd name="adj" fmla="val 10714"/>
            </a:avLst>
          </a:prstGeom>
          <a:solidFill>
            <a:srgbClr val="0D9488"/>
          </a:solidFill>
          <a:ln/>
          <a:effectLst>
            <a:outerShdw blurRad="88900" dist="38100" dir="5400000" algn="bl" rotWithShape="0">
              <a:srgbClr val="000000">
                <a:alpha val="12000"/>
              </a:srgbClr>
            </a:outerShdw>
          </a:effectLst>
        </p:spPr>
      </p:sp>
      <p:sp>
        <p:nvSpPr>
          <p:cNvPr id="15" name="Text 13"/>
          <p:cNvSpPr/>
          <p:nvPr/>
        </p:nvSpPr>
        <p:spPr>
          <a:xfrm>
            <a:off x="4663440" y="1993392"/>
            <a:ext cx="1005840" cy="512064"/>
          </a:xfrm>
          <a:prstGeom prst="rect">
            <a:avLst/>
          </a:prstGeom>
          <a:noFill/>
          <a:ln/>
        </p:spPr>
        <p:txBody>
          <a:bodyPr wrap="square" rtlCol="0" anchor="ctr"/>
          <a:lstStyle/>
          <a:p>
            <a:pPr marL="0" indent="0" algn="ctr">
              <a:buNone/>
            </a:pPr>
            <a:r>
              <a:rPr lang="en-US" sz="1300" b="1" dirty="0">
                <a:solidFill>
                  <a:srgbClr val="FFFFFF"/>
                </a:solidFill>
              </a:rPr>
              <a:t>F2</a:t>
            </a:r>
            <a:endParaRPr lang="en-US" sz="1300" dirty="0"/>
          </a:p>
        </p:txBody>
      </p:sp>
      <p:sp>
        <p:nvSpPr>
          <p:cNvPr id="16" name="Shape 14"/>
          <p:cNvSpPr/>
          <p:nvPr/>
        </p:nvSpPr>
        <p:spPr>
          <a:xfrm>
            <a:off x="5760720" y="1993392"/>
            <a:ext cx="1005840" cy="512064"/>
          </a:xfrm>
          <a:prstGeom prst="roundRect">
            <a:avLst>
              <a:gd name="adj" fmla="val 10714"/>
            </a:avLst>
          </a:prstGeom>
          <a:solidFill>
            <a:srgbClr val="0D9488"/>
          </a:solidFill>
          <a:ln/>
          <a:effectLst>
            <a:outerShdw blurRad="88900" dist="38100" dir="5400000" algn="bl" rotWithShape="0">
              <a:srgbClr val="000000">
                <a:alpha val="12000"/>
              </a:srgbClr>
            </a:outerShdw>
          </a:effectLst>
        </p:spPr>
      </p:sp>
      <p:sp>
        <p:nvSpPr>
          <p:cNvPr id="17" name="Text 15"/>
          <p:cNvSpPr/>
          <p:nvPr/>
        </p:nvSpPr>
        <p:spPr>
          <a:xfrm>
            <a:off x="5760720" y="1993392"/>
            <a:ext cx="1005840" cy="512064"/>
          </a:xfrm>
          <a:prstGeom prst="rect">
            <a:avLst/>
          </a:prstGeom>
          <a:noFill/>
          <a:ln/>
        </p:spPr>
        <p:txBody>
          <a:bodyPr wrap="square" rtlCol="0" anchor="ctr"/>
          <a:lstStyle/>
          <a:p>
            <a:pPr marL="0" indent="0" algn="ctr">
              <a:buNone/>
            </a:pPr>
            <a:r>
              <a:rPr lang="en-US" sz="1300" b="1" dirty="0">
                <a:solidFill>
                  <a:srgbClr val="FFFFFF"/>
                </a:solidFill>
              </a:rPr>
              <a:t>F3</a:t>
            </a:r>
            <a:endParaRPr lang="en-US" sz="1300" dirty="0"/>
          </a:p>
        </p:txBody>
      </p:sp>
      <p:sp>
        <p:nvSpPr>
          <p:cNvPr id="18" name="Shape 16"/>
          <p:cNvSpPr/>
          <p:nvPr/>
        </p:nvSpPr>
        <p:spPr>
          <a:xfrm>
            <a:off x="6858000" y="1993392"/>
            <a:ext cx="1005840" cy="512064"/>
          </a:xfrm>
          <a:prstGeom prst="roundRect">
            <a:avLst>
              <a:gd name="adj" fmla="val 10714"/>
            </a:avLst>
          </a:prstGeom>
          <a:solidFill>
            <a:srgbClr val="0D9488"/>
          </a:solidFill>
          <a:ln/>
          <a:effectLst>
            <a:outerShdw blurRad="88900" dist="38100" dir="5400000" algn="bl" rotWithShape="0">
              <a:srgbClr val="000000">
                <a:alpha val="12000"/>
              </a:srgbClr>
            </a:outerShdw>
          </a:effectLst>
        </p:spPr>
      </p:sp>
      <p:sp>
        <p:nvSpPr>
          <p:cNvPr id="19" name="Text 17"/>
          <p:cNvSpPr/>
          <p:nvPr/>
        </p:nvSpPr>
        <p:spPr>
          <a:xfrm>
            <a:off x="6858000" y="1993392"/>
            <a:ext cx="1005840" cy="512064"/>
          </a:xfrm>
          <a:prstGeom prst="rect">
            <a:avLst/>
          </a:prstGeom>
          <a:noFill/>
          <a:ln/>
        </p:spPr>
        <p:txBody>
          <a:bodyPr wrap="square" rtlCol="0" anchor="ctr"/>
          <a:lstStyle/>
          <a:p>
            <a:pPr marL="0" indent="0" algn="ctr">
              <a:buNone/>
            </a:pPr>
            <a:r>
              <a:rPr lang="en-US" sz="1300" b="1" dirty="0">
                <a:solidFill>
                  <a:srgbClr val="FFFFFF"/>
                </a:solidFill>
              </a:rPr>
              <a:t>F4</a:t>
            </a:r>
            <a:endParaRPr lang="en-US" sz="1300" dirty="0"/>
          </a:p>
        </p:txBody>
      </p:sp>
      <p:sp>
        <p:nvSpPr>
          <p:cNvPr id="20" name="Shape 18"/>
          <p:cNvSpPr/>
          <p:nvPr/>
        </p:nvSpPr>
        <p:spPr>
          <a:xfrm>
            <a:off x="8229600" y="1993392"/>
            <a:ext cx="1920240" cy="512064"/>
          </a:xfrm>
          <a:prstGeom prst="roundRect">
            <a:avLst>
              <a:gd name="adj" fmla="val 10714"/>
            </a:avLst>
          </a:prstGeom>
          <a:solidFill>
            <a:srgbClr val="86198F"/>
          </a:solidFill>
          <a:ln/>
          <a:effectLst>
            <a:outerShdw blurRad="88900" dist="38100" dir="5400000" algn="bl" rotWithShape="0">
              <a:srgbClr val="000000">
                <a:alpha val="12000"/>
              </a:srgbClr>
            </a:outerShdw>
          </a:effectLst>
        </p:spPr>
      </p:sp>
      <p:sp>
        <p:nvSpPr>
          <p:cNvPr id="21" name="Text 19"/>
          <p:cNvSpPr/>
          <p:nvPr/>
        </p:nvSpPr>
        <p:spPr>
          <a:xfrm>
            <a:off x="8229600" y="1993392"/>
            <a:ext cx="1920240" cy="512064"/>
          </a:xfrm>
          <a:prstGeom prst="rect">
            <a:avLst/>
          </a:prstGeom>
          <a:noFill/>
          <a:ln/>
        </p:spPr>
        <p:txBody>
          <a:bodyPr wrap="square" rtlCol="0" anchor="ctr"/>
          <a:lstStyle/>
          <a:p>
            <a:pPr marL="0" indent="0" algn="ctr">
              <a:buNone/>
            </a:pPr>
            <a:r>
              <a:rPr lang="en-US" sz="1300" b="1" dirty="0">
                <a:solidFill>
                  <a:srgbClr val="FFFFFF"/>
                </a:solidFill>
              </a:rPr>
              <a:t>End-stage</a:t>
            </a:r>
            <a:endParaRPr lang="en-US" sz="1300" dirty="0"/>
          </a:p>
        </p:txBody>
      </p:sp>
      <p:sp>
        <p:nvSpPr>
          <p:cNvPr id="22" name="Shape 20"/>
          <p:cNvSpPr/>
          <p:nvPr/>
        </p:nvSpPr>
        <p:spPr>
          <a:xfrm>
            <a:off x="850392" y="1938528"/>
            <a:ext cx="1362456" cy="877824"/>
          </a:xfrm>
          <a:prstGeom prst="rect">
            <a:avLst/>
          </a:prstGeom>
          <a:ln w="22860">
            <a:solidFill>
              <a:srgbClr val="BE123C"/>
            </a:solidFill>
            <a:prstDash val="dash"/>
          </a:ln>
        </p:spPr>
      </p:sp>
      <p:sp>
        <p:nvSpPr>
          <p:cNvPr id="23" name="Shape 21"/>
          <p:cNvSpPr/>
          <p:nvPr/>
        </p:nvSpPr>
        <p:spPr>
          <a:xfrm>
            <a:off x="8156448" y="1938528"/>
            <a:ext cx="2066544" cy="877824"/>
          </a:xfrm>
          <a:prstGeom prst="rect">
            <a:avLst/>
          </a:prstGeom>
          <a:ln w="22860">
            <a:solidFill>
              <a:srgbClr val="BE123C"/>
            </a:solidFill>
            <a:prstDash val="dash"/>
          </a:ln>
        </p:spPr>
      </p:sp>
      <p:sp>
        <p:nvSpPr>
          <p:cNvPr id="24" name="Text 22"/>
          <p:cNvSpPr/>
          <p:nvPr/>
        </p:nvSpPr>
        <p:spPr>
          <a:xfrm>
            <a:off x="502920" y="2560320"/>
            <a:ext cx="2103120" cy="228600"/>
          </a:xfrm>
          <a:prstGeom prst="rect">
            <a:avLst/>
          </a:prstGeom>
          <a:noFill/>
          <a:ln/>
        </p:spPr>
        <p:txBody>
          <a:bodyPr wrap="square" rtlCol="0" anchor="ctr"/>
          <a:lstStyle/>
          <a:p>
            <a:pPr marL="0" indent="0" algn="ctr">
              <a:buNone/>
            </a:pPr>
            <a:r>
              <a:rPr lang="en-US" sz="1100" dirty="0">
                <a:solidFill>
                  <a:srgbClr val="BE123C"/>
                </a:solidFill>
              </a:rPr>
              <a:t>deceased-donor</a:t>
            </a:r>
            <a:endParaRPr lang="en-US" sz="1100" dirty="0"/>
          </a:p>
        </p:txBody>
      </p:sp>
      <p:sp>
        <p:nvSpPr>
          <p:cNvPr id="25" name="Text 23"/>
          <p:cNvSpPr/>
          <p:nvPr/>
        </p:nvSpPr>
        <p:spPr>
          <a:xfrm>
            <a:off x="2468880" y="2560320"/>
            <a:ext cx="5029200" cy="228600"/>
          </a:xfrm>
          <a:prstGeom prst="rect">
            <a:avLst/>
          </a:prstGeom>
          <a:noFill/>
          <a:ln/>
        </p:spPr>
        <p:txBody>
          <a:bodyPr wrap="square" rtlCol="0" anchor="ctr"/>
          <a:lstStyle/>
          <a:p>
            <a:pPr marL="0" indent="0" algn="ctr">
              <a:buNone/>
            </a:pPr>
            <a:r>
              <a:rPr lang="en-US" sz="1200" b="1" dirty="0">
                <a:solidFill>
                  <a:srgbClr val="0D9488"/>
                </a:solidFill>
              </a:rPr>
              <a:t>16-gauge needle biopsies</a:t>
            </a:r>
            <a:endParaRPr lang="en-US" sz="1200" dirty="0"/>
          </a:p>
        </p:txBody>
      </p:sp>
      <p:sp>
        <p:nvSpPr>
          <p:cNvPr id="26" name="Text 24"/>
          <p:cNvSpPr/>
          <p:nvPr/>
        </p:nvSpPr>
        <p:spPr>
          <a:xfrm>
            <a:off x="8156448" y="2560320"/>
            <a:ext cx="2066544" cy="228600"/>
          </a:xfrm>
          <a:prstGeom prst="rect">
            <a:avLst/>
          </a:prstGeom>
          <a:noFill/>
          <a:ln/>
        </p:spPr>
        <p:txBody>
          <a:bodyPr wrap="square" rtlCol="0" anchor="ctr"/>
          <a:lstStyle/>
          <a:p>
            <a:pPr marL="0" indent="0" algn="ctr">
              <a:buNone/>
            </a:pPr>
            <a:r>
              <a:rPr lang="en-US" sz="1100" dirty="0">
                <a:solidFill>
                  <a:srgbClr val="86198F"/>
                </a:solidFill>
              </a:rPr>
              <a:t>explants</a:t>
            </a:r>
            <a:endParaRPr lang="en-US" sz="1100" dirty="0"/>
          </a:p>
        </p:txBody>
      </p:sp>
      <p:sp>
        <p:nvSpPr>
          <p:cNvPr id="27" name="Text 25"/>
          <p:cNvSpPr/>
          <p:nvPr/>
        </p:nvSpPr>
        <p:spPr>
          <a:xfrm>
            <a:off x="914400" y="2926080"/>
            <a:ext cx="10241280" cy="320040"/>
          </a:xfrm>
          <a:prstGeom prst="rect">
            <a:avLst/>
          </a:prstGeom>
          <a:noFill/>
          <a:ln/>
        </p:spPr>
        <p:txBody>
          <a:bodyPr wrap="square" rtlCol="0" anchor="ctr"/>
          <a:lstStyle/>
          <a:p>
            <a:pPr marL="0" indent="0" algn="ctr">
              <a:buNone/>
            </a:pPr>
            <a:r>
              <a:rPr lang="en-US" sz="1350" dirty="0">
                <a:solidFill>
                  <a:srgbClr val="1B2B31"/>
                </a:solidFill>
              </a:rPr>
              <a:t>The ends aren’t acquisition-matched to the biopsies (2/8/12/12/4) → </a:t>
            </a:r>
            <a:r>
              <a:rPr lang="en-US" sz="1350" b="1" dirty="0">
                <a:solidFill>
                  <a:srgbClr val="0D9488"/>
                </a:solidFill>
              </a:rPr>
              <a:t>we use biopsy-only F1–F4.</a:t>
            </a:r>
            <a:endParaRPr lang="en-US" sz="1350" dirty="0"/>
          </a:p>
        </p:txBody>
      </p:sp>
      <p:sp>
        <p:nvSpPr>
          <p:cNvPr id="28" name="Text 26"/>
          <p:cNvSpPr/>
          <p:nvPr/>
        </p:nvSpPr>
        <p:spPr>
          <a:xfrm>
            <a:off x="548640" y="3456432"/>
            <a:ext cx="11247120" cy="292608"/>
          </a:xfrm>
          <a:prstGeom prst="rect">
            <a:avLst/>
          </a:prstGeom>
          <a:noFill/>
          <a:ln/>
        </p:spPr>
        <p:txBody>
          <a:bodyPr wrap="square" rtlCol="0" anchor="ctr"/>
          <a:lstStyle/>
          <a:p>
            <a:pPr marL="0" indent="0" algn="l">
              <a:buNone/>
            </a:pPr>
            <a:r>
              <a:rPr lang="en-US" sz="1450" b="1" dirty="0">
                <a:solidFill>
                  <a:srgbClr val="DC2626"/>
                </a:solidFill>
              </a:rPr>
              <a:t>②  And they also carry organ-wide stress</a:t>
            </a:r>
            <a:endParaRPr lang="en-US" sz="1450" dirty="0"/>
          </a:p>
        </p:txBody>
      </p:sp>
      <p:pic>
        <p:nvPicPr>
          <p:cNvPr id="29" name="Image 0" descr="D:\CS\Genomics\Hackathon\presentation/assets/fig_stress.png"/>
          <p:cNvPicPr>
            <a:picLocks noChangeAspect="1"/>
          </p:cNvPicPr>
          <p:nvPr/>
        </p:nvPicPr>
        <p:blipFill>
          <a:blip r:embed="rId3"/>
          <a:stretch>
            <a:fillRect/>
          </a:stretch>
        </p:blipFill>
        <p:spPr>
          <a:xfrm>
            <a:off x="1341935" y="3840480"/>
            <a:ext cx="5362850" cy="2057400"/>
          </a:xfrm>
          <a:prstGeom prst="rect">
            <a:avLst/>
          </a:prstGeom>
        </p:spPr>
      </p:pic>
      <p:sp>
        <p:nvSpPr>
          <p:cNvPr id="30" name="Text 27"/>
          <p:cNvSpPr/>
          <p:nvPr/>
        </p:nvSpPr>
        <p:spPr>
          <a:xfrm>
            <a:off x="274320" y="5786772"/>
            <a:ext cx="749808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1.  Procurement-stress module by tissue source (donor-level).</a:t>
            </a:r>
            <a:endParaRPr lang="en-US" sz="1200" dirty="0"/>
          </a:p>
        </p:txBody>
      </p:sp>
      <p:sp>
        <p:nvSpPr>
          <p:cNvPr id="31" name="Text 28"/>
          <p:cNvSpPr/>
          <p:nvPr/>
        </p:nvSpPr>
        <p:spPr>
          <a:xfrm>
            <a:off x="8001000" y="3886200"/>
            <a:ext cx="3886200" cy="548640"/>
          </a:xfrm>
          <a:prstGeom prst="rect">
            <a:avLst/>
          </a:prstGeom>
          <a:noFill/>
          <a:ln/>
        </p:spPr>
        <p:txBody>
          <a:bodyPr wrap="square" rtlCol="0" anchor="t"/>
          <a:lstStyle/>
          <a:p>
            <a:pPr marL="0" indent="0" algn="l">
              <a:buNone/>
            </a:pPr>
            <a:r>
              <a:rPr lang="en-US" sz="1550" b="1" dirty="0">
                <a:solidFill>
                  <a:srgbClr val="DC2626"/>
                </a:solidFill>
              </a:rPr>
              <a:t>Stress spikes even where there’s no zonation.</a:t>
            </a:r>
            <a:endParaRPr lang="en-US" sz="1550" dirty="0"/>
          </a:p>
        </p:txBody>
      </p:sp>
      <p:sp>
        <p:nvSpPr>
          <p:cNvPr id="32" name="Text 29"/>
          <p:cNvSpPr/>
          <p:nvPr/>
        </p:nvSpPr>
        <p:spPr>
          <a:xfrm>
            <a:off x="8001000" y="4617720"/>
            <a:ext cx="3886200" cy="1325880"/>
          </a:xfrm>
          <a:prstGeom prst="rect">
            <a:avLst/>
          </a:prstGeom>
          <a:noFill/>
          <a:ln/>
        </p:spPr>
        <p:txBody>
          <a:bodyPr wrap="square" rtlCol="0" anchor="t"/>
          <a:lstStyle/>
          <a:p>
            <a:pPr marL="0" indent="0" algn="l">
              <a:buNone/>
            </a:pPr>
            <a:r>
              <a:rPr lang="en-US" sz="1250" dirty="0">
                <a:solidFill>
                  <a:srgbClr val="1B2B31"/>
                </a:solidFill>
              </a:rPr>
              <a:t>Immediate-early / heat-shock genes jump 18× in the ends — but </a:t>
            </a:r>
            <a:r>
              <a:rPr lang="en-US" sz="1250" b="1" dirty="0">
                <a:solidFill>
                  <a:srgbClr val="1B2B31"/>
                </a:solidFill>
              </a:rPr>
              <a:t>endothelium, which has no zonation program, jumps 18× too</a:t>
            </a:r>
            <a:r>
              <a:rPr lang="en-US" sz="1250" dirty="0">
                <a:solidFill>
                  <a:srgbClr val="1B2B31"/>
                </a:solidFill>
              </a:rPr>
              <a:t>; hypoxia (HIF) stays flat. So it’s not necessary zonation change affect – but rather, at least as probable - acute handling¹.</a:t>
            </a:r>
            <a:endParaRPr lang="en-US" sz="1250" dirty="0"/>
          </a:p>
        </p:txBody>
      </p:sp>
      <p:sp>
        <p:nvSpPr>
          <p:cNvPr id="33" name="Shape 30"/>
          <p:cNvSpPr/>
          <p:nvPr/>
        </p:nvSpPr>
        <p:spPr>
          <a:xfrm>
            <a:off x="457200" y="6199632"/>
            <a:ext cx="2926080" cy="0"/>
          </a:xfrm>
          <a:prstGeom prst="line">
            <a:avLst/>
          </a:prstGeom>
          <a:noFill/>
          <a:ln w="9525">
            <a:solidFill>
              <a:srgbClr val="C9C0B2"/>
            </a:solidFill>
            <a:prstDash val="solid"/>
          </a:ln>
        </p:spPr>
      </p:sp>
      <p:sp>
        <p:nvSpPr>
          <p:cNvPr id="34" name="Text 31"/>
          <p:cNvSpPr/>
          <p:nvPr/>
        </p:nvSpPr>
        <p:spPr>
          <a:xfrm>
            <a:off x="457200" y="6254496"/>
            <a:ext cx="10607040" cy="237744"/>
          </a:xfrm>
          <a:prstGeom prst="rect">
            <a:avLst/>
          </a:prstGeom>
          <a:noFill/>
          <a:ln/>
        </p:spPr>
        <p:txBody>
          <a:bodyPr wrap="square" lIns="0" tIns="0" rIns="0" bIns="0" rtlCol="0" anchor="ctr"/>
          <a:lstStyle/>
          <a:p>
            <a:pPr marL="0" indent="0" algn="l">
              <a:buNone/>
            </a:pPr>
            <a:r>
              <a:rPr lang="en-US" sz="1000" i="1" dirty="0">
                <a:solidFill>
                  <a:srgbClr val="6B6256"/>
                </a:solidFill>
              </a:rPr>
              <a:t>¹ Dissociation / handling artifact: van den Brink et al. 2017; O’Flanagan et al. 2019; Denisenko et al. 2020.   Provenance: paper Methods + GSE202379 metadata.</a:t>
            </a:r>
            <a:endParaRPr lang="en-US" sz="1000" dirty="0"/>
          </a:p>
        </p:txBody>
      </p:sp>
      <p:sp>
        <p:nvSpPr>
          <p:cNvPr id="35" name="Text 32"/>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36" name="Text 33"/>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4</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42B"/>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sp>
      <p:sp>
        <p:nvSpPr>
          <p:cNvPr id="3" name="Shape 1"/>
          <p:cNvSpPr/>
          <p:nvPr/>
        </p:nvSpPr>
        <p:spPr>
          <a:xfrm>
            <a:off x="256032" y="0"/>
            <a:ext cx="109728" cy="6858000"/>
          </a:xfrm>
          <a:prstGeom prst="rect">
            <a:avLst/>
          </a:prstGeom>
          <a:solidFill>
            <a:srgbClr val="C0561B"/>
          </a:solidFill>
          <a:ln/>
        </p:spPr>
      </p:sp>
      <p:sp>
        <p:nvSpPr>
          <p:cNvPr id="4" name="Text 2"/>
          <p:cNvSpPr/>
          <p:nvPr/>
        </p:nvSpPr>
        <p:spPr>
          <a:xfrm>
            <a:off x="868680" y="2651760"/>
            <a:ext cx="10515600" cy="1005840"/>
          </a:xfrm>
          <a:prstGeom prst="rect">
            <a:avLst/>
          </a:prstGeom>
          <a:noFill/>
          <a:ln/>
        </p:spPr>
        <p:txBody>
          <a:bodyPr wrap="square" rtlCol="0" anchor="ctr"/>
          <a:lstStyle/>
          <a:p>
            <a:pPr marL="0" indent="0" algn="l">
              <a:buNone/>
            </a:pPr>
            <a:r>
              <a:rPr lang="en-US" sz="4400" b="1" dirty="0">
                <a:solidFill>
                  <a:srgbClr val="FFFFFF"/>
                </a:solidFill>
                <a:latin typeface="Georgia" pitchFamily="34" charset="0"/>
                <a:ea typeface="Georgia" pitchFamily="34" charset="-122"/>
                <a:cs typeface="Georgia" pitchFamily="34" charset="-120"/>
              </a:rPr>
              <a:t>Method</a:t>
            </a:r>
            <a:endParaRPr lang="en-US" sz="4400" dirty="0"/>
          </a:p>
        </p:txBody>
      </p:sp>
      <p:sp>
        <p:nvSpPr>
          <p:cNvPr id="5" name="Text 3"/>
          <p:cNvSpPr/>
          <p:nvPr/>
        </p:nvSpPr>
        <p:spPr>
          <a:xfrm>
            <a:off x="896112" y="3794760"/>
            <a:ext cx="10515600" cy="457200"/>
          </a:xfrm>
          <a:prstGeom prst="rect">
            <a:avLst/>
          </a:prstGeom>
          <a:noFill/>
          <a:ln/>
        </p:spPr>
        <p:txBody>
          <a:bodyPr wrap="square" rtlCol="0" anchor="ctr"/>
          <a:lstStyle/>
          <a:p>
            <a:pPr marL="0" indent="0" algn="l">
              <a:buNone/>
            </a:pPr>
            <a:r>
              <a:rPr lang="en-US" sz="1700" i="1" dirty="0">
                <a:solidFill>
                  <a:srgbClr val="9FC0C4"/>
                </a:solidFill>
              </a:rPr>
              <a:t>how we re-test it, in counts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WHAT WE MEASURE</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METHOD</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Four classes — and the four ways they can move</a:t>
            </a:r>
            <a:endParaRPr lang="en-US" sz="2800" dirty="0"/>
          </a:p>
        </p:txBody>
      </p:sp>
      <p:sp>
        <p:nvSpPr>
          <p:cNvPr id="6" name="Text 4"/>
          <p:cNvSpPr/>
          <p:nvPr/>
        </p:nvSpPr>
        <p:spPr>
          <a:xfrm>
            <a:off x="640080" y="1325880"/>
            <a:ext cx="11247120" cy="457200"/>
          </a:xfrm>
          <a:prstGeom prst="rect">
            <a:avLst/>
          </a:prstGeom>
          <a:noFill/>
          <a:ln/>
        </p:spPr>
        <p:txBody>
          <a:bodyPr wrap="square" rtlCol="0" anchor="ctr"/>
          <a:lstStyle/>
          <a:p>
            <a:pPr marL="0" indent="0" algn="l">
              <a:buNone/>
            </a:pPr>
            <a:r>
              <a:rPr lang="en-US" sz="1500" b="1" dirty="0">
                <a:solidFill>
                  <a:srgbClr val="1B2B31"/>
                </a:solidFill>
              </a:rPr>
              <a:t>Every hepatocyte is one of four classes (left). </a:t>
            </a:r>
          </a:p>
          <a:p>
            <a:pPr marL="0" indent="0" algn="l">
              <a:buNone/>
            </a:pPr>
            <a:r>
              <a:rPr lang="en-US" sz="1500" b="1" dirty="0">
                <a:solidFill>
                  <a:srgbClr val="1B2B31"/>
                </a:solidFill>
              </a:rPr>
              <a:t>	</a:t>
            </a:r>
            <a:r>
              <a:rPr lang="en-US" sz="1500" dirty="0">
                <a:solidFill>
                  <a:srgbClr val="1B2B31"/>
                </a:solidFill>
              </a:rPr>
              <a:t>“Losing zonation” = cells redistribute across them — four distinct moves (right), each with its own count signature.</a:t>
            </a:r>
            <a:endParaRPr lang="en-US" sz="1500" dirty="0"/>
          </a:p>
        </p:txBody>
      </p:sp>
      <p:sp>
        <p:nvSpPr>
          <p:cNvPr id="7" name="Text 5"/>
          <p:cNvSpPr/>
          <p:nvPr/>
        </p:nvSpPr>
        <p:spPr>
          <a:xfrm>
            <a:off x="548640" y="2011680"/>
            <a:ext cx="5394960" cy="274320"/>
          </a:xfrm>
          <a:prstGeom prst="rect">
            <a:avLst/>
          </a:prstGeom>
          <a:noFill/>
          <a:ln/>
        </p:spPr>
        <p:txBody>
          <a:bodyPr wrap="square" rtlCol="0" anchor="ctr"/>
          <a:lstStyle/>
          <a:p>
            <a:pPr marL="0" indent="0" algn="l">
              <a:buNone/>
            </a:pPr>
            <a:r>
              <a:rPr lang="en-US" sz="1300" b="1" kern="0" spc="200" dirty="0">
                <a:solidFill>
                  <a:srgbClr val="5C6E73"/>
                </a:solidFill>
              </a:rPr>
              <a:t>THE FOUR CLASSES</a:t>
            </a:r>
            <a:endParaRPr lang="en-US" sz="1300" dirty="0"/>
          </a:p>
        </p:txBody>
      </p:sp>
      <p:sp>
        <p:nvSpPr>
          <p:cNvPr id="8" name="Text 6"/>
          <p:cNvSpPr/>
          <p:nvPr/>
        </p:nvSpPr>
        <p:spPr>
          <a:xfrm>
            <a:off x="1783080" y="2340864"/>
            <a:ext cx="4023360" cy="237744"/>
          </a:xfrm>
          <a:prstGeom prst="rect">
            <a:avLst/>
          </a:prstGeom>
          <a:noFill/>
          <a:ln/>
        </p:spPr>
        <p:txBody>
          <a:bodyPr wrap="square" lIns="0" tIns="0" rIns="0" bIns="0" rtlCol="0" anchor="ctr"/>
          <a:lstStyle/>
          <a:p>
            <a:pPr marL="0" indent="0" algn="ctr">
              <a:buNone/>
            </a:pPr>
            <a:r>
              <a:rPr lang="en-US" sz="1100" b="1" dirty="0">
                <a:solidFill>
                  <a:srgbClr val="EA580C"/>
                </a:solidFill>
              </a:rPr>
              <a:t>periportal program →</a:t>
            </a:r>
            <a:endParaRPr lang="en-US" sz="1100" dirty="0"/>
          </a:p>
        </p:txBody>
      </p:sp>
      <p:sp>
        <p:nvSpPr>
          <p:cNvPr id="9" name="Text 7"/>
          <p:cNvSpPr/>
          <p:nvPr/>
        </p:nvSpPr>
        <p:spPr>
          <a:xfrm>
            <a:off x="1783080" y="2596896"/>
            <a:ext cx="1965960" cy="237744"/>
          </a:xfrm>
          <a:prstGeom prst="rect">
            <a:avLst/>
          </a:prstGeom>
          <a:noFill/>
          <a:ln/>
        </p:spPr>
        <p:txBody>
          <a:bodyPr wrap="square" lIns="0" tIns="0" rIns="0" bIns="0" rtlCol="0" anchor="ctr"/>
          <a:lstStyle/>
          <a:p>
            <a:pPr marL="0" indent="0" algn="ctr">
              <a:buNone/>
            </a:pPr>
            <a:r>
              <a:rPr lang="en-US" sz="1100" b="1" dirty="0">
                <a:solidFill>
                  <a:srgbClr val="5C6E73"/>
                </a:solidFill>
              </a:rPr>
              <a:t>PP −</a:t>
            </a:r>
            <a:endParaRPr lang="en-US" sz="1100" dirty="0"/>
          </a:p>
        </p:txBody>
      </p:sp>
      <p:sp>
        <p:nvSpPr>
          <p:cNvPr id="10" name="Text 8"/>
          <p:cNvSpPr/>
          <p:nvPr/>
        </p:nvSpPr>
        <p:spPr>
          <a:xfrm>
            <a:off x="3840480" y="2596896"/>
            <a:ext cx="1965960" cy="237744"/>
          </a:xfrm>
          <a:prstGeom prst="rect">
            <a:avLst/>
          </a:prstGeom>
          <a:noFill/>
          <a:ln/>
        </p:spPr>
        <p:txBody>
          <a:bodyPr wrap="square" lIns="0" tIns="0" rIns="0" bIns="0" rtlCol="0" anchor="ctr"/>
          <a:lstStyle/>
          <a:p>
            <a:pPr marL="0" indent="0" algn="ctr">
              <a:buNone/>
            </a:pPr>
            <a:r>
              <a:rPr lang="en-US" sz="1100" b="1" dirty="0">
                <a:solidFill>
                  <a:srgbClr val="5C6E73"/>
                </a:solidFill>
              </a:rPr>
              <a:t>PP +</a:t>
            </a:r>
            <a:endParaRPr lang="en-US" sz="1100" dirty="0"/>
          </a:p>
        </p:txBody>
      </p:sp>
      <p:sp>
        <p:nvSpPr>
          <p:cNvPr id="11" name="Text 9"/>
          <p:cNvSpPr/>
          <p:nvPr/>
        </p:nvSpPr>
        <p:spPr>
          <a:xfrm>
            <a:off x="256032" y="3520440"/>
            <a:ext cx="1417320" cy="548640"/>
          </a:xfrm>
          <a:prstGeom prst="rect">
            <a:avLst/>
          </a:prstGeom>
          <a:noFill/>
          <a:ln/>
        </p:spPr>
        <p:txBody>
          <a:bodyPr wrap="square" lIns="0" tIns="0" rIns="0" bIns="0" rtlCol="0" anchor="ctr"/>
          <a:lstStyle/>
          <a:p>
            <a:pPr marL="0" indent="0" algn="ctr">
              <a:buNone/>
            </a:pPr>
            <a:r>
              <a:rPr lang="en-US" sz="1100" b="1" dirty="0">
                <a:solidFill>
                  <a:srgbClr val="1D4ED8"/>
                </a:solidFill>
              </a:rPr>
              <a:t>pericentral</a:t>
            </a:r>
            <a:endParaRPr lang="en-US" sz="1100" dirty="0"/>
          </a:p>
          <a:p>
            <a:pPr marL="0" indent="0" algn="ctr">
              <a:buNone/>
            </a:pPr>
            <a:r>
              <a:rPr lang="en-US" sz="1100" b="1" dirty="0">
                <a:solidFill>
                  <a:srgbClr val="1D4ED8"/>
                </a:solidFill>
              </a:rPr>
              <a:t>program ↓</a:t>
            </a:r>
            <a:endParaRPr lang="en-US" sz="1100" dirty="0"/>
          </a:p>
        </p:txBody>
      </p:sp>
      <p:sp>
        <p:nvSpPr>
          <p:cNvPr id="12" name="Text 10"/>
          <p:cNvSpPr/>
          <p:nvPr/>
        </p:nvSpPr>
        <p:spPr>
          <a:xfrm>
            <a:off x="457200" y="3154680"/>
            <a:ext cx="1234440" cy="237744"/>
          </a:xfrm>
          <a:prstGeom prst="rect">
            <a:avLst/>
          </a:prstGeom>
          <a:noFill/>
          <a:ln/>
        </p:spPr>
        <p:txBody>
          <a:bodyPr wrap="square" lIns="0" tIns="0" rIns="0" bIns="0" rtlCol="0" anchor="ctr"/>
          <a:lstStyle/>
          <a:p>
            <a:pPr marL="0" indent="0" algn="ctr">
              <a:buNone/>
            </a:pPr>
            <a:r>
              <a:rPr lang="en-US" sz="1100" b="1" dirty="0">
                <a:solidFill>
                  <a:srgbClr val="5C6E73"/>
                </a:solidFill>
              </a:rPr>
              <a:t>PC +</a:t>
            </a:r>
            <a:endParaRPr lang="en-US" sz="1100" dirty="0"/>
          </a:p>
        </p:txBody>
      </p:sp>
      <p:sp>
        <p:nvSpPr>
          <p:cNvPr id="13" name="Text 11"/>
          <p:cNvSpPr/>
          <p:nvPr/>
        </p:nvSpPr>
        <p:spPr>
          <a:xfrm>
            <a:off x="457200" y="4389120"/>
            <a:ext cx="1234440" cy="237744"/>
          </a:xfrm>
          <a:prstGeom prst="rect">
            <a:avLst/>
          </a:prstGeom>
          <a:noFill/>
          <a:ln/>
        </p:spPr>
        <p:txBody>
          <a:bodyPr wrap="square" lIns="0" tIns="0" rIns="0" bIns="0" rtlCol="0" anchor="ctr"/>
          <a:lstStyle/>
          <a:p>
            <a:pPr marL="0" indent="0" algn="ctr">
              <a:buNone/>
            </a:pPr>
            <a:r>
              <a:rPr lang="en-US" sz="1100" b="1" dirty="0">
                <a:solidFill>
                  <a:srgbClr val="5C6E73"/>
                </a:solidFill>
              </a:rPr>
              <a:t>PC −</a:t>
            </a:r>
            <a:endParaRPr lang="en-US" sz="1100" dirty="0"/>
          </a:p>
        </p:txBody>
      </p:sp>
      <p:sp>
        <p:nvSpPr>
          <p:cNvPr id="14" name="Shape 12"/>
          <p:cNvSpPr/>
          <p:nvPr/>
        </p:nvSpPr>
        <p:spPr>
          <a:xfrm>
            <a:off x="1783080" y="2880360"/>
            <a:ext cx="1965960" cy="1143000"/>
          </a:xfrm>
          <a:prstGeom prst="roundRect">
            <a:avLst>
              <a:gd name="adj" fmla="val 5600"/>
            </a:avLst>
          </a:prstGeom>
          <a:solidFill>
            <a:srgbClr val="1D4ED8"/>
          </a:solidFill>
          <a:ln/>
          <a:effectLst>
            <a:outerShdw blurRad="88900" dist="38100" dir="5400000" algn="bl" rotWithShape="0">
              <a:srgbClr val="000000">
                <a:alpha val="12000"/>
              </a:srgbClr>
            </a:outerShdw>
          </a:effectLst>
        </p:spPr>
      </p:sp>
      <p:sp>
        <p:nvSpPr>
          <p:cNvPr id="15" name="Text 13"/>
          <p:cNvSpPr/>
          <p:nvPr/>
        </p:nvSpPr>
        <p:spPr>
          <a:xfrm>
            <a:off x="1947672" y="2999232"/>
            <a:ext cx="1636776" cy="457200"/>
          </a:xfrm>
          <a:prstGeom prst="rect">
            <a:avLst/>
          </a:prstGeom>
          <a:noFill/>
          <a:ln/>
        </p:spPr>
        <p:txBody>
          <a:bodyPr wrap="square" lIns="0" tIns="0" rIns="0" bIns="0" rtlCol="0" anchor="t"/>
          <a:lstStyle/>
          <a:p>
            <a:pPr marL="0" indent="0" algn="l">
              <a:buNone/>
            </a:pPr>
            <a:r>
              <a:rPr lang="en-US" sz="2000" b="1" dirty="0">
                <a:solidFill>
                  <a:srgbClr val="FFFFFF"/>
                </a:solidFill>
                <a:latin typeface="Georgia" pitchFamily="34" charset="0"/>
                <a:ea typeface="Georgia" pitchFamily="34" charset="-122"/>
                <a:cs typeface="Georgia" pitchFamily="34" charset="-120"/>
              </a:rPr>
              <a:t>PC-anchor</a:t>
            </a:r>
            <a:endParaRPr lang="en-US" sz="2000" dirty="0"/>
          </a:p>
        </p:txBody>
      </p:sp>
      <p:sp>
        <p:nvSpPr>
          <p:cNvPr id="16" name="Text 14"/>
          <p:cNvSpPr/>
          <p:nvPr/>
        </p:nvSpPr>
        <p:spPr>
          <a:xfrm>
            <a:off x="1947672" y="3502152"/>
            <a:ext cx="1636776" cy="411480"/>
          </a:xfrm>
          <a:prstGeom prst="rect">
            <a:avLst/>
          </a:prstGeom>
          <a:noFill/>
          <a:ln/>
        </p:spPr>
        <p:txBody>
          <a:bodyPr wrap="square" lIns="0" tIns="0" rIns="0" bIns="0" rtlCol="0" anchor="t"/>
          <a:lstStyle/>
          <a:p>
            <a:pPr marL="0" indent="0" algn="l">
              <a:buNone/>
            </a:pPr>
            <a:r>
              <a:rPr lang="en-US" sz="1350" dirty="0">
                <a:solidFill>
                  <a:srgbClr val="FFFFFF"/>
                </a:solidFill>
              </a:rPr>
              <a:t>pericentral only</a:t>
            </a:r>
            <a:endParaRPr lang="en-US" sz="1350" dirty="0"/>
          </a:p>
        </p:txBody>
      </p:sp>
      <p:sp>
        <p:nvSpPr>
          <p:cNvPr id="17" name="Shape 15"/>
          <p:cNvSpPr/>
          <p:nvPr/>
        </p:nvSpPr>
        <p:spPr>
          <a:xfrm>
            <a:off x="3840480" y="2880360"/>
            <a:ext cx="1965960" cy="1143000"/>
          </a:xfrm>
          <a:prstGeom prst="roundRect">
            <a:avLst>
              <a:gd name="adj" fmla="val 5600"/>
            </a:avLst>
          </a:prstGeom>
          <a:solidFill>
            <a:srgbClr val="7C3AED"/>
          </a:solidFill>
          <a:ln/>
          <a:effectLst>
            <a:outerShdw blurRad="88900" dist="38100" dir="5400000" algn="bl" rotWithShape="0">
              <a:srgbClr val="000000">
                <a:alpha val="12000"/>
              </a:srgbClr>
            </a:outerShdw>
          </a:effectLst>
        </p:spPr>
      </p:sp>
      <p:sp>
        <p:nvSpPr>
          <p:cNvPr id="18" name="Text 16"/>
          <p:cNvSpPr/>
          <p:nvPr/>
        </p:nvSpPr>
        <p:spPr>
          <a:xfrm>
            <a:off x="4005072" y="2999232"/>
            <a:ext cx="1636776" cy="457200"/>
          </a:xfrm>
          <a:prstGeom prst="rect">
            <a:avLst/>
          </a:prstGeom>
          <a:noFill/>
          <a:ln/>
        </p:spPr>
        <p:txBody>
          <a:bodyPr wrap="square" lIns="0" tIns="0" rIns="0" bIns="0" rtlCol="0" anchor="t"/>
          <a:lstStyle/>
          <a:p>
            <a:pPr marL="0" indent="0" algn="l">
              <a:buNone/>
            </a:pPr>
            <a:r>
              <a:rPr lang="en-US" sz="2000" b="1" dirty="0">
                <a:solidFill>
                  <a:srgbClr val="FFFFFF"/>
                </a:solidFill>
                <a:latin typeface="Georgia" pitchFamily="34" charset="0"/>
                <a:ea typeface="Georgia" pitchFamily="34" charset="-122"/>
                <a:cs typeface="Georgia" pitchFamily="34" charset="-120"/>
              </a:rPr>
              <a:t>Dual</a:t>
            </a:r>
            <a:endParaRPr lang="en-US" sz="2000" dirty="0"/>
          </a:p>
        </p:txBody>
      </p:sp>
      <p:sp>
        <p:nvSpPr>
          <p:cNvPr id="19" name="Text 17"/>
          <p:cNvSpPr/>
          <p:nvPr/>
        </p:nvSpPr>
        <p:spPr>
          <a:xfrm>
            <a:off x="4005072" y="3502152"/>
            <a:ext cx="1636776" cy="411480"/>
          </a:xfrm>
          <a:prstGeom prst="rect">
            <a:avLst/>
          </a:prstGeom>
          <a:noFill/>
          <a:ln/>
        </p:spPr>
        <p:txBody>
          <a:bodyPr wrap="square" lIns="0" tIns="0" rIns="0" bIns="0" rtlCol="0" anchor="t"/>
          <a:lstStyle/>
          <a:p>
            <a:pPr marL="0" indent="0" algn="l">
              <a:buNone/>
            </a:pPr>
            <a:r>
              <a:rPr lang="en-US" sz="1350" dirty="0">
                <a:solidFill>
                  <a:srgbClr val="FFFFFF"/>
                </a:solidFill>
              </a:rPr>
              <a:t>both — co-expression</a:t>
            </a:r>
            <a:endParaRPr lang="en-US" sz="1350" dirty="0"/>
          </a:p>
        </p:txBody>
      </p:sp>
      <p:sp>
        <p:nvSpPr>
          <p:cNvPr id="20" name="Shape 18"/>
          <p:cNvSpPr/>
          <p:nvPr/>
        </p:nvSpPr>
        <p:spPr>
          <a:xfrm>
            <a:off x="1783080" y="4114800"/>
            <a:ext cx="1965960" cy="1143000"/>
          </a:xfrm>
          <a:prstGeom prst="roundRect">
            <a:avLst>
              <a:gd name="adj" fmla="val 5600"/>
            </a:avLst>
          </a:prstGeom>
          <a:solidFill>
            <a:srgbClr val="9CA3AF"/>
          </a:solidFill>
          <a:ln/>
          <a:effectLst>
            <a:outerShdw blurRad="88900" dist="38100" dir="5400000" algn="bl" rotWithShape="0">
              <a:srgbClr val="000000">
                <a:alpha val="12000"/>
              </a:srgbClr>
            </a:outerShdw>
          </a:effectLst>
        </p:spPr>
      </p:sp>
      <p:sp>
        <p:nvSpPr>
          <p:cNvPr id="21" name="Text 19"/>
          <p:cNvSpPr/>
          <p:nvPr/>
        </p:nvSpPr>
        <p:spPr>
          <a:xfrm>
            <a:off x="1947672" y="4233672"/>
            <a:ext cx="1636776" cy="457200"/>
          </a:xfrm>
          <a:prstGeom prst="rect">
            <a:avLst/>
          </a:prstGeom>
          <a:noFill/>
          <a:ln/>
        </p:spPr>
        <p:txBody>
          <a:bodyPr wrap="square" lIns="0" tIns="0" rIns="0" bIns="0" rtlCol="0" anchor="t"/>
          <a:lstStyle/>
          <a:p>
            <a:pPr marL="0" indent="0" algn="l">
              <a:buNone/>
            </a:pPr>
            <a:r>
              <a:rPr lang="en-US" sz="2000" b="1" dirty="0">
                <a:solidFill>
                  <a:srgbClr val="1B2B31"/>
                </a:solidFill>
                <a:latin typeface="Georgia" pitchFamily="34" charset="0"/>
                <a:ea typeface="Georgia" pitchFamily="34" charset="-122"/>
                <a:cs typeface="Georgia" pitchFamily="34" charset="-120"/>
              </a:rPr>
              <a:t>Null</a:t>
            </a:r>
            <a:endParaRPr lang="en-US" sz="2000" dirty="0"/>
          </a:p>
        </p:txBody>
      </p:sp>
      <p:sp>
        <p:nvSpPr>
          <p:cNvPr id="22" name="Text 20"/>
          <p:cNvSpPr/>
          <p:nvPr/>
        </p:nvSpPr>
        <p:spPr>
          <a:xfrm>
            <a:off x="1947672" y="4736592"/>
            <a:ext cx="1636776" cy="411480"/>
          </a:xfrm>
          <a:prstGeom prst="rect">
            <a:avLst/>
          </a:prstGeom>
          <a:noFill/>
          <a:ln/>
        </p:spPr>
        <p:txBody>
          <a:bodyPr wrap="square" lIns="0" tIns="0" rIns="0" bIns="0" rtlCol="0" anchor="t"/>
          <a:lstStyle/>
          <a:p>
            <a:pPr marL="0" indent="0" algn="l">
              <a:buNone/>
            </a:pPr>
            <a:r>
              <a:rPr lang="en-US" sz="1350" dirty="0">
                <a:solidFill>
                  <a:srgbClr val="1B2B31"/>
                </a:solidFill>
              </a:rPr>
              <a:t>neither</a:t>
            </a:r>
            <a:endParaRPr lang="en-US" sz="1350" dirty="0"/>
          </a:p>
        </p:txBody>
      </p:sp>
      <p:sp>
        <p:nvSpPr>
          <p:cNvPr id="23" name="Shape 21"/>
          <p:cNvSpPr/>
          <p:nvPr/>
        </p:nvSpPr>
        <p:spPr>
          <a:xfrm>
            <a:off x="3840480" y="4114800"/>
            <a:ext cx="1965960" cy="1143000"/>
          </a:xfrm>
          <a:prstGeom prst="roundRect">
            <a:avLst>
              <a:gd name="adj" fmla="val 5600"/>
            </a:avLst>
          </a:prstGeom>
          <a:solidFill>
            <a:srgbClr val="EA580C"/>
          </a:solidFill>
          <a:ln/>
          <a:effectLst>
            <a:outerShdw blurRad="88900" dist="38100" dir="5400000" algn="bl" rotWithShape="0">
              <a:srgbClr val="000000">
                <a:alpha val="12000"/>
              </a:srgbClr>
            </a:outerShdw>
          </a:effectLst>
        </p:spPr>
      </p:sp>
      <p:sp>
        <p:nvSpPr>
          <p:cNvPr id="24" name="Text 22"/>
          <p:cNvSpPr/>
          <p:nvPr/>
        </p:nvSpPr>
        <p:spPr>
          <a:xfrm>
            <a:off x="4005072" y="4233672"/>
            <a:ext cx="1636776" cy="457200"/>
          </a:xfrm>
          <a:prstGeom prst="rect">
            <a:avLst/>
          </a:prstGeom>
          <a:noFill/>
          <a:ln/>
        </p:spPr>
        <p:txBody>
          <a:bodyPr wrap="square" lIns="0" tIns="0" rIns="0" bIns="0" rtlCol="0" anchor="t"/>
          <a:lstStyle/>
          <a:p>
            <a:pPr marL="0" indent="0" algn="l">
              <a:buNone/>
            </a:pPr>
            <a:r>
              <a:rPr lang="en-US" sz="2000" b="1" dirty="0">
                <a:solidFill>
                  <a:srgbClr val="FFFFFF"/>
                </a:solidFill>
                <a:latin typeface="Georgia" pitchFamily="34" charset="0"/>
                <a:ea typeface="Georgia" pitchFamily="34" charset="-122"/>
                <a:cs typeface="Georgia" pitchFamily="34" charset="-120"/>
              </a:rPr>
              <a:t>PP-anchor</a:t>
            </a:r>
            <a:endParaRPr lang="en-US" sz="2000" dirty="0"/>
          </a:p>
        </p:txBody>
      </p:sp>
      <p:sp>
        <p:nvSpPr>
          <p:cNvPr id="25" name="Text 23"/>
          <p:cNvSpPr/>
          <p:nvPr/>
        </p:nvSpPr>
        <p:spPr>
          <a:xfrm>
            <a:off x="4005072" y="4736592"/>
            <a:ext cx="1636776" cy="411480"/>
          </a:xfrm>
          <a:prstGeom prst="rect">
            <a:avLst/>
          </a:prstGeom>
          <a:noFill/>
          <a:ln/>
        </p:spPr>
        <p:txBody>
          <a:bodyPr wrap="square" lIns="0" tIns="0" rIns="0" bIns="0" rtlCol="0" anchor="t"/>
          <a:lstStyle/>
          <a:p>
            <a:pPr marL="0" indent="0" algn="l">
              <a:buNone/>
            </a:pPr>
            <a:r>
              <a:rPr lang="en-US" sz="1350" dirty="0">
                <a:solidFill>
                  <a:srgbClr val="FFFFFF"/>
                </a:solidFill>
              </a:rPr>
              <a:t>periportal only</a:t>
            </a:r>
            <a:endParaRPr lang="en-US" sz="1350" dirty="0"/>
          </a:p>
        </p:txBody>
      </p:sp>
      <p:sp>
        <p:nvSpPr>
          <p:cNvPr id="26" name="Shape 24"/>
          <p:cNvSpPr/>
          <p:nvPr/>
        </p:nvSpPr>
        <p:spPr>
          <a:xfrm>
            <a:off x="6126480" y="2331720"/>
            <a:ext cx="0" cy="2971800"/>
          </a:xfrm>
          <a:prstGeom prst="line">
            <a:avLst/>
          </a:prstGeom>
          <a:noFill/>
          <a:ln w="12700">
            <a:solidFill>
              <a:srgbClr val="D7D0C4"/>
            </a:solidFill>
            <a:prstDash val="solid"/>
          </a:ln>
        </p:spPr>
      </p:sp>
      <p:sp>
        <p:nvSpPr>
          <p:cNvPr id="27" name="Text 25"/>
          <p:cNvSpPr/>
          <p:nvPr/>
        </p:nvSpPr>
        <p:spPr>
          <a:xfrm>
            <a:off x="6400800" y="2011680"/>
            <a:ext cx="5486400" cy="274320"/>
          </a:xfrm>
          <a:prstGeom prst="rect">
            <a:avLst/>
          </a:prstGeom>
          <a:noFill/>
          <a:ln/>
        </p:spPr>
        <p:txBody>
          <a:bodyPr wrap="square" rtlCol="0" anchor="ctr"/>
          <a:lstStyle/>
          <a:p>
            <a:pPr marL="0" indent="0" algn="l">
              <a:buNone/>
            </a:pPr>
            <a:r>
              <a:rPr lang="en-US" sz="1300" b="1" kern="0" spc="200" dirty="0">
                <a:solidFill>
                  <a:srgbClr val="5C6E73"/>
                </a:solidFill>
              </a:rPr>
              <a:t>THE FOUR MOVES</a:t>
            </a:r>
            <a:endParaRPr lang="en-US" sz="1300" dirty="0"/>
          </a:p>
        </p:txBody>
      </p:sp>
      <p:sp>
        <p:nvSpPr>
          <p:cNvPr id="28" name="Shape 26"/>
          <p:cNvSpPr/>
          <p:nvPr/>
        </p:nvSpPr>
        <p:spPr>
          <a:xfrm>
            <a:off x="6400800" y="2468880"/>
            <a:ext cx="2651760" cy="1280160"/>
          </a:xfrm>
          <a:prstGeom prst="roundRect">
            <a:avLst>
              <a:gd name="adj" fmla="val 5714"/>
            </a:avLst>
          </a:prstGeom>
          <a:solidFill>
            <a:srgbClr val="1D4ED8"/>
          </a:solidFill>
          <a:ln/>
          <a:effectLst>
            <a:outerShdw blurRad="88900" dist="38100" dir="5400000" algn="bl" rotWithShape="0">
              <a:srgbClr val="000000">
                <a:alpha val="12000"/>
              </a:srgbClr>
            </a:outerShdw>
          </a:effectLst>
        </p:spPr>
      </p:sp>
      <p:sp>
        <p:nvSpPr>
          <p:cNvPr id="29" name="Text 27"/>
          <p:cNvSpPr/>
          <p:nvPr/>
        </p:nvSpPr>
        <p:spPr>
          <a:xfrm>
            <a:off x="6400800" y="2468880"/>
            <a:ext cx="2651760" cy="1280160"/>
          </a:xfrm>
          <a:prstGeom prst="rect">
            <a:avLst/>
          </a:prstGeom>
          <a:noFill/>
          <a:ln/>
        </p:spPr>
        <p:txBody>
          <a:bodyPr wrap="square" lIns="25400" tIns="25400" rIns="25400" bIns="25400" rtlCol="0" anchor="ctr"/>
          <a:lstStyle/>
          <a:p>
            <a:pPr marL="0" indent="0" algn="ctr">
              <a:buNone/>
            </a:pPr>
            <a:r>
              <a:rPr lang="en-US" sz="1450" b="1" dirty="0">
                <a:solidFill>
                  <a:srgbClr val="FFFFFF"/>
                </a:solidFill>
              </a:rPr>
              <a:t>Depletion</a:t>
            </a:r>
            <a:endParaRPr lang="en-US" sz="1450" dirty="0"/>
          </a:p>
          <a:p>
            <a:pPr marL="0" indent="0" algn="ctr">
              <a:buNone/>
            </a:pPr>
            <a:r>
              <a:rPr lang="en-US" sz="1450" b="1" dirty="0">
                <a:solidFill>
                  <a:srgbClr val="FFFFFF"/>
                </a:solidFill>
              </a:rPr>
              <a:t>an anchor box ↓</a:t>
            </a:r>
            <a:endParaRPr lang="en-US" sz="1450" dirty="0"/>
          </a:p>
        </p:txBody>
      </p:sp>
      <p:sp>
        <p:nvSpPr>
          <p:cNvPr id="30" name="Shape 28"/>
          <p:cNvSpPr/>
          <p:nvPr/>
        </p:nvSpPr>
        <p:spPr>
          <a:xfrm>
            <a:off x="9189720" y="2468880"/>
            <a:ext cx="2651760" cy="1280160"/>
          </a:xfrm>
          <a:prstGeom prst="roundRect">
            <a:avLst>
              <a:gd name="adj" fmla="val 5714"/>
            </a:avLst>
          </a:prstGeom>
          <a:solidFill>
            <a:srgbClr val="7C3AED"/>
          </a:solidFill>
          <a:ln/>
          <a:effectLst>
            <a:outerShdw blurRad="88900" dist="38100" dir="5400000" algn="bl" rotWithShape="0">
              <a:srgbClr val="000000">
                <a:alpha val="12000"/>
              </a:srgbClr>
            </a:outerShdw>
          </a:effectLst>
        </p:spPr>
      </p:sp>
      <p:sp>
        <p:nvSpPr>
          <p:cNvPr id="31" name="Text 29"/>
          <p:cNvSpPr/>
          <p:nvPr/>
        </p:nvSpPr>
        <p:spPr>
          <a:xfrm>
            <a:off x="9189720" y="2468880"/>
            <a:ext cx="2651760" cy="1280160"/>
          </a:xfrm>
          <a:prstGeom prst="rect">
            <a:avLst/>
          </a:prstGeom>
          <a:noFill/>
          <a:ln/>
        </p:spPr>
        <p:txBody>
          <a:bodyPr wrap="square" lIns="25400" tIns="25400" rIns="25400" bIns="25400" rtlCol="0" anchor="ctr"/>
          <a:lstStyle/>
          <a:p>
            <a:pPr marL="0" indent="0" algn="ctr">
              <a:buNone/>
            </a:pPr>
            <a:r>
              <a:rPr lang="en-US" sz="1450" b="1" dirty="0">
                <a:solidFill>
                  <a:srgbClr val="FFFFFF"/>
                </a:solidFill>
              </a:rPr>
              <a:t>Co-expression</a:t>
            </a:r>
            <a:endParaRPr lang="en-US" sz="1450" dirty="0"/>
          </a:p>
          <a:p>
            <a:pPr marL="0" indent="0" algn="ctr">
              <a:buNone/>
            </a:pPr>
            <a:r>
              <a:rPr lang="en-US" sz="1450" b="1" dirty="0">
                <a:solidFill>
                  <a:srgbClr val="FFFFFF"/>
                </a:solidFill>
              </a:rPr>
              <a:t>the dual box ↑</a:t>
            </a:r>
            <a:endParaRPr lang="en-US" sz="1450" dirty="0"/>
          </a:p>
        </p:txBody>
      </p:sp>
      <p:sp>
        <p:nvSpPr>
          <p:cNvPr id="32" name="Shape 30"/>
          <p:cNvSpPr/>
          <p:nvPr/>
        </p:nvSpPr>
        <p:spPr>
          <a:xfrm>
            <a:off x="6400800" y="3886200"/>
            <a:ext cx="2651760" cy="1280160"/>
          </a:xfrm>
          <a:prstGeom prst="roundRect">
            <a:avLst>
              <a:gd name="adj" fmla="val 5714"/>
            </a:avLst>
          </a:prstGeom>
          <a:solidFill>
            <a:srgbClr val="9CA3AF"/>
          </a:solidFill>
          <a:ln/>
          <a:effectLst>
            <a:outerShdw blurRad="88900" dist="38100" dir="5400000" algn="bl" rotWithShape="0">
              <a:srgbClr val="000000">
                <a:alpha val="12000"/>
              </a:srgbClr>
            </a:outerShdw>
          </a:effectLst>
        </p:spPr>
      </p:sp>
      <p:sp>
        <p:nvSpPr>
          <p:cNvPr id="33" name="Text 31"/>
          <p:cNvSpPr/>
          <p:nvPr/>
        </p:nvSpPr>
        <p:spPr>
          <a:xfrm>
            <a:off x="6400800" y="3886200"/>
            <a:ext cx="2651760" cy="1280160"/>
          </a:xfrm>
          <a:prstGeom prst="rect">
            <a:avLst/>
          </a:prstGeom>
          <a:noFill/>
          <a:ln/>
        </p:spPr>
        <p:txBody>
          <a:bodyPr wrap="square" lIns="25400" tIns="25400" rIns="25400" bIns="25400" rtlCol="0" anchor="ctr"/>
          <a:lstStyle/>
          <a:p>
            <a:pPr marL="0" indent="0" algn="ctr">
              <a:buNone/>
            </a:pPr>
            <a:r>
              <a:rPr lang="en-US" sz="1450" b="1" dirty="0">
                <a:solidFill>
                  <a:srgbClr val="1B2B31"/>
                </a:solidFill>
              </a:rPr>
              <a:t>Turn-off</a:t>
            </a:r>
            <a:endParaRPr lang="en-US" sz="1450" dirty="0"/>
          </a:p>
          <a:p>
            <a:pPr marL="0" indent="0" algn="ctr">
              <a:buNone/>
            </a:pPr>
            <a:r>
              <a:rPr lang="en-US" sz="1450" b="1" dirty="0">
                <a:solidFill>
                  <a:srgbClr val="1B2B31"/>
                </a:solidFill>
              </a:rPr>
              <a:t>the null box ↑</a:t>
            </a:r>
            <a:endParaRPr lang="en-US" sz="1450" dirty="0"/>
          </a:p>
        </p:txBody>
      </p:sp>
      <p:sp>
        <p:nvSpPr>
          <p:cNvPr id="34" name="Shape 32"/>
          <p:cNvSpPr/>
          <p:nvPr/>
        </p:nvSpPr>
        <p:spPr>
          <a:xfrm>
            <a:off x="9189720" y="3886200"/>
            <a:ext cx="2651760" cy="1280160"/>
          </a:xfrm>
          <a:prstGeom prst="roundRect">
            <a:avLst>
              <a:gd name="adj" fmla="val 5714"/>
            </a:avLst>
          </a:prstGeom>
          <a:solidFill>
            <a:srgbClr val="EA580C"/>
          </a:solidFill>
          <a:ln/>
          <a:effectLst>
            <a:outerShdw blurRad="88900" dist="38100" dir="5400000" algn="bl" rotWithShape="0">
              <a:srgbClr val="000000">
                <a:alpha val="12000"/>
              </a:srgbClr>
            </a:outerShdw>
          </a:effectLst>
        </p:spPr>
      </p:sp>
      <p:sp>
        <p:nvSpPr>
          <p:cNvPr id="35" name="Text 33"/>
          <p:cNvSpPr/>
          <p:nvPr/>
        </p:nvSpPr>
        <p:spPr>
          <a:xfrm>
            <a:off x="9189720" y="3886200"/>
            <a:ext cx="2651760" cy="1280160"/>
          </a:xfrm>
          <a:prstGeom prst="rect">
            <a:avLst/>
          </a:prstGeom>
          <a:noFill/>
          <a:ln/>
        </p:spPr>
        <p:txBody>
          <a:bodyPr wrap="square" lIns="25400" tIns="25400" rIns="25400" bIns="25400" rtlCol="0" anchor="ctr"/>
          <a:lstStyle/>
          <a:p>
            <a:pPr marL="0" indent="0" algn="ctr">
              <a:buNone/>
            </a:pPr>
            <a:r>
              <a:rPr lang="en-US" sz="1450" b="1" dirty="0">
                <a:solidFill>
                  <a:srgbClr val="FFFFFF"/>
                </a:solidFill>
              </a:rPr>
              <a:t>Composition shift</a:t>
            </a:r>
            <a:endParaRPr lang="en-US" sz="1450" dirty="0"/>
          </a:p>
          <a:p>
            <a:pPr marL="0" indent="0" algn="ctr">
              <a:buNone/>
            </a:pPr>
            <a:r>
              <a:rPr lang="en-US" sz="1450" b="1" dirty="0">
                <a:solidFill>
                  <a:srgbClr val="FFFFFF"/>
                </a:solidFill>
              </a:rPr>
              <a:t>PP : PC ratio moves</a:t>
            </a:r>
            <a:endParaRPr lang="en-US" sz="1450" dirty="0"/>
          </a:p>
        </p:txBody>
      </p:sp>
      <p:sp>
        <p:nvSpPr>
          <p:cNvPr id="36" name="Text 34"/>
          <p:cNvSpPr/>
          <p:nvPr/>
        </p:nvSpPr>
        <p:spPr>
          <a:xfrm>
            <a:off x="640080" y="5577840"/>
            <a:ext cx="11247120" cy="731520"/>
          </a:xfrm>
          <a:prstGeom prst="rect">
            <a:avLst/>
          </a:prstGeom>
          <a:noFill/>
          <a:ln/>
        </p:spPr>
        <p:txBody>
          <a:bodyPr wrap="square" rtlCol="0" anchor="t"/>
          <a:lstStyle/>
          <a:p>
            <a:pPr marL="0" indent="0" algn="l">
              <a:buNone/>
            </a:pPr>
            <a:r>
              <a:rPr lang="en-US" sz="1300" dirty="0">
                <a:solidFill>
                  <a:srgbClr val="1B2B31"/>
                </a:solidFill>
              </a:rPr>
              <a:t>The moves are dissociable — an emptying anchor box (depletion) and a filling null box (turn-off) are opposite directions; neither implies the other. </a:t>
            </a:r>
          </a:p>
          <a:p>
            <a:pPr marL="0" indent="0" algn="l">
              <a:buNone/>
            </a:pPr>
            <a:r>
              <a:rPr lang="en-US" sz="1300" i="1" dirty="0">
                <a:solidFill>
                  <a:srgbClr val="5C6E73"/>
                </a:solidFill>
              </a:rPr>
              <a:t>A single z-score or correlation collapses all four into one number — only counting molecules tells them apart.</a:t>
            </a:r>
            <a:endParaRPr lang="en-US" sz="1300" dirty="0"/>
          </a:p>
        </p:txBody>
      </p:sp>
      <p:sp>
        <p:nvSpPr>
          <p:cNvPr id="37" name="Text 35"/>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38" name="Text 36"/>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5</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WHAT WE MEASURE - THE GRADIENT AXIS</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METHOD</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Beyond the boxes — zonation is a gradient</a:t>
            </a:r>
            <a:endParaRPr lang="en-US" sz="2800" dirty="0"/>
          </a:p>
        </p:txBody>
      </p:sp>
      <p:sp>
        <p:nvSpPr>
          <p:cNvPr id="6" name="Text 4"/>
          <p:cNvSpPr/>
          <p:nvPr/>
        </p:nvSpPr>
        <p:spPr>
          <a:xfrm>
            <a:off x="640080" y="1371600"/>
            <a:ext cx="11247120" cy="411480"/>
          </a:xfrm>
          <a:prstGeom prst="rect">
            <a:avLst/>
          </a:prstGeom>
          <a:noFill/>
          <a:ln/>
        </p:spPr>
        <p:txBody>
          <a:bodyPr wrap="square" rtlCol="0" anchor="ctr"/>
          <a:lstStyle/>
          <a:p>
            <a:pPr marL="0" indent="0" algn="l">
              <a:buNone/>
            </a:pPr>
            <a:r>
              <a:rPr lang="en-US" sz="1550" dirty="0">
                <a:solidFill>
                  <a:srgbClr val="1B2B31"/>
                </a:solidFill>
              </a:rPr>
              <a:t>Zonation is a continuous gradient — cells strung on an anti-diagonal. It can weaken two ways </a:t>
            </a:r>
            <a:r>
              <a:rPr lang="en-US" sz="1550" b="1" dirty="0">
                <a:solidFill>
                  <a:srgbClr val="1B2B31"/>
                </a:solidFill>
              </a:rPr>
              <a:t>without any cell changing class:</a:t>
            </a:r>
            <a:endParaRPr lang="en-US" sz="1550" dirty="0"/>
          </a:p>
        </p:txBody>
      </p:sp>
      <p:pic>
        <p:nvPicPr>
          <p:cNvPr id="7" name="Image 0" descr="D:\CS\Genomics\Hackathon\presentation/assets/fig_gradient_schematic.png"/>
          <p:cNvPicPr>
            <a:picLocks noChangeAspect="1"/>
          </p:cNvPicPr>
          <p:nvPr/>
        </p:nvPicPr>
        <p:blipFill>
          <a:blip r:embed="rId3"/>
          <a:stretch>
            <a:fillRect/>
          </a:stretch>
        </p:blipFill>
        <p:spPr>
          <a:xfrm>
            <a:off x="602144" y="1874520"/>
            <a:ext cx="6568113" cy="3703320"/>
          </a:xfrm>
          <a:prstGeom prst="rect">
            <a:avLst/>
          </a:prstGeom>
        </p:spPr>
      </p:pic>
      <p:grpSp>
        <p:nvGrpSpPr>
          <p:cNvPr id="20" name="Group 19">
            <a:extLst>
              <a:ext uri="{FF2B5EF4-FFF2-40B4-BE49-F238E27FC236}">
                <a16:creationId xmlns:a16="http://schemas.microsoft.com/office/drawing/2014/main" id="{26F22471-73C7-7718-6FC4-B1855826F0FE}"/>
              </a:ext>
            </a:extLst>
          </p:cNvPr>
          <p:cNvGrpSpPr/>
          <p:nvPr/>
        </p:nvGrpSpPr>
        <p:grpSpPr>
          <a:xfrm>
            <a:off x="7545304" y="2432304"/>
            <a:ext cx="4251960" cy="1129541"/>
            <a:chOff x="7543800" y="1920240"/>
            <a:chExt cx="4251960" cy="1129541"/>
          </a:xfrm>
        </p:grpSpPr>
        <p:sp>
          <p:nvSpPr>
            <p:cNvPr id="8" name="Shape 5"/>
            <p:cNvSpPr/>
            <p:nvPr/>
          </p:nvSpPr>
          <p:spPr>
            <a:xfrm>
              <a:off x="7543800" y="1920240"/>
              <a:ext cx="4251960" cy="1129541"/>
            </a:xfrm>
            <a:prstGeom prst="roundRect">
              <a:avLst>
                <a:gd name="adj" fmla="val 3243"/>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9" name="Text 6"/>
            <p:cNvSpPr/>
            <p:nvPr/>
          </p:nvSpPr>
          <p:spPr>
            <a:xfrm>
              <a:off x="7726680" y="2048256"/>
              <a:ext cx="3886200" cy="320040"/>
            </a:xfrm>
            <a:prstGeom prst="rect">
              <a:avLst/>
            </a:prstGeom>
            <a:noFill/>
            <a:ln/>
          </p:spPr>
          <p:txBody>
            <a:bodyPr wrap="square" lIns="0" tIns="0" rIns="0" bIns="0" rtlCol="0" anchor="ctr"/>
            <a:lstStyle/>
            <a:p>
              <a:pPr marL="0" indent="0" algn="l">
                <a:buNone/>
              </a:pPr>
              <a:r>
                <a:rPr lang="en-US" sz="1700" b="1" dirty="0">
                  <a:solidFill>
                    <a:srgbClr val="1B6E78"/>
                  </a:solidFill>
                  <a:latin typeface="Georgia" pitchFamily="34" charset="0"/>
                  <a:ea typeface="Georgia" pitchFamily="34" charset="-122"/>
                  <a:cs typeface="Georgia" pitchFamily="34" charset="-120"/>
                </a:rPr>
                <a:t>Compression  </a:t>
              </a:r>
              <a:r>
                <a:rPr lang="en-US" sz="1300" i="1" dirty="0">
                  <a:solidFill>
                    <a:srgbClr val="5C6E73"/>
                  </a:solidFill>
                </a:rPr>
                <a:t>— shape</a:t>
              </a:r>
              <a:endParaRPr lang="en-US" sz="1700" dirty="0"/>
            </a:p>
          </p:txBody>
        </p:sp>
        <p:sp>
          <p:nvSpPr>
            <p:cNvPr id="10" name="Text 7"/>
            <p:cNvSpPr/>
            <p:nvPr/>
          </p:nvSpPr>
          <p:spPr>
            <a:xfrm>
              <a:off x="7726680" y="2432304"/>
              <a:ext cx="3886200" cy="502920"/>
            </a:xfrm>
            <a:prstGeom prst="rect">
              <a:avLst/>
            </a:prstGeom>
            <a:noFill/>
            <a:ln/>
          </p:spPr>
          <p:txBody>
            <a:bodyPr wrap="square" rtlCol="0" anchor="t"/>
            <a:lstStyle/>
            <a:p>
              <a:pPr marL="0" indent="0" algn="l">
                <a:buNone/>
              </a:pPr>
              <a:r>
                <a:rPr lang="en-US" sz="1300" dirty="0">
                  <a:solidFill>
                    <a:srgbClr val="1B2B31"/>
                  </a:solidFill>
                </a:rPr>
                <a:t>Balance drifts to the middle; the poles’ contrast shrinks.</a:t>
              </a:r>
              <a:endParaRPr lang="en-US" sz="1300" dirty="0"/>
            </a:p>
          </p:txBody>
        </p:sp>
      </p:grpSp>
      <p:grpSp>
        <p:nvGrpSpPr>
          <p:cNvPr id="19" name="Group 18">
            <a:extLst>
              <a:ext uri="{FF2B5EF4-FFF2-40B4-BE49-F238E27FC236}">
                <a16:creationId xmlns:a16="http://schemas.microsoft.com/office/drawing/2014/main" id="{84A288FD-0880-3575-9F62-174F38ACF633}"/>
              </a:ext>
            </a:extLst>
          </p:cNvPr>
          <p:cNvGrpSpPr/>
          <p:nvPr/>
        </p:nvGrpSpPr>
        <p:grpSpPr>
          <a:xfrm>
            <a:off x="7543800" y="4032267"/>
            <a:ext cx="4251960" cy="1129541"/>
            <a:chOff x="7543800" y="3794760"/>
            <a:chExt cx="4251960" cy="1129541"/>
          </a:xfrm>
        </p:grpSpPr>
        <p:sp>
          <p:nvSpPr>
            <p:cNvPr id="12" name="Shape 9"/>
            <p:cNvSpPr/>
            <p:nvPr/>
          </p:nvSpPr>
          <p:spPr>
            <a:xfrm>
              <a:off x="7543800" y="3794760"/>
              <a:ext cx="4251960" cy="1129541"/>
            </a:xfrm>
            <a:prstGeom prst="roundRect">
              <a:avLst>
                <a:gd name="adj" fmla="val 3158"/>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13" name="Text 10"/>
            <p:cNvSpPr/>
            <p:nvPr/>
          </p:nvSpPr>
          <p:spPr>
            <a:xfrm>
              <a:off x="7726680" y="3922776"/>
              <a:ext cx="3886200" cy="320040"/>
            </a:xfrm>
            <a:prstGeom prst="rect">
              <a:avLst/>
            </a:prstGeom>
            <a:noFill/>
            <a:ln/>
          </p:spPr>
          <p:txBody>
            <a:bodyPr wrap="square" lIns="0" tIns="0" rIns="0" bIns="0" rtlCol="0" anchor="ctr"/>
            <a:lstStyle/>
            <a:p>
              <a:pPr marL="0" indent="0" algn="l">
                <a:buNone/>
              </a:pPr>
              <a:r>
                <a:rPr lang="en-US" sz="1700" b="1" dirty="0">
                  <a:solidFill>
                    <a:srgbClr val="C0561B"/>
                  </a:solidFill>
                  <a:latin typeface="Georgia" pitchFamily="34" charset="0"/>
                  <a:ea typeface="Georgia" pitchFamily="34" charset="-122"/>
                  <a:cs typeface="Georgia" pitchFamily="34" charset="-120"/>
                </a:rPr>
                <a:t>Dimming  </a:t>
              </a:r>
              <a:r>
                <a:rPr lang="en-US" sz="1300" i="1" dirty="0">
                  <a:solidFill>
                    <a:srgbClr val="5C6E73"/>
                  </a:solidFill>
                </a:rPr>
                <a:t>— level</a:t>
              </a:r>
              <a:endParaRPr lang="en-US" sz="1700" dirty="0"/>
            </a:p>
          </p:txBody>
        </p:sp>
        <p:sp>
          <p:nvSpPr>
            <p:cNvPr id="14" name="Text 11"/>
            <p:cNvSpPr/>
            <p:nvPr/>
          </p:nvSpPr>
          <p:spPr>
            <a:xfrm>
              <a:off x="7726680" y="4306824"/>
              <a:ext cx="3886200" cy="548640"/>
            </a:xfrm>
            <a:prstGeom prst="rect">
              <a:avLst/>
            </a:prstGeom>
            <a:noFill/>
            <a:ln/>
          </p:spPr>
          <p:txBody>
            <a:bodyPr wrap="square" rtlCol="0" anchor="t"/>
            <a:lstStyle/>
            <a:p>
              <a:pPr marL="0" indent="0" algn="l">
                <a:buNone/>
              </a:pPr>
              <a:r>
                <a:rPr lang="en-US" sz="1300" dirty="0">
                  <a:solidFill>
                    <a:srgbClr val="1B2B31"/>
                  </a:solidFill>
                </a:rPr>
                <a:t>The pericentral detox program declines in level — same balance, lower volume.</a:t>
              </a:r>
              <a:endParaRPr lang="en-US" sz="1300" dirty="0"/>
            </a:p>
          </p:txBody>
        </p:sp>
      </p:grpSp>
      <p:sp>
        <p:nvSpPr>
          <p:cNvPr id="17" name="Text 14"/>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18" name="Text 15"/>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6</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HOW WE MEASURE</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METHOD</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Raw-count anchor classification</a:t>
            </a:r>
            <a:endParaRPr lang="en-US" sz="2800" dirty="0"/>
          </a:p>
        </p:txBody>
      </p:sp>
      <p:sp>
        <p:nvSpPr>
          <p:cNvPr id="6" name="Shape 4"/>
          <p:cNvSpPr/>
          <p:nvPr/>
        </p:nvSpPr>
        <p:spPr>
          <a:xfrm>
            <a:off x="320040" y="1554480"/>
            <a:ext cx="2148840" cy="731520"/>
          </a:xfrm>
          <a:prstGeom prst="roundRect">
            <a:avLst>
              <a:gd name="adj" fmla="val 8750"/>
            </a:avLst>
          </a:prstGeom>
          <a:solidFill>
            <a:srgbClr val="ECF1F1"/>
          </a:solidFill>
          <a:ln w="15240">
            <a:solidFill>
              <a:srgbClr val="CBD5E1"/>
            </a:solidFill>
            <a:prstDash val="solid"/>
          </a:ln>
        </p:spPr>
      </p:sp>
      <p:sp>
        <p:nvSpPr>
          <p:cNvPr id="7" name="Text 5"/>
          <p:cNvSpPr/>
          <p:nvPr/>
        </p:nvSpPr>
        <p:spPr>
          <a:xfrm>
            <a:off x="320040" y="1554480"/>
            <a:ext cx="2148840" cy="731520"/>
          </a:xfrm>
          <a:prstGeom prst="rect">
            <a:avLst/>
          </a:prstGeom>
          <a:noFill/>
          <a:ln/>
        </p:spPr>
        <p:txBody>
          <a:bodyPr wrap="square" lIns="38100" tIns="38100" rIns="38100" bIns="38100" rtlCol="0" anchor="ctr"/>
          <a:lstStyle/>
          <a:p>
            <a:pPr marL="0" indent="0" algn="ctr">
              <a:buNone/>
            </a:pPr>
            <a:r>
              <a:rPr lang="en-US" sz="1400" dirty="0">
                <a:solidFill>
                  <a:srgbClr val="1B2B31"/>
                </a:solidFill>
              </a:rPr>
              <a:t>raw UMI counts</a:t>
            </a:r>
            <a:endParaRPr lang="en-US" sz="1400" dirty="0"/>
          </a:p>
        </p:txBody>
      </p:sp>
      <p:sp>
        <p:nvSpPr>
          <p:cNvPr id="8" name="Shape 6"/>
          <p:cNvSpPr/>
          <p:nvPr/>
        </p:nvSpPr>
        <p:spPr>
          <a:xfrm>
            <a:off x="2468880" y="1920240"/>
            <a:ext cx="201168" cy="0"/>
          </a:xfrm>
          <a:prstGeom prst="line">
            <a:avLst/>
          </a:prstGeom>
          <a:noFill/>
          <a:ln w="20320">
            <a:solidFill>
              <a:srgbClr val="5C6E73"/>
            </a:solidFill>
            <a:prstDash val="solid"/>
            <a:tailEnd type="triangle"/>
          </a:ln>
        </p:spPr>
      </p:sp>
      <p:sp>
        <p:nvSpPr>
          <p:cNvPr id="9" name="Shape 7"/>
          <p:cNvSpPr/>
          <p:nvPr/>
        </p:nvSpPr>
        <p:spPr>
          <a:xfrm>
            <a:off x="2670048" y="1554480"/>
            <a:ext cx="2148840" cy="731520"/>
          </a:xfrm>
          <a:prstGeom prst="roundRect">
            <a:avLst>
              <a:gd name="adj" fmla="val 8750"/>
            </a:avLst>
          </a:prstGeom>
          <a:solidFill>
            <a:srgbClr val="ECF1F1"/>
          </a:solidFill>
          <a:ln w="15240">
            <a:solidFill>
              <a:srgbClr val="CBD5E1"/>
            </a:solidFill>
            <a:prstDash val="solid"/>
          </a:ln>
        </p:spPr>
      </p:sp>
      <p:sp>
        <p:nvSpPr>
          <p:cNvPr id="10" name="Text 8"/>
          <p:cNvSpPr/>
          <p:nvPr/>
        </p:nvSpPr>
        <p:spPr>
          <a:xfrm>
            <a:off x="2670048" y="1554480"/>
            <a:ext cx="2148840" cy="731520"/>
          </a:xfrm>
          <a:prstGeom prst="rect">
            <a:avLst/>
          </a:prstGeom>
          <a:noFill/>
          <a:ln/>
        </p:spPr>
        <p:txBody>
          <a:bodyPr wrap="square" lIns="38100" tIns="38100" rIns="38100" bIns="38100" rtlCol="0" anchor="ctr"/>
          <a:lstStyle/>
          <a:p>
            <a:pPr marL="0" indent="0" algn="ctr">
              <a:buNone/>
            </a:pPr>
            <a:r>
              <a:rPr lang="en-US" sz="1400" dirty="0">
                <a:solidFill>
                  <a:srgbClr val="1B2B31"/>
                </a:solidFill>
              </a:rPr>
              <a:t>down-thin to 1,500</a:t>
            </a:r>
            <a:endParaRPr lang="en-US" sz="1400" dirty="0"/>
          </a:p>
        </p:txBody>
      </p:sp>
      <p:sp>
        <p:nvSpPr>
          <p:cNvPr id="11" name="Shape 9"/>
          <p:cNvSpPr/>
          <p:nvPr/>
        </p:nvSpPr>
        <p:spPr>
          <a:xfrm>
            <a:off x="4818888" y="1920240"/>
            <a:ext cx="201168" cy="0"/>
          </a:xfrm>
          <a:prstGeom prst="line">
            <a:avLst/>
          </a:prstGeom>
          <a:noFill/>
          <a:ln w="20320">
            <a:solidFill>
              <a:srgbClr val="5C6E73"/>
            </a:solidFill>
            <a:prstDash val="solid"/>
            <a:tailEnd type="triangle"/>
          </a:ln>
        </p:spPr>
      </p:sp>
      <p:sp>
        <p:nvSpPr>
          <p:cNvPr id="12" name="Shape 10"/>
          <p:cNvSpPr/>
          <p:nvPr/>
        </p:nvSpPr>
        <p:spPr>
          <a:xfrm>
            <a:off x="5020056" y="1554480"/>
            <a:ext cx="2148840" cy="731520"/>
          </a:xfrm>
          <a:prstGeom prst="roundRect">
            <a:avLst>
              <a:gd name="adj" fmla="val 8750"/>
            </a:avLst>
          </a:prstGeom>
          <a:solidFill>
            <a:srgbClr val="EDE9FE"/>
          </a:solidFill>
          <a:ln w="15240">
            <a:solidFill>
              <a:srgbClr val="7C3AED"/>
            </a:solidFill>
            <a:prstDash val="solid"/>
          </a:ln>
        </p:spPr>
      </p:sp>
      <p:sp>
        <p:nvSpPr>
          <p:cNvPr id="13" name="Text 11"/>
          <p:cNvSpPr/>
          <p:nvPr/>
        </p:nvSpPr>
        <p:spPr>
          <a:xfrm>
            <a:off x="5020056" y="1554480"/>
            <a:ext cx="2148840" cy="731520"/>
          </a:xfrm>
          <a:prstGeom prst="rect">
            <a:avLst/>
          </a:prstGeom>
          <a:noFill/>
          <a:ln/>
        </p:spPr>
        <p:txBody>
          <a:bodyPr wrap="square" lIns="38100" tIns="38100" rIns="38100" bIns="38100" rtlCol="0" anchor="ctr"/>
          <a:lstStyle/>
          <a:p>
            <a:pPr marL="0" indent="0" algn="ctr">
              <a:buNone/>
            </a:pPr>
            <a:r>
              <a:rPr lang="en-US" sz="1400" b="1" dirty="0">
                <a:solidFill>
                  <a:srgbClr val="7C3AED"/>
                </a:solidFill>
              </a:rPr>
              <a:t>marker ON if ≥ 2 UMI</a:t>
            </a:r>
            <a:endParaRPr lang="en-US" sz="1400" dirty="0"/>
          </a:p>
        </p:txBody>
      </p:sp>
      <p:sp>
        <p:nvSpPr>
          <p:cNvPr id="14" name="Shape 12"/>
          <p:cNvSpPr/>
          <p:nvPr/>
        </p:nvSpPr>
        <p:spPr>
          <a:xfrm>
            <a:off x="7168896" y="1920240"/>
            <a:ext cx="201168" cy="0"/>
          </a:xfrm>
          <a:prstGeom prst="line">
            <a:avLst/>
          </a:prstGeom>
          <a:noFill/>
          <a:ln w="20320">
            <a:solidFill>
              <a:srgbClr val="5C6E73"/>
            </a:solidFill>
            <a:prstDash val="solid"/>
            <a:tailEnd type="triangle"/>
          </a:ln>
        </p:spPr>
      </p:sp>
      <p:sp>
        <p:nvSpPr>
          <p:cNvPr id="15" name="Shape 13"/>
          <p:cNvSpPr/>
          <p:nvPr/>
        </p:nvSpPr>
        <p:spPr>
          <a:xfrm>
            <a:off x="7370064" y="1554480"/>
            <a:ext cx="2148840" cy="731520"/>
          </a:xfrm>
          <a:prstGeom prst="roundRect">
            <a:avLst>
              <a:gd name="adj" fmla="val 8750"/>
            </a:avLst>
          </a:prstGeom>
          <a:solidFill>
            <a:srgbClr val="ECF1F1"/>
          </a:solidFill>
          <a:ln w="15240">
            <a:solidFill>
              <a:srgbClr val="CBD5E1"/>
            </a:solidFill>
            <a:prstDash val="solid"/>
          </a:ln>
        </p:spPr>
      </p:sp>
      <p:sp>
        <p:nvSpPr>
          <p:cNvPr id="16" name="Text 14"/>
          <p:cNvSpPr/>
          <p:nvPr/>
        </p:nvSpPr>
        <p:spPr>
          <a:xfrm>
            <a:off x="7370064" y="1554480"/>
            <a:ext cx="2148840" cy="731520"/>
          </a:xfrm>
          <a:prstGeom prst="rect">
            <a:avLst/>
          </a:prstGeom>
          <a:noFill/>
          <a:ln/>
        </p:spPr>
        <p:txBody>
          <a:bodyPr wrap="square" lIns="38100" tIns="38100" rIns="38100" bIns="38100" rtlCol="0" anchor="ctr"/>
          <a:lstStyle/>
          <a:p>
            <a:pPr marL="0" indent="0" algn="ctr">
              <a:buNone/>
            </a:pPr>
            <a:r>
              <a:rPr lang="en-US" sz="1400" dirty="0">
                <a:solidFill>
                  <a:srgbClr val="1B2B31"/>
                </a:solidFill>
              </a:rPr>
              <a:t>classify nucleus (e.g. PC)</a:t>
            </a:r>
            <a:endParaRPr lang="en-US" sz="1400" dirty="0"/>
          </a:p>
        </p:txBody>
      </p:sp>
      <p:sp>
        <p:nvSpPr>
          <p:cNvPr id="17" name="Shape 15"/>
          <p:cNvSpPr/>
          <p:nvPr/>
        </p:nvSpPr>
        <p:spPr>
          <a:xfrm>
            <a:off x="9518904" y="1920240"/>
            <a:ext cx="201168" cy="0"/>
          </a:xfrm>
          <a:prstGeom prst="line">
            <a:avLst/>
          </a:prstGeom>
          <a:noFill/>
          <a:ln w="20320">
            <a:solidFill>
              <a:srgbClr val="5C6E73"/>
            </a:solidFill>
            <a:prstDash val="solid"/>
            <a:tailEnd type="triangle"/>
          </a:ln>
        </p:spPr>
      </p:sp>
      <p:sp>
        <p:nvSpPr>
          <p:cNvPr id="18" name="Shape 16"/>
          <p:cNvSpPr/>
          <p:nvPr/>
        </p:nvSpPr>
        <p:spPr>
          <a:xfrm>
            <a:off x="9720072" y="1554480"/>
            <a:ext cx="2148840" cy="731520"/>
          </a:xfrm>
          <a:prstGeom prst="roundRect">
            <a:avLst>
              <a:gd name="adj" fmla="val 8750"/>
            </a:avLst>
          </a:prstGeom>
          <a:solidFill>
            <a:srgbClr val="ECF1F1"/>
          </a:solidFill>
          <a:ln w="15240">
            <a:solidFill>
              <a:srgbClr val="CBD5E1"/>
            </a:solidFill>
            <a:prstDash val="solid"/>
          </a:ln>
        </p:spPr>
      </p:sp>
      <p:sp>
        <p:nvSpPr>
          <p:cNvPr id="19" name="Text 17"/>
          <p:cNvSpPr/>
          <p:nvPr/>
        </p:nvSpPr>
        <p:spPr>
          <a:xfrm>
            <a:off x="9720072" y="1554480"/>
            <a:ext cx="2148840" cy="731520"/>
          </a:xfrm>
          <a:prstGeom prst="rect">
            <a:avLst/>
          </a:prstGeom>
          <a:noFill/>
          <a:ln/>
        </p:spPr>
        <p:txBody>
          <a:bodyPr wrap="square" lIns="38100" tIns="38100" rIns="38100" bIns="38100" rtlCol="0" anchor="ctr"/>
          <a:lstStyle/>
          <a:p>
            <a:pPr marL="0" indent="0" algn="ctr">
              <a:buNone/>
            </a:pPr>
            <a:r>
              <a:rPr lang="en-US" sz="1400" dirty="0">
                <a:solidFill>
                  <a:srgbClr val="1B2B31"/>
                </a:solidFill>
              </a:rPr>
              <a:t>fraction per donor</a:t>
            </a:r>
            <a:endParaRPr lang="en-US" sz="1400" dirty="0"/>
          </a:p>
        </p:txBody>
      </p:sp>
      <p:sp>
        <p:nvSpPr>
          <p:cNvPr id="20" name="Shape 18"/>
          <p:cNvSpPr/>
          <p:nvPr/>
        </p:nvSpPr>
        <p:spPr>
          <a:xfrm>
            <a:off x="640080" y="2788920"/>
            <a:ext cx="5394960" cy="1207008"/>
          </a:xfrm>
          <a:prstGeom prst="roundRect">
            <a:avLst>
              <a:gd name="adj" fmla="val 4545"/>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21" name="Shape 19"/>
          <p:cNvSpPr/>
          <p:nvPr/>
        </p:nvSpPr>
        <p:spPr>
          <a:xfrm>
            <a:off x="640080" y="2788920"/>
            <a:ext cx="91440" cy="1207008"/>
          </a:xfrm>
          <a:prstGeom prst="rect">
            <a:avLst/>
          </a:prstGeom>
          <a:solidFill>
            <a:srgbClr val="1B2B31"/>
          </a:solidFill>
          <a:ln/>
        </p:spPr>
      </p:sp>
      <p:sp>
        <p:nvSpPr>
          <p:cNvPr id="22" name="Text 20"/>
          <p:cNvSpPr/>
          <p:nvPr/>
        </p:nvSpPr>
        <p:spPr>
          <a:xfrm>
            <a:off x="914400" y="2926080"/>
            <a:ext cx="4937760" cy="365760"/>
          </a:xfrm>
          <a:prstGeom prst="rect">
            <a:avLst/>
          </a:prstGeom>
          <a:noFill/>
          <a:ln/>
        </p:spPr>
        <p:txBody>
          <a:bodyPr wrap="square" lIns="0" tIns="0" rIns="0" bIns="0" rtlCol="0" anchor="t"/>
          <a:lstStyle/>
          <a:p>
            <a:pPr marL="0" indent="0" algn="l">
              <a:buNone/>
            </a:pPr>
            <a:r>
              <a:rPr lang="en-US" sz="1600" b="1" dirty="0">
                <a:solidFill>
                  <a:srgbClr val="1B2B31"/>
                </a:solidFill>
              </a:rPr>
              <a:t>Raw counts, not SCT</a:t>
            </a:r>
            <a:endParaRPr lang="en-US" sz="1600" dirty="0"/>
          </a:p>
        </p:txBody>
      </p:sp>
      <p:sp>
        <p:nvSpPr>
          <p:cNvPr id="23" name="Text 21"/>
          <p:cNvSpPr/>
          <p:nvPr/>
        </p:nvSpPr>
        <p:spPr>
          <a:xfrm>
            <a:off x="914400" y="3337560"/>
            <a:ext cx="4937760" cy="566928"/>
          </a:xfrm>
          <a:prstGeom prst="rect">
            <a:avLst/>
          </a:prstGeom>
          <a:noFill/>
          <a:ln/>
        </p:spPr>
        <p:txBody>
          <a:bodyPr wrap="square" lIns="0" tIns="0" rIns="0" bIns="0" rtlCol="0" anchor="t"/>
          <a:lstStyle/>
          <a:p>
            <a:pPr marL="0" indent="0" algn="l">
              <a:buNone/>
            </a:pPr>
            <a:r>
              <a:rPr lang="en-US" sz="1300" dirty="0">
                <a:solidFill>
                  <a:srgbClr val="1B2B31"/>
                </a:solidFill>
              </a:rPr>
              <a:t>A single molecule may be ambient — absolute detection is what matters.</a:t>
            </a:r>
            <a:endParaRPr lang="en-US" sz="1300" dirty="0"/>
          </a:p>
        </p:txBody>
      </p:sp>
      <p:sp>
        <p:nvSpPr>
          <p:cNvPr id="24" name="Shape 22"/>
          <p:cNvSpPr/>
          <p:nvPr/>
        </p:nvSpPr>
        <p:spPr>
          <a:xfrm>
            <a:off x="6172200" y="2788920"/>
            <a:ext cx="5394960" cy="1207008"/>
          </a:xfrm>
          <a:prstGeom prst="roundRect">
            <a:avLst>
              <a:gd name="adj" fmla="val 4545"/>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25" name="Shape 23"/>
          <p:cNvSpPr/>
          <p:nvPr/>
        </p:nvSpPr>
        <p:spPr>
          <a:xfrm>
            <a:off x="6172200" y="2788920"/>
            <a:ext cx="91440" cy="1207008"/>
          </a:xfrm>
          <a:prstGeom prst="rect">
            <a:avLst/>
          </a:prstGeom>
          <a:solidFill>
            <a:srgbClr val="0D9488"/>
          </a:solidFill>
          <a:ln/>
        </p:spPr>
      </p:sp>
      <p:sp>
        <p:nvSpPr>
          <p:cNvPr id="26" name="Text 24"/>
          <p:cNvSpPr/>
          <p:nvPr/>
        </p:nvSpPr>
        <p:spPr>
          <a:xfrm>
            <a:off x="6446520" y="2926080"/>
            <a:ext cx="4937760" cy="365760"/>
          </a:xfrm>
          <a:prstGeom prst="rect">
            <a:avLst/>
          </a:prstGeom>
          <a:noFill/>
          <a:ln/>
        </p:spPr>
        <p:txBody>
          <a:bodyPr wrap="square" lIns="0" tIns="0" rIns="0" bIns="0" rtlCol="0" anchor="t"/>
          <a:lstStyle/>
          <a:p>
            <a:pPr marL="0" indent="0" algn="l">
              <a:buNone/>
            </a:pPr>
            <a:r>
              <a:rPr lang="en-US" sz="1600" b="1" dirty="0">
                <a:solidFill>
                  <a:srgbClr val="0D9488"/>
                </a:solidFill>
              </a:rPr>
              <a:t>Depth-matched¹</a:t>
            </a:r>
            <a:endParaRPr lang="en-US" sz="1600" dirty="0"/>
          </a:p>
        </p:txBody>
      </p:sp>
      <p:sp>
        <p:nvSpPr>
          <p:cNvPr id="27" name="Text 25"/>
          <p:cNvSpPr/>
          <p:nvPr/>
        </p:nvSpPr>
        <p:spPr>
          <a:xfrm>
            <a:off x="6446520" y="3337560"/>
            <a:ext cx="4937760" cy="566928"/>
          </a:xfrm>
          <a:prstGeom prst="rect">
            <a:avLst/>
          </a:prstGeom>
          <a:noFill/>
          <a:ln/>
        </p:spPr>
        <p:txBody>
          <a:bodyPr wrap="square" lIns="0" tIns="0" rIns="0" bIns="0" rtlCol="0" anchor="t"/>
          <a:lstStyle/>
          <a:p>
            <a:pPr marL="0" indent="0" algn="l">
              <a:buNone/>
            </a:pPr>
            <a:r>
              <a:rPr lang="en-US" sz="1300" dirty="0">
                <a:solidFill>
                  <a:srgbClr val="1B2B31"/>
                </a:solidFill>
              </a:rPr>
              <a:t>Down-thin every nucleus to 1,500 UMIs so depth can’t drive detection (stable at 1k / 1.5k / 3k).</a:t>
            </a:r>
            <a:endParaRPr lang="en-US" sz="1300" dirty="0"/>
          </a:p>
        </p:txBody>
      </p:sp>
      <p:sp>
        <p:nvSpPr>
          <p:cNvPr id="28" name="Shape 26"/>
          <p:cNvSpPr/>
          <p:nvPr/>
        </p:nvSpPr>
        <p:spPr>
          <a:xfrm>
            <a:off x="640080" y="4160520"/>
            <a:ext cx="5394960" cy="1207008"/>
          </a:xfrm>
          <a:prstGeom prst="roundRect">
            <a:avLst>
              <a:gd name="adj" fmla="val 4545"/>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29" name="Shape 27"/>
          <p:cNvSpPr/>
          <p:nvPr/>
        </p:nvSpPr>
        <p:spPr>
          <a:xfrm>
            <a:off x="640080" y="4160520"/>
            <a:ext cx="91440" cy="1207008"/>
          </a:xfrm>
          <a:prstGeom prst="rect">
            <a:avLst/>
          </a:prstGeom>
          <a:solidFill>
            <a:srgbClr val="7C3AED"/>
          </a:solidFill>
          <a:ln/>
        </p:spPr>
      </p:sp>
      <p:sp>
        <p:nvSpPr>
          <p:cNvPr id="30" name="Text 28"/>
          <p:cNvSpPr/>
          <p:nvPr/>
        </p:nvSpPr>
        <p:spPr>
          <a:xfrm>
            <a:off x="914400" y="4297680"/>
            <a:ext cx="4937760" cy="365760"/>
          </a:xfrm>
          <a:prstGeom prst="rect">
            <a:avLst/>
          </a:prstGeom>
          <a:noFill/>
          <a:ln/>
        </p:spPr>
        <p:txBody>
          <a:bodyPr wrap="square" lIns="0" tIns="0" rIns="0" bIns="0" rtlCol="0" anchor="t"/>
          <a:lstStyle/>
          <a:p>
            <a:pPr marL="0" indent="0" algn="l">
              <a:buNone/>
            </a:pPr>
            <a:r>
              <a:rPr lang="en-US" sz="1600" b="1" dirty="0">
                <a:solidFill>
                  <a:srgbClr val="7C3AED"/>
                </a:solidFill>
              </a:rPr>
              <a:t>≥2 UMI, not ≥1</a:t>
            </a:r>
            <a:endParaRPr lang="en-US" sz="1600" dirty="0"/>
          </a:p>
        </p:txBody>
      </p:sp>
      <p:sp>
        <p:nvSpPr>
          <p:cNvPr id="31" name="Text 29"/>
          <p:cNvSpPr/>
          <p:nvPr/>
        </p:nvSpPr>
        <p:spPr>
          <a:xfrm>
            <a:off x="914400" y="4709160"/>
            <a:ext cx="4937760" cy="566928"/>
          </a:xfrm>
          <a:prstGeom prst="rect">
            <a:avLst/>
          </a:prstGeom>
          <a:noFill/>
          <a:ln/>
        </p:spPr>
        <p:txBody>
          <a:bodyPr wrap="square" lIns="0" tIns="0" rIns="0" bIns="0" rtlCol="0" anchor="t"/>
          <a:lstStyle/>
          <a:p>
            <a:pPr marL="0" indent="0" algn="l">
              <a:buNone/>
            </a:pPr>
            <a:r>
              <a:rPr lang="en-US" sz="1300" dirty="0">
                <a:solidFill>
                  <a:srgbClr val="1B2B31"/>
                </a:solidFill>
              </a:rPr>
              <a:t>Kills ambient soup — apparent co-expression 7–10% → 0.2–0.5%.</a:t>
            </a:r>
            <a:endParaRPr lang="en-US" sz="1300" dirty="0"/>
          </a:p>
        </p:txBody>
      </p:sp>
      <p:sp>
        <p:nvSpPr>
          <p:cNvPr id="32" name="Shape 30"/>
          <p:cNvSpPr/>
          <p:nvPr/>
        </p:nvSpPr>
        <p:spPr>
          <a:xfrm>
            <a:off x="6172200" y="4160520"/>
            <a:ext cx="5394960" cy="1207008"/>
          </a:xfrm>
          <a:prstGeom prst="roundRect">
            <a:avLst>
              <a:gd name="adj" fmla="val 4545"/>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33" name="Shape 31"/>
          <p:cNvSpPr/>
          <p:nvPr/>
        </p:nvSpPr>
        <p:spPr>
          <a:xfrm>
            <a:off x="6172200" y="4160520"/>
            <a:ext cx="91440" cy="1207008"/>
          </a:xfrm>
          <a:prstGeom prst="rect">
            <a:avLst/>
          </a:prstGeom>
          <a:solidFill>
            <a:srgbClr val="1D4ED8"/>
          </a:solidFill>
          <a:ln/>
        </p:spPr>
      </p:sp>
      <p:sp>
        <p:nvSpPr>
          <p:cNvPr id="34" name="Text 32"/>
          <p:cNvSpPr/>
          <p:nvPr/>
        </p:nvSpPr>
        <p:spPr>
          <a:xfrm>
            <a:off x="6446520" y="4297680"/>
            <a:ext cx="4937760" cy="365760"/>
          </a:xfrm>
          <a:prstGeom prst="rect">
            <a:avLst/>
          </a:prstGeom>
          <a:noFill/>
          <a:ln/>
        </p:spPr>
        <p:txBody>
          <a:bodyPr wrap="square" lIns="0" tIns="0" rIns="0" bIns="0" rtlCol="0" anchor="t"/>
          <a:lstStyle/>
          <a:p>
            <a:pPr marL="0" indent="0" algn="l">
              <a:buNone/>
            </a:pPr>
            <a:r>
              <a:rPr lang="en-US" sz="1600" b="1" dirty="0">
                <a:solidFill>
                  <a:srgbClr val="1D4ED8"/>
                </a:solidFill>
              </a:rPr>
              <a:t>Donor is the unit (~47)</a:t>
            </a:r>
            <a:endParaRPr lang="en-US" sz="1600" dirty="0"/>
          </a:p>
        </p:txBody>
      </p:sp>
      <p:sp>
        <p:nvSpPr>
          <p:cNvPr id="35" name="Text 33"/>
          <p:cNvSpPr/>
          <p:nvPr/>
        </p:nvSpPr>
        <p:spPr>
          <a:xfrm>
            <a:off x="6446520" y="4709160"/>
            <a:ext cx="4937760" cy="566928"/>
          </a:xfrm>
          <a:prstGeom prst="rect">
            <a:avLst/>
          </a:prstGeom>
          <a:noFill/>
          <a:ln/>
        </p:spPr>
        <p:txBody>
          <a:bodyPr wrap="square" lIns="0" tIns="0" rIns="0" bIns="0" rtlCol="0" anchor="t"/>
          <a:lstStyle/>
          <a:p>
            <a:pPr marL="0" indent="0" algn="l">
              <a:buNone/>
            </a:pPr>
            <a:r>
              <a:rPr lang="en-US" sz="1300" dirty="0">
                <a:solidFill>
                  <a:srgbClr val="1B2B31"/>
                </a:solidFill>
              </a:rPr>
              <a:t>No pseudoreplication. Robust on 6 marker sets (2–1,637 genes, incl. Paper 2’s own).</a:t>
            </a:r>
            <a:endParaRPr lang="en-US" sz="1300" dirty="0"/>
          </a:p>
        </p:txBody>
      </p:sp>
      <p:sp>
        <p:nvSpPr>
          <p:cNvPr id="36" name="Shape 34"/>
          <p:cNvSpPr/>
          <p:nvPr/>
        </p:nvSpPr>
        <p:spPr>
          <a:xfrm>
            <a:off x="457200" y="6199632"/>
            <a:ext cx="2926080" cy="0"/>
          </a:xfrm>
          <a:prstGeom prst="line">
            <a:avLst/>
          </a:prstGeom>
          <a:noFill/>
          <a:ln w="9525">
            <a:solidFill>
              <a:srgbClr val="C9C0B2"/>
            </a:solidFill>
            <a:prstDash val="solid"/>
          </a:ln>
        </p:spPr>
      </p:sp>
      <p:sp>
        <p:nvSpPr>
          <p:cNvPr id="37" name="Text 35"/>
          <p:cNvSpPr/>
          <p:nvPr/>
        </p:nvSpPr>
        <p:spPr>
          <a:xfrm>
            <a:off x="457200" y="6254496"/>
            <a:ext cx="10607040" cy="237744"/>
          </a:xfrm>
          <a:prstGeom prst="rect">
            <a:avLst/>
          </a:prstGeom>
          <a:noFill/>
          <a:ln/>
        </p:spPr>
        <p:txBody>
          <a:bodyPr wrap="square" lIns="0" tIns="0" rIns="0" bIns="0" rtlCol="0" anchor="ctr"/>
          <a:lstStyle/>
          <a:p>
            <a:pPr marL="0" indent="0" algn="l">
              <a:buNone/>
            </a:pPr>
            <a:r>
              <a:rPr lang="en-US" sz="1000" i="1" dirty="0">
                <a:solidFill>
                  <a:srgbClr val="6B6256"/>
                </a:solidFill>
              </a:rPr>
              <a:t>¹ Depth-matched down-sampling: Amezquita et al., Nat. Methods 2020.   ·   Raw-extraction integrity: 9/9 sanity checks pass (integer UMIs; 69,426 hepatocytes match the paper).</a:t>
            </a:r>
            <a:endParaRPr lang="en-US" sz="1000" dirty="0"/>
          </a:p>
        </p:txBody>
      </p:sp>
      <p:sp>
        <p:nvSpPr>
          <p:cNvPr id="38" name="Text 36"/>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39" name="Text 37"/>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7</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42B"/>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sp>
      <p:sp>
        <p:nvSpPr>
          <p:cNvPr id="3" name="Shape 1"/>
          <p:cNvSpPr/>
          <p:nvPr/>
        </p:nvSpPr>
        <p:spPr>
          <a:xfrm>
            <a:off x="256032" y="0"/>
            <a:ext cx="109728" cy="6858000"/>
          </a:xfrm>
          <a:prstGeom prst="rect">
            <a:avLst/>
          </a:prstGeom>
          <a:solidFill>
            <a:srgbClr val="C0561B"/>
          </a:solidFill>
          <a:ln/>
        </p:spPr>
      </p:sp>
      <p:sp>
        <p:nvSpPr>
          <p:cNvPr id="4" name="Text 2"/>
          <p:cNvSpPr/>
          <p:nvPr/>
        </p:nvSpPr>
        <p:spPr>
          <a:xfrm>
            <a:off x="868680" y="2651760"/>
            <a:ext cx="10515600" cy="1005840"/>
          </a:xfrm>
          <a:prstGeom prst="rect">
            <a:avLst/>
          </a:prstGeom>
          <a:noFill/>
          <a:ln/>
        </p:spPr>
        <p:txBody>
          <a:bodyPr wrap="square" rtlCol="0" anchor="ctr"/>
          <a:lstStyle/>
          <a:p>
            <a:pPr marL="0" indent="0" algn="l">
              <a:buNone/>
            </a:pPr>
            <a:r>
              <a:rPr lang="en-US" sz="4400" b="1" dirty="0">
                <a:solidFill>
                  <a:srgbClr val="FFFFFF"/>
                </a:solidFill>
                <a:latin typeface="Georgia" pitchFamily="34" charset="0"/>
                <a:ea typeface="Georgia" pitchFamily="34" charset="-122"/>
                <a:cs typeface="Georgia" pitchFamily="34" charset="-120"/>
              </a:rPr>
              <a:t>Results</a:t>
            </a:r>
            <a:endParaRPr lang="en-US" sz="4400" dirty="0"/>
          </a:p>
        </p:txBody>
      </p:sp>
      <p:sp>
        <p:nvSpPr>
          <p:cNvPr id="5" name="Text 3"/>
          <p:cNvSpPr/>
          <p:nvPr/>
        </p:nvSpPr>
        <p:spPr>
          <a:xfrm>
            <a:off x="896112" y="3794760"/>
            <a:ext cx="10515600" cy="457200"/>
          </a:xfrm>
          <a:prstGeom prst="rect">
            <a:avLst/>
          </a:prstGeom>
          <a:noFill/>
          <a:ln/>
        </p:spPr>
        <p:txBody>
          <a:bodyPr wrap="square" rtlCol="0" anchor="ctr"/>
          <a:lstStyle/>
          <a:p>
            <a:pPr marL="0" indent="0" algn="l">
              <a:buNone/>
            </a:pPr>
            <a:r>
              <a:rPr lang="en-US" sz="1700" i="1" dirty="0">
                <a:solidFill>
                  <a:srgbClr val="9FC0C4"/>
                </a:solidFill>
              </a:rPr>
              <a:t>what the counts actually say</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THE RESULT</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RESULTS</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No depletion signal across matched biopsies</a:t>
            </a:r>
            <a:endParaRPr lang="en-US" sz="2800" dirty="0"/>
          </a:p>
        </p:txBody>
      </p:sp>
      <p:pic>
        <p:nvPicPr>
          <p:cNvPr id="6" name="Image 0" descr="D:\CS\Genomics\Hackathon\presentation/assets/fig_result3.png"/>
          <p:cNvPicPr>
            <a:picLocks noChangeAspect="1"/>
          </p:cNvPicPr>
          <p:nvPr/>
        </p:nvPicPr>
        <p:blipFill>
          <a:blip r:embed="rId3"/>
          <a:stretch>
            <a:fillRect/>
          </a:stretch>
        </p:blipFill>
        <p:spPr>
          <a:xfrm>
            <a:off x="182880" y="1463040"/>
            <a:ext cx="8412480" cy="4126230"/>
          </a:xfrm>
          <a:prstGeom prst="rect">
            <a:avLst/>
          </a:prstGeom>
        </p:spPr>
      </p:pic>
      <p:sp>
        <p:nvSpPr>
          <p:cNvPr id="7" name="Text 4"/>
          <p:cNvSpPr/>
          <p:nvPr/>
        </p:nvSpPr>
        <p:spPr>
          <a:xfrm>
            <a:off x="182880" y="5760720"/>
            <a:ext cx="841248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2.  Pericentral / periportal anchor and dual co-expression across matched biopsy F1–F4 </a:t>
            </a:r>
          </a:p>
          <a:p>
            <a:pPr marL="0" indent="0" algn="ctr">
              <a:buNone/>
            </a:pPr>
            <a:r>
              <a:rPr lang="en-US" sz="1200" i="1" dirty="0">
                <a:solidFill>
                  <a:srgbClr val="5C6E73"/>
                </a:solidFill>
              </a:rPr>
              <a:t>(box = per-donor spread; F0 n=2 omitted — in backup).</a:t>
            </a:r>
            <a:endParaRPr lang="en-US" sz="1200" dirty="0"/>
          </a:p>
        </p:txBody>
      </p:sp>
      <p:sp>
        <p:nvSpPr>
          <p:cNvPr id="8" name="Text 5"/>
          <p:cNvSpPr/>
          <p:nvPr/>
        </p:nvSpPr>
        <p:spPr>
          <a:xfrm>
            <a:off x="8732520" y="1508760"/>
            <a:ext cx="3200400" cy="3749040"/>
          </a:xfrm>
          <a:prstGeom prst="rect">
            <a:avLst/>
          </a:prstGeom>
          <a:noFill/>
          <a:ln/>
        </p:spPr>
        <p:txBody>
          <a:bodyPr wrap="square" rtlCol="0" anchor="t"/>
          <a:lstStyle/>
          <a:p>
            <a:pPr marL="0" indent="0" algn="l">
              <a:spcAft>
                <a:spcPts val="200"/>
              </a:spcAft>
              <a:buNone/>
            </a:pPr>
            <a:r>
              <a:rPr lang="en-US" sz="1400" b="1" dirty="0">
                <a:solidFill>
                  <a:srgbClr val="1D4ED8"/>
                </a:solidFill>
              </a:rPr>
              <a:t>No depletion.
</a:t>
            </a:r>
            <a:endParaRPr lang="en-US" sz="1400" dirty="0"/>
          </a:p>
          <a:p>
            <a:pPr marL="0" indent="0" algn="l">
              <a:spcAft>
                <a:spcPts val="200"/>
              </a:spcAft>
              <a:buNone/>
            </a:pPr>
            <a:r>
              <a:rPr lang="en-US" sz="1400" dirty="0">
                <a:solidFill>
                  <a:srgbClr val="1B2B31"/>
                </a:solidFill>
              </a:rPr>
              <a:t>PC &amp; PP anchors flat across F1–F4.
</a:t>
            </a:r>
            <a:endParaRPr lang="en-US" sz="1400" dirty="0"/>
          </a:p>
          <a:p>
            <a:pPr marL="0" indent="0" algn="l">
              <a:spcAft>
                <a:spcPts val="200"/>
              </a:spcAft>
              <a:buNone/>
            </a:pPr>
            <a:r>
              <a:rPr lang="en-US" sz="1400" b="1" dirty="0">
                <a:solidFill>
                  <a:srgbClr val="7C3AED"/>
                </a:solidFill>
              </a:rPr>
              <a:t>No co-expression.
</a:t>
            </a:r>
            <a:endParaRPr lang="en-US" sz="1400" dirty="0"/>
          </a:p>
          <a:p>
            <a:pPr marL="0" indent="0" algn="l">
              <a:spcAft>
                <a:spcPts val="200"/>
              </a:spcAft>
              <a:buNone/>
            </a:pPr>
            <a:r>
              <a:rPr lang="en-US" sz="1400" dirty="0">
                <a:solidFill>
                  <a:srgbClr val="1B2B31"/>
                </a:solidFill>
              </a:rPr>
              <a:t>Dual stays ~0.4% (vs 2.9% in explants).
</a:t>
            </a:r>
            <a:endParaRPr lang="en-US" sz="1400" dirty="0"/>
          </a:p>
          <a:p>
            <a:pPr marL="0" indent="0" algn="l">
              <a:spcAft>
                <a:spcPts val="200"/>
              </a:spcAft>
              <a:buNone/>
            </a:pPr>
            <a:r>
              <a:rPr lang="en-US" sz="1400" b="1" dirty="0">
                <a:solidFill>
                  <a:srgbClr val="475569"/>
                </a:solidFill>
              </a:rPr>
              <a:t>Null &amp; PP:PC flat too.
</a:t>
            </a:r>
            <a:endParaRPr lang="en-US" sz="1400" dirty="0"/>
          </a:p>
          <a:p>
            <a:pPr marL="0" indent="0" algn="l">
              <a:spcAft>
                <a:spcPts val="200"/>
              </a:spcAft>
              <a:buNone/>
            </a:pPr>
            <a:r>
              <a:rPr lang="en-US" sz="1400" dirty="0">
                <a:solidFill>
                  <a:srgbClr val="1B2B31"/>
                </a:solidFill>
              </a:rPr>
              <a:t>44/36/39/39%;  ratio ≈ 1.1.
</a:t>
            </a:r>
            <a:endParaRPr lang="en-US" sz="1400" dirty="0"/>
          </a:p>
          <a:p>
            <a:pPr marL="0" indent="0" algn="l">
              <a:spcAft>
                <a:spcPts val="200"/>
              </a:spcAft>
              <a:buNone/>
            </a:pPr>
            <a:r>
              <a:rPr lang="en-US" sz="1600" b="1" dirty="0">
                <a:solidFill>
                  <a:srgbClr val="0D9488"/>
                </a:solidFill>
              </a:rPr>
              <a:t>→ no transcriptional de-zonation signal.</a:t>
            </a:r>
            <a:endParaRPr lang="en-US" sz="1400" dirty="0"/>
          </a:p>
        </p:txBody>
      </p:sp>
      <p:sp>
        <p:nvSpPr>
          <p:cNvPr id="9" name="Text 6"/>
          <p:cNvSpPr/>
          <p:nvPr/>
        </p:nvSpPr>
        <p:spPr>
          <a:xfrm>
            <a:off x="8732520" y="5722122"/>
            <a:ext cx="3200400" cy="496586"/>
          </a:xfrm>
          <a:prstGeom prst="rect">
            <a:avLst/>
          </a:prstGeom>
          <a:noFill/>
          <a:ln/>
        </p:spPr>
        <p:txBody>
          <a:bodyPr wrap="square" rtlCol="0" anchor="t"/>
          <a:lstStyle/>
          <a:p>
            <a:pPr marL="0" indent="0" algn="l">
              <a:buNone/>
            </a:pPr>
            <a:r>
              <a:rPr lang="en-US" sz="1100" i="1" dirty="0">
                <a:solidFill>
                  <a:srgbClr val="5C6E73"/>
                </a:solidFill>
              </a:rPr>
              <a:t>Spread, the equivalence bound (&gt; ±19 pp excluded) and the 10-confounder audit — all in backup.</a:t>
            </a:r>
            <a:endParaRPr lang="en-US" sz="1100" dirty="0"/>
          </a:p>
        </p:txBody>
      </p:sp>
      <p:sp>
        <p:nvSpPr>
          <p:cNvPr id="10" name="Text 7"/>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11" name="Text 8"/>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8</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THE GRADIENT, IN DATA</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RESULTS</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Cells stay spread across the zones — no collapse</a:t>
            </a:r>
            <a:endParaRPr lang="en-US" sz="2800" dirty="0"/>
          </a:p>
        </p:txBody>
      </p:sp>
      <p:sp>
        <p:nvSpPr>
          <p:cNvPr id="6" name="Text 4"/>
          <p:cNvSpPr/>
          <p:nvPr/>
        </p:nvSpPr>
        <p:spPr>
          <a:xfrm>
            <a:off x="640080" y="1353312"/>
            <a:ext cx="11247120" cy="320040"/>
          </a:xfrm>
          <a:prstGeom prst="rect">
            <a:avLst/>
          </a:prstGeom>
          <a:noFill/>
          <a:ln/>
        </p:spPr>
        <p:txBody>
          <a:bodyPr wrap="square" lIns="0" tIns="0" rIns="0" bIns="0" rtlCol="0" anchor="ctr"/>
          <a:lstStyle/>
          <a:p>
            <a:pPr marL="0" indent="0" algn="l">
              <a:buNone/>
            </a:pPr>
            <a:r>
              <a:rPr lang="en-US" sz="1450" b="1" dirty="0">
                <a:solidFill>
                  <a:srgbClr val="1B2B31"/>
                </a:solidFill>
              </a:rPr>
              <a:t>Each panel: where hepatocytes fall on the pericentral ↔ periportal axis.  </a:t>
            </a:r>
          </a:p>
          <a:p>
            <a:pPr marL="0" indent="0" algn="l">
              <a:buNone/>
            </a:pPr>
            <a:r>
              <a:rPr lang="en-US" sz="1450" dirty="0">
                <a:solidFill>
                  <a:srgbClr val="5C6E73"/>
                </a:solidFill>
              </a:rPr>
              <a:t>A spread of positions = zonation present;  cells bunched into one pile = collapse.</a:t>
            </a:r>
            <a:endParaRPr lang="en-US" sz="1450" dirty="0"/>
          </a:p>
        </p:txBody>
      </p:sp>
      <p:pic>
        <p:nvPicPr>
          <p:cNvPr id="7" name="Image 0" descr="D:\CS\Genomics\Hackathon\presentation/assets/fig_gradient.png"/>
          <p:cNvPicPr>
            <a:picLocks noChangeAspect="1"/>
          </p:cNvPicPr>
          <p:nvPr/>
        </p:nvPicPr>
        <p:blipFill>
          <a:blip r:embed="rId3"/>
          <a:stretch>
            <a:fillRect/>
          </a:stretch>
        </p:blipFill>
        <p:spPr>
          <a:xfrm>
            <a:off x="995729" y="1810512"/>
            <a:ext cx="10170062" cy="2971800"/>
          </a:xfrm>
          <a:prstGeom prst="rect">
            <a:avLst/>
          </a:prstGeom>
        </p:spPr>
      </p:pic>
      <p:sp>
        <p:nvSpPr>
          <p:cNvPr id="8" name="Text 5"/>
          <p:cNvSpPr/>
          <p:nvPr/>
        </p:nvSpPr>
        <p:spPr>
          <a:xfrm>
            <a:off x="365760" y="4892040"/>
            <a:ext cx="1143000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3.  Per-cell zonal balance by stage (down-thinned to 1,500 UMIs, ≤300 nuclei/donor). </a:t>
            </a:r>
          </a:p>
          <a:p>
            <a:pPr marL="0" indent="0" algn="ctr">
              <a:buNone/>
            </a:pPr>
            <a:r>
              <a:rPr lang="en-US" sz="1200" i="1" dirty="0">
                <a:solidFill>
                  <a:srgbClr val="5C6E73"/>
                </a:solidFill>
              </a:rPr>
              <a:t>Dashed outline = the F1 distribution, repeated on each panel: biopsy F1–F4 barely move; only the explant collapses to the periportal pole.</a:t>
            </a:r>
            <a:endParaRPr lang="en-US" sz="1200" dirty="0"/>
          </a:p>
        </p:txBody>
      </p:sp>
      <p:sp>
        <p:nvSpPr>
          <p:cNvPr id="9" name="Text 6"/>
          <p:cNvSpPr/>
          <p:nvPr/>
        </p:nvSpPr>
        <p:spPr>
          <a:xfrm>
            <a:off x="640080" y="5394960"/>
            <a:ext cx="11155680" cy="868680"/>
          </a:xfrm>
          <a:prstGeom prst="rect">
            <a:avLst/>
          </a:prstGeom>
          <a:noFill/>
          <a:ln/>
        </p:spPr>
        <p:txBody>
          <a:bodyPr wrap="square" rtlCol="0" anchor="t"/>
          <a:lstStyle/>
          <a:p>
            <a:pPr marL="0" indent="0" algn="l">
              <a:buNone/>
            </a:pPr>
            <a:r>
              <a:rPr lang="en-US" sz="1450" dirty="0">
                <a:solidFill>
                  <a:srgbClr val="1B2B31"/>
                </a:solidFill>
              </a:rPr>
              <a:t>Across biopsy F1–F4 the mass stays spread — the middle [0.4–0.6) drifts only 22 → 24 → 28 → 26% (peak F3, then reverts), non-monotone and mild. </a:t>
            </a:r>
            <a:r>
              <a:rPr lang="en-US" sz="1450" b="1" dirty="0">
                <a:solidFill>
                  <a:srgbClr val="BE123C"/>
                </a:solidFill>
              </a:rPr>
              <a:t>Only the confounded explant collapses to a single (periportal) pole.</a:t>
            </a:r>
            <a:endParaRPr lang="en-US" sz="1450" dirty="0"/>
          </a:p>
        </p:txBody>
      </p:sp>
      <p:sp>
        <p:nvSpPr>
          <p:cNvPr id="10" name="Text 7"/>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11" name="Text 8"/>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9</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1"/>
        </a:solidFill>
        <a:effectLst/>
      </p:bgPr>
    </p:bg>
    <p:spTree>
      <p:nvGrpSpPr>
        <p:cNvPr id="1" name=""/>
        <p:cNvGrpSpPr/>
        <p:nvPr/>
      </p:nvGrpSpPr>
      <p:grpSpPr>
        <a:xfrm>
          <a:off x="0" y="0"/>
          <a:ext cx="0" cy="0"/>
          <a:chOff x="0" y="0"/>
          <a:chExt cx="0" cy="0"/>
        </a:xfrm>
      </p:grpSpPr>
      <p:sp>
        <p:nvSpPr>
          <p:cNvPr id="13" name="Shape 6">
            <a:extLst>
              <a:ext uri="{FF2B5EF4-FFF2-40B4-BE49-F238E27FC236}">
                <a16:creationId xmlns:a16="http://schemas.microsoft.com/office/drawing/2014/main" id="{05A1DEB1-EB4F-E7FD-B843-D0D1C7305F2D}"/>
              </a:ext>
            </a:extLst>
          </p:cNvPr>
          <p:cNvSpPr/>
          <p:nvPr/>
        </p:nvSpPr>
        <p:spPr>
          <a:xfrm>
            <a:off x="8284463" y="4113652"/>
            <a:ext cx="3547873" cy="588977"/>
          </a:xfrm>
          <a:prstGeom prst="roundRect">
            <a:avLst>
              <a:gd name="adj" fmla="val 4242"/>
            </a:avLst>
          </a:prstGeom>
          <a:solidFill>
            <a:srgbClr val="FBEEE9"/>
          </a:solidFill>
          <a:ln w="12700">
            <a:solidFill>
              <a:srgbClr val="BE123C"/>
            </a:solidFill>
            <a:prstDash val="solid"/>
          </a:ln>
        </p:spPr>
      </p:sp>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GENOME-WIDE</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RESULTS</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Per gene, nothing usable moves</a:t>
            </a:r>
            <a:endParaRPr lang="en-US" sz="2800" dirty="0"/>
          </a:p>
        </p:txBody>
      </p:sp>
      <p:pic>
        <p:nvPicPr>
          <p:cNvPr id="6" name="Image 0" descr="D:\CS\Genomics\Hackathon\presentation/assets/fig_volcano.png"/>
          <p:cNvPicPr>
            <a:picLocks noChangeAspect="1"/>
          </p:cNvPicPr>
          <p:nvPr/>
        </p:nvPicPr>
        <p:blipFill>
          <a:blip r:embed="rId3"/>
          <a:stretch>
            <a:fillRect/>
          </a:stretch>
        </p:blipFill>
        <p:spPr>
          <a:xfrm>
            <a:off x="1065542" y="1417320"/>
            <a:ext cx="6372835" cy="4114800"/>
          </a:xfrm>
          <a:prstGeom prst="rect">
            <a:avLst/>
          </a:prstGeom>
        </p:spPr>
      </p:pic>
      <p:sp>
        <p:nvSpPr>
          <p:cNvPr id="7" name="Text 4"/>
          <p:cNvSpPr/>
          <p:nvPr/>
        </p:nvSpPr>
        <p:spPr>
          <a:xfrm>
            <a:off x="274320" y="5532120"/>
            <a:ext cx="795528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4.  Genome-wide pseudobulk differential expression, cirrhotic F4 vs F1 (edgeR).</a:t>
            </a:r>
            <a:endParaRPr lang="en-US" sz="1200" dirty="0"/>
          </a:p>
        </p:txBody>
      </p:sp>
      <p:sp>
        <p:nvSpPr>
          <p:cNvPr id="8" name="Text 5"/>
          <p:cNvSpPr/>
          <p:nvPr/>
        </p:nvSpPr>
        <p:spPr>
          <a:xfrm>
            <a:off x="8412480" y="1645920"/>
            <a:ext cx="3520440" cy="1592085"/>
          </a:xfrm>
          <a:prstGeom prst="rect">
            <a:avLst/>
          </a:prstGeom>
          <a:noFill/>
          <a:ln/>
        </p:spPr>
        <p:txBody>
          <a:bodyPr wrap="square" rtlCol="0" anchor="t"/>
          <a:lstStyle/>
          <a:p>
            <a:pPr marL="0" indent="0" algn="l">
              <a:spcAft>
                <a:spcPts val="600"/>
              </a:spcAft>
              <a:buNone/>
            </a:pPr>
            <a:r>
              <a:rPr lang="en-US" sz="1400" b="1" dirty="0">
                <a:solidFill>
                  <a:srgbClr val="1B2B31"/>
                </a:solidFill>
              </a:rPr>
              <a:t>64 of ~21,000 genes pass FDR¹ </a:t>
            </a:r>
          </a:p>
          <a:p>
            <a:pPr marL="0" indent="0" algn="l">
              <a:spcAft>
                <a:spcPts val="600"/>
              </a:spcAft>
              <a:buNone/>
            </a:pPr>
            <a:r>
              <a:rPr lang="en-US" sz="1400" b="1" dirty="0">
                <a:solidFill>
                  <a:srgbClr val="1B2B31"/>
                </a:solidFill>
              </a:rPr>
              <a:t>	— </a:t>
            </a:r>
            <a:r>
              <a:rPr lang="en-US" sz="1400" dirty="0">
                <a:solidFill>
                  <a:srgbClr val="1B2B31"/>
                </a:solidFill>
              </a:rPr>
              <a:t>mostly biliary / ductular.
</a:t>
            </a:r>
            <a:r>
              <a:rPr lang="en-US" sz="1400" b="1" dirty="0">
                <a:solidFill>
                  <a:srgbClr val="1D4ED8"/>
                </a:solidFill>
              </a:rPr>
              <a:t>Zonation genes flat </a:t>
            </a:r>
            <a:r>
              <a:rPr lang="en-US" sz="1400" dirty="0">
                <a:solidFill>
                  <a:srgbClr val="1B2B31"/>
                </a:solidFill>
              </a:rPr>
              <a:t>(GLUL FDR 0.80). </a:t>
            </a:r>
          </a:p>
          <a:p>
            <a:pPr marL="0" indent="0" algn="l">
              <a:spcAft>
                <a:spcPts val="600"/>
              </a:spcAft>
              <a:buNone/>
            </a:pPr>
            <a:r>
              <a:rPr lang="en-US" sz="1400" dirty="0">
                <a:solidFill>
                  <a:srgbClr val="1B2B31"/>
                </a:solidFill>
              </a:rPr>
              <a:t>	No large single-gene program.
</a:t>
            </a:r>
            <a:endParaRPr lang="en-US" sz="1400" b="1" dirty="0">
              <a:solidFill>
                <a:srgbClr val="1B2B31"/>
              </a:solidFill>
            </a:endParaRPr>
          </a:p>
        </p:txBody>
      </p:sp>
      <p:sp>
        <p:nvSpPr>
          <p:cNvPr id="9" name="Shape 6"/>
          <p:cNvSpPr/>
          <p:nvPr/>
        </p:nvSpPr>
        <p:spPr>
          <a:xfrm>
            <a:off x="457200" y="6199632"/>
            <a:ext cx="2926080" cy="0"/>
          </a:xfrm>
          <a:prstGeom prst="line">
            <a:avLst/>
          </a:prstGeom>
          <a:noFill/>
          <a:ln w="9525">
            <a:solidFill>
              <a:srgbClr val="C9C0B2"/>
            </a:solidFill>
            <a:prstDash val="solid"/>
          </a:ln>
        </p:spPr>
      </p:sp>
      <p:sp>
        <p:nvSpPr>
          <p:cNvPr id="10" name="Text 7"/>
          <p:cNvSpPr/>
          <p:nvPr/>
        </p:nvSpPr>
        <p:spPr>
          <a:xfrm>
            <a:off x="457200" y="6254496"/>
            <a:ext cx="10607040" cy="237744"/>
          </a:xfrm>
          <a:prstGeom prst="rect">
            <a:avLst/>
          </a:prstGeom>
          <a:noFill/>
          <a:ln/>
        </p:spPr>
        <p:txBody>
          <a:bodyPr wrap="square" lIns="0" tIns="0" rIns="0" bIns="0" rtlCol="0" anchor="ctr"/>
          <a:lstStyle/>
          <a:p>
            <a:pPr marL="0" indent="0" algn="l">
              <a:buNone/>
            </a:pPr>
            <a:r>
              <a:rPr lang="en-US" sz="1000" i="1" dirty="0">
                <a:solidFill>
                  <a:srgbClr val="6B6256"/>
                </a:solidFill>
              </a:rPr>
              <a:t>¹ Pseudobulk: Squair et al. 2021; edgeR / TMM: Robinson, McCarthy &amp; Smyth 2010; Robinson &amp; Oshlack 2010.</a:t>
            </a:r>
            <a:endParaRPr lang="en-US" sz="1000" dirty="0"/>
          </a:p>
        </p:txBody>
      </p:sp>
      <p:sp>
        <p:nvSpPr>
          <p:cNvPr id="11" name="Text 8"/>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12" name="Text 9"/>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10</a:t>
            </a:r>
            <a:endParaRPr lang="en-US" sz="1050" dirty="0"/>
          </a:p>
        </p:txBody>
      </p:sp>
      <p:sp>
        <p:nvSpPr>
          <p:cNvPr id="17" name="TextBox 16">
            <a:extLst>
              <a:ext uri="{FF2B5EF4-FFF2-40B4-BE49-F238E27FC236}">
                <a16:creationId xmlns:a16="http://schemas.microsoft.com/office/drawing/2014/main" id="{4853E2A5-6351-661E-2AFE-CB8EDD9F7715}"/>
              </a:ext>
            </a:extLst>
          </p:cNvPr>
          <p:cNvSpPr txBox="1"/>
          <p:nvPr/>
        </p:nvSpPr>
        <p:spPr>
          <a:xfrm>
            <a:off x="8372104" y="4150674"/>
            <a:ext cx="3301340" cy="523220"/>
          </a:xfrm>
          <a:prstGeom prst="rect">
            <a:avLst/>
          </a:prstGeom>
          <a:noFill/>
        </p:spPr>
        <p:txBody>
          <a:bodyPr wrap="square">
            <a:spAutoFit/>
          </a:bodyPr>
          <a:lstStyle/>
          <a:p>
            <a:r>
              <a:rPr kumimoji="0" lang="en-US" sz="1400" b="1" i="0" u="none" strike="noStrike" kern="1200" cap="none" spc="0" normalizeH="0" baseline="0" noProof="0" dirty="0">
                <a:ln>
                  <a:noFill/>
                </a:ln>
                <a:solidFill>
                  <a:srgbClr val="FF0000"/>
                </a:solidFill>
                <a:effectLst/>
                <a:uLnTx/>
                <a:uFillTx/>
                <a:latin typeface="Calibri" panose="020F0502020204030204"/>
                <a:ea typeface="+mn-ea"/>
                <a:cs typeface="+mn-cs"/>
              </a:rPr>
              <a:t>But a weak program, spread thinly across many genes, hides from per-gene FDR </a:t>
            </a:r>
            <a:endParaRPr lang="en-US"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SOURCE</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RESULTS</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The biliary signal: a compositional confounder? — a lead</a:t>
            </a:r>
            <a:endParaRPr lang="en-US" sz="2800" dirty="0"/>
          </a:p>
        </p:txBody>
      </p:sp>
      <p:pic>
        <p:nvPicPr>
          <p:cNvPr id="6" name="Image 0" descr="D:\CS\Genomics\Hackathon\presentation/assets/fig_compositional.png"/>
          <p:cNvPicPr>
            <a:picLocks noChangeAspect="1"/>
          </p:cNvPicPr>
          <p:nvPr/>
        </p:nvPicPr>
        <p:blipFill>
          <a:blip r:embed="rId3"/>
          <a:stretch>
            <a:fillRect/>
          </a:stretch>
        </p:blipFill>
        <p:spPr>
          <a:xfrm>
            <a:off x="2208441" y="1371600"/>
            <a:ext cx="7744638" cy="3063240"/>
          </a:xfrm>
          <a:prstGeom prst="rect">
            <a:avLst/>
          </a:prstGeom>
        </p:spPr>
      </p:pic>
      <p:sp>
        <p:nvSpPr>
          <p:cNvPr id="7" name="Text 4"/>
          <p:cNvSpPr/>
          <p:nvPr/>
        </p:nvSpPr>
        <p:spPr>
          <a:xfrm>
            <a:off x="274320" y="4304885"/>
            <a:ext cx="1161288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6.  Source attribution — cross-lineage abundance, decontX ambient-RNA removal, and the F4 ductular reaction.</a:t>
            </a:r>
            <a:endParaRPr lang="en-US" sz="1200" dirty="0"/>
          </a:p>
        </p:txBody>
      </p:sp>
      <p:sp>
        <p:nvSpPr>
          <p:cNvPr id="8" name="Shape 5"/>
          <p:cNvSpPr/>
          <p:nvPr/>
        </p:nvSpPr>
        <p:spPr>
          <a:xfrm>
            <a:off x="548640" y="4828032"/>
            <a:ext cx="11155680" cy="384048"/>
          </a:xfrm>
          <a:prstGeom prst="roundRect">
            <a:avLst>
              <a:gd name="adj" fmla="val 11905"/>
            </a:avLst>
          </a:prstGeom>
          <a:solidFill>
            <a:srgbClr val="E7F2ED"/>
          </a:solidFill>
          <a:ln/>
        </p:spPr>
      </p:sp>
      <p:sp>
        <p:nvSpPr>
          <p:cNvPr id="9" name="Text 6"/>
          <p:cNvSpPr/>
          <p:nvPr/>
        </p:nvSpPr>
        <p:spPr>
          <a:xfrm>
            <a:off x="713232" y="4828032"/>
            <a:ext cx="1737360" cy="384048"/>
          </a:xfrm>
          <a:prstGeom prst="rect">
            <a:avLst/>
          </a:prstGeom>
          <a:noFill/>
          <a:ln/>
        </p:spPr>
        <p:txBody>
          <a:bodyPr wrap="square" lIns="0" tIns="0" rIns="0" bIns="0" rtlCol="0" anchor="ctr"/>
          <a:lstStyle/>
          <a:p>
            <a:pPr marL="0" indent="0">
              <a:buNone/>
            </a:pPr>
            <a:r>
              <a:rPr lang="en-US" sz="1200" b="1" kern="0" spc="100" dirty="0">
                <a:solidFill>
                  <a:srgbClr val="065F46"/>
                </a:solidFill>
              </a:rPr>
              <a:t>STRONG</a:t>
            </a:r>
            <a:endParaRPr lang="en-US" sz="1200" dirty="0"/>
          </a:p>
        </p:txBody>
      </p:sp>
      <p:sp>
        <p:nvSpPr>
          <p:cNvPr id="10" name="Text 7"/>
          <p:cNvSpPr/>
          <p:nvPr/>
        </p:nvSpPr>
        <p:spPr>
          <a:xfrm>
            <a:off x="2468880" y="4828032"/>
            <a:ext cx="9052560" cy="384048"/>
          </a:xfrm>
          <a:prstGeom prst="rect">
            <a:avLst/>
          </a:prstGeom>
          <a:noFill/>
          <a:ln/>
        </p:spPr>
        <p:txBody>
          <a:bodyPr wrap="square" lIns="0" tIns="0" rIns="0" bIns="0" rtlCol="0" anchor="ctr"/>
          <a:lstStyle/>
          <a:p>
            <a:pPr marL="0" indent="0">
              <a:buNone/>
            </a:pPr>
            <a:r>
              <a:rPr lang="en-US" sz="1300" dirty="0">
                <a:solidFill>
                  <a:srgbClr val="1B2B31"/>
                </a:solidFill>
              </a:rPr>
              <a:t>Biliary genes are cholangiocyte genes; hepatocyte co-expression ~0.4%</a:t>
            </a:r>
            <a:endParaRPr lang="en-US" sz="1300" dirty="0"/>
          </a:p>
        </p:txBody>
      </p:sp>
      <p:sp>
        <p:nvSpPr>
          <p:cNvPr id="11" name="Shape 8"/>
          <p:cNvSpPr/>
          <p:nvPr/>
        </p:nvSpPr>
        <p:spPr>
          <a:xfrm>
            <a:off x="548640" y="5257800"/>
            <a:ext cx="11155680" cy="384048"/>
          </a:xfrm>
          <a:prstGeom prst="roundRect">
            <a:avLst>
              <a:gd name="adj" fmla="val 11905"/>
            </a:avLst>
          </a:prstGeom>
          <a:solidFill>
            <a:srgbClr val="FBF0E2"/>
          </a:solidFill>
          <a:ln/>
        </p:spPr>
      </p:sp>
      <p:sp>
        <p:nvSpPr>
          <p:cNvPr id="12" name="Text 9"/>
          <p:cNvSpPr/>
          <p:nvPr/>
        </p:nvSpPr>
        <p:spPr>
          <a:xfrm>
            <a:off x="713232" y="5257800"/>
            <a:ext cx="1737360" cy="384048"/>
          </a:xfrm>
          <a:prstGeom prst="rect">
            <a:avLst/>
          </a:prstGeom>
          <a:noFill/>
          <a:ln/>
        </p:spPr>
        <p:txBody>
          <a:bodyPr wrap="square" lIns="0" tIns="0" rIns="0" bIns="0" rtlCol="0" anchor="ctr"/>
          <a:lstStyle/>
          <a:p>
            <a:pPr marL="0" indent="0">
              <a:buNone/>
            </a:pPr>
            <a:r>
              <a:rPr lang="en-US" sz="1200" b="1" kern="0" spc="100" dirty="0">
                <a:solidFill>
                  <a:srgbClr val="B45309"/>
                </a:solidFill>
              </a:rPr>
              <a:t>SUGGESTIVE</a:t>
            </a:r>
            <a:endParaRPr lang="en-US" sz="1200" dirty="0"/>
          </a:p>
        </p:txBody>
      </p:sp>
      <p:sp>
        <p:nvSpPr>
          <p:cNvPr id="13" name="Text 10"/>
          <p:cNvSpPr/>
          <p:nvPr/>
        </p:nvSpPr>
        <p:spPr>
          <a:xfrm>
            <a:off x="2468880" y="5257800"/>
            <a:ext cx="9052560" cy="384048"/>
          </a:xfrm>
          <a:prstGeom prst="rect">
            <a:avLst/>
          </a:prstGeom>
          <a:noFill/>
          <a:ln/>
        </p:spPr>
        <p:txBody>
          <a:bodyPr wrap="square" lIns="0" tIns="0" rIns="0" bIns="0" rtlCol="0" anchor="ctr"/>
          <a:lstStyle/>
          <a:p>
            <a:pPr marL="0" indent="0">
              <a:buNone/>
            </a:pPr>
            <a:r>
              <a:rPr lang="en-US" sz="1300" dirty="0">
                <a:solidFill>
                  <a:srgbClr val="1B2B31"/>
                </a:solidFill>
              </a:rPr>
              <a:t>decontX¹ halves the hits — an ambient contribution, not proof</a:t>
            </a:r>
            <a:endParaRPr lang="en-US" sz="1300" dirty="0"/>
          </a:p>
        </p:txBody>
      </p:sp>
      <p:sp>
        <p:nvSpPr>
          <p:cNvPr id="14" name="Shape 11"/>
          <p:cNvSpPr/>
          <p:nvPr/>
        </p:nvSpPr>
        <p:spPr>
          <a:xfrm>
            <a:off x="548640" y="5687568"/>
            <a:ext cx="11155680" cy="384048"/>
          </a:xfrm>
          <a:prstGeom prst="roundRect">
            <a:avLst>
              <a:gd name="adj" fmla="val 11905"/>
            </a:avLst>
          </a:prstGeom>
          <a:solidFill>
            <a:srgbClr val="FBEEE9"/>
          </a:solidFill>
          <a:ln/>
        </p:spPr>
      </p:sp>
      <p:sp>
        <p:nvSpPr>
          <p:cNvPr id="15" name="Text 12"/>
          <p:cNvSpPr/>
          <p:nvPr/>
        </p:nvSpPr>
        <p:spPr>
          <a:xfrm>
            <a:off x="713232" y="5687568"/>
            <a:ext cx="1737360" cy="384048"/>
          </a:xfrm>
          <a:prstGeom prst="rect">
            <a:avLst/>
          </a:prstGeom>
          <a:noFill/>
          <a:ln/>
        </p:spPr>
        <p:txBody>
          <a:bodyPr wrap="square" lIns="0" tIns="0" rIns="0" bIns="0" rtlCol="0" anchor="ctr"/>
          <a:lstStyle/>
          <a:p>
            <a:pPr marL="0" indent="0">
              <a:buNone/>
            </a:pPr>
            <a:r>
              <a:rPr lang="en-US" sz="1200" b="1" kern="0" spc="100" dirty="0">
                <a:solidFill>
                  <a:srgbClr val="BE123C"/>
                </a:solidFill>
              </a:rPr>
              <a:t>OPEN</a:t>
            </a:r>
            <a:endParaRPr lang="en-US" sz="1200" dirty="0"/>
          </a:p>
        </p:txBody>
      </p:sp>
      <p:sp>
        <p:nvSpPr>
          <p:cNvPr id="16" name="Text 13"/>
          <p:cNvSpPr/>
          <p:nvPr/>
        </p:nvSpPr>
        <p:spPr>
          <a:xfrm>
            <a:off x="2468880" y="5687568"/>
            <a:ext cx="9052560" cy="384048"/>
          </a:xfrm>
          <a:prstGeom prst="rect">
            <a:avLst/>
          </a:prstGeom>
          <a:noFill/>
          <a:ln/>
        </p:spPr>
        <p:txBody>
          <a:bodyPr wrap="square" lIns="0" tIns="0" rIns="0" bIns="0" rtlCol="0" anchor="ctr"/>
          <a:lstStyle/>
          <a:p>
            <a:pPr marL="0" indent="0">
              <a:buNone/>
            </a:pPr>
            <a:r>
              <a:rPr lang="en-US" sz="1300" dirty="0">
                <a:solidFill>
                  <a:srgbClr val="1B2B31"/>
                </a:solidFill>
              </a:rPr>
              <a:t>EPCAM / SPINT2 / B3GNT3 survive — a rare intrinsic state not excluded; CXCL10 a separate inflammatory lead</a:t>
            </a:r>
            <a:endParaRPr lang="en-US" sz="1300" dirty="0"/>
          </a:p>
        </p:txBody>
      </p:sp>
      <p:sp>
        <p:nvSpPr>
          <p:cNvPr id="17" name="Shape 14"/>
          <p:cNvSpPr/>
          <p:nvPr/>
        </p:nvSpPr>
        <p:spPr>
          <a:xfrm>
            <a:off x="457200" y="6199632"/>
            <a:ext cx="2926080" cy="0"/>
          </a:xfrm>
          <a:prstGeom prst="line">
            <a:avLst/>
          </a:prstGeom>
          <a:noFill/>
          <a:ln w="9525">
            <a:solidFill>
              <a:srgbClr val="C9C0B2"/>
            </a:solidFill>
            <a:prstDash val="solid"/>
          </a:ln>
        </p:spPr>
      </p:sp>
      <p:sp>
        <p:nvSpPr>
          <p:cNvPr id="18" name="Text 15"/>
          <p:cNvSpPr/>
          <p:nvPr/>
        </p:nvSpPr>
        <p:spPr>
          <a:xfrm>
            <a:off x="457200" y="6254496"/>
            <a:ext cx="10607040" cy="237744"/>
          </a:xfrm>
          <a:prstGeom prst="rect">
            <a:avLst/>
          </a:prstGeom>
          <a:noFill/>
          <a:ln/>
        </p:spPr>
        <p:txBody>
          <a:bodyPr wrap="square" lIns="0" tIns="0" rIns="0" bIns="0" rtlCol="0" anchor="ctr"/>
          <a:lstStyle/>
          <a:p>
            <a:pPr marL="0" indent="0" algn="l">
              <a:buNone/>
            </a:pPr>
            <a:r>
              <a:rPr lang="en-US" sz="1000" i="1" dirty="0">
                <a:solidFill>
                  <a:srgbClr val="6B6256"/>
                </a:solidFill>
              </a:rPr>
              <a:t>¹ Ambient-RNA removal: decontX — Yang et al., Genome Biol. 2020.    Source attribution is a lead, not a closed verdict.</a:t>
            </a:r>
            <a:endParaRPr lang="en-US" sz="1000" dirty="0"/>
          </a:p>
        </p:txBody>
      </p:sp>
      <p:sp>
        <p:nvSpPr>
          <p:cNvPr id="19" name="Text 16"/>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20" name="Text 17"/>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12</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THE ONE REAL CHANGE</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RESULTS</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Pericentral detox dims — identity stays</a:t>
            </a:r>
            <a:endParaRPr lang="en-US" sz="2800" dirty="0"/>
          </a:p>
        </p:txBody>
      </p:sp>
      <p:sp>
        <p:nvSpPr>
          <p:cNvPr id="6" name="Text 4"/>
          <p:cNvSpPr/>
          <p:nvPr/>
        </p:nvSpPr>
        <p:spPr>
          <a:xfrm>
            <a:off x="640080" y="1280560"/>
            <a:ext cx="11247120" cy="457200"/>
          </a:xfrm>
          <a:prstGeom prst="rect">
            <a:avLst/>
          </a:prstGeom>
          <a:noFill/>
          <a:ln/>
        </p:spPr>
        <p:txBody>
          <a:bodyPr wrap="square" rtlCol="0" anchor="ctr"/>
          <a:lstStyle/>
          <a:p>
            <a:pPr marL="0" indent="0" algn="l">
              <a:buNone/>
            </a:pPr>
            <a:r>
              <a:rPr lang="en-US" sz="1550" b="1" dirty="0">
                <a:solidFill>
                  <a:srgbClr val="1B2B31"/>
                </a:solidFill>
              </a:rPr>
              <a:t>Cells keep their class — </a:t>
            </a:r>
            <a:r>
              <a:rPr lang="en-US" sz="1550" dirty="0">
                <a:solidFill>
                  <a:srgbClr val="1B2B31"/>
                </a:solidFill>
              </a:rPr>
              <a:t>but within pericentral nuclei the detox program’s level falls with fibrosis</a:t>
            </a:r>
            <a:endParaRPr lang="en-US" sz="1550" dirty="0"/>
          </a:p>
        </p:txBody>
      </p:sp>
      <p:pic>
        <p:nvPicPr>
          <p:cNvPr id="7" name="Image 0" descr="D:\CS\Genomics\Hackathon\presentation/assets/fig_dimming.png"/>
          <p:cNvPicPr>
            <a:picLocks noChangeAspect="1"/>
          </p:cNvPicPr>
          <p:nvPr/>
        </p:nvPicPr>
        <p:blipFill>
          <a:blip r:embed="rId3"/>
          <a:stretch>
            <a:fillRect/>
          </a:stretch>
        </p:blipFill>
        <p:spPr>
          <a:xfrm>
            <a:off x="1679538" y="1828800"/>
            <a:ext cx="8848165" cy="3200400"/>
          </a:xfrm>
          <a:prstGeom prst="rect">
            <a:avLst/>
          </a:prstGeom>
        </p:spPr>
      </p:pic>
      <p:sp>
        <p:nvSpPr>
          <p:cNvPr id="8" name="Text 5"/>
          <p:cNvSpPr/>
          <p:nvPr/>
        </p:nvSpPr>
        <p:spPr>
          <a:xfrm>
            <a:off x="411480" y="5074920"/>
            <a:ext cx="1138428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5.  Left — within-PC detox output¹ (depth-matched transcripts per PC nucleus) across fibrosis. Right — gene-set programs²: PC detox / identity down, biliary + fibrogenesis up, validating controls behaved.</a:t>
            </a:r>
            <a:endParaRPr lang="en-US" sz="1200" dirty="0"/>
          </a:p>
        </p:txBody>
      </p:sp>
      <p:sp>
        <p:nvSpPr>
          <p:cNvPr id="9" name="Text 6"/>
          <p:cNvSpPr/>
          <p:nvPr/>
        </p:nvSpPr>
        <p:spPr>
          <a:xfrm>
            <a:off x="640080" y="5486400"/>
            <a:ext cx="11247120" cy="777240"/>
          </a:xfrm>
          <a:prstGeom prst="rect">
            <a:avLst/>
          </a:prstGeom>
          <a:noFill/>
          <a:ln/>
        </p:spPr>
        <p:txBody>
          <a:bodyPr wrap="square" rtlCol="0" anchor="t"/>
          <a:lstStyle/>
          <a:p>
            <a:pPr marL="0" indent="0" algn="l">
              <a:buNone/>
            </a:pPr>
            <a:r>
              <a:rPr lang="en-US" sz="1250" b="1" dirty="0">
                <a:solidFill>
                  <a:srgbClr val="1B6E78"/>
                </a:solidFill>
              </a:rPr>
              <a:t>Like a radio: </a:t>
            </a:r>
            <a:r>
              <a:rPr lang="en-US" sz="1250" i="1" dirty="0">
                <a:solidFill>
                  <a:srgbClr val="334155"/>
                </a:solidFill>
              </a:rPr>
              <a:t>the genre held (cells keep identity); the volume dropped (the program dims).   </a:t>
            </a:r>
            <a:r>
              <a:rPr lang="en-US" sz="1250" dirty="0">
                <a:solidFill>
                  <a:srgbClr val="5C6E73"/>
                </a:solidFill>
              </a:rPr>
              <a:t>A relative decline (transcripts within a fixed budget), not proven absolute molecule loss; a donor-level trend; could partly reflect a shift among PC subzones. No single gene clears per-gene FDR — only the coordinated set + the per-cell trend.</a:t>
            </a:r>
            <a:endParaRPr lang="en-US" sz="1250" dirty="0"/>
          </a:p>
        </p:txBody>
      </p:sp>
      <p:sp>
        <p:nvSpPr>
          <p:cNvPr id="10" name="Shape 7"/>
          <p:cNvSpPr/>
          <p:nvPr/>
        </p:nvSpPr>
        <p:spPr>
          <a:xfrm>
            <a:off x="457200" y="6199632"/>
            <a:ext cx="2926080" cy="0"/>
          </a:xfrm>
          <a:prstGeom prst="line">
            <a:avLst/>
          </a:prstGeom>
          <a:noFill/>
          <a:ln w="9525">
            <a:solidFill>
              <a:srgbClr val="C9C0B2"/>
            </a:solidFill>
            <a:prstDash val="solid"/>
          </a:ln>
        </p:spPr>
      </p:sp>
      <p:sp>
        <p:nvSpPr>
          <p:cNvPr id="11" name="Text 8"/>
          <p:cNvSpPr/>
          <p:nvPr/>
        </p:nvSpPr>
        <p:spPr>
          <a:xfrm>
            <a:off x="457200" y="6254496"/>
            <a:ext cx="10607040" cy="237744"/>
          </a:xfrm>
          <a:prstGeom prst="rect">
            <a:avLst/>
          </a:prstGeom>
          <a:noFill/>
          <a:ln/>
        </p:spPr>
        <p:txBody>
          <a:bodyPr wrap="square" lIns="0" tIns="0" rIns="0" bIns="0" rtlCol="0" anchor="ctr"/>
          <a:lstStyle/>
          <a:p>
            <a:pPr marL="0" indent="0" algn="l">
              <a:buNone/>
            </a:pPr>
            <a:r>
              <a:rPr lang="en-US" sz="1000" i="1" dirty="0">
                <a:solidFill>
                  <a:srgbClr val="6B6256"/>
                </a:solidFill>
              </a:rPr>
              <a:t>¹ Within-PC detox output: depth-matched to 1,500 UMIs, donor-level Spearman (ρ=−0.48, p=0.003); measured on detox genes (CYP2E1, CYP1A2, ADH4…) disjoint from the GLUL/CYP3A4 identity anchors — so the anchor fraction stays flat while the module dims.   ² Gene-set: camera — Wu &amp; Smyth 2012; ROAST — Wu et al. 2010; GSEA — gseapy.</a:t>
            </a:r>
            <a:endParaRPr lang="en-US" sz="1000" dirty="0"/>
          </a:p>
        </p:txBody>
      </p:sp>
      <p:sp>
        <p:nvSpPr>
          <p:cNvPr id="12" name="Text 9"/>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13" name="Text 10"/>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11</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42B"/>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sp>
      <p:sp>
        <p:nvSpPr>
          <p:cNvPr id="3" name="Shape 1"/>
          <p:cNvSpPr/>
          <p:nvPr/>
        </p:nvSpPr>
        <p:spPr>
          <a:xfrm>
            <a:off x="256032" y="0"/>
            <a:ext cx="109728" cy="6858000"/>
          </a:xfrm>
          <a:prstGeom prst="rect">
            <a:avLst/>
          </a:prstGeom>
          <a:solidFill>
            <a:srgbClr val="C0561B"/>
          </a:solidFill>
          <a:ln/>
        </p:spPr>
      </p:sp>
      <p:sp>
        <p:nvSpPr>
          <p:cNvPr id="4" name="Shape 2"/>
          <p:cNvSpPr/>
          <p:nvPr/>
        </p:nvSpPr>
        <p:spPr>
          <a:xfrm>
            <a:off x="777240" y="457200"/>
            <a:ext cx="146304" cy="237744"/>
          </a:xfrm>
          <a:prstGeom prst="rect">
            <a:avLst/>
          </a:prstGeom>
          <a:solidFill>
            <a:srgbClr val="C0561B"/>
          </a:solidFill>
          <a:ln/>
        </p:spPr>
      </p:sp>
      <p:sp>
        <p:nvSpPr>
          <p:cNvPr id="5" name="Text 3"/>
          <p:cNvSpPr/>
          <p:nvPr/>
        </p:nvSpPr>
        <p:spPr>
          <a:xfrm>
            <a:off x="987552" y="420624"/>
            <a:ext cx="10515600" cy="365760"/>
          </a:xfrm>
          <a:prstGeom prst="rect">
            <a:avLst/>
          </a:prstGeom>
          <a:noFill/>
          <a:ln/>
        </p:spPr>
        <p:txBody>
          <a:bodyPr wrap="square" rtlCol="0" anchor="ctr"/>
          <a:lstStyle/>
          <a:p>
            <a:pPr marL="0" indent="0" algn="l">
              <a:buNone/>
            </a:pPr>
            <a:r>
              <a:rPr lang="en-US" sz="1400" b="1" kern="0" spc="300" dirty="0">
                <a:solidFill>
                  <a:srgbClr val="C0561B"/>
                </a:solidFill>
              </a:rPr>
              <a:t>CONCLUSION</a:t>
            </a:r>
            <a:endParaRPr lang="en-US" sz="1400" dirty="0"/>
          </a:p>
        </p:txBody>
      </p:sp>
      <p:sp>
        <p:nvSpPr>
          <p:cNvPr id="6" name="Text 4"/>
          <p:cNvSpPr/>
          <p:nvPr/>
        </p:nvSpPr>
        <p:spPr>
          <a:xfrm>
            <a:off x="777240" y="777240"/>
            <a:ext cx="10789920" cy="731520"/>
          </a:xfrm>
          <a:prstGeom prst="rect">
            <a:avLst/>
          </a:prstGeom>
          <a:noFill/>
          <a:ln/>
        </p:spPr>
        <p:txBody>
          <a:bodyPr wrap="square" rtlCol="0" anchor="ctr"/>
          <a:lstStyle/>
          <a:p>
            <a:pPr marL="0" indent="0" algn="l">
              <a:buNone/>
            </a:pPr>
            <a:r>
              <a:rPr lang="en-US" sz="2900" b="1" dirty="0">
                <a:solidFill>
                  <a:srgbClr val="FFFFFF"/>
                </a:solidFill>
                <a:latin typeface="Georgia" pitchFamily="34" charset="0"/>
                <a:ea typeface="Georgia" pitchFamily="34" charset="-122"/>
                <a:cs typeface="Georgia" pitchFamily="34" charset="-120"/>
              </a:rPr>
              <a:t>Zonal identity holds — the pericentral detox program dims</a:t>
            </a:r>
            <a:endParaRPr lang="en-US" sz="2900" dirty="0"/>
          </a:p>
        </p:txBody>
      </p:sp>
      <p:sp>
        <p:nvSpPr>
          <p:cNvPr id="7" name="Text 5"/>
          <p:cNvSpPr/>
          <p:nvPr/>
        </p:nvSpPr>
        <p:spPr>
          <a:xfrm>
            <a:off x="841248" y="1865376"/>
            <a:ext cx="1143000" cy="731520"/>
          </a:xfrm>
          <a:prstGeom prst="rect">
            <a:avLst/>
          </a:prstGeom>
          <a:noFill/>
          <a:ln/>
        </p:spPr>
        <p:txBody>
          <a:bodyPr wrap="square" lIns="0" tIns="0" rIns="0" bIns="0" rtlCol="0" anchor="t"/>
          <a:lstStyle/>
          <a:p>
            <a:pPr marL="0" indent="0" algn="l">
              <a:buNone/>
            </a:pPr>
            <a:r>
              <a:rPr lang="en-US" sz="3700" b="1" dirty="0">
                <a:solidFill>
                  <a:srgbClr val="C0561B"/>
                </a:solidFill>
                <a:latin typeface="Georgia" pitchFamily="34" charset="0"/>
                <a:ea typeface="Georgia" pitchFamily="34" charset="-122"/>
                <a:cs typeface="Georgia" pitchFamily="34" charset="-120"/>
              </a:rPr>
              <a:t>01</a:t>
            </a:r>
            <a:endParaRPr lang="en-US" sz="3700" dirty="0"/>
          </a:p>
        </p:txBody>
      </p:sp>
      <p:sp>
        <p:nvSpPr>
          <p:cNvPr id="8" name="Text 6"/>
          <p:cNvSpPr/>
          <p:nvPr/>
        </p:nvSpPr>
        <p:spPr>
          <a:xfrm>
            <a:off x="2194560" y="1920240"/>
            <a:ext cx="9326880" cy="640080"/>
          </a:xfrm>
          <a:prstGeom prst="rect">
            <a:avLst/>
          </a:prstGeom>
          <a:noFill/>
          <a:ln/>
        </p:spPr>
        <p:txBody>
          <a:bodyPr wrap="square" lIns="0" tIns="0" rIns="0" bIns="0" rtlCol="0" anchor="ctr"/>
          <a:lstStyle/>
          <a:p>
            <a:pPr marL="0" indent="0" algn="l">
              <a:buNone/>
            </a:pPr>
            <a:r>
              <a:rPr lang="en-US" sz="2100" b="1" dirty="0">
                <a:solidFill>
                  <a:srgbClr val="FFFFFF"/>
                </a:solidFill>
                <a:latin typeface="Georgia" pitchFamily="34" charset="0"/>
                <a:ea typeface="Georgia" pitchFamily="34" charset="-122"/>
                <a:cs typeface="Georgia" pitchFamily="34" charset="-120"/>
              </a:rPr>
              <a:t>Cells keep their zonal genomic identity — no de-zonation signal</a:t>
            </a:r>
            <a:endParaRPr lang="en-US" sz="2100" dirty="0"/>
          </a:p>
        </p:txBody>
      </p:sp>
      <p:sp>
        <p:nvSpPr>
          <p:cNvPr id="9" name="Text 7"/>
          <p:cNvSpPr/>
          <p:nvPr/>
        </p:nvSpPr>
        <p:spPr>
          <a:xfrm>
            <a:off x="841248" y="2962656"/>
            <a:ext cx="1143000" cy="731520"/>
          </a:xfrm>
          <a:prstGeom prst="rect">
            <a:avLst/>
          </a:prstGeom>
          <a:noFill/>
          <a:ln/>
        </p:spPr>
        <p:txBody>
          <a:bodyPr wrap="square" lIns="0" tIns="0" rIns="0" bIns="0" rtlCol="0" anchor="t"/>
          <a:lstStyle/>
          <a:p>
            <a:pPr marL="0" indent="0" algn="l">
              <a:buNone/>
            </a:pPr>
            <a:r>
              <a:rPr lang="en-US" sz="3700" b="1" dirty="0">
                <a:solidFill>
                  <a:srgbClr val="C0561B"/>
                </a:solidFill>
                <a:latin typeface="Georgia" pitchFamily="34" charset="0"/>
                <a:ea typeface="Georgia" pitchFamily="34" charset="-122"/>
                <a:cs typeface="Georgia" pitchFamily="34" charset="-120"/>
              </a:rPr>
              <a:t>02</a:t>
            </a:r>
            <a:endParaRPr lang="en-US" sz="3700" dirty="0"/>
          </a:p>
        </p:txBody>
      </p:sp>
      <p:sp>
        <p:nvSpPr>
          <p:cNvPr id="10" name="Text 8"/>
          <p:cNvSpPr/>
          <p:nvPr/>
        </p:nvSpPr>
        <p:spPr>
          <a:xfrm>
            <a:off x="2194560" y="3017520"/>
            <a:ext cx="9326880" cy="640080"/>
          </a:xfrm>
          <a:prstGeom prst="rect">
            <a:avLst/>
          </a:prstGeom>
          <a:noFill/>
          <a:ln/>
        </p:spPr>
        <p:txBody>
          <a:bodyPr wrap="square" lIns="0" tIns="0" rIns="0" bIns="0" rtlCol="0" anchor="ctr"/>
          <a:lstStyle/>
          <a:p>
            <a:pPr marL="0" indent="0" algn="l">
              <a:buNone/>
            </a:pPr>
            <a:r>
              <a:rPr lang="en-US" sz="2100" b="1" dirty="0">
                <a:solidFill>
                  <a:srgbClr val="FFFFFF"/>
                </a:solidFill>
                <a:latin typeface="Georgia" pitchFamily="34" charset="0"/>
                <a:ea typeface="Georgia" pitchFamily="34" charset="-122"/>
                <a:cs typeface="Georgia" pitchFamily="34" charset="-120"/>
              </a:rPr>
              <a:t>The one real change: the pericentral detox program dims</a:t>
            </a:r>
            <a:endParaRPr lang="en-US" sz="2100" dirty="0"/>
          </a:p>
        </p:txBody>
      </p:sp>
      <p:sp>
        <p:nvSpPr>
          <p:cNvPr id="11" name="Text 9"/>
          <p:cNvSpPr/>
          <p:nvPr/>
        </p:nvSpPr>
        <p:spPr>
          <a:xfrm>
            <a:off x="841248" y="4059936"/>
            <a:ext cx="1143000" cy="731520"/>
          </a:xfrm>
          <a:prstGeom prst="rect">
            <a:avLst/>
          </a:prstGeom>
          <a:noFill/>
          <a:ln/>
        </p:spPr>
        <p:txBody>
          <a:bodyPr wrap="square" lIns="0" tIns="0" rIns="0" bIns="0" rtlCol="0" anchor="t"/>
          <a:lstStyle/>
          <a:p>
            <a:pPr marL="0" indent="0" algn="l">
              <a:buNone/>
            </a:pPr>
            <a:r>
              <a:rPr lang="en-US" sz="3700" b="1" dirty="0">
                <a:solidFill>
                  <a:srgbClr val="C0561B"/>
                </a:solidFill>
                <a:latin typeface="Georgia" pitchFamily="34" charset="0"/>
                <a:ea typeface="Georgia" pitchFamily="34" charset="-122"/>
                <a:cs typeface="Georgia" pitchFamily="34" charset="-120"/>
              </a:rPr>
              <a:t>03</a:t>
            </a:r>
            <a:endParaRPr lang="en-US" sz="3700" dirty="0"/>
          </a:p>
        </p:txBody>
      </p:sp>
      <p:sp>
        <p:nvSpPr>
          <p:cNvPr id="12" name="Text 10"/>
          <p:cNvSpPr/>
          <p:nvPr/>
        </p:nvSpPr>
        <p:spPr>
          <a:xfrm>
            <a:off x="2194560" y="4114800"/>
            <a:ext cx="9326880" cy="640080"/>
          </a:xfrm>
          <a:prstGeom prst="rect">
            <a:avLst/>
          </a:prstGeom>
          <a:noFill/>
          <a:ln/>
        </p:spPr>
        <p:txBody>
          <a:bodyPr wrap="square" lIns="0" tIns="0" rIns="0" bIns="0" rtlCol="0" anchor="ctr"/>
          <a:lstStyle/>
          <a:p>
            <a:pPr marL="0" indent="0" algn="l">
              <a:buNone/>
            </a:pPr>
            <a:r>
              <a:rPr lang="en-US" sz="2100" b="1" dirty="0">
                <a:solidFill>
                  <a:srgbClr val="FFFFFF"/>
                </a:solidFill>
                <a:latin typeface="Georgia" pitchFamily="34" charset="0"/>
                <a:ea typeface="Georgia" pitchFamily="34" charset="-122"/>
                <a:cs typeface="Georgia" pitchFamily="34" charset="-120"/>
              </a:rPr>
              <a:t>The dramatic genomic trajectory </a:t>
            </a:r>
            <a:r>
              <a:rPr lang="en-US" sz="2100" b="1" dirty="0">
                <a:solidFill>
                  <a:srgbClr val="FF0000"/>
                </a:solidFill>
                <a:latin typeface="Georgia" pitchFamily="34" charset="0"/>
                <a:ea typeface="Georgia" pitchFamily="34" charset="-122"/>
                <a:cs typeface="Georgia" pitchFamily="34" charset="-120"/>
              </a:rPr>
              <a:t>possibly</a:t>
            </a:r>
            <a:r>
              <a:rPr lang="en-US" sz="2100" b="1" dirty="0">
                <a:solidFill>
                  <a:srgbClr val="FFFFFF"/>
                </a:solidFill>
                <a:latin typeface="Georgia" pitchFamily="34" charset="0"/>
                <a:ea typeface="Georgia" pitchFamily="34" charset="-122"/>
                <a:cs typeface="Georgia" pitchFamily="34" charset="-120"/>
              </a:rPr>
              <a:t> tracks acquisition, not disease</a:t>
            </a:r>
            <a:endParaRPr lang="en-US" sz="2100" dirty="0"/>
          </a:p>
        </p:txBody>
      </p:sp>
      <p:sp>
        <p:nvSpPr>
          <p:cNvPr id="13" name="Shape 11"/>
          <p:cNvSpPr/>
          <p:nvPr/>
        </p:nvSpPr>
        <p:spPr>
          <a:xfrm>
            <a:off x="2194560" y="5212080"/>
            <a:ext cx="9098280" cy="0"/>
          </a:xfrm>
          <a:prstGeom prst="line">
            <a:avLst/>
          </a:prstGeom>
          <a:noFill/>
          <a:ln w="12700">
            <a:solidFill>
              <a:srgbClr val="2E4A4D"/>
            </a:solidFill>
            <a:prstDash val="solid"/>
          </a:ln>
        </p:spPr>
      </p:sp>
      <p:sp>
        <p:nvSpPr>
          <p:cNvPr id="14" name="Text 12"/>
          <p:cNvSpPr/>
          <p:nvPr/>
        </p:nvSpPr>
        <p:spPr>
          <a:xfrm>
            <a:off x="841248" y="5394960"/>
            <a:ext cx="10881360" cy="457200"/>
          </a:xfrm>
          <a:prstGeom prst="rect">
            <a:avLst/>
          </a:prstGeom>
          <a:noFill/>
          <a:ln/>
        </p:spPr>
        <p:txBody>
          <a:bodyPr wrap="square" rtlCol="0" anchor="t"/>
          <a:lstStyle/>
          <a:p>
            <a:pPr marL="0" indent="0" algn="l">
              <a:buNone/>
            </a:pPr>
            <a:r>
              <a:rPr lang="en-US" sz="1500" b="1" i="1" dirty="0">
                <a:solidFill>
                  <a:srgbClr val="FFFFFF"/>
                </a:solidFill>
              </a:rPr>
              <a:t>We correct one evidence leg</a:t>
            </a:r>
            <a:r>
              <a:rPr lang="en-US" sz="1500" i="1" dirty="0">
                <a:solidFill>
                  <a:srgbClr val="C9D6D3"/>
                </a:solidFill>
              </a:rPr>
              <a:t> — the snRNA marker-correlation; the paper’s imaging and protein staining are untouched. The biliary signal is a separate compositional lead.</a:t>
            </a:r>
            <a:endParaRPr lang="en-US" sz="1500" dirty="0"/>
          </a:p>
        </p:txBody>
      </p:sp>
      <p:sp>
        <p:nvSpPr>
          <p:cNvPr id="15" name="Text 13"/>
          <p:cNvSpPr/>
          <p:nvPr/>
        </p:nvSpPr>
        <p:spPr>
          <a:xfrm>
            <a:off x="841248" y="6144768"/>
            <a:ext cx="10881360" cy="365760"/>
          </a:xfrm>
          <a:prstGeom prst="rect">
            <a:avLst/>
          </a:prstGeom>
          <a:noFill/>
          <a:ln/>
        </p:spPr>
        <p:txBody>
          <a:bodyPr wrap="square" rtlCol="0" anchor="t"/>
          <a:lstStyle/>
          <a:p>
            <a:pPr marL="0" indent="0" algn="l">
              <a:buNone/>
            </a:pPr>
            <a:r>
              <a:rPr lang="en-US" sz="1200" dirty="0">
                <a:solidFill>
                  <a:srgbClr val="8FA3A0"/>
                </a:solidFill>
              </a:rPr>
              <a:t>Scope — a “PC-like program,” not lobular location; a weak coordinated gene-set program is not excluded; F4 is only 4 donors.</a:t>
            </a:r>
            <a:endParaRPr lang="en-US" sz="1200" dirty="0"/>
          </a:p>
        </p:txBody>
      </p:sp>
      <p:sp>
        <p:nvSpPr>
          <p:cNvPr id="16" name="Text 14"/>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17" name="Text 15"/>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13</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BACKUP  ·  SCOPE</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Are you overturning the paper? No</a:t>
            </a:r>
            <a:endParaRPr lang="en-US" sz="2600" dirty="0"/>
          </a:p>
        </p:txBody>
      </p:sp>
      <p:sp>
        <p:nvSpPr>
          <p:cNvPr id="5" name="Text 3"/>
          <p:cNvSpPr/>
          <p:nvPr/>
        </p:nvSpPr>
        <p:spPr>
          <a:xfrm>
            <a:off x="731520" y="1463040"/>
            <a:ext cx="10607040" cy="4572000"/>
          </a:xfrm>
          <a:prstGeom prst="rect">
            <a:avLst/>
          </a:prstGeom>
          <a:noFill/>
          <a:ln/>
        </p:spPr>
        <p:txBody>
          <a:bodyPr wrap="square" rtlCol="0" anchor="t"/>
          <a:lstStyle/>
          <a:p>
            <a:pPr marL="342900" indent="-342900" algn="l">
              <a:spcAft>
                <a:spcPts val="900"/>
              </a:spcAft>
              <a:buSzPct val="100000"/>
              <a:buChar char="•"/>
            </a:pPr>
            <a:r>
              <a:rPr lang="en-US" sz="2000" dirty="0">
                <a:solidFill>
                  <a:srgbClr val="1B2B31"/>
                </a:solidFill>
              </a:rPr>
              <a:t>We re-tested only the snRNA-seq transcriptional zonation/plasticity evidence.</a:t>
            </a:r>
            <a:endParaRPr lang="en-US" sz="2000" dirty="0"/>
          </a:p>
          <a:p>
            <a:pPr marL="342900" indent="-342900" algn="l">
              <a:spcAft>
                <a:spcPts val="900"/>
              </a:spcAft>
              <a:buSzPct val="100000"/>
              <a:buChar char="•"/>
            </a:pPr>
            <a:r>
              <a:rPr lang="en-US" sz="2000" dirty="0">
                <a:solidFill>
                  <a:srgbClr val="1B2B31"/>
                </a:solidFill>
              </a:rPr>
              <a:t>We did NOT test imaging, protein staining, organoids, or 3D architecture.</a:t>
            </a:r>
            <a:endParaRPr lang="en-US" sz="2000" dirty="0"/>
          </a:p>
          <a:p>
            <a:pPr marL="342900" indent="-342900" algn="l">
              <a:spcAft>
                <a:spcPts val="900"/>
              </a:spcAft>
              <a:buSzPct val="100000"/>
              <a:buChar char="•"/>
            </a:pPr>
            <a:r>
              <a:rPr lang="en-US" sz="2000" dirty="0">
                <a:solidFill>
                  <a:srgbClr val="1B2B31"/>
                </a:solidFill>
              </a:rPr>
              <a:t>Claim: matched biopsy transcriptomes do not show progressive zonation loss.</a:t>
            </a:r>
            <a:endParaRPr lang="en-US" sz="2000" dirty="0"/>
          </a:p>
          <a:p>
            <a:pPr marL="342900" indent="-342900" algn="l">
              <a:spcAft>
                <a:spcPts val="900"/>
              </a:spcAft>
              <a:buSzPct val="100000"/>
              <a:buChar char="•"/>
            </a:pPr>
            <a:r>
              <a:rPr lang="en-US" sz="2000" dirty="0">
                <a:solidFill>
                  <a:srgbClr val="1B2B31"/>
                </a:solidFill>
              </a:rPr>
              <a:t>We agree the strong signal is an end-stage phenomenon.</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BACKUP  ·  SECONDARY ENDPOINTS</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Null and the PP : PC ratio are flat too</a:t>
            </a:r>
            <a:endParaRPr lang="en-US" sz="2600" dirty="0"/>
          </a:p>
        </p:txBody>
      </p:sp>
      <p:pic>
        <p:nvPicPr>
          <p:cNvPr id="5" name="Image 0" descr="D:\CS\Genomics\Hackathon\presentation/assets/fig_secondary.png"/>
          <p:cNvPicPr>
            <a:picLocks noChangeAspect="1"/>
          </p:cNvPicPr>
          <p:nvPr/>
        </p:nvPicPr>
        <p:blipFill>
          <a:blip r:embed="rId3"/>
          <a:stretch>
            <a:fillRect/>
          </a:stretch>
        </p:blipFill>
        <p:spPr>
          <a:xfrm>
            <a:off x="1032322" y="1508760"/>
            <a:ext cx="6713595" cy="3977640"/>
          </a:xfrm>
          <a:prstGeom prst="rect">
            <a:avLst/>
          </a:prstGeom>
        </p:spPr>
      </p:pic>
      <p:sp>
        <p:nvSpPr>
          <p:cNvPr id="6" name="Text 3"/>
          <p:cNvSpPr/>
          <p:nvPr/>
        </p:nvSpPr>
        <p:spPr>
          <a:xfrm>
            <a:off x="274320" y="5532120"/>
            <a:ext cx="822960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7.  Null (double-negative) fraction and the periportal : pericentral anchor ratio across biopsy F1–F4 (box = per-donor spread; each point = one donor).</a:t>
            </a:r>
            <a:endParaRPr lang="en-US" sz="1200" dirty="0"/>
          </a:p>
        </p:txBody>
      </p:sp>
      <p:sp>
        <p:nvSpPr>
          <p:cNvPr id="7" name="Text 4"/>
          <p:cNvSpPr/>
          <p:nvPr/>
        </p:nvSpPr>
        <p:spPr>
          <a:xfrm>
            <a:off x="8686800" y="1600200"/>
            <a:ext cx="3291840" cy="3931920"/>
          </a:xfrm>
          <a:prstGeom prst="rect">
            <a:avLst/>
          </a:prstGeom>
          <a:noFill/>
          <a:ln/>
        </p:spPr>
        <p:txBody>
          <a:bodyPr wrap="square" rtlCol="0" anchor="t"/>
          <a:lstStyle/>
          <a:p>
            <a:pPr marL="0" indent="0" algn="l">
              <a:buNone/>
            </a:pPr>
            <a:r>
              <a:rPr lang="en-US" sz="1350" b="1" dirty="0">
                <a:solidFill>
                  <a:srgbClr val="475569"/>
                </a:solidFill>
              </a:rPr>
              <a:t>Null (double-negative): </a:t>
            </a:r>
            <a:r>
              <a:rPr lang="en-US" sz="1350" dirty="0">
                <a:solidFill>
                  <a:srgbClr val="1B2B31"/>
                </a:solidFill>
              </a:rPr>
              <a:t>≈ 44 / 36 / 39 / 39% — no rise across stages.
</a:t>
            </a:r>
            <a:endParaRPr lang="en-US" sz="1350" dirty="0"/>
          </a:p>
          <a:p>
            <a:pPr marL="0" indent="0" algn="l">
              <a:buNone/>
            </a:pPr>
            <a:r>
              <a:rPr lang="en-US" sz="1350" b="1" dirty="0">
                <a:solidFill>
                  <a:srgbClr val="7C3AED"/>
                </a:solidFill>
              </a:rPr>
              <a:t>PP : PC ratio: </a:t>
            </a:r>
            <a:r>
              <a:rPr lang="en-US" sz="1350" dirty="0">
                <a:solidFill>
                  <a:srgbClr val="1B2B31"/>
                </a:solidFill>
              </a:rPr>
              <a:t>≈ 1.16 / 1.01 / 1.10 / 1.18 — hovers around the balanced 1 : 1 line.
</a:t>
            </a:r>
            <a:endParaRPr lang="en-US" sz="1350" dirty="0"/>
          </a:p>
          <a:p>
            <a:pPr marL="0" indent="0" algn="l">
              <a:buNone/>
            </a:pPr>
            <a:r>
              <a:rPr lang="en-US" sz="1350" i="1" dirty="0">
                <a:solidFill>
                  <a:srgbClr val="5C6E73"/>
                </a:solidFill>
              </a:rPr>
              <a:t>Same large person-to-person spread as the anchors, same absence of a stage trend.</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BACKUP  ·  LOBE</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Right, caudate and left lobes all agree</a:t>
            </a:r>
            <a:endParaRPr lang="en-US" sz="2600" dirty="0"/>
          </a:p>
        </p:txBody>
      </p:sp>
      <p:pic>
        <p:nvPicPr>
          <p:cNvPr id="5" name="Image 0" descr="D:\CS\Genomics\Hackathon\presentation/assets/fig_lobe.png"/>
          <p:cNvPicPr>
            <a:picLocks noChangeAspect="1"/>
          </p:cNvPicPr>
          <p:nvPr/>
        </p:nvPicPr>
        <p:blipFill>
          <a:blip r:embed="rId3"/>
          <a:stretch>
            <a:fillRect/>
          </a:stretch>
        </p:blipFill>
        <p:spPr>
          <a:xfrm>
            <a:off x="731520" y="1371600"/>
            <a:ext cx="6949440" cy="3990200"/>
          </a:xfrm>
          <a:prstGeom prst="rect">
            <a:avLst/>
          </a:prstGeom>
        </p:spPr>
      </p:pic>
      <p:sp>
        <p:nvSpPr>
          <p:cNvPr id="6" name="Text 3"/>
          <p:cNvSpPr/>
          <p:nvPr/>
        </p:nvSpPr>
        <p:spPr>
          <a:xfrm>
            <a:off x="731520" y="5943600"/>
            <a:ext cx="694944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8.  Zonation-marker detection across Right / Caudate / Left lobes in end-stage explants.</a:t>
            </a:r>
            <a:endParaRPr lang="en-US" sz="1200" dirty="0"/>
          </a:p>
        </p:txBody>
      </p:sp>
      <p:sp>
        <p:nvSpPr>
          <p:cNvPr id="7" name="Text 4"/>
          <p:cNvSpPr/>
          <p:nvPr/>
        </p:nvSpPr>
        <p:spPr>
          <a:xfrm>
            <a:off x="7955280" y="2377440"/>
            <a:ext cx="3657600" cy="2286000"/>
          </a:xfrm>
          <a:prstGeom prst="rect">
            <a:avLst/>
          </a:prstGeom>
          <a:noFill/>
          <a:ln/>
        </p:spPr>
        <p:txBody>
          <a:bodyPr wrap="square" rtlCol="0" anchor="ctr"/>
          <a:lstStyle/>
          <a:p>
            <a:pPr marL="0" indent="0" algn="l">
              <a:buNone/>
            </a:pPr>
            <a:r>
              <a:rPr lang="en-US" sz="1800" b="1" dirty="0">
                <a:solidFill>
                  <a:srgbClr val="1B2B31"/>
                </a:solidFill>
              </a:rPr>
              <a:t>Detection matches across all three lobes.
</a:t>
            </a:r>
            <a:endParaRPr lang="en-US" sz="1800" dirty="0"/>
          </a:p>
          <a:p>
            <a:pPr marL="0" indent="0" algn="l">
              <a:buNone/>
            </a:pPr>
            <a:r>
              <a:rPr lang="en-US" sz="1800" dirty="0">
                <a:solidFill>
                  <a:srgbClr val="1B2B31"/>
                </a:solidFill>
              </a:rPr>
              <a:t>Lobe does not explain the signal; explant-vs-biopsy acquisition still does.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BACKUP  ·  END-STAGE</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Five organs, five phenotypes</a:t>
            </a:r>
            <a:endParaRPr lang="en-US" sz="2600" dirty="0"/>
          </a:p>
        </p:txBody>
      </p:sp>
      <p:pic>
        <p:nvPicPr>
          <p:cNvPr id="5" name="Image 0" descr="D:\CS\Genomics\Hackathon\presentation/assets/fig_explant.png"/>
          <p:cNvPicPr>
            <a:picLocks noChangeAspect="1"/>
          </p:cNvPicPr>
          <p:nvPr/>
        </p:nvPicPr>
        <p:blipFill>
          <a:blip r:embed="rId3"/>
          <a:stretch>
            <a:fillRect/>
          </a:stretch>
        </p:blipFill>
        <p:spPr>
          <a:xfrm>
            <a:off x="731520" y="1371600"/>
            <a:ext cx="7498080" cy="3916062"/>
          </a:xfrm>
          <a:prstGeom prst="rect">
            <a:avLst/>
          </a:prstGeom>
        </p:spPr>
      </p:pic>
      <p:sp>
        <p:nvSpPr>
          <p:cNvPr id="6" name="Text 3"/>
          <p:cNvSpPr/>
          <p:nvPr/>
        </p:nvSpPr>
        <p:spPr>
          <a:xfrm>
            <a:off x="731520" y="5943600"/>
            <a:ext cx="749808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9.  Per-explant anchor fractions — end-stage is heterogeneous, not one coherent program.</a:t>
            </a:r>
            <a:endParaRPr lang="en-US" sz="1200" dirty="0"/>
          </a:p>
        </p:txBody>
      </p:sp>
      <p:sp>
        <p:nvSpPr>
          <p:cNvPr id="7" name="Text 4"/>
          <p:cNvSpPr/>
          <p:nvPr/>
        </p:nvSpPr>
        <p:spPr>
          <a:xfrm>
            <a:off x="8412480" y="2377440"/>
            <a:ext cx="3291840" cy="2377440"/>
          </a:xfrm>
          <a:prstGeom prst="rect">
            <a:avLst/>
          </a:prstGeom>
          <a:noFill/>
          <a:ln/>
        </p:spPr>
        <p:txBody>
          <a:bodyPr wrap="square" rtlCol="0" anchor="ctr"/>
          <a:lstStyle/>
          <a:p>
            <a:pPr marL="0" indent="0" algn="l">
              <a:buNone/>
            </a:pPr>
            <a:r>
              <a:rPr lang="en-US" sz="1700" b="1" dirty="0">
                <a:solidFill>
                  <a:srgbClr val="1B2B31"/>
                </a:solidFill>
              </a:rPr>
              <a:t>PC-anchor 3% → 50%;  PP:PC 0.13 → 20.
</a:t>
            </a:r>
            <a:endParaRPr lang="en-US" sz="1700" dirty="0"/>
          </a:p>
          <a:p>
            <a:pPr marL="0" indent="0" algn="l">
              <a:buNone/>
            </a:pPr>
            <a:r>
              <a:rPr lang="en-US" sz="1700" dirty="0">
                <a:solidFill>
                  <a:srgbClr val="1B2B31"/>
                </a:solidFill>
              </a:rPr>
              <a:t>Dramatic but NOT one program — pooling manufactures a uniform “collapse.”</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BACKUP  ·  ROBUSTNESS</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Sensitivity grid + equivalence bound</a:t>
            </a:r>
            <a:endParaRPr lang="en-US" sz="2600" dirty="0"/>
          </a:p>
        </p:txBody>
      </p:sp>
      <p:pic>
        <p:nvPicPr>
          <p:cNvPr id="5" name="Image 0" descr="D:\CS\Genomics\Hackathon\presentation/assets/fig_tost.png"/>
          <p:cNvPicPr>
            <a:picLocks noChangeAspect="1"/>
          </p:cNvPicPr>
          <p:nvPr/>
        </p:nvPicPr>
        <p:blipFill>
          <a:blip r:embed="rId3"/>
          <a:stretch>
            <a:fillRect/>
          </a:stretch>
        </p:blipFill>
        <p:spPr>
          <a:xfrm>
            <a:off x="6035040" y="1463040"/>
            <a:ext cx="5852160" cy="2847383"/>
          </a:xfrm>
          <a:prstGeom prst="rect">
            <a:avLst/>
          </a:prstGeom>
        </p:spPr>
      </p:pic>
      <p:sp>
        <p:nvSpPr>
          <p:cNvPr id="6" name="Text 3"/>
          <p:cNvSpPr/>
          <p:nvPr/>
        </p:nvSpPr>
        <p:spPr>
          <a:xfrm>
            <a:off x="6035040" y="5166360"/>
            <a:ext cx="585216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10.  Equivalence bound on the F4-vs-F1 pericentral-anchor change.</a:t>
            </a:r>
            <a:endParaRPr lang="en-US" sz="1200" dirty="0"/>
          </a:p>
        </p:txBody>
      </p:sp>
      <p:sp>
        <p:nvSpPr>
          <p:cNvPr id="7" name="Text 4"/>
          <p:cNvSpPr/>
          <p:nvPr/>
        </p:nvSpPr>
        <p:spPr>
          <a:xfrm>
            <a:off x="640080" y="1645920"/>
            <a:ext cx="5212080" cy="3840480"/>
          </a:xfrm>
          <a:prstGeom prst="rect">
            <a:avLst/>
          </a:prstGeom>
          <a:noFill/>
          <a:ln/>
        </p:spPr>
        <p:txBody>
          <a:bodyPr wrap="square" rtlCol="0" anchor="t"/>
          <a:lstStyle/>
          <a:p>
            <a:pPr marL="0" indent="0" algn="l">
              <a:buNone/>
            </a:pPr>
            <a:r>
              <a:rPr lang="en-US" sz="1600" b="1" dirty="0">
                <a:solidFill>
                  <a:srgbClr val="1B2B31"/>
                </a:solidFill>
              </a:rPr>
              <a:t>Stable across every variant:
</a:t>
            </a:r>
            <a:endParaRPr lang="en-US" sz="1600" dirty="0"/>
          </a:p>
          <a:p>
            <a:pPr marL="0" indent="0" algn="l">
              <a:buNone/>
            </a:pPr>
            <a:r>
              <a:rPr lang="en-US" sz="1600" dirty="0">
                <a:solidFill>
                  <a:srgbClr val="1B2B31"/>
                </a:solidFill>
              </a:rPr>
              <a:t>anchor genes, periportal rule, ALDOB in/out, CPS1-based, 1 vs 2 UMI.
</a:t>
            </a:r>
            <a:endParaRPr lang="en-US" sz="1600" dirty="0"/>
          </a:p>
          <a:p>
            <a:pPr marL="0" indent="0" algn="l">
              <a:buNone/>
            </a:pPr>
            <a:r>
              <a:rPr lang="en-US" sz="1600" b="1" dirty="0">
                <a:solidFill>
                  <a:srgbClr val="0D9488"/>
                </a:solidFill>
              </a:rPr>
              <a:t>No depletion · no dual rise · no turn-off — in all.
</a:t>
            </a:r>
            <a:endParaRPr lang="en-US" sz="1600" dirty="0"/>
          </a:p>
          <a:p>
            <a:pPr marL="0" indent="0" algn="l">
              <a:buNone/>
            </a:pPr>
            <a:r>
              <a:rPr lang="en-US" sz="1600" i="1" dirty="0">
                <a:solidFill>
                  <a:srgbClr val="5C6E73"/>
                </a:solidFill>
              </a:rPr>
              <a:t>Bound (TOST): large shift (~19 pp) excluded; subtle drift ≤10 pp not (F4 n=4).</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BACKUP  ·  AUDIT DETAIL</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Confounder battery — the numbers</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115568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384048">
                <a:tc>
                  <a:txBody>
                    <a:bodyPr/>
                    <a:lstStyle/>
                    <a:p>
                      <a:pPr marL="0" indent="0" algn="l">
                        <a:buNone/>
                      </a:pPr>
                      <a:r>
                        <a:rPr lang="en-US" sz="1100" b="1" dirty="0">
                          <a:solidFill>
                            <a:srgbClr val="1B2B31"/>
                          </a:solidFill>
                        </a:rPr>
                        <a:t>Confounder</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B2B31"/>
                          </a:solidFill>
                        </a:rPr>
                        <a:t>What we did  (test · numbers)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B2B31"/>
                          </a:solidFill>
                        </a:rPr>
                        <a:t>Verdict</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1B2B31"/>
                          </a:solidFill>
                        </a:rPr>
                        <a:t>Tissue source</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organ-cube / explant ends are not acquisition-matched to needle biopsy</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excluded → biopsy-only F1–F4</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1B2B31"/>
                          </a:solidFill>
                        </a:rPr>
                        <a:t>Procurement stress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IEG+HSP across 6 lineages; hep 18× ≈ endothelial 18× (no zonation)</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organ-wide handling, not zonation</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1B2B31"/>
                          </a:solidFill>
                        </a:rPr>
                        <a:t>Sequencing batch</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run × source Cramér’s V = 0.84; run × F (biopsy) = 0.40</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ends confounded; biopsy estimable</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1B2B31"/>
                          </a:solidFill>
                        </a:rPr>
                        <a:t>Lobe (R / C / L)</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marker detection across right / caudate / left lobes in explants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lobe-invariant</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100" dirty="0">
                          <a:solidFill>
                            <a:srgbClr val="1B2B31"/>
                          </a:solidFill>
                        </a:rPr>
                        <a:t>Sequencing depth</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binomial down-thin to B = 1,000 / 1,500 / 3,000 UMIs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PC-share flat at every B (SD 0.006–0.010)</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100" dirty="0">
                          <a:solidFill>
                            <a:srgbClr val="1B2B31"/>
                          </a:solidFill>
                        </a:rPr>
                        <a:t>Ambient RNA (“soup”)</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corr( ALB share , dual fraction ) across 38 donors = +0.04</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does not drive co-expression</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lgn="l">
                        <a:buNone/>
                      </a:pPr>
                      <a:r>
                        <a:rPr lang="en-US" sz="1100" dirty="0">
                          <a:solidFill>
                            <a:srgbClr val="1B2B31"/>
                          </a:solidFill>
                        </a:rPr>
                        <a:t>Cholangiocyte mis-annotation</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KRT19⁺ ≤ 0.001, EPCAM⁺ ≤ 0.003 in every anchor class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not contaminating cholangiocytes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100" dirty="0">
                          <a:solidFill>
                            <a:srgbClr val="1B2B31"/>
                          </a:solidFill>
                        </a:rPr>
                        <a:t>Ploidy / complexity</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nFeatures by stage: 2218 / 3063 / 3169 / 2641 / 1984</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non-monotone — does not track stage</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84048">
                <a:tc>
                  <a:txBody>
                    <a:bodyPr/>
                    <a:lstStyle/>
                    <a:p>
                      <a:pPr marL="0" indent="0" algn="l">
                        <a:buNone/>
                      </a:pPr>
                      <a:r>
                        <a:rPr lang="en-US" sz="1100" dirty="0">
                          <a:solidFill>
                            <a:srgbClr val="1B2B31"/>
                          </a:solidFill>
                        </a:rPr>
                        <a:t>Depth-match discard</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3.5–7.8 % dropped below B, uniformly lower-detection</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depth-driven, not PC-biased</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84048">
                <a:tc>
                  <a:txBody>
                    <a:bodyPr/>
                    <a:lstStyle/>
                    <a:p>
                      <a:pPr marL="0" indent="0" algn="l">
                        <a:buNone/>
                      </a:pPr>
                      <a:r>
                        <a:rPr lang="en-US" sz="1100" dirty="0">
                          <a:solidFill>
                            <a:srgbClr val="1B2B31"/>
                          </a:solidFill>
                        </a:rPr>
                        <a:t>Clinical covariates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partial corr( detox , F | Age ) = −0.32; Age–F = +0.43</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demographics do not explain trends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BACKUP  ·  METHODS</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Why raw counts, why pseudobulk</a:t>
            </a:r>
            <a:endParaRPr lang="en-US" sz="2600" dirty="0"/>
          </a:p>
        </p:txBody>
      </p:sp>
      <p:sp>
        <p:nvSpPr>
          <p:cNvPr id="5" name="Text 3"/>
          <p:cNvSpPr/>
          <p:nvPr/>
        </p:nvSpPr>
        <p:spPr>
          <a:xfrm>
            <a:off x="731520" y="1463040"/>
            <a:ext cx="10607040" cy="4572000"/>
          </a:xfrm>
          <a:prstGeom prst="rect">
            <a:avLst/>
          </a:prstGeom>
          <a:noFill/>
          <a:ln/>
        </p:spPr>
        <p:txBody>
          <a:bodyPr wrap="square" rtlCol="0" anchor="t"/>
          <a:lstStyle/>
          <a:p>
            <a:pPr marL="342900" indent="-342900" algn="l">
              <a:spcAft>
                <a:spcPts val="900"/>
              </a:spcAft>
              <a:buSzPct val="100000"/>
              <a:buChar char="•"/>
            </a:pPr>
            <a:r>
              <a:rPr lang="en-US" sz="2000" dirty="0">
                <a:solidFill>
                  <a:srgbClr val="1B2B31"/>
                </a:solidFill>
              </a:rPr>
              <a:t>Raw counts: marker co-detection + ambient sensitivity need molecules, not SCT residuals.</a:t>
            </a:r>
            <a:endParaRPr lang="en-US" sz="2000" dirty="0"/>
          </a:p>
          <a:p>
            <a:pPr marL="342900" indent="-342900" algn="l">
              <a:spcAft>
                <a:spcPts val="900"/>
              </a:spcAft>
              <a:buSzPct val="100000"/>
              <a:buChar char="•"/>
            </a:pPr>
            <a:r>
              <a:rPr lang="en-US" sz="2000" dirty="0">
                <a:solidFill>
                  <a:srgbClr val="1B2B31"/>
                </a:solidFill>
              </a:rPr>
              <a:t>Pseudobulk: cells from one donor are not independent — sum per donor, then edgeR (Squair 2021).</a:t>
            </a:r>
            <a:endParaRPr lang="en-US" sz="2000" dirty="0"/>
          </a:p>
          <a:p>
            <a:pPr marL="342900" indent="-342900" algn="l">
              <a:spcAft>
                <a:spcPts val="900"/>
              </a:spcAft>
              <a:buSzPct val="100000"/>
              <a:buChar char="•"/>
            </a:pPr>
            <a:r>
              <a:rPr lang="en-US" sz="2000" dirty="0">
                <a:solidFill>
                  <a:srgbClr val="1B2B31"/>
                </a:solidFill>
              </a:rPr>
              <a:t>edgeR: filterByExpr → 21,022 genes; TMM; NB quasi-likelihood GLM, robust dispersion; common BCV 0.405.</a:t>
            </a:r>
            <a:endParaRPr lang="en-US" sz="2000" dirty="0"/>
          </a:p>
          <a:p>
            <a:pPr marL="342900" indent="-342900" algn="l">
              <a:spcAft>
                <a:spcPts val="900"/>
              </a:spcAft>
              <a:buSzPct val="100000"/>
              <a:buChar char="•"/>
            </a:pPr>
            <a:r>
              <a:rPr lang="en-US" sz="2000" dirty="0">
                <a:solidFill>
                  <a:srgbClr val="1B2B31"/>
                </a:solidFill>
              </a:rPr>
              <a:t>Primary signal persists in DIRECTION with a run covariate and within a single run; significance attenuates with n (not a batch artifact).</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BACKUP  ·  AMBIENT</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Does decontX prove contamination? No</a:t>
            </a:r>
            <a:endParaRPr lang="en-US" sz="2600" dirty="0"/>
          </a:p>
        </p:txBody>
      </p:sp>
      <p:sp>
        <p:nvSpPr>
          <p:cNvPr id="5" name="Text 3"/>
          <p:cNvSpPr/>
          <p:nvPr/>
        </p:nvSpPr>
        <p:spPr>
          <a:xfrm>
            <a:off x="731520" y="1463040"/>
            <a:ext cx="10607040" cy="4572000"/>
          </a:xfrm>
          <a:prstGeom prst="rect">
            <a:avLst/>
          </a:prstGeom>
          <a:noFill/>
          <a:ln/>
        </p:spPr>
        <p:txBody>
          <a:bodyPr wrap="square" rtlCol="0" anchor="t"/>
          <a:lstStyle/>
          <a:p>
            <a:pPr marL="342900" indent="-342900" algn="l">
              <a:spcAft>
                <a:spcPts val="900"/>
              </a:spcAft>
              <a:buSzPct val="100000"/>
              <a:buChar char="•"/>
            </a:pPr>
            <a:r>
              <a:rPr lang="en-US" sz="2000" dirty="0">
                <a:solidFill>
                  <a:srgbClr val="1B2B31"/>
                </a:solidFill>
              </a:rPr>
              <a:t>decontX models a native + ambient RNA mixture and subtracts the estimate.</a:t>
            </a:r>
            <a:endParaRPr lang="en-US" sz="2000" dirty="0"/>
          </a:p>
          <a:p>
            <a:pPr marL="342900" indent="-342900" algn="l">
              <a:spcAft>
                <a:spcPts val="900"/>
              </a:spcAft>
              <a:buSzPct val="100000"/>
              <a:buChar char="•"/>
            </a:pPr>
            <a:r>
              <a:rPr lang="en-US" sz="2000" dirty="0">
                <a:solidFill>
                  <a:srgbClr val="1B2B31"/>
                </a:solidFill>
              </a:rPr>
              <a:t>Hits 64 → 34; SOX4/SOX9 drop below significance → supports an ambient contribution.</a:t>
            </a:r>
            <a:endParaRPr lang="en-US" sz="2000" dirty="0"/>
          </a:p>
          <a:p>
            <a:pPr marL="342900" indent="-342900" algn="l">
              <a:spcAft>
                <a:spcPts val="900"/>
              </a:spcAft>
              <a:buSzPct val="100000"/>
              <a:buChar char="•"/>
            </a:pPr>
            <a:r>
              <a:rPr lang="en-US" sz="2000" dirty="0">
                <a:solidFill>
                  <a:srgbClr val="1B2B31"/>
                </a:solidFill>
              </a:rPr>
              <a:t>But it can remove true hybrid signal OR leave residual contamination.</a:t>
            </a:r>
            <a:endParaRPr lang="en-US" sz="2000" dirty="0"/>
          </a:p>
          <a:p>
            <a:pPr marL="342900" indent="-342900" algn="l">
              <a:spcAft>
                <a:spcPts val="900"/>
              </a:spcAft>
              <a:buSzPct val="100000"/>
              <a:buChar char="•"/>
            </a:pPr>
            <a:r>
              <a:rPr lang="en-US" sz="2000" dirty="0">
                <a:solidFill>
                  <a:srgbClr val="1B2B31"/>
                </a:solidFill>
              </a:rPr>
              <a:t>Source attribution is a lead, not a closed verdict; CXCL10 is a separate candidate inflammatory signal.</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BACKUP  ·  GENE-SET RESULT</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Ten pre-specified sets — the detox program goes down</a:t>
            </a:r>
            <a:endParaRPr lang="en-US" sz="2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15568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3383280">
                  <a:extLst>
                    <a:ext uri="{9D8B030D-6E8A-4147-A177-3AD203B41FA5}">
                      <a16:colId xmlns:a16="http://schemas.microsoft.com/office/drawing/2014/main" val="20004"/>
                    </a:ext>
                  </a:extLst>
                </a:gridCol>
              </a:tblGrid>
              <a:tr h="365760">
                <a:tc>
                  <a:txBody>
                    <a:bodyPr/>
                    <a:lstStyle/>
                    <a:p>
                      <a:pPr marL="0" indent="0" algn="l">
                        <a:buNone/>
                      </a:pPr>
                      <a:r>
                        <a:rPr lang="en-US" sz="1200" b="1" dirty="0">
                          <a:solidFill>
                            <a:srgbClr val="1B2B31"/>
                          </a:solidFill>
                        </a:rPr>
                        <a:t>Gene set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2B31"/>
                          </a:solidFill>
                        </a:rPr>
                        <a:t>Zone / program (identity)</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2B31"/>
                          </a:solidFill>
                        </a:rPr>
                        <a:t>n</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2B31"/>
                          </a:solidFill>
                        </a:rPr>
                        <a:t>Dir</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2B31"/>
                          </a:solidFill>
                        </a:rPr>
                        <a:t>camera FDR</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5760">
                <a:tc>
                  <a:txBody>
                    <a:bodyPr/>
                    <a:lstStyle/>
                    <a:p>
                      <a:pPr marL="0" indent="0" algn="l">
                        <a:buNone/>
                      </a:pPr>
                      <a:r>
                        <a:rPr lang="en-US" sz="1200" dirty="0">
                          <a:solidFill>
                            <a:srgbClr val="1B2B31"/>
                          </a:solidFill>
                        </a:rPr>
                        <a:t>xenobiotic_CYP</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PC detox — phase-I (CYP)</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13</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2×10⁻⁶</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dirty="0">
                          <a:solidFill>
                            <a:srgbClr val="1B2B31"/>
                          </a:solidFill>
                        </a:rPr>
                        <a:t>detox_phase2</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PC detox — phase-II (UGT/GST/SULT)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16</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7×10⁻³</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200" dirty="0">
                          <a:solidFill>
                            <a:srgbClr val="1B2B31"/>
                          </a:solidFill>
                        </a:rPr>
                        <a:t>pericentral_anchors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PC identity (Paper 2 landmarks)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1.5×10⁻⁴</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dirty="0">
                          <a:solidFill>
                            <a:srgbClr val="1B2B31"/>
                          </a:solidFill>
                        </a:rPr>
                        <a:t>periportal_anchors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PP identity (Paper 2 landmarks)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1.5×10⁻²</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200" dirty="0">
                          <a:solidFill>
                            <a:srgbClr val="1B2B31"/>
                          </a:solidFill>
                        </a:rPr>
                        <a:t>urea_cycle</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PP program (nitrogen)</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9</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0.12  (ns)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200" dirty="0">
                          <a:solidFill>
                            <a:srgbClr val="1B2B31"/>
                          </a:solidFill>
                        </a:rPr>
                        <a:t>bile_acid_lipid</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mixed metabolism</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0.72  (ns)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lgn="l">
                        <a:buNone/>
                      </a:pPr>
                      <a:r>
                        <a:rPr lang="en-US" sz="1200" dirty="0">
                          <a:solidFill>
                            <a:srgbClr val="1B2B31"/>
                          </a:solidFill>
                        </a:rPr>
                        <a:t>cholangiocyte_ductular</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biliary / bile-duct markers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10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1.9×10⁻⁵</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200" dirty="0">
                          <a:solidFill>
                            <a:srgbClr val="1B2B31"/>
                          </a:solidFill>
                        </a:rPr>
                        <a:t>CTRL_interferon</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inflammation  (+control)</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1.5×10⁻³</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5760">
                <a:tc>
                  <a:txBody>
                    <a:bodyPr/>
                    <a:lstStyle/>
                    <a:p>
                      <a:pPr marL="0" indent="0" algn="l">
                        <a:buNone/>
                      </a:pPr>
                      <a:r>
                        <a:rPr lang="en-US" sz="1200" dirty="0">
                          <a:solidFill>
                            <a:srgbClr val="1B2B31"/>
                          </a:solidFill>
                        </a:rPr>
                        <a:t>CTRL_EMT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fibrogenesis / scar  (+control)</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9×10⁻⁶</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5760">
                <a:tc>
                  <a:txBody>
                    <a:bodyPr/>
                    <a:lstStyle/>
                    <a:p>
                      <a:pPr marL="0" indent="0" algn="l">
                        <a:buNone/>
                      </a:pPr>
                      <a:r>
                        <a:rPr lang="en-US" sz="1200" dirty="0">
                          <a:solidFill>
                            <a:srgbClr val="1B2B31"/>
                          </a:solidFill>
                        </a:rPr>
                        <a:t>CTRL_ER_stress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unfolded-protein resp.  (−control)</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0.72  (ns)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Text 3"/>
          <p:cNvSpPr/>
          <p:nvPr/>
        </p:nvSpPr>
        <p:spPr>
          <a:xfrm>
            <a:off x="548640" y="5440680"/>
            <a:ext cx="11247120" cy="1005840"/>
          </a:xfrm>
          <a:prstGeom prst="rect">
            <a:avLst/>
          </a:prstGeom>
          <a:noFill/>
          <a:ln/>
        </p:spPr>
        <p:txBody>
          <a:bodyPr wrap="square" rtlCol="0" anchor="ctr"/>
          <a:lstStyle/>
          <a:p>
            <a:pPr marL="0" indent="0" algn="l">
              <a:buNone/>
            </a:pPr>
            <a:r>
              <a:rPr lang="en-US" sz="1150" i="1" dirty="0">
                <a:solidFill>
                  <a:srgbClr val="5C6E73"/>
                </a:solidFill>
              </a:rPr>
              <a:t>Donor-level, biopsy F0–F4, limma::camera (GSEA agrees). Pre-specified, no fishing: PC/PP identity = Paper 2’s own landmark genes; CYP / detox / urea / bile = KEGG·HGNC cores; biliary = plasticity.txt + markers; controls = MSigDB Hallmark cores. The validating controls behaved (fibrogenesis &amp; inflammation ↑, ER-stress flat) — proof the test detects real biology, not noise. The pericentral detox + identity programs fall; the see-saw (PP ↑) and biliary ↑ are why we adversarially controlled for composition (it survived).</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BACKUP  ·  METHODS GLOSSARY</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Gene-set testing, in one breath each</a:t>
            </a:r>
            <a:endParaRPr lang="en-US" sz="2600" dirty="0"/>
          </a:p>
        </p:txBody>
      </p:sp>
      <p:sp>
        <p:nvSpPr>
          <p:cNvPr id="5" name="Text 3"/>
          <p:cNvSpPr/>
          <p:nvPr/>
        </p:nvSpPr>
        <p:spPr>
          <a:xfrm>
            <a:off x="731520" y="1554480"/>
            <a:ext cx="10881360" cy="4754880"/>
          </a:xfrm>
          <a:prstGeom prst="rect">
            <a:avLst/>
          </a:prstGeom>
          <a:noFill/>
          <a:ln/>
        </p:spPr>
        <p:txBody>
          <a:bodyPr wrap="square" rtlCol="0" anchor="t"/>
          <a:lstStyle/>
          <a:p>
            <a:pPr marL="0" indent="0" algn="l">
              <a:spcAft>
                <a:spcPts val="900"/>
              </a:spcAft>
              <a:buNone/>
            </a:pPr>
            <a:r>
              <a:rPr lang="en-US" sz="1600" b="1" dirty="0">
                <a:solidFill>
                  <a:srgbClr val="1B2B31"/>
                </a:solidFill>
              </a:rPr>
              <a:t>Pseudobulk  </a:t>
            </a:r>
            <a:r>
              <a:rPr lang="en-US" sz="1600" dirty="0">
                <a:solidFill>
                  <a:srgbClr val="1B2B31"/>
                </a:solidFill>
              </a:rPr>
              <a:t>— sum each donor’s hepatocyte counts into one profile per donor (donor = unit of inference).
</a:t>
            </a:r>
            <a:endParaRPr lang="en-US" sz="1600" dirty="0"/>
          </a:p>
          <a:p>
            <a:pPr marL="0" indent="0" algn="l">
              <a:spcAft>
                <a:spcPts val="900"/>
              </a:spcAft>
              <a:buNone/>
            </a:pPr>
            <a:r>
              <a:rPr lang="en-US" sz="1600" b="1" dirty="0">
                <a:solidFill>
                  <a:srgbClr val="1B2B31"/>
                </a:solidFill>
              </a:rPr>
              <a:t>CPM  </a:t>
            </a:r>
            <a:r>
              <a:rPr lang="en-US" sz="1600" dirty="0">
                <a:solidFill>
                  <a:srgbClr val="1B2B31"/>
                </a:solidFill>
              </a:rPr>
              <a:t>— each gene as a share of the donor’s total counts; simple, but compositional (a few surging genes shrink everyone else’s share).
</a:t>
            </a:r>
            <a:endParaRPr lang="en-US" sz="1600" dirty="0"/>
          </a:p>
          <a:p>
            <a:pPr marL="0" indent="0" algn="l">
              <a:spcAft>
                <a:spcPts val="900"/>
              </a:spcAft>
              <a:buNone/>
            </a:pPr>
            <a:r>
              <a:rPr lang="en-US" sz="1600" b="1" dirty="0">
                <a:solidFill>
                  <a:srgbClr val="0D9488"/>
                </a:solidFill>
              </a:rPr>
              <a:t>TMM  </a:t>
            </a:r>
            <a:r>
              <a:rPr lang="en-US" sz="1600" dirty="0">
                <a:solidFill>
                  <a:srgbClr val="1B2B31"/>
                </a:solidFill>
              </a:rPr>
              <a:t>— the scaling factor is taken from the bulk of genes after trimming the extreme movers, so surging genes can’t set it → composition-robust.
</a:t>
            </a:r>
            <a:endParaRPr lang="en-US" sz="1600" dirty="0"/>
          </a:p>
          <a:p>
            <a:pPr marL="0" indent="0" algn="l">
              <a:spcAft>
                <a:spcPts val="900"/>
              </a:spcAft>
              <a:buNone/>
            </a:pPr>
            <a:r>
              <a:rPr lang="en-US" sz="1600" b="1" dirty="0">
                <a:solidFill>
                  <a:srgbClr val="1B2B31"/>
                </a:solidFill>
              </a:rPr>
              <a:t>Per-gene DGE  </a:t>
            </a:r>
            <a:r>
              <a:rPr lang="en-US" sz="1600" dirty="0">
                <a:solidFill>
                  <a:srgbClr val="1B2B31"/>
                </a:solidFill>
              </a:rPr>
              <a:t>— test each gene on its own for a fibrosis trend (edgeR); misses a weak shift shared by many genes.
</a:t>
            </a:r>
            <a:endParaRPr lang="en-US" sz="1600" dirty="0"/>
          </a:p>
          <a:p>
            <a:pPr marL="0" indent="0" algn="l">
              <a:spcAft>
                <a:spcPts val="900"/>
              </a:spcAft>
              <a:buNone/>
            </a:pPr>
            <a:r>
              <a:rPr lang="en-US" sz="1600" b="1" dirty="0">
                <a:solidFill>
                  <a:srgbClr val="C0561B"/>
                </a:solidFill>
              </a:rPr>
              <a:t>Gene-set test  </a:t>
            </a:r>
            <a:r>
              <a:rPr lang="en-US" sz="1600" dirty="0">
                <a:solidFill>
                  <a:srgbClr val="1B2B31"/>
                </a:solidFill>
              </a:rPr>
              <a:t>— test a whole pre-specified set at once. camera = competitive (more shifted than the rest of the genome?; Wu &amp; Smyth 2012); ROAST = self-contained (does the set move against zero?; Wu et al. 2010).
</a:t>
            </a:r>
            <a:endParaRPr lang="en-US" sz="1600" dirty="0"/>
          </a:p>
          <a:p>
            <a:pPr marL="0" indent="0" algn="l">
              <a:spcAft>
                <a:spcPts val="900"/>
              </a:spcAft>
              <a:buNone/>
            </a:pPr>
            <a:r>
              <a:rPr lang="en-US" sz="1600" b="1" dirty="0">
                <a:solidFill>
                  <a:srgbClr val="0D9488"/>
                </a:solidFill>
              </a:rPr>
              <a:t>Within-PC detox output  </a:t>
            </a:r>
            <a:r>
              <a:rPr lang="en-US" sz="1600" dirty="0">
                <a:solidFill>
                  <a:srgbClr val="1B2B31"/>
                </a:solidFill>
              </a:rPr>
              <a:t>— detox transcripts per pericentral nucleus after equalizing read depth: per-cell, relative to the cell’s own output, immune to between-cell composition.
</a:t>
            </a:r>
            <a:endParaRPr lang="en-US" sz="1600" dirty="0"/>
          </a:p>
          <a:p>
            <a:pPr marL="0" indent="0" algn="l">
              <a:spcAft>
                <a:spcPts val="900"/>
              </a:spcAft>
              <a:buNone/>
            </a:pPr>
            <a:r>
              <a:rPr lang="en-US" sz="1600" b="1" dirty="0">
                <a:solidFill>
                  <a:srgbClr val="1B2B31"/>
                </a:solidFill>
              </a:rPr>
              <a:t>Adversarial check  </a:t>
            </a:r>
            <a:r>
              <a:rPr lang="en-US" sz="1600" dirty="0">
                <a:solidFill>
                  <a:srgbClr val="1B2B31"/>
                </a:solidFill>
              </a:rPr>
              <a:t>— redo with TMM, with ROAST, with the rising genes removed, and with the per-cell measure; all four agreed → the dimming is real.</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BACKUP  ·  SCENARIO COVERAGE</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Every de-zonation route, mapped to its signature</a:t>
            </a:r>
            <a:endParaRPr lang="en-US" sz="2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728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65760">
                <a:tc>
                  <a:txBody>
                    <a:bodyPr/>
                    <a:lstStyle/>
                    <a:p>
                      <a:pPr marL="0" indent="0" algn="l">
                        <a:buNone/>
                      </a:pPr>
                      <a:r>
                        <a:rPr lang="en-US" sz="1250" b="1" dirty="0">
                          <a:solidFill>
                            <a:srgbClr val="1B2B31"/>
                          </a:solidFill>
                        </a:rPr>
                        <a:t>Mechanism</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B2B31"/>
                          </a:solidFill>
                        </a:rPr>
                        <a:t>Signature</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B2B31"/>
                          </a:solidFill>
                        </a:rPr>
                        <a:t>Biopsy F0→F4 (donor-median)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B2B31"/>
                          </a:solidFill>
                        </a:rPr>
                        <a:t>Verdict</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5760">
                <a:tc>
                  <a:txBody>
                    <a:bodyPr/>
                    <a:lstStyle/>
                    <a:p>
                      <a:pPr marL="0" indent="0" algn="l">
                        <a:buNone/>
                      </a:pPr>
                      <a:r>
                        <a:rPr lang="en-US" sz="1250" dirty="0">
                          <a:solidFill>
                            <a:srgbClr val="1B2B31"/>
                          </a:solidFill>
                        </a:rPr>
                        <a:t>Pericentral depletion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PC-anchor fraction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36 / 19 / 23 / 22 / 21 %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flat → no depletion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50" dirty="0">
                          <a:solidFill>
                            <a:srgbClr val="1B2B31"/>
                          </a:solidFill>
                        </a:rPr>
                        <a:t>Periportal depletion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PP-anchor fraction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20 / 21 / 22 / 24 / 24 %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flat → no depletion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250" dirty="0">
                          <a:solidFill>
                            <a:srgbClr val="1B2B31"/>
                          </a:solidFill>
                        </a:rPr>
                        <a:t>Dimming</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within-PC level ↓ (magnitude)</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11.9 → 8.8 detox UMI/nuc (F1→F4); ρ = −0.48</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REAL — gene-set + within-PC confirm (CYP FDR 2e-6)</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50" dirty="0">
                          <a:solidFill>
                            <a:srgbClr val="1B2B31"/>
                          </a:solidFill>
                        </a:rPr>
                        <a:t>Co-expression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dual (≥2 UMI) fraction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~0.0 / 0.2 / 0.4 / 0.2 / 0.2 %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ambient soup → no</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250" dirty="0">
                          <a:solidFill>
                            <a:srgbClr val="1B2B31"/>
                          </a:solidFill>
                        </a:rPr>
                        <a:t>Gradient compression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per-cell balance → middle</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mild, non-monotone (peak F3)</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gradient present</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250" dirty="0">
                          <a:solidFill>
                            <a:srgbClr val="1B2B31"/>
                          </a:solidFill>
                        </a:rPr>
                        <a:t>Turn-off</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null (double-neg) fraction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34 / 44 / 36 / 39 / 39 %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flat → no turn-off</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lgn="l">
                        <a:buNone/>
                      </a:pPr>
                      <a:r>
                        <a:rPr lang="en-US" sz="1250" dirty="0">
                          <a:solidFill>
                            <a:srgbClr val="1B2B31"/>
                          </a:solidFill>
                        </a:rPr>
                        <a:t>Composition shift</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PP : PC anchor ratio</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0.62 / 1.16 / 1.01 / 1.10 / 1.18</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~flat → no shift</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250" dirty="0">
                          <a:solidFill>
                            <a:srgbClr val="1B2B31"/>
                          </a:solidFill>
                        </a:rPr>
                        <a:t>Induction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program level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flat in biopsy; rises only end-stage</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explant-only</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Text 3"/>
          <p:cNvSpPr/>
          <p:nvPr/>
        </p:nvSpPr>
        <p:spPr>
          <a:xfrm>
            <a:off x="640080" y="5897880"/>
            <a:ext cx="10972800" cy="640080"/>
          </a:xfrm>
          <a:prstGeom prst="rect">
            <a:avLst/>
          </a:prstGeom>
          <a:noFill/>
          <a:ln/>
        </p:spPr>
        <p:txBody>
          <a:bodyPr wrap="square" rtlCol="0" anchor="ctr"/>
          <a:lstStyle/>
          <a:p>
            <a:pPr marL="0" indent="0" algn="l">
              <a:buNone/>
            </a:pPr>
            <a:r>
              <a:rPr lang="en-US" sz="1250" i="1" dirty="0">
                <a:solidFill>
                  <a:srgbClr val="5C6E73"/>
                </a:solidFill>
              </a:rPr>
              <a:t>Each row is a distinct way zonation could fail, mapped to its signature on depth-normalized counts. The structure-redistribution routes (cells crossing boxes) are all flat — cells keep their identity. The one magnitude route, dimming, is REAL: the pericentral detox program quiets, confirmed by gene-set + within-PC testing.</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6242B"/>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sp>
      <p:sp>
        <p:nvSpPr>
          <p:cNvPr id="3" name="Shape 1"/>
          <p:cNvSpPr/>
          <p:nvPr/>
        </p:nvSpPr>
        <p:spPr>
          <a:xfrm>
            <a:off x="256032" y="0"/>
            <a:ext cx="109728" cy="6858000"/>
          </a:xfrm>
          <a:prstGeom prst="rect">
            <a:avLst/>
          </a:prstGeom>
          <a:solidFill>
            <a:srgbClr val="C0561B"/>
          </a:solidFill>
          <a:ln/>
        </p:spPr>
      </p:sp>
      <p:sp>
        <p:nvSpPr>
          <p:cNvPr id="4" name="Shape 2"/>
          <p:cNvSpPr/>
          <p:nvPr/>
        </p:nvSpPr>
        <p:spPr>
          <a:xfrm>
            <a:off x="777240" y="457200"/>
            <a:ext cx="146304" cy="237744"/>
          </a:xfrm>
          <a:prstGeom prst="rect">
            <a:avLst/>
          </a:prstGeom>
          <a:solidFill>
            <a:srgbClr val="C0561B"/>
          </a:solidFill>
          <a:ln/>
        </p:spPr>
      </p:sp>
      <p:sp>
        <p:nvSpPr>
          <p:cNvPr id="5" name="Text 3"/>
          <p:cNvSpPr/>
          <p:nvPr/>
        </p:nvSpPr>
        <p:spPr>
          <a:xfrm>
            <a:off x="987552" y="420624"/>
            <a:ext cx="10515600" cy="365760"/>
          </a:xfrm>
          <a:prstGeom prst="rect">
            <a:avLst/>
          </a:prstGeom>
          <a:noFill/>
          <a:ln/>
        </p:spPr>
        <p:txBody>
          <a:bodyPr wrap="square" rtlCol="0" anchor="ctr"/>
          <a:lstStyle/>
          <a:p>
            <a:pPr marL="0" indent="0" algn="l">
              <a:buNone/>
            </a:pPr>
            <a:r>
              <a:rPr lang="en-US" sz="1400" b="1" kern="0" spc="300" dirty="0">
                <a:solidFill>
                  <a:srgbClr val="C0561B"/>
                </a:solidFill>
              </a:rPr>
              <a:t>BACKUP  ·  FULL CONCLUSIONS</a:t>
            </a:r>
            <a:endParaRPr lang="en-US" sz="1400" dirty="0"/>
          </a:p>
        </p:txBody>
      </p:sp>
      <p:sp>
        <p:nvSpPr>
          <p:cNvPr id="6" name="Text 4"/>
          <p:cNvSpPr/>
          <p:nvPr/>
        </p:nvSpPr>
        <p:spPr>
          <a:xfrm>
            <a:off x="777240" y="777240"/>
            <a:ext cx="10607040" cy="731520"/>
          </a:xfrm>
          <a:prstGeom prst="rect">
            <a:avLst/>
          </a:prstGeom>
          <a:noFill/>
          <a:ln/>
        </p:spPr>
        <p:txBody>
          <a:bodyPr wrap="square"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Conclusions · limits · next steps</a:t>
            </a:r>
            <a:endParaRPr lang="en-US" sz="2800" dirty="0"/>
          </a:p>
        </p:txBody>
      </p:sp>
      <p:sp>
        <p:nvSpPr>
          <p:cNvPr id="7" name="Shape 5"/>
          <p:cNvSpPr/>
          <p:nvPr/>
        </p:nvSpPr>
        <p:spPr>
          <a:xfrm>
            <a:off x="777240" y="1645920"/>
            <a:ext cx="3520440" cy="4160520"/>
          </a:xfrm>
          <a:prstGeom prst="roundRect">
            <a:avLst>
              <a:gd name="adj" fmla="val 2078"/>
            </a:avLst>
          </a:prstGeom>
          <a:solidFill>
            <a:srgbClr val="1E3A3D"/>
          </a:solidFill>
          <a:ln/>
          <a:effectLst>
            <a:outerShdw blurRad="88900" dist="38100" dir="5400000" algn="bl" rotWithShape="0">
              <a:srgbClr val="000000">
                <a:alpha val="12000"/>
              </a:srgbClr>
            </a:outerShdw>
          </a:effectLst>
        </p:spPr>
      </p:sp>
      <p:sp>
        <p:nvSpPr>
          <p:cNvPr id="8" name="Text 6"/>
          <p:cNvSpPr/>
          <p:nvPr/>
        </p:nvSpPr>
        <p:spPr>
          <a:xfrm>
            <a:off x="777240" y="1783080"/>
            <a:ext cx="3520440" cy="457200"/>
          </a:xfrm>
          <a:prstGeom prst="rect">
            <a:avLst/>
          </a:prstGeom>
          <a:noFill/>
          <a:ln/>
        </p:spPr>
        <p:txBody>
          <a:bodyPr wrap="square" rtlCol="0" anchor="ctr"/>
          <a:lstStyle/>
          <a:p>
            <a:pPr marL="0" indent="0" algn="ctr">
              <a:buNone/>
            </a:pPr>
            <a:r>
              <a:rPr lang="en-US" sz="2000" b="1" dirty="0">
                <a:solidFill>
                  <a:srgbClr val="F0B27A"/>
                </a:solidFill>
                <a:latin typeface="Georgia" pitchFamily="34" charset="0"/>
                <a:ea typeface="Georgia" pitchFamily="34" charset="-122"/>
                <a:cs typeface="Georgia" pitchFamily="34" charset="-120"/>
              </a:rPr>
              <a:t>Conclusions</a:t>
            </a:r>
            <a:endParaRPr lang="en-US" sz="2000" dirty="0"/>
          </a:p>
        </p:txBody>
      </p:sp>
      <p:sp>
        <p:nvSpPr>
          <p:cNvPr id="9" name="Text 7"/>
          <p:cNvSpPr/>
          <p:nvPr/>
        </p:nvSpPr>
        <p:spPr>
          <a:xfrm>
            <a:off x="1005840" y="2331720"/>
            <a:ext cx="3108960" cy="3291840"/>
          </a:xfrm>
          <a:prstGeom prst="rect">
            <a:avLst/>
          </a:prstGeom>
          <a:noFill/>
          <a:ln/>
        </p:spPr>
        <p:txBody>
          <a:bodyPr wrap="square" rtlCol="0" anchor="t"/>
          <a:lstStyle/>
          <a:p>
            <a:pPr marL="342900" indent="-342900" algn="l">
              <a:spcAft>
                <a:spcPts val="900"/>
              </a:spcAft>
              <a:buSzPct val="100000"/>
              <a:buChar char="•"/>
            </a:pPr>
            <a:r>
              <a:rPr lang="en-US" sz="1450" dirty="0">
                <a:solidFill>
                  <a:srgbClr val="E2E8F0"/>
                </a:solidFill>
              </a:rPr>
              <a:t>Full healthy→end-stage trajectory is source-confounded.</a:t>
            </a:r>
            <a:endParaRPr lang="en-US" sz="1450" dirty="0"/>
          </a:p>
          <a:p>
            <a:pPr marL="342900" indent="-342900" algn="l">
              <a:spcAft>
                <a:spcPts val="900"/>
              </a:spcAft>
              <a:buSzPct val="100000"/>
              <a:buChar char="•"/>
            </a:pPr>
            <a:r>
              <a:rPr lang="en-US" sz="1450" dirty="0">
                <a:solidFill>
                  <a:srgbClr val="E2E8F0"/>
                </a:solidFill>
              </a:rPr>
              <a:t>In biopsy F1–F4 cells keep zonal identity — no de-zonation (large shift excluded).</a:t>
            </a:r>
            <a:endParaRPr lang="en-US" sz="1450" dirty="0"/>
          </a:p>
          <a:p>
            <a:pPr marL="342900" indent="-342900" algn="l">
              <a:spcAft>
                <a:spcPts val="900"/>
              </a:spcAft>
              <a:buSzPct val="100000"/>
              <a:buChar char="•"/>
            </a:pPr>
            <a:r>
              <a:rPr lang="en-US" sz="1450" dirty="0">
                <a:solidFill>
                  <a:srgbClr val="E2E8F0"/>
                </a:solidFill>
              </a:rPr>
              <a:t>Two real biopsy-internal signals: a compositional biliary signal (a lead), and a confirmed pericentral-detox dimming (gene-set + per-cell).</a:t>
            </a:r>
            <a:endParaRPr lang="en-US" sz="1450" dirty="0"/>
          </a:p>
        </p:txBody>
      </p:sp>
      <p:sp>
        <p:nvSpPr>
          <p:cNvPr id="10" name="Shape 8"/>
          <p:cNvSpPr/>
          <p:nvPr/>
        </p:nvSpPr>
        <p:spPr>
          <a:xfrm>
            <a:off x="4526280" y="1645920"/>
            <a:ext cx="3520440" cy="4160520"/>
          </a:xfrm>
          <a:prstGeom prst="roundRect">
            <a:avLst>
              <a:gd name="adj" fmla="val 2078"/>
            </a:avLst>
          </a:prstGeom>
          <a:solidFill>
            <a:srgbClr val="1E3A3D"/>
          </a:solidFill>
          <a:ln/>
          <a:effectLst>
            <a:outerShdw blurRad="88900" dist="38100" dir="5400000" algn="bl" rotWithShape="0">
              <a:srgbClr val="000000">
                <a:alpha val="12000"/>
              </a:srgbClr>
            </a:outerShdw>
          </a:effectLst>
        </p:spPr>
      </p:sp>
      <p:sp>
        <p:nvSpPr>
          <p:cNvPr id="11" name="Text 9"/>
          <p:cNvSpPr/>
          <p:nvPr/>
        </p:nvSpPr>
        <p:spPr>
          <a:xfrm>
            <a:off x="4526280" y="1783080"/>
            <a:ext cx="3520440" cy="457200"/>
          </a:xfrm>
          <a:prstGeom prst="rect">
            <a:avLst/>
          </a:prstGeom>
          <a:noFill/>
          <a:ln/>
        </p:spPr>
        <p:txBody>
          <a:bodyPr wrap="square" rtlCol="0" anchor="ctr"/>
          <a:lstStyle/>
          <a:p>
            <a:pPr marL="0" indent="0" algn="ctr">
              <a:buNone/>
            </a:pPr>
            <a:r>
              <a:rPr lang="en-US" sz="2000" b="1" dirty="0">
                <a:solidFill>
                  <a:srgbClr val="FCA5A5"/>
                </a:solidFill>
                <a:latin typeface="Georgia" pitchFamily="34" charset="0"/>
                <a:ea typeface="Georgia" pitchFamily="34" charset="-122"/>
                <a:cs typeface="Georgia" pitchFamily="34" charset="-120"/>
              </a:rPr>
              <a:t>Limits</a:t>
            </a:r>
            <a:endParaRPr lang="en-US" sz="2000" dirty="0"/>
          </a:p>
        </p:txBody>
      </p:sp>
      <p:sp>
        <p:nvSpPr>
          <p:cNvPr id="12" name="Text 10"/>
          <p:cNvSpPr/>
          <p:nvPr/>
        </p:nvSpPr>
        <p:spPr>
          <a:xfrm>
            <a:off x="4754880" y="2331720"/>
            <a:ext cx="3108960" cy="3291840"/>
          </a:xfrm>
          <a:prstGeom prst="rect">
            <a:avLst/>
          </a:prstGeom>
          <a:noFill/>
          <a:ln/>
        </p:spPr>
        <p:txBody>
          <a:bodyPr wrap="square" rtlCol="0" anchor="t"/>
          <a:lstStyle/>
          <a:p>
            <a:pPr marL="342900" indent="-342900" algn="l">
              <a:spcAft>
                <a:spcPts val="900"/>
              </a:spcAft>
              <a:buSzPct val="100000"/>
              <a:buChar char="•"/>
            </a:pPr>
            <a:r>
              <a:rPr lang="en-US" sz="1450" dirty="0">
                <a:solidFill>
                  <a:srgbClr val="E2E8F0"/>
                </a:solidFill>
              </a:rPr>
              <a:t>“PC-like program,” not lobular location — counts can’t see spatial position.</a:t>
            </a:r>
            <a:endParaRPr lang="en-US" sz="1450" dirty="0"/>
          </a:p>
          <a:p>
            <a:pPr marL="342900" indent="-342900" algn="l">
              <a:spcAft>
                <a:spcPts val="900"/>
              </a:spcAft>
              <a:buSzPct val="100000"/>
              <a:buChar char="•"/>
            </a:pPr>
            <a:r>
              <a:rPr lang="en-US" sz="1450" dirty="0">
                <a:solidFill>
                  <a:srgbClr val="E2E8F0"/>
                </a:solidFill>
              </a:rPr>
              <a:t>Imaging / protein / organoid evidence not re-analyzed.</a:t>
            </a:r>
            <a:endParaRPr lang="en-US" sz="1450" dirty="0"/>
          </a:p>
          <a:p>
            <a:pPr marL="342900" indent="-342900" algn="l">
              <a:spcAft>
                <a:spcPts val="900"/>
              </a:spcAft>
              <a:buSzPct val="100000"/>
              <a:buChar char="•"/>
            </a:pPr>
            <a:r>
              <a:rPr lang="en-US" sz="1450" dirty="0">
                <a:solidFill>
                  <a:srgbClr val="E2E8F0"/>
                </a:solidFill>
              </a:rPr>
              <a:t>F4 has only 4 biopsy donors.</a:t>
            </a:r>
            <a:endParaRPr lang="en-US" sz="1450" dirty="0"/>
          </a:p>
          <a:p>
            <a:pPr marL="342900" indent="-342900" algn="l">
              <a:spcAft>
                <a:spcPts val="900"/>
              </a:spcAft>
              <a:buSzPct val="100000"/>
              <a:buChar char="•"/>
            </a:pPr>
            <a:r>
              <a:rPr lang="en-US" sz="1450" dirty="0">
                <a:solidFill>
                  <a:srgbClr val="E2E8F0"/>
                </a:solidFill>
              </a:rPr>
              <a:t>Detox dimming is a RELATIVE decline (not proven absolute) and could partly reflect a shift among PC subzones; self-contained test clears only the CYP core.</a:t>
            </a:r>
            <a:endParaRPr lang="en-US" sz="1450" dirty="0"/>
          </a:p>
        </p:txBody>
      </p:sp>
      <p:sp>
        <p:nvSpPr>
          <p:cNvPr id="13" name="Shape 11"/>
          <p:cNvSpPr/>
          <p:nvPr/>
        </p:nvSpPr>
        <p:spPr>
          <a:xfrm>
            <a:off x="8275320" y="1645920"/>
            <a:ext cx="3520440" cy="4160520"/>
          </a:xfrm>
          <a:prstGeom prst="roundRect">
            <a:avLst>
              <a:gd name="adj" fmla="val 2078"/>
            </a:avLst>
          </a:prstGeom>
          <a:solidFill>
            <a:srgbClr val="1E3A3D"/>
          </a:solidFill>
          <a:ln/>
          <a:effectLst>
            <a:outerShdw blurRad="88900" dist="38100" dir="5400000" algn="bl" rotWithShape="0">
              <a:srgbClr val="000000">
                <a:alpha val="12000"/>
              </a:srgbClr>
            </a:outerShdw>
          </a:effectLst>
        </p:spPr>
      </p:sp>
      <p:sp>
        <p:nvSpPr>
          <p:cNvPr id="14" name="Text 12"/>
          <p:cNvSpPr/>
          <p:nvPr/>
        </p:nvSpPr>
        <p:spPr>
          <a:xfrm>
            <a:off x="8275320" y="1783080"/>
            <a:ext cx="3520440" cy="457200"/>
          </a:xfrm>
          <a:prstGeom prst="rect">
            <a:avLst/>
          </a:prstGeom>
          <a:noFill/>
          <a:ln/>
        </p:spPr>
        <p:txBody>
          <a:bodyPr wrap="square" rtlCol="0" anchor="ctr"/>
          <a:lstStyle/>
          <a:p>
            <a:pPr marL="0" indent="0" algn="ctr">
              <a:buNone/>
            </a:pPr>
            <a:r>
              <a:rPr lang="en-US" sz="2000" b="1" dirty="0">
                <a:solidFill>
                  <a:srgbClr val="9CC6CC"/>
                </a:solidFill>
                <a:latin typeface="Georgia" pitchFamily="34" charset="0"/>
                <a:ea typeface="Georgia" pitchFamily="34" charset="-122"/>
                <a:cs typeface="Georgia" pitchFamily="34" charset="-120"/>
              </a:rPr>
              <a:t>Next</a:t>
            </a:r>
            <a:endParaRPr lang="en-US" sz="2000" dirty="0"/>
          </a:p>
        </p:txBody>
      </p:sp>
      <p:sp>
        <p:nvSpPr>
          <p:cNvPr id="15" name="Text 13"/>
          <p:cNvSpPr/>
          <p:nvPr/>
        </p:nvSpPr>
        <p:spPr>
          <a:xfrm>
            <a:off x="8503920" y="2331720"/>
            <a:ext cx="3108960" cy="3291840"/>
          </a:xfrm>
          <a:prstGeom prst="rect">
            <a:avLst/>
          </a:prstGeom>
          <a:noFill/>
          <a:ln/>
        </p:spPr>
        <p:txBody>
          <a:bodyPr wrap="square" rtlCol="0" anchor="t"/>
          <a:lstStyle/>
          <a:p>
            <a:pPr marL="342900" indent="-342900" algn="l">
              <a:spcAft>
                <a:spcPts val="900"/>
              </a:spcAft>
              <a:buSzPct val="100000"/>
              <a:buChar char="•"/>
            </a:pPr>
            <a:r>
              <a:rPr lang="en-US" sz="1450" dirty="0">
                <a:solidFill>
                  <a:srgbClr val="E2E8F0"/>
                </a:solidFill>
              </a:rPr>
              <a:t>Spatial / independent-biopsy validation of the detox-dimming gradient.</a:t>
            </a:r>
            <a:endParaRPr lang="en-US" sz="1450" dirty="0"/>
          </a:p>
          <a:p>
            <a:pPr marL="342900" indent="-342900" algn="l">
              <a:spcAft>
                <a:spcPts val="900"/>
              </a:spcAft>
              <a:buSzPct val="100000"/>
              <a:buChar char="•"/>
            </a:pPr>
            <a:r>
              <a:rPr lang="en-US" sz="1450" dirty="0">
                <a:solidFill>
                  <a:srgbClr val="E2E8F0"/>
                </a:solidFill>
              </a:rPr>
              <a:t>Leave-one-F4-donor-out DGE.</a:t>
            </a:r>
            <a:endParaRPr lang="en-US" sz="1450" dirty="0"/>
          </a:p>
          <a:p>
            <a:pPr marL="342900" indent="-342900" algn="l">
              <a:spcAft>
                <a:spcPts val="900"/>
              </a:spcAft>
              <a:buSzPct val="100000"/>
              <a:buChar char="•"/>
            </a:pPr>
            <a:r>
              <a:rPr lang="en-US" sz="1450" dirty="0">
                <a:solidFill>
                  <a:srgbClr val="E2E8F0"/>
                </a:solidFill>
              </a:rPr>
              <a:t>Quantitative contamination model for the biliary lead.</a:t>
            </a:r>
            <a:endParaRPr lang="en-US" sz="1450" dirty="0"/>
          </a:p>
          <a:p>
            <a:pPr marL="342900" indent="-342900" algn="l">
              <a:spcAft>
                <a:spcPts val="900"/>
              </a:spcAft>
              <a:buSzPct val="100000"/>
              <a:buChar char="•"/>
            </a:pPr>
            <a:r>
              <a:rPr lang="en-US" sz="1450" dirty="0">
                <a:solidFill>
                  <a:srgbClr val="E2E8F0"/>
                </a:solidFill>
              </a:rPr>
              <a:t>Functional readout of pericentral detox capacity.</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5085</Words>
  <Application>Microsoft Office PowerPoint</Application>
  <PresentationFormat>Widescreen</PresentationFormat>
  <Paragraphs>442</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transcriptional de-zonation signal in matched MASLD biopsies — but the pericentral detox program dims</dc:title>
  <dc:subject>PptxGenJS Presentation</dc:subject>
  <dc:creator>Roee Tekoah, Shira Gelbstein</dc:creator>
  <cp:lastModifiedBy>Roee Tekoah</cp:lastModifiedBy>
  <cp:revision>20</cp:revision>
  <dcterms:created xsi:type="dcterms:W3CDTF">2026-06-24T17:40:29Z</dcterms:created>
  <dcterms:modified xsi:type="dcterms:W3CDTF">2026-06-24T17:58:15Z</dcterms:modified>
</cp:coreProperties>
</file>