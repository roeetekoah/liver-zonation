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4" r:id="rId8"/>
    <p:sldId id="262" r:id="rId9"/>
    <p:sldId id="263" r:id="rId10"/>
    <p:sldId id="285" r:id="rId11"/>
    <p:sldId id="265" r:id="rId12"/>
    <p:sldId id="266" r:id="rId13"/>
    <p:sldId id="267" r:id="rId14"/>
    <p:sldId id="268" r:id="rId15"/>
    <p:sldId id="287" r:id="rId16"/>
    <p:sldId id="269" r:id="rId17"/>
    <p:sldId id="271" r:id="rId18"/>
    <p:sldId id="288" r:id="rId19"/>
    <p:sldId id="272" r:id="rId20"/>
    <p:sldId id="286" r:id="rId21"/>
    <p:sldId id="273" r:id="rId22"/>
    <p:sldId id="274" r:id="rId23"/>
    <p:sldId id="275" r:id="rId24"/>
    <p:sldId id="276" r:id="rId25"/>
    <p:sldId id="277" r:id="rId26"/>
    <p:sldId id="278" r:id="rId27"/>
    <p:sldId id="279" r:id="rId28"/>
    <p:sldId id="280" r:id="rId29"/>
    <p:sldId id="281" r:id="rId30"/>
    <p:sldId id="282" r:id="rId31"/>
    <p:sldId id="283"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2180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first catch: the metric. We first read it with a relative ruler — a z-scored zonation coordinate + marker correlations pooled over all samples — which produced 'hepatocytes lose zonation; pericentral turns off, strongest at end-stage.' But a relative summary hides who moved, pools healthy+biopsy+end-stage across a hidden sampling break, and is bent by depth/cell-number/tissue-source; and even biopsy-only it stays depth-sensitive and conflates turn-off vs de-zonation vs noise. So we switched to raw molecule counts. The second catch is the tissue itself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tissue catch, both halves on one slide. (1) Stage is collinear with acquisition: healthy and end-stage are deceased-donor cubes/explants, F0-F4 are needle biopsies (2/8/12/12/4) — the ends are not acquisition-matched, so a 'progressive' trajectory can be manufactured by procurement/ischemia/dissociation/batch. (2) The ends also carry organ-wide stress: IEG+HSP spike ~18x in explants, but endothelium (no zonation program) spikes the same ~18x, and hypoxia (HIF) stays flat (1.7-2.6x) — acute handling, not a zonation program. Both reasons → exclude the deceased-donor/explant ends, use biopsy-only F1-F4. Verified from the paper's Methods + dataset metadata.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Vocabulary + moves on one slide. LEFT — the 2x2: every hepatocyte is sorted into exactly one of four classes by which program it runs (pericentral detected? x periportal detected?): PC-anchor (PC only), PP-anchor (PP only), Dual (both — co-expression), Null (neither — double-negative). RIGHT — 'losing zonation' is not one event but four distinct moves among these boxes, each with its own count signature: Depletion (an anchor box shrinks), Co-expression (the dual box fills), Turn-off (the null box fills), Composition shift (the PP:PC ratio tilts); chip colours match the box each move touches. They are dissociable — a pole can convert to the opposite pole (depletion, null untouched) and cells can go double-negative without any pole shrinking (turn-off, no depletion). A single relative summary (z-score, correlation, UMAP axis) is scale-free — it divides out the level and reads only the gradient's shape, collapsing all four into one number; absolute counts keep them separate. We track all four, not just the pericentral depletion we expected.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continuous-gradient axis, which the discrete box-counts cannot capture. Compression = loss of SHAPE (per-cell PC/(PC+PP) balance drifts to the middle); dimming = loss of LEVEL (the program's relative magnitude falls while the balance is unchanged). Compression: mild non-monotone middle drift peaking at F3, both poles populated — gradient present; only the explant collapses. Dimming: the pericentral detox program declines in relative level — a real coordinated finding, confirmed in Results by gene-set + per-cell tests. Cells keep their identity.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core result. PC and PP anchor fractions are flat/non-monotone across F1-F4 — no depletion. Dual co-expression at the ambient-robust &gt;=2-UMI cut stays ~0.4% and does not trend (vs ~2.9% in confounded explants). Null (44/36/39/39%) and PP:PC (~1.1) are flat too. WHY READABLE DESPITE THE SPREAD: donors scatter ~25-35 pp within each stage (SD ~12 pp), but the donor is the replicate, so each stage average has SE ~ SD/sqrt(n) ~ 4 pp; the spread is the same at every stage — noise around a flat line, not a hidden trend. EQUIVALENCE (TOST): a shift &gt; ±19 pp is excluded; a &lt;=10 pp drift is not (F4 n=4). F0 OMITTED: its 2 donors disagree 16.6 pp on the PC anchor (44% vs 28%), too unstable to anchor a trend, and it carries the highest PC fraction of any stage so dropping it doesn't flatter the result. QA: 10 confounders audited (source, stress, batch, depth, ambient, ploidy, cholangiocyte, discard, covariates, lobe) — none manufactures the result. All in backup.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Per-gene pseudobulk: nothing usable moves (64/21,000 significant, mostly biliary/ductular; zonation flat, GLUL FDR 0.80). No large single-gene program. But per-gene FDR catches a big change in any ONE gene; a weak coordinated program (many genes each drifting a little, same direction) slips past — that is the pericentral-detox decline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one real biopsy-internal change. LEFT: within-PC detox output (detox transcripts per PC nucleus, depth-matched to 1,500 UMIs) falls from ~11.9 at F1 to ~8.8 at F4; donor-level Spearman rho -0.48, p=0.003. F0 (n=2) faded. RIGHT: gene-set test (camera) — PC detox (CYP) FDR 2e-6, PC identity 1.5e-4, phase-II 7e-3, all DOWN; biliary/ductular + fibrogenesis/inflammation controls UP; ER-stress flat (validating controls). CAREFUL FRAMING: this is a RELATIVE transcript decline within a fixed 1,500-UMI budget, not proven absolute molecule loss; it is a donor-level trend (not pseudoreplicated); it could partly reflect a shift among PC subzones rather than pure within-cell downregulation; no single detox gene clears per-gene FDR. Cells retain their pericentral/periportal identities — functional dimming of a zonated program, NOT de-zonation or transdifferentiation. This was our original within-PC metric (the one count hint), conservatively shelved as borderline, now confirmed by the coordinated set test + the full-trajectory trend, after ruling out a composition artifact (TMM, contaminant removal, the per-cell measure).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signal is most consistent with composition/ambient RNA, a rare intrinsic state not excluded.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34351452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777240" y="1051560"/>
            <a:ext cx="10881360" cy="365760"/>
          </a:xfrm>
          <a:prstGeom prst="rect">
            <a:avLst/>
          </a:prstGeom>
          <a:noFill/>
          <a:ln/>
        </p:spPr>
        <p:txBody>
          <a:bodyPr wrap="square" rtlCol="0" anchor="ctr"/>
          <a:lstStyle/>
          <a:p>
            <a:pPr marL="0" indent="0" algn="l">
              <a:buNone/>
            </a:pPr>
            <a:r>
              <a:rPr lang="en-US" sz="1500" b="1" kern="0" spc="300" dirty="0">
                <a:solidFill>
                  <a:srgbClr val="9FC0C4"/>
                </a:solidFill>
              </a:rPr>
              <a:t>LIVER GENOMICS  ·  SINGLE-NUCLEUS RE-ANALYSIS</a:t>
            </a:r>
            <a:endParaRPr lang="en-US" sz="1500" dirty="0"/>
          </a:p>
        </p:txBody>
      </p:sp>
      <p:sp>
        <p:nvSpPr>
          <p:cNvPr id="5" name="Text 3"/>
          <p:cNvSpPr/>
          <p:nvPr/>
        </p:nvSpPr>
        <p:spPr>
          <a:xfrm>
            <a:off x="777240" y="1463040"/>
            <a:ext cx="10698480" cy="1234440"/>
          </a:xfrm>
          <a:prstGeom prst="rect">
            <a:avLst/>
          </a:prstGeom>
          <a:noFill/>
          <a:ln/>
        </p:spPr>
        <p:txBody>
          <a:bodyPr wrap="square" rtlCol="0" anchor="t"/>
          <a:lstStyle/>
          <a:p>
            <a:pPr marL="0" indent="0" algn="l">
              <a:buNone/>
            </a:pPr>
            <a:r>
              <a:rPr lang="en-US" sz="3400" b="1" dirty="0">
                <a:solidFill>
                  <a:srgbClr val="FFFFFF"/>
                </a:solidFill>
                <a:latin typeface="Georgia" pitchFamily="34" charset="0"/>
                <a:ea typeface="Georgia" pitchFamily="34" charset="-122"/>
                <a:cs typeface="Georgia" pitchFamily="34" charset="-120"/>
              </a:rPr>
              <a:t>No transcriptional de-zonation signal in matched MASLD biopsies</a:t>
            </a:r>
            <a:endParaRPr lang="en-US" sz="3400" dirty="0"/>
          </a:p>
        </p:txBody>
      </p:sp>
      <p:sp>
        <p:nvSpPr>
          <p:cNvPr id="6" name="Text 4"/>
          <p:cNvSpPr/>
          <p:nvPr/>
        </p:nvSpPr>
        <p:spPr>
          <a:xfrm>
            <a:off x="777240" y="2697480"/>
            <a:ext cx="10698480" cy="548640"/>
          </a:xfrm>
          <a:prstGeom prst="rect">
            <a:avLst/>
          </a:prstGeom>
          <a:noFill/>
          <a:ln/>
        </p:spPr>
        <p:txBody>
          <a:bodyPr wrap="square" rtlCol="0" anchor="t"/>
          <a:lstStyle/>
          <a:p>
            <a:pPr marL="0" indent="0" algn="l">
              <a:buNone/>
            </a:pPr>
            <a:r>
              <a:rPr lang="en-US" sz="2300" i="1" dirty="0">
                <a:solidFill>
                  <a:srgbClr val="9FC0C4"/>
                </a:solidFill>
                <a:latin typeface="Georgia" pitchFamily="34" charset="0"/>
                <a:ea typeface="Georgia" pitchFamily="34" charset="-122"/>
                <a:cs typeface="Georgia" pitchFamily="34" charset="-120"/>
              </a:rPr>
              <a:t>— but the pericentral detox program dims</a:t>
            </a:r>
            <a:endParaRPr lang="en-US" sz="2300" dirty="0"/>
          </a:p>
        </p:txBody>
      </p:sp>
      <p:sp>
        <p:nvSpPr>
          <p:cNvPr id="7" name="Text 5"/>
          <p:cNvSpPr/>
          <p:nvPr/>
        </p:nvSpPr>
        <p:spPr>
          <a:xfrm>
            <a:off x="777240" y="3383280"/>
            <a:ext cx="10607040" cy="457200"/>
          </a:xfrm>
          <a:prstGeom prst="rect">
            <a:avLst/>
          </a:prstGeom>
          <a:noFill/>
          <a:ln/>
        </p:spPr>
        <p:txBody>
          <a:bodyPr wrap="square" rtlCol="0" anchor="ctr"/>
          <a:lstStyle/>
          <a:p>
            <a:pPr marL="0" indent="0" algn="l">
              <a:buNone/>
            </a:pPr>
            <a:r>
              <a:rPr lang="en-US" sz="1700" i="1" dirty="0">
                <a:solidFill>
                  <a:srgbClr val="C9D6D3"/>
                </a:solidFill>
              </a:rPr>
              <a:t>A critical re-analysis of the single-nucleus RNA-seq in Gribben et al., Nature 2024 (GSE202379)</a:t>
            </a:r>
            <a:endParaRPr lang="en-US" sz="1700" dirty="0"/>
          </a:p>
        </p:txBody>
      </p:sp>
      <p:sp>
        <p:nvSpPr>
          <p:cNvPr id="8" name="Shape 6"/>
          <p:cNvSpPr/>
          <p:nvPr/>
        </p:nvSpPr>
        <p:spPr>
          <a:xfrm>
            <a:off x="777240" y="4160520"/>
            <a:ext cx="4572000" cy="0"/>
          </a:xfrm>
          <a:prstGeom prst="line">
            <a:avLst/>
          </a:prstGeom>
          <a:noFill/>
          <a:ln w="19050">
            <a:solidFill>
              <a:srgbClr val="C0561B"/>
            </a:solidFill>
            <a:prstDash val="solid"/>
          </a:ln>
        </p:spPr>
        <p:txBody>
          <a:bodyPr/>
          <a:lstStyle/>
          <a:p>
            <a:endParaRPr lang="en-US"/>
          </a:p>
        </p:txBody>
      </p:sp>
      <p:sp>
        <p:nvSpPr>
          <p:cNvPr id="9" name="Text 7"/>
          <p:cNvSpPr/>
          <p:nvPr/>
        </p:nvSpPr>
        <p:spPr>
          <a:xfrm>
            <a:off x="777240" y="4343400"/>
            <a:ext cx="10607040" cy="411480"/>
          </a:xfrm>
          <a:prstGeom prst="rect">
            <a:avLst/>
          </a:prstGeom>
          <a:noFill/>
          <a:ln/>
        </p:spPr>
        <p:txBody>
          <a:bodyPr wrap="square" rtlCol="0" anchor="ctr"/>
          <a:lstStyle/>
          <a:p>
            <a:pPr marL="0" indent="0" algn="l">
              <a:buNone/>
            </a:pPr>
            <a:r>
              <a:rPr lang="en-US" sz="2000" b="1" dirty="0">
                <a:solidFill>
                  <a:srgbClr val="EDE7DB"/>
                </a:solidFill>
              </a:rPr>
              <a:t>Roee Tekoah</a:t>
            </a:r>
            <a:r>
              <a:rPr lang="en-US" sz="2000" dirty="0">
                <a:solidFill>
                  <a:srgbClr val="7E8F8B"/>
                </a:solidFill>
              </a:rPr>
              <a:t>   ·   </a:t>
            </a:r>
            <a:r>
              <a:rPr lang="en-US" sz="2000" b="1" dirty="0">
                <a:solidFill>
                  <a:srgbClr val="EDE7DB"/>
                </a:solidFill>
              </a:rPr>
              <a:t>Shira Gelbstein</a:t>
            </a:r>
            <a:endParaRPr lang="en-US" sz="2000" dirty="0"/>
          </a:p>
        </p:txBody>
      </p:sp>
      <p:sp>
        <p:nvSpPr>
          <p:cNvPr id="10" name="Text 8"/>
          <p:cNvSpPr/>
          <p:nvPr/>
        </p:nvSpPr>
        <p:spPr>
          <a:xfrm>
            <a:off x="777240" y="4846320"/>
            <a:ext cx="10607040" cy="365760"/>
          </a:xfrm>
          <a:prstGeom prst="rect">
            <a:avLst/>
          </a:prstGeom>
          <a:noFill/>
          <a:ln/>
        </p:spPr>
        <p:txBody>
          <a:bodyPr wrap="square" rtlCol="0" anchor="ctr"/>
          <a:lstStyle/>
          <a:p>
            <a:pPr marL="0" indent="0" algn="l">
              <a:buNone/>
            </a:pPr>
            <a:r>
              <a:rPr lang="en-US" sz="1500" dirty="0">
                <a:solidFill>
                  <a:srgbClr val="9CB0AC"/>
                </a:solidFill>
              </a:rPr>
              <a:t>Computational Genomics (76553)  ·  Hebrew University of Jerusalem  ·  Hackathon</a:t>
            </a:r>
            <a:endParaRPr lang="en-US" sz="1500" dirty="0"/>
          </a:p>
        </p:txBody>
      </p:sp>
      <p:sp>
        <p:nvSpPr>
          <p:cNvPr id="11" name="Text 9"/>
          <p:cNvSpPr/>
          <p:nvPr/>
        </p:nvSpPr>
        <p:spPr>
          <a:xfrm>
            <a:off x="777240" y="5806440"/>
            <a:ext cx="10607040" cy="365760"/>
          </a:xfrm>
          <a:prstGeom prst="rect">
            <a:avLst/>
          </a:prstGeom>
          <a:noFill/>
          <a:ln/>
        </p:spPr>
        <p:txBody>
          <a:bodyPr wrap="square" rtlCol="0" anchor="ctr"/>
          <a:lstStyle/>
          <a:p>
            <a:pPr marL="0" indent="0" algn="l">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txBody>
          <a:bodyPr/>
          <a:lstStyle/>
          <a:p>
            <a:endParaRPr lang="en-US"/>
          </a:p>
        </p:txBody>
      </p:sp>
      <p:sp>
        <p:nvSpPr>
          <p:cNvPr id="7" name="Shape 5"/>
          <p:cNvSpPr/>
          <p:nvPr/>
        </p:nvSpPr>
        <p:spPr>
          <a:xfrm>
            <a:off x="914400" y="1691640"/>
            <a:ext cx="4754880" cy="502920"/>
          </a:xfrm>
          <a:prstGeom prst="rect">
            <a:avLst/>
          </a:prstGeom>
          <a:solidFill>
            <a:srgbClr val="1D4ED8"/>
          </a:solidFill>
          <a:ln/>
        </p:spPr>
        <p:txBody>
          <a:bodyPr/>
          <a:lstStyle/>
          <a:p>
            <a:endParaRPr lang="en-US"/>
          </a:p>
        </p:txBody>
      </p:sp>
      <p:sp>
        <p:nvSpPr>
          <p:cNvPr id="8" name="Text 6"/>
          <p:cNvSpPr/>
          <p:nvPr/>
        </p:nvSpPr>
        <p:spPr>
          <a:xfrm>
            <a:off x="1051560" y="1691640"/>
            <a:ext cx="4572000" cy="502920"/>
          </a:xfrm>
          <a:prstGeom prst="rect">
            <a:avLst/>
          </a:prstGeom>
          <a:noFill/>
          <a:ln/>
        </p:spPr>
        <p:txBody>
          <a:bodyPr wrap="square" rtlCol="0" anchor="ctr"/>
          <a:lstStyle/>
          <a:p>
            <a:pPr marL="0" indent="0" algn="l">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marL="0" indent="0" algn="r">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marL="0" indent="0" algn="l">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marL="0" indent="0" algn="r">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marL="0" indent="0" algn="ctr">
              <a:buNone/>
            </a:pPr>
            <a:r>
              <a:rPr lang="en-US" sz="1400" b="1" dirty="0">
                <a:solidFill>
                  <a:srgbClr val="1D4ED8"/>
                </a:solidFill>
              </a:rPr>
              <a:t>GLUL, CYP3A4, CYP2E1 </a:t>
            </a: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marL="0" indent="0" algn="ctr">
              <a:buNone/>
            </a:pPr>
            <a:r>
              <a:rPr lang="en-US" sz="1400" b="1" dirty="0">
                <a:solidFill>
                  <a:srgbClr val="EA580C"/>
                </a:solidFill>
              </a:rPr>
              <a:t>ASS1, CPS1, PCK1, HAL, ALDOB </a:t>
            </a:r>
            <a:r>
              <a:rPr lang="en-US" sz="1400" dirty="0">
                <a:solidFill>
                  <a:srgbClr val="1B2B31"/>
                </a:solidFill>
              </a:rPr>
              <a:t>— urea cycle</a:t>
            </a:r>
            <a:endParaRPr lang="en-US" sz="1400" dirty="0"/>
          </a:p>
        </p:txBody>
      </p:sp>
      <p:sp>
        <p:nvSpPr>
          <p:cNvPr id="14" name="Shape 12"/>
          <p:cNvSpPr/>
          <p:nvPr/>
        </p:nvSpPr>
        <p:spPr>
          <a:xfrm>
            <a:off x="594360" y="3200400"/>
            <a:ext cx="5486400" cy="2542032"/>
          </a:xfrm>
          <a:prstGeom prst="roundRect">
            <a:avLst>
              <a:gd name="adj" fmla="val 2878"/>
            </a:avLst>
          </a:prstGeom>
          <a:solidFill>
            <a:srgbClr val="123F47"/>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822960" y="3346704"/>
            <a:ext cx="5029200" cy="274320"/>
          </a:xfrm>
          <a:prstGeom prst="rect">
            <a:avLst/>
          </a:prstGeom>
          <a:noFill/>
          <a:ln/>
        </p:spPr>
        <p:txBody>
          <a:bodyPr wrap="square" lIns="0" tIns="0" rIns="0" bIns="0" rtlCol="0" anchor="ctr"/>
          <a:lstStyle/>
          <a:p>
            <a:pPr marL="0" indent="0" algn="l">
              <a:buNone/>
            </a:pPr>
            <a:r>
              <a:rPr lang="en-US" sz="1200" b="1" kern="0" spc="200" dirty="0">
                <a:solidFill>
                  <a:srgbClr val="9FC0C4"/>
                </a:solidFill>
              </a:rPr>
              <a:t>THE PUBLISHED CLAIM   </a:t>
            </a:r>
            <a:r>
              <a:rPr lang="en-US" sz="1100" dirty="0">
                <a:solidFill>
                  <a:srgbClr val="7E9DA0"/>
                </a:solidFill>
              </a:rPr>
              <a:t>— Gribben 2024</a:t>
            </a:r>
            <a:endParaRPr lang="en-US" sz="1200" dirty="0"/>
          </a:p>
        </p:txBody>
      </p:sp>
      <p:sp>
        <p:nvSpPr>
          <p:cNvPr id="16" name="Text 14"/>
          <p:cNvSpPr/>
          <p:nvPr/>
        </p:nvSpPr>
        <p:spPr>
          <a:xfrm>
            <a:off x="822960" y="3657600"/>
            <a:ext cx="5029200" cy="384048"/>
          </a:xfrm>
          <a:prstGeom prst="rect">
            <a:avLst/>
          </a:prstGeom>
          <a:noFill/>
          <a:ln/>
        </p:spPr>
        <p:txBody>
          <a:bodyPr wrap="square" lIns="0" tIns="0" rIns="0" bIns="0" rtlCol="0" anchor="t"/>
          <a:lstStyle/>
          <a:p>
            <a:pPr marL="0" indent="0" algn="l">
              <a:buNone/>
            </a:pPr>
            <a:r>
              <a:rPr lang="en-US" sz="1800" b="1" dirty="0">
                <a:solidFill>
                  <a:srgbClr val="FFFFFF"/>
                </a:solidFill>
                <a:latin typeface="Georgia" pitchFamily="34" charset="0"/>
                <a:ea typeface="Georgia" pitchFamily="34" charset="-122"/>
                <a:cs typeface="Georgia" pitchFamily="34" charset="-120"/>
              </a:rPr>
              <a:t>“Hepatocytes lose their zonation.”</a:t>
            </a:r>
            <a:endParaRPr lang="en-US" sz="1800" dirty="0"/>
          </a:p>
        </p:txBody>
      </p:sp>
      <p:sp>
        <p:nvSpPr>
          <p:cNvPr id="17" name="Text 15"/>
          <p:cNvSpPr/>
          <p:nvPr/>
        </p:nvSpPr>
        <p:spPr>
          <a:xfrm>
            <a:off x="1005840" y="4224528"/>
            <a:ext cx="4892040" cy="1417320"/>
          </a:xfrm>
          <a:prstGeom prst="rect">
            <a:avLst/>
          </a:prstGeom>
          <a:noFill/>
          <a:ln/>
        </p:spPr>
        <p:txBody>
          <a:bodyPr wrap="square" rtlCol="0" anchor="t"/>
          <a:lstStyle/>
          <a:p>
            <a:pPr marL="342900" indent="-342900" algn="l">
              <a:spcAft>
                <a:spcPts val="800"/>
              </a:spcAft>
              <a:buSzPct val="100000"/>
              <a:buChar char="•"/>
            </a:pPr>
            <a:r>
              <a:rPr lang="en-US" sz="1250" dirty="0">
                <a:solidFill>
                  <a:srgbClr val="D7E6E8"/>
                </a:solidFill>
              </a:rPr>
              <a:t>End-stage hepatocytes co-express pericentral + periportal markers — validated by imaging + protein.</a:t>
            </a:r>
            <a:endParaRPr lang="en-US" sz="1250" dirty="0"/>
          </a:p>
          <a:p>
            <a:pPr marL="342900" indent="-342900" algn="l">
              <a:spcAft>
                <a:spcPts val="800"/>
              </a:spcAft>
              <a:buSzPct val="100000"/>
              <a:buChar char="•"/>
            </a:pPr>
            <a:r>
              <a:rPr lang="en-US" sz="1250" dirty="0">
                <a:solidFill>
                  <a:srgbClr val="D7E6E8"/>
                </a:solidFill>
              </a:rPr>
              <a:t>Hepatocyte↔cholangiocyte transdifferentiation, “prominent in end-stage.”</a:t>
            </a:r>
            <a:endParaRPr lang="en-US" sz="1250" dirty="0"/>
          </a:p>
        </p:txBody>
      </p:sp>
      <p:sp>
        <p:nvSpPr>
          <p:cNvPr id="18" name="Shape 16"/>
          <p:cNvSpPr/>
          <p:nvPr/>
        </p:nvSpPr>
        <p:spPr>
          <a:xfrm>
            <a:off x="6263640" y="3204358"/>
            <a:ext cx="5349240" cy="2542032"/>
          </a:xfrm>
          <a:prstGeom prst="roundRect">
            <a:avLst>
              <a:gd name="adj" fmla="val 2878"/>
            </a:avLst>
          </a:prstGeom>
          <a:solidFill>
            <a:srgbClr val="FFFFFF"/>
          </a:solidFill>
          <a:ln w="19050">
            <a:solidFill>
              <a:srgbClr val="C0561B"/>
            </a:solidFill>
            <a:prstDash val="solid"/>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492240" y="3346704"/>
            <a:ext cx="4937760" cy="274320"/>
          </a:xfrm>
          <a:prstGeom prst="rect">
            <a:avLst/>
          </a:prstGeom>
          <a:noFill/>
          <a:ln/>
        </p:spPr>
        <p:txBody>
          <a:bodyPr wrap="square" lIns="0" tIns="0" rIns="0" bIns="0" rtlCol="0" anchor="ctr"/>
          <a:lstStyle/>
          <a:p>
            <a:pPr marL="0" indent="0" algn="l">
              <a:buNone/>
            </a:pPr>
            <a:r>
              <a:rPr lang="en-US" sz="1200" b="1" kern="0" spc="200" dirty="0">
                <a:solidFill>
                  <a:srgbClr val="C0561B"/>
                </a:solidFill>
              </a:rPr>
              <a:t>OUR QUESTION</a:t>
            </a:r>
            <a:endParaRPr lang="en-US" sz="1200" dirty="0"/>
          </a:p>
        </p:txBody>
      </p:sp>
      <p:sp>
        <p:nvSpPr>
          <p:cNvPr id="20" name="Text 18"/>
          <p:cNvSpPr/>
          <p:nvPr/>
        </p:nvSpPr>
        <p:spPr>
          <a:xfrm>
            <a:off x="6492240" y="3869572"/>
            <a:ext cx="4937760" cy="409501"/>
          </a:xfrm>
          <a:prstGeom prst="rect">
            <a:avLst/>
          </a:prstGeom>
          <a:noFill/>
          <a:ln/>
        </p:spPr>
        <p:txBody>
          <a:bodyPr wrap="square" lIns="0" tIns="0" rIns="0" bIns="0" rtlCol="0" anchor="t"/>
          <a:lstStyle/>
          <a:p>
            <a:pPr marL="0" indent="0" algn="l">
              <a:buNone/>
            </a:pPr>
            <a:r>
              <a:rPr lang="en-US" b="1" dirty="0">
                <a:solidFill>
                  <a:srgbClr val="1B2B31"/>
                </a:solidFill>
                <a:latin typeface="Georgia" pitchFamily="34" charset="0"/>
                <a:ea typeface="Georgia" pitchFamily="34" charset="-122"/>
                <a:cs typeface="Georgia" pitchFamily="34" charset="-120"/>
              </a:rPr>
              <a:t>Does hepatocyte zonation degrade across MASLD?</a:t>
            </a:r>
          </a:p>
        </p:txBody>
      </p:sp>
      <p:sp>
        <p:nvSpPr>
          <p:cNvPr id="21" name="Text 1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2" name="Text 2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2</a:t>
            </a:r>
            <a:endParaRPr lang="en-US" sz="1050" dirty="0"/>
          </a:p>
        </p:txBody>
      </p:sp>
      <p:sp>
        <p:nvSpPr>
          <p:cNvPr id="25" name="TextBox 24">
            <a:extLst>
              <a:ext uri="{FF2B5EF4-FFF2-40B4-BE49-F238E27FC236}">
                <a16:creationId xmlns:a16="http://schemas.microsoft.com/office/drawing/2014/main" id="{E014AE78-3B08-F8BC-CC50-CD2E0BEC7B49}"/>
              </a:ext>
            </a:extLst>
          </p:cNvPr>
          <p:cNvSpPr txBox="1"/>
          <p:nvPr/>
        </p:nvSpPr>
        <p:spPr>
          <a:xfrm>
            <a:off x="6444738" y="4550600"/>
            <a:ext cx="4817028" cy="800219"/>
          </a:xfrm>
          <a:prstGeom prst="rect">
            <a:avLst/>
          </a:prstGeom>
          <a:noFill/>
        </p:spPr>
        <p:txBody>
          <a:bodyPr wrap="square" rtlCol="0">
            <a:spAutoFit/>
          </a:bodyPr>
          <a:lstStyle/>
          <a:p>
            <a:r>
              <a:rPr lang="en-US" sz="1400" i="1" dirty="0">
                <a:solidFill>
                  <a:srgbClr val="5C6E73"/>
                </a:solidFill>
              </a:rPr>
              <a:t>— and is it linked to the hepatocyte → cholangiocyte transdifferentiation they describe?</a:t>
            </a:r>
          </a:p>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The catch</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our first approach is misleading — and the tissue itself is confounded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FIRST APPROACH</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1: A relative ruler — and what it hides</a:t>
            </a:r>
            <a:endParaRPr lang="en-US" sz="2800" dirty="0"/>
          </a:p>
        </p:txBody>
      </p:sp>
      <p:sp>
        <p:nvSpPr>
          <p:cNvPr id="6" name="Text 4"/>
          <p:cNvSpPr/>
          <p:nvPr/>
        </p:nvSpPr>
        <p:spPr>
          <a:xfrm>
            <a:off x="640080" y="164592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OLD RULER</a:t>
            </a:r>
            <a:endParaRPr lang="en-US" sz="1300" dirty="0"/>
          </a:p>
        </p:txBody>
      </p:sp>
      <p:sp>
        <p:nvSpPr>
          <p:cNvPr id="7" name="Text 5"/>
          <p:cNvSpPr/>
          <p:nvPr/>
        </p:nvSpPr>
        <p:spPr>
          <a:xfrm>
            <a:off x="640080" y="1965960"/>
            <a:ext cx="5486400" cy="822960"/>
          </a:xfrm>
          <a:prstGeom prst="rect">
            <a:avLst/>
          </a:prstGeom>
          <a:noFill/>
          <a:ln/>
        </p:spPr>
        <p:txBody>
          <a:bodyPr wrap="square" rtlCol="0" anchor="t"/>
          <a:lstStyle/>
          <a:p>
            <a:pPr marL="0" indent="0" algn="l">
              <a:buNone/>
            </a:pPr>
            <a:r>
              <a:rPr lang="en-US" sz="1500" dirty="0">
                <a:solidFill>
                  <a:srgbClr val="1B2B31"/>
                </a:solidFill>
              </a:rPr>
              <a:t>We first read it with a </a:t>
            </a:r>
            <a:r>
              <a:rPr lang="en-US" sz="1500" b="1" dirty="0">
                <a:solidFill>
                  <a:srgbClr val="1B2B31"/>
                </a:solidFill>
              </a:rPr>
              <a:t>z-scored zonation coordinate and marker–marker correlations</a:t>
            </a:r>
            <a:r>
              <a:rPr lang="en-US" sz="1500" dirty="0">
                <a:solidFill>
                  <a:srgbClr val="1B2B31"/>
                </a:solidFill>
              </a:rPr>
              <a:t>, pooled across all samples.</a:t>
            </a:r>
            <a:endParaRPr lang="en-US" sz="1500" dirty="0"/>
          </a:p>
        </p:txBody>
      </p:sp>
      <p:grpSp>
        <p:nvGrpSpPr>
          <p:cNvPr id="31" name="Group 30">
            <a:extLst>
              <a:ext uri="{FF2B5EF4-FFF2-40B4-BE49-F238E27FC236}">
                <a16:creationId xmlns:a16="http://schemas.microsoft.com/office/drawing/2014/main" id="{23EE8713-5802-FE3D-1D4B-87055E9D6E3E}"/>
              </a:ext>
            </a:extLst>
          </p:cNvPr>
          <p:cNvGrpSpPr/>
          <p:nvPr/>
        </p:nvGrpSpPr>
        <p:grpSpPr>
          <a:xfrm>
            <a:off x="640080" y="2788920"/>
            <a:ext cx="5486400" cy="1508760"/>
            <a:chOff x="640080" y="3154680"/>
            <a:chExt cx="5486400" cy="1508760"/>
          </a:xfrm>
        </p:grpSpPr>
        <p:sp>
          <p:nvSpPr>
            <p:cNvPr id="8" name="Shape 6"/>
            <p:cNvSpPr/>
            <p:nvPr/>
          </p:nvSpPr>
          <p:spPr>
            <a:xfrm>
              <a:off x="640080" y="3154680"/>
              <a:ext cx="5486400" cy="1508760"/>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9" name="Text 7"/>
            <p:cNvSpPr/>
            <p:nvPr/>
          </p:nvSpPr>
          <p:spPr>
            <a:xfrm>
              <a:off x="841248" y="3291840"/>
              <a:ext cx="5120640" cy="274320"/>
            </a:xfrm>
            <a:prstGeom prst="rect">
              <a:avLst/>
            </a:prstGeom>
            <a:noFill/>
            <a:ln/>
          </p:spPr>
          <p:txBody>
            <a:bodyPr wrap="square" rtlCol="0" anchor="ctr"/>
            <a:lstStyle/>
            <a:p>
              <a:pPr marL="0" indent="0" algn="l">
                <a:buNone/>
              </a:pPr>
              <a:r>
                <a:rPr lang="en-US" sz="1200" b="1" kern="0" spc="200" dirty="0">
                  <a:solidFill>
                    <a:srgbClr val="BE123C"/>
                  </a:solidFill>
                </a:rPr>
                <a:t>WHAT IT SHOWED</a:t>
              </a:r>
              <a:endParaRPr lang="en-US" sz="1200" dirty="0"/>
            </a:p>
          </p:txBody>
        </p:sp>
        <p:sp>
          <p:nvSpPr>
            <p:cNvPr id="10" name="Text 8"/>
            <p:cNvSpPr/>
            <p:nvPr/>
          </p:nvSpPr>
          <p:spPr>
            <a:xfrm>
              <a:off x="841248" y="3611880"/>
              <a:ext cx="5120640" cy="960120"/>
            </a:xfrm>
            <a:prstGeom prst="rect">
              <a:avLst/>
            </a:prstGeom>
            <a:noFill/>
            <a:ln/>
          </p:spPr>
          <p:txBody>
            <a:bodyPr wrap="square" rtlCol="0" anchor="t"/>
            <a:lstStyle/>
            <a:p>
              <a:pPr marL="0" indent="0" algn="l">
                <a:buNone/>
              </a:pPr>
              <a:r>
                <a:rPr lang="en-US" sz="1500" b="1" i="1" dirty="0">
                  <a:solidFill>
                    <a:srgbClr val="123F47"/>
                  </a:solidFill>
                </a:rPr>
                <a:t>“Hepatocytes lose their zonation; the pericentral program turns off, strongest at end-stage.”</a:t>
              </a:r>
              <a:endParaRPr lang="en-US" sz="1500" dirty="0"/>
            </a:p>
          </p:txBody>
        </p:sp>
      </p:grpSp>
      <p:sp>
        <p:nvSpPr>
          <p:cNvPr id="12" name="Text 10"/>
          <p:cNvSpPr/>
          <p:nvPr/>
        </p:nvSpPr>
        <p:spPr>
          <a:xfrm>
            <a:off x="6400800" y="1645920"/>
            <a:ext cx="5394960" cy="274320"/>
          </a:xfrm>
          <a:prstGeom prst="rect">
            <a:avLst/>
          </a:prstGeom>
          <a:noFill/>
          <a:ln/>
        </p:spPr>
        <p:txBody>
          <a:bodyPr wrap="square" rtlCol="0" anchor="ctr"/>
          <a:lstStyle/>
          <a:p>
            <a:pPr marL="0" indent="0" algn="l">
              <a:buNone/>
            </a:pPr>
            <a:r>
              <a:rPr lang="en-US" sz="1300" b="1" kern="0" spc="200" dirty="0">
                <a:solidFill>
                  <a:srgbClr val="C0561B"/>
                </a:solidFill>
              </a:rPr>
              <a:t>THE TRAP</a:t>
            </a:r>
            <a:endParaRPr lang="en-US" sz="1300" dirty="0"/>
          </a:p>
        </p:txBody>
      </p:sp>
      <p:grpSp>
        <p:nvGrpSpPr>
          <p:cNvPr id="30" name="Group 29">
            <a:extLst>
              <a:ext uri="{FF2B5EF4-FFF2-40B4-BE49-F238E27FC236}">
                <a16:creationId xmlns:a16="http://schemas.microsoft.com/office/drawing/2014/main" id="{15BA91B8-74A2-1534-4FC4-C5719C25F92A}"/>
              </a:ext>
            </a:extLst>
          </p:cNvPr>
          <p:cNvGrpSpPr/>
          <p:nvPr/>
        </p:nvGrpSpPr>
        <p:grpSpPr>
          <a:xfrm>
            <a:off x="6397851" y="2203704"/>
            <a:ext cx="5394960" cy="914400"/>
            <a:chOff x="6400800" y="2057400"/>
            <a:chExt cx="5394960" cy="914400"/>
          </a:xfrm>
        </p:grpSpPr>
        <p:sp>
          <p:nvSpPr>
            <p:cNvPr id="13" name="Shape 11"/>
            <p:cNvSpPr/>
            <p:nvPr/>
          </p:nvSpPr>
          <p:spPr>
            <a:xfrm>
              <a:off x="6400800" y="2057400"/>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4" name="Shape 12"/>
            <p:cNvSpPr/>
            <p:nvPr/>
          </p:nvSpPr>
          <p:spPr>
            <a:xfrm>
              <a:off x="6400800" y="2057400"/>
              <a:ext cx="91440" cy="914400"/>
            </a:xfrm>
            <a:prstGeom prst="rect">
              <a:avLst/>
            </a:prstGeom>
            <a:solidFill>
              <a:srgbClr val="BE123C"/>
            </a:solidFill>
            <a:ln/>
          </p:spPr>
          <p:txBody>
            <a:bodyPr/>
            <a:lstStyle/>
            <a:p>
              <a:endParaRPr lang="en-US"/>
            </a:p>
          </p:txBody>
        </p:sp>
        <p:sp>
          <p:nvSpPr>
            <p:cNvPr id="15" name="Text 13"/>
            <p:cNvSpPr/>
            <p:nvPr/>
          </p:nvSpPr>
          <p:spPr>
            <a:xfrm>
              <a:off x="6693408" y="2185416"/>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Hides who moved</a:t>
              </a:r>
              <a:endParaRPr lang="en-US" sz="1600" dirty="0"/>
            </a:p>
          </p:txBody>
        </p:sp>
        <p:sp>
          <p:nvSpPr>
            <p:cNvPr id="16" name="Text 14"/>
            <p:cNvSpPr/>
            <p:nvPr/>
          </p:nvSpPr>
          <p:spPr>
            <a:xfrm>
              <a:off x="6693408" y="2532888"/>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no counts — which cells? how many? and from where?</a:t>
              </a:r>
              <a:endParaRPr lang="en-US" sz="1250" dirty="0"/>
            </a:p>
          </p:txBody>
        </p:sp>
      </p:grpSp>
      <p:grpSp>
        <p:nvGrpSpPr>
          <p:cNvPr id="29" name="Group 28">
            <a:extLst>
              <a:ext uri="{FF2B5EF4-FFF2-40B4-BE49-F238E27FC236}">
                <a16:creationId xmlns:a16="http://schemas.microsoft.com/office/drawing/2014/main" id="{3E5A446B-0F68-FE6B-3A02-176B78D5B648}"/>
              </a:ext>
            </a:extLst>
          </p:cNvPr>
          <p:cNvGrpSpPr/>
          <p:nvPr/>
        </p:nvGrpSpPr>
        <p:grpSpPr>
          <a:xfrm>
            <a:off x="6397851" y="3319272"/>
            <a:ext cx="5394960" cy="914400"/>
            <a:chOff x="6400800" y="4105656"/>
            <a:chExt cx="5394960" cy="914400"/>
          </a:xfrm>
        </p:grpSpPr>
        <p:sp>
          <p:nvSpPr>
            <p:cNvPr id="21" name="Shape 19"/>
            <p:cNvSpPr/>
            <p:nvPr/>
          </p:nvSpPr>
          <p:spPr>
            <a:xfrm>
              <a:off x="6400800" y="4105656"/>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2" name="Shape 20"/>
            <p:cNvSpPr/>
            <p:nvPr/>
          </p:nvSpPr>
          <p:spPr>
            <a:xfrm>
              <a:off x="6400800" y="4105656"/>
              <a:ext cx="91440" cy="914400"/>
            </a:xfrm>
            <a:prstGeom prst="rect">
              <a:avLst/>
            </a:prstGeom>
            <a:solidFill>
              <a:srgbClr val="BE123C"/>
            </a:solidFill>
            <a:ln/>
          </p:spPr>
          <p:txBody>
            <a:bodyPr/>
            <a:lstStyle/>
            <a:p>
              <a:endParaRPr lang="en-US"/>
            </a:p>
          </p:txBody>
        </p:sp>
        <p:sp>
          <p:nvSpPr>
            <p:cNvPr id="23" name="Text 21"/>
            <p:cNvSpPr/>
            <p:nvPr/>
          </p:nvSpPr>
          <p:spPr>
            <a:xfrm>
              <a:off x="6693408" y="4233672"/>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Bent by artifacts</a:t>
              </a:r>
              <a:endParaRPr lang="en-US" sz="1600" dirty="0"/>
            </a:p>
          </p:txBody>
        </p:sp>
        <p:sp>
          <p:nvSpPr>
            <p:cNvPr id="24" name="Text 22"/>
            <p:cNvSpPr/>
            <p:nvPr/>
          </p:nvSpPr>
          <p:spPr>
            <a:xfrm>
              <a:off x="6693408" y="4581144"/>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depth, cell number and tissue source all tilt a z-score or correlation.</a:t>
              </a:r>
              <a:endParaRPr lang="en-US" sz="1250" dirty="0"/>
            </a:p>
          </p:txBody>
        </p:sp>
      </p:grpSp>
      <p:grpSp>
        <p:nvGrpSpPr>
          <p:cNvPr id="32" name="Group 31">
            <a:extLst>
              <a:ext uri="{FF2B5EF4-FFF2-40B4-BE49-F238E27FC236}">
                <a16:creationId xmlns:a16="http://schemas.microsoft.com/office/drawing/2014/main" id="{35DA6B8E-5692-068B-77D0-7F39011044DA}"/>
              </a:ext>
            </a:extLst>
          </p:cNvPr>
          <p:cNvGrpSpPr/>
          <p:nvPr/>
        </p:nvGrpSpPr>
        <p:grpSpPr>
          <a:xfrm>
            <a:off x="3008416" y="5056632"/>
            <a:ext cx="5394960" cy="896112"/>
            <a:chOff x="6400800" y="5157216"/>
            <a:chExt cx="5394960" cy="566928"/>
          </a:xfrm>
        </p:grpSpPr>
        <p:sp>
          <p:nvSpPr>
            <p:cNvPr id="25" name="Shape 23"/>
            <p:cNvSpPr/>
            <p:nvPr/>
          </p:nvSpPr>
          <p:spPr>
            <a:xfrm>
              <a:off x="6400800" y="5157216"/>
              <a:ext cx="5394960" cy="566928"/>
            </a:xfrm>
            <a:prstGeom prst="roundRect">
              <a:avLst>
                <a:gd name="adj" fmla="val 9677"/>
              </a:avLst>
            </a:prstGeom>
            <a:solidFill>
              <a:srgbClr val="E7F0EE"/>
            </a:solidFill>
            <a:ln w="12700">
              <a:solidFill>
                <a:srgbClr val="1B6E78"/>
              </a:solidFill>
              <a:prstDash val="solid"/>
            </a:ln>
          </p:spPr>
          <p:txBody>
            <a:bodyPr/>
            <a:lstStyle/>
            <a:p>
              <a:endParaRPr lang="en-US"/>
            </a:p>
          </p:txBody>
        </p:sp>
        <p:sp>
          <p:nvSpPr>
            <p:cNvPr id="26" name="Text 24"/>
            <p:cNvSpPr/>
            <p:nvPr/>
          </p:nvSpPr>
          <p:spPr>
            <a:xfrm>
              <a:off x="6400800" y="5157216"/>
              <a:ext cx="5394960" cy="566928"/>
            </a:xfrm>
            <a:prstGeom prst="rect">
              <a:avLst/>
            </a:prstGeom>
            <a:noFill/>
            <a:ln/>
          </p:spPr>
          <p:txBody>
            <a:bodyPr wrap="square" rtlCol="0" anchor="ctr"/>
            <a:lstStyle/>
            <a:p>
              <a:pPr marL="0" indent="0" algn="ctr">
                <a:buNone/>
              </a:pPr>
              <a:r>
                <a:rPr lang="en-US" b="1" dirty="0">
                  <a:solidFill>
                    <a:srgbClr val="123F47"/>
                  </a:solidFill>
                </a:rPr>
                <a:t>→ so we count molecules instead.</a:t>
              </a:r>
            </a:p>
            <a:p>
              <a:pPr algn="ctr"/>
              <a:r>
                <a:rPr lang="en-US" i="1" dirty="0">
                  <a:solidFill>
                    <a:srgbClr val="5C6E73"/>
                  </a:solidFill>
                </a:rPr>
                <a:t>Pivoting back to the paper’s </a:t>
              </a:r>
              <a:r>
                <a:rPr lang="en-US" b="1" i="1" dirty="0">
                  <a:solidFill>
                    <a:srgbClr val="5C6E73"/>
                  </a:solidFill>
                </a:rPr>
                <a:t>raw data.</a:t>
              </a:r>
              <a:endParaRPr lang="en-US" dirty="0"/>
            </a:p>
          </p:txBody>
        </p:sp>
      </p:grpSp>
      <p:sp>
        <p:nvSpPr>
          <p:cNvPr id="27" name="Text 2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8" name="Text 2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TISSUE — A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2: Stage is entangled with tissue procurement </a:t>
            </a:r>
            <a:endParaRPr lang="en-US" sz="2800" dirty="0"/>
          </a:p>
        </p:txBody>
      </p:sp>
      <p:sp>
        <p:nvSpPr>
          <p:cNvPr id="6" name="Text 4"/>
          <p:cNvSpPr/>
          <p:nvPr/>
        </p:nvSpPr>
        <p:spPr>
          <a:xfrm>
            <a:off x="548640" y="1371600"/>
            <a:ext cx="11247120" cy="292608"/>
          </a:xfrm>
          <a:prstGeom prst="rect">
            <a:avLst/>
          </a:prstGeom>
          <a:noFill/>
          <a:ln/>
        </p:spPr>
        <p:txBody>
          <a:bodyPr wrap="square" rtlCol="0" anchor="ctr"/>
          <a:lstStyle/>
          <a:p>
            <a:r>
              <a:rPr lang="en-US" sz="1450" b="1" dirty="0">
                <a:solidFill>
                  <a:srgbClr val="BE123C"/>
                </a:solidFill>
              </a:rPr>
              <a:t>①  The two extremities are rouge  - acquisition isn’t needle biopsy </a:t>
            </a:r>
            <a:endParaRPr lang="en-US" sz="1450" dirty="0"/>
          </a:p>
        </p:txBody>
      </p:sp>
      <p:sp>
        <p:nvSpPr>
          <p:cNvPr id="7" name="Shape 5"/>
          <p:cNvSpPr/>
          <p:nvPr/>
        </p:nvSpPr>
        <p:spPr>
          <a:xfrm>
            <a:off x="914400" y="1874520"/>
            <a:ext cx="9235440" cy="0"/>
          </a:xfrm>
          <a:prstGeom prst="line">
            <a:avLst/>
          </a:prstGeom>
          <a:noFill/>
          <a:ln w="19050">
            <a:solidFill>
              <a:srgbClr val="5C6E73"/>
            </a:solidFill>
            <a:prstDash val="solid"/>
            <a:tailEnd type="triangle"/>
          </a:ln>
        </p:spPr>
        <p:txBody>
          <a:bodyPr/>
          <a:lstStyle/>
          <a:p>
            <a:endParaRPr lang="en-US"/>
          </a:p>
        </p:txBody>
      </p:sp>
      <p:sp>
        <p:nvSpPr>
          <p:cNvPr id="8" name="Shape 6"/>
          <p:cNvSpPr/>
          <p:nvPr/>
        </p:nvSpPr>
        <p:spPr>
          <a:xfrm>
            <a:off x="914400" y="1993392"/>
            <a:ext cx="1234440" cy="512064"/>
          </a:xfrm>
          <a:prstGeom prst="roundRect">
            <a:avLst>
              <a:gd name="adj" fmla="val 10714"/>
            </a:avLst>
          </a:prstGeom>
          <a:solidFill>
            <a:srgbClr val="BE123C"/>
          </a:solidFill>
          <a:ln/>
          <a:effectLst>
            <a:outerShdw blurRad="88900" dist="38100" dir="5400000" algn="bl" rotWithShape="0">
              <a:srgbClr val="000000">
                <a:alpha val="12000"/>
              </a:srgbClr>
            </a:outerShdw>
          </a:effectLst>
        </p:spPr>
        <p:txBody>
          <a:bodyPr/>
          <a:lstStyle/>
          <a:p>
            <a:endParaRPr lang="en-US"/>
          </a:p>
        </p:txBody>
      </p:sp>
      <p:sp>
        <p:nvSpPr>
          <p:cNvPr id="9" name="Text 7"/>
          <p:cNvSpPr/>
          <p:nvPr/>
        </p:nvSpPr>
        <p:spPr>
          <a:xfrm>
            <a:off x="914400" y="1993392"/>
            <a:ext cx="1234440" cy="512064"/>
          </a:xfrm>
          <a:prstGeom prst="rect">
            <a:avLst/>
          </a:prstGeom>
          <a:noFill/>
          <a:ln/>
        </p:spPr>
        <p:txBody>
          <a:bodyPr wrap="square" rtlCol="0" anchor="ctr"/>
          <a:lstStyle/>
          <a:p>
            <a:pPr marL="0" indent="0" algn="ctr">
              <a:buNone/>
            </a:pPr>
            <a:r>
              <a:rPr lang="en-US" sz="1300" b="1" dirty="0">
                <a:solidFill>
                  <a:srgbClr val="FFFFFF"/>
                </a:solidFill>
              </a:rPr>
              <a:t>Healthy</a:t>
            </a:r>
            <a:endParaRPr lang="en-US" sz="1300" dirty="0"/>
          </a:p>
        </p:txBody>
      </p:sp>
      <p:sp>
        <p:nvSpPr>
          <p:cNvPr id="10" name="Shape 8"/>
          <p:cNvSpPr/>
          <p:nvPr/>
        </p:nvSpPr>
        <p:spPr>
          <a:xfrm>
            <a:off x="246888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2468880" y="1993392"/>
            <a:ext cx="1005840" cy="512064"/>
          </a:xfrm>
          <a:prstGeom prst="rect">
            <a:avLst/>
          </a:prstGeom>
          <a:noFill/>
          <a:ln/>
        </p:spPr>
        <p:txBody>
          <a:bodyPr wrap="square" rtlCol="0" anchor="ctr"/>
          <a:lstStyle/>
          <a:p>
            <a:pPr marL="0" indent="0" algn="ctr">
              <a:buNone/>
            </a:pPr>
            <a:r>
              <a:rPr lang="en-US" sz="1300" b="1" dirty="0">
                <a:solidFill>
                  <a:srgbClr val="FFFFFF"/>
                </a:solidFill>
              </a:rPr>
              <a:t>F0</a:t>
            </a:r>
            <a:endParaRPr lang="en-US" sz="1300" dirty="0"/>
          </a:p>
        </p:txBody>
      </p:sp>
      <p:sp>
        <p:nvSpPr>
          <p:cNvPr id="12" name="Shape 10"/>
          <p:cNvSpPr/>
          <p:nvPr/>
        </p:nvSpPr>
        <p:spPr>
          <a:xfrm>
            <a:off x="356616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3" name="Text 11"/>
          <p:cNvSpPr/>
          <p:nvPr/>
        </p:nvSpPr>
        <p:spPr>
          <a:xfrm>
            <a:off x="3566160" y="1993392"/>
            <a:ext cx="1005840" cy="512064"/>
          </a:xfrm>
          <a:prstGeom prst="rect">
            <a:avLst/>
          </a:prstGeom>
          <a:noFill/>
          <a:ln/>
        </p:spPr>
        <p:txBody>
          <a:bodyPr wrap="square" rtlCol="0" anchor="ctr"/>
          <a:lstStyle/>
          <a:p>
            <a:pPr marL="0" indent="0" algn="ctr">
              <a:buNone/>
            </a:pPr>
            <a:r>
              <a:rPr lang="en-US" sz="1300" b="1" dirty="0">
                <a:solidFill>
                  <a:srgbClr val="FFFFFF"/>
                </a:solidFill>
              </a:rPr>
              <a:t>F1</a:t>
            </a:r>
            <a:endParaRPr lang="en-US" sz="1300" dirty="0"/>
          </a:p>
        </p:txBody>
      </p:sp>
      <p:sp>
        <p:nvSpPr>
          <p:cNvPr id="14" name="Shape 12"/>
          <p:cNvSpPr/>
          <p:nvPr/>
        </p:nvSpPr>
        <p:spPr>
          <a:xfrm>
            <a:off x="466344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4663440" y="1993392"/>
            <a:ext cx="1005840" cy="512064"/>
          </a:xfrm>
          <a:prstGeom prst="rect">
            <a:avLst/>
          </a:prstGeom>
          <a:noFill/>
          <a:ln/>
        </p:spPr>
        <p:txBody>
          <a:bodyPr wrap="square" rtlCol="0" anchor="ctr"/>
          <a:lstStyle/>
          <a:p>
            <a:pPr marL="0" indent="0" algn="ctr">
              <a:buNone/>
            </a:pPr>
            <a:r>
              <a:rPr lang="en-US" sz="1300" b="1" dirty="0">
                <a:solidFill>
                  <a:srgbClr val="FFFFFF"/>
                </a:solidFill>
              </a:rPr>
              <a:t>F2</a:t>
            </a:r>
            <a:endParaRPr lang="en-US" sz="1300" dirty="0"/>
          </a:p>
        </p:txBody>
      </p:sp>
      <p:sp>
        <p:nvSpPr>
          <p:cNvPr id="16" name="Shape 14"/>
          <p:cNvSpPr/>
          <p:nvPr/>
        </p:nvSpPr>
        <p:spPr>
          <a:xfrm>
            <a:off x="576072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7" name="Text 15"/>
          <p:cNvSpPr/>
          <p:nvPr/>
        </p:nvSpPr>
        <p:spPr>
          <a:xfrm>
            <a:off x="5760720" y="1993392"/>
            <a:ext cx="1005840" cy="512064"/>
          </a:xfrm>
          <a:prstGeom prst="rect">
            <a:avLst/>
          </a:prstGeom>
          <a:noFill/>
          <a:ln/>
        </p:spPr>
        <p:txBody>
          <a:bodyPr wrap="square" rtlCol="0" anchor="ctr"/>
          <a:lstStyle/>
          <a:p>
            <a:pPr marL="0" indent="0" algn="ctr">
              <a:buNone/>
            </a:pPr>
            <a:r>
              <a:rPr lang="en-US" sz="1300" b="1" dirty="0">
                <a:solidFill>
                  <a:srgbClr val="FFFFFF"/>
                </a:solidFill>
              </a:rPr>
              <a:t>F3</a:t>
            </a:r>
            <a:endParaRPr lang="en-US" sz="1300" dirty="0"/>
          </a:p>
        </p:txBody>
      </p:sp>
      <p:sp>
        <p:nvSpPr>
          <p:cNvPr id="18" name="Shape 16"/>
          <p:cNvSpPr/>
          <p:nvPr/>
        </p:nvSpPr>
        <p:spPr>
          <a:xfrm>
            <a:off x="685800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858000" y="1993392"/>
            <a:ext cx="1005840" cy="512064"/>
          </a:xfrm>
          <a:prstGeom prst="rect">
            <a:avLst/>
          </a:prstGeom>
          <a:noFill/>
          <a:ln/>
        </p:spPr>
        <p:txBody>
          <a:bodyPr wrap="square" rtlCol="0" anchor="ctr"/>
          <a:lstStyle/>
          <a:p>
            <a:pPr marL="0" indent="0" algn="ctr">
              <a:buNone/>
            </a:pPr>
            <a:r>
              <a:rPr lang="en-US" sz="1300" b="1" dirty="0">
                <a:solidFill>
                  <a:srgbClr val="FFFFFF"/>
                </a:solidFill>
              </a:rPr>
              <a:t>F4</a:t>
            </a:r>
            <a:endParaRPr lang="en-US" sz="1300" dirty="0"/>
          </a:p>
        </p:txBody>
      </p:sp>
      <p:sp>
        <p:nvSpPr>
          <p:cNvPr id="20" name="Shape 18"/>
          <p:cNvSpPr/>
          <p:nvPr/>
        </p:nvSpPr>
        <p:spPr>
          <a:xfrm>
            <a:off x="8229600" y="1993392"/>
            <a:ext cx="1920240" cy="512064"/>
          </a:xfrm>
          <a:prstGeom prst="roundRect">
            <a:avLst>
              <a:gd name="adj" fmla="val 10714"/>
            </a:avLst>
          </a:prstGeom>
          <a:solidFill>
            <a:srgbClr val="86198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8229600" y="1993392"/>
            <a:ext cx="1920240" cy="512064"/>
          </a:xfrm>
          <a:prstGeom prst="rect">
            <a:avLst/>
          </a:prstGeom>
          <a:noFill/>
          <a:ln/>
        </p:spPr>
        <p:txBody>
          <a:bodyPr wrap="square" rtlCol="0" anchor="ctr"/>
          <a:lstStyle/>
          <a:p>
            <a:pPr marL="0" indent="0" algn="ctr">
              <a:buNone/>
            </a:pPr>
            <a:r>
              <a:rPr lang="en-US" sz="1300" b="1" dirty="0">
                <a:solidFill>
                  <a:srgbClr val="FFFFFF"/>
                </a:solidFill>
              </a:rPr>
              <a:t>End-stage</a:t>
            </a:r>
            <a:endParaRPr lang="en-US" sz="1300" dirty="0"/>
          </a:p>
        </p:txBody>
      </p:sp>
      <p:sp>
        <p:nvSpPr>
          <p:cNvPr id="22" name="Shape 20"/>
          <p:cNvSpPr/>
          <p:nvPr/>
        </p:nvSpPr>
        <p:spPr>
          <a:xfrm>
            <a:off x="850392" y="1938528"/>
            <a:ext cx="1362456" cy="877824"/>
          </a:xfrm>
          <a:prstGeom prst="rect">
            <a:avLst/>
          </a:prstGeom>
          <a:ln w="22860">
            <a:solidFill>
              <a:srgbClr val="BE123C"/>
            </a:solidFill>
            <a:prstDash val="dash"/>
          </a:ln>
        </p:spPr>
        <p:txBody>
          <a:bodyPr/>
          <a:lstStyle/>
          <a:p>
            <a:endParaRPr lang="en-US"/>
          </a:p>
        </p:txBody>
      </p:sp>
      <p:sp>
        <p:nvSpPr>
          <p:cNvPr id="23" name="Shape 21"/>
          <p:cNvSpPr/>
          <p:nvPr/>
        </p:nvSpPr>
        <p:spPr>
          <a:xfrm>
            <a:off x="8156448" y="1938528"/>
            <a:ext cx="2066544" cy="877824"/>
          </a:xfrm>
          <a:prstGeom prst="rect">
            <a:avLst/>
          </a:prstGeom>
          <a:ln w="22860">
            <a:solidFill>
              <a:srgbClr val="BE123C"/>
            </a:solidFill>
            <a:prstDash val="dash"/>
          </a:ln>
        </p:spPr>
        <p:txBody>
          <a:bodyPr/>
          <a:lstStyle/>
          <a:p>
            <a:endParaRPr lang="en-US"/>
          </a:p>
        </p:txBody>
      </p:sp>
      <p:sp>
        <p:nvSpPr>
          <p:cNvPr id="24" name="Text 22"/>
          <p:cNvSpPr/>
          <p:nvPr/>
        </p:nvSpPr>
        <p:spPr>
          <a:xfrm>
            <a:off x="502920" y="2560320"/>
            <a:ext cx="2103120" cy="228600"/>
          </a:xfrm>
          <a:prstGeom prst="rect">
            <a:avLst/>
          </a:prstGeom>
          <a:noFill/>
          <a:ln/>
        </p:spPr>
        <p:txBody>
          <a:bodyPr wrap="square" rtlCol="0" anchor="ctr"/>
          <a:lstStyle/>
          <a:p>
            <a:pPr marL="0" indent="0" algn="ctr">
              <a:buNone/>
            </a:pPr>
            <a:r>
              <a:rPr lang="en-US" sz="1100" dirty="0">
                <a:solidFill>
                  <a:srgbClr val="BE123C"/>
                </a:solidFill>
              </a:rPr>
              <a:t>deceased-donor</a:t>
            </a:r>
            <a:endParaRPr lang="en-US" sz="1100" dirty="0"/>
          </a:p>
        </p:txBody>
      </p:sp>
      <p:sp>
        <p:nvSpPr>
          <p:cNvPr id="25" name="Text 23"/>
          <p:cNvSpPr/>
          <p:nvPr/>
        </p:nvSpPr>
        <p:spPr>
          <a:xfrm>
            <a:off x="2468880" y="2560320"/>
            <a:ext cx="5029200" cy="228600"/>
          </a:xfrm>
          <a:prstGeom prst="rect">
            <a:avLst/>
          </a:prstGeom>
          <a:noFill/>
          <a:ln/>
        </p:spPr>
        <p:txBody>
          <a:bodyPr wrap="square" rtlCol="0" anchor="ctr"/>
          <a:lstStyle/>
          <a:p>
            <a:pPr marL="0" indent="0" algn="ctr">
              <a:buNone/>
            </a:pPr>
            <a:r>
              <a:rPr lang="en-US" sz="1200" b="1" dirty="0">
                <a:solidFill>
                  <a:srgbClr val="0D9488"/>
                </a:solidFill>
              </a:rPr>
              <a:t>16-gauge needle biopsies</a:t>
            </a:r>
            <a:endParaRPr lang="en-US" sz="1200" dirty="0"/>
          </a:p>
        </p:txBody>
      </p:sp>
      <p:sp>
        <p:nvSpPr>
          <p:cNvPr id="26" name="Text 24"/>
          <p:cNvSpPr/>
          <p:nvPr/>
        </p:nvSpPr>
        <p:spPr>
          <a:xfrm>
            <a:off x="8156448" y="2560320"/>
            <a:ext cx="2066544" cy="228600"/>
          </a:xfrm>
          <a:prstGeom prst="rect">
            <a:avLst/>
          </a:prstGeom>
          <a:noFill/>
          <a:ln/>
        </p:spPr>
        <p:txBody>
          <a:bodyPr wrap="square" rtlCol="0" anchor="ctr"/>
          <a:lstStyle/>
          <a:p>
            <a:pPr marL="0" indent="0" algn="ctr">
              <a:buNone/>
            </a:pPr>
            <a:r>
              <a:rPr lang="en-US" sz="1100" dirty="0">
                <a:solidFill>
                  <a:srgbClr val="86198F"/>
                </a:solidFill>
              </a:rPr>
              <a:t>explants</a:t>
            </a:r>
            <a:endParaRPr lang="en-US" sz="1100" dirty="0"/>
          </a:p>
        </p:txBody>
      </p:sp>
      <p:sp>
        <p:nvSpPr>
          <p:cNvPr id="27" name="Text 25"/>
          <p:cNvSpPr/>
          <p:nvPr/>
        </p:nvSpPr>
        <p:spPr>
          <a:xfrm>
            <a:off x="914400" y="2969618"/>
            <a:ext cx="10241280" cy="320040"/>
          </a:xfrm>
          <a:prstGeom prst="rect">
            <a:avLst/>
          </a:prstGeom>
          <a:noFill/>
          <a:ln/>
        </p:spPr>
        <p:txBody>
          <a:bodyPr wrap="square" rtlCol="0" anchor="ctr"/>
          <a:lstStyle/>
          <a:p>
            <a:pPr marL="0" indent="0" algn="ctr">
              <a:buNone/>
            </a:pPr>
            <a:r>
              <a:rPr lang="en-US" sz="1350" dirty="0">
                <a:solidFill>
                  <a:srgbClr val="1B2B31"/>
                </a:solidFill>
              </a:rPr>
              <a:t>The ends aren’t acquisition-matched to the biopsies (2/8/12/12/4) → </a:t>
            </a:r>
            <a:r>
              <a:rPr lang="en-US" sz="1350" b="1" dirty="0">
                <a:solidFill>
                  <a:srgbClr val="0D9488"/>
                </a:solidFill>
              </a:rPr>
              <a:t>we use biopsy-only F1–F4.</a:t>
            </a:r>
            <a:endParaRPr lang="en-US" sz="1350" dirty="0"/>
          </a:p>
        </p:txBody>
      </p:sp>
      <p:sp>
        <p:nvSpPr>
          <p:cNvPr id="28" name="Text 26"/>
          <p:cNvSpPr/>
          <p:nvPr/>
        </p:nvSpPr>
        <p:spPr>
          <a:xfrm>
            <a:off x="548640" y="3456432"/>
            <a:ext cx="11247120" cy="292608"/>
          </a:xfrm>
          <a:prstGeom prst="rect">
            <a:avLst/>
          </a:prstGeom>
          <a:noFill/>
          <a:ln/>
        </p:spPr>
        <p:txBody>
          <a:bodyPr wrap="square" rtlCol="0" anchor="ctr"/>
          <a:lstStyle/>
          <a:p>
            <a:pPr marL="0" indent="0" algn="l">
              <a:buNone/>
            </a:pPr>
            <a:r>
              <a:rPr lang="en-US" sz="1450" b="1" dirty="0">
                <a:solidFill>
                  <a:srgbClr val="DC2626"/>
                </a:solidFill>
              </a:rPr>
              <a:t>②  And they also carry organ-wide stress</a:t>
            </a:r>
            <a:endParaRPr lang="en-US" sz="1450" dirty="0"/>
          </a:p>
        </p:txBody>
      </p:sp>
      <p:pic>
        <p:nvPicPr>
          <p:cNvPr id="29" name="Image 0" descr="D:\CS\Genomics\Hackathon\presentation/assets/fig_stress.png"/>
          <p:cNvPicPr>
            <a:picLocks noChangeAspect="1"/>
          </p:cNvPicPr>
          <p:nvPr/>
        </p:nvPicPr>
        <p:blipFill>
          <a:blip r:embed="rId3"/>
          <a:stretch>
            <a:fillRect/>
          </a:stretch>
        </p:blipFill>
        <p:spPr>
          <a:xfrm>
            <a:off x="1341935" y="3840480"/>
            <a:ext cx="5362850" cy="2057400"/>
          </a:xfrm>
          <a:prstGeom prst="rect">
            <a:avLst/>
          </a:prstGeom>
        </p:spPr>
      </p:pic>
      <p:sp>
        <p:nvSpPr>
          <p:cNvPr id="30" name="Text 27"/>
          <p:cNvSpPr/>
          <p:nvPr/>
        </p:nvSpPr>
        <p:spPr>
          <a:xfrm>
            <a:off x="274320" y="5786772"/>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  Procurement-stress module by tissue source (donor-level).</a:t>
            </a:r>
            <a:endParaRPr lang="en-US" sz="1200" dirty="0"/>
          </a:p>
        </p:txBody>
      </p:sp>
      <p:sp>
        <p:nvSpPr>
          <p:cNvPr id="31" name="Text 28"/>
          <p:cNvSpPr/>
          <p:nvPr/>
        </p:nvSpPr>
        <p:spPr>
          <a:xfrm>
            <a:off x="7360920" y="4059936"/>
            <a:ext cx="4526280" cy="548640"/>
          </a:xfrm>
          <a:prstGeom prst="rect">
            <a:avLst/>
          </a:prstGeom>
          <a:noFill/>
          <a:ln/>
        </p:spPr>
        <p:txBody>
          <a:bodyPr wrap="square" rtlCol="0" anchor="t"/>
          <a:lstStyle/>
          <a:p>
            <a:pPr marL="0" indent="0" algn="l">
              <a:buNone/>
            </a:pPr>
            <a:r>
              <a:rPr lang="en-US" b="1" dirty="0">
                <a:solidFill>
                  <a:srgbClr val="DC2626"/>
                </a:solidFill>
              </a:rPr>
              <a:t>Stress spikes even where there’s no zonation.</a:t>
            </a:r>
            <a:endParaRPr lang="en-US" dirty="0"/>
          </a:p>
        </p:txBody>
      </p:sp>
      <p:sp>
        <p:nvSpPr>
          <p:cNvPr id="32" name="Text 29"/>
          <p:cNvSpPr/>
          <p:nvPr/>
        </p:nvSpPr>
        <p:spPr>
          <a:xfrm>
            <a:off x="8001000" y="4617720"/>
            <a:ext cx="3886200" cy="1325880"/>
          </a:xfrm>
          <a:prstGeom prst="rect">
            <a:avLst/>
          </a:prstGeom>
          <a:noFill/>
          <a:ln/>
        </p:spPr>
        <p:txBody>
          <a:bodyPr wrap="square" rtlCol="0" anchor="t"/>
          <a:lstStyle/>
          <a:p>
            <a:pPr marL="0" indent="0" algn="l">
              <a:buNone/>
            </a:pPr>
            <a:r>
              <a:rPr lang="en-US" sz="1250" dirty="0">
                <a:solidFill>
                  <a:srgbClr val="1B2B31"/>
                </a:solidFill>
              </a:rPr>
              <a:t>Immediate-early / heat-shock genes jump 18× in the ends — but </a:t>
            </a:r>
            <a:r>
              <a:rPr lang="en-US" sz="1250" b="1" dirty="0">
                <a:solidFill>
                  <a:srgbClr val="1B2B31"/>
                </a:solidFill>
              </a:rPr>
              <a:t>endothelium, which has no zonation program, jumps 18× too</a:t>
            </a:r>
            <a:r>
              <a:rPr lang="en-US" sz="1250" dirty="0">
                <a:solidFill>
                  <a:srgbClr val="1B2B31"/>
                </a:solidFill>
              </a:rPr>
              <a:t>; hypoxia (HIF) stays flat. So it’s not necessary zonation change affect – but rather, at least as probable - acute handling¹.</a:t>
            </a:r>
            <a:endParaRPr lang="en-US" sz="1250" dirty="0"/>
          </a:p>
        </p:txBody>
      </p:sp>
      <p:sp>
        <p:nvSpPr>
          <p:cNvPr id="33" name="Shape 30"/>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4" name="Text 31"/>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Dissociation / handling artifact: van den Brink et al. 2017; O’Flanagan et al. 2019; Denisenko et al. 2020.   Provenance: paper Methods + GSE202379 metadata.</a:t>
            </a:r>
            <a:endParaRPr lang="en-US" sz="1000" dirty="0"/>
          </a:p>
        </p:txBody>
      </p:sp>
      <p:sp>
        <p:nvSpPr>
          <p:cNvPr id="35" name="Text 32"/>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6" name="Text 33"/>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Method – corrected</a:t>
            </a:r>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how we re-test it, in counts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320040"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7" name="Text 5"/>
          <p:cNvSpPr/>
          <p:nvPr/>
        </p:nvSpPr>
        <p:spPr>
          <a:xfrm>
            <a:off x="320040"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raw UMI counts</a:t>
            </a:r>
            <a:endParaRPr lang="en-US" sz="1400" dirty="0"/>
          </a:p>
        </p:txBody>
      </p:sp>
      <p:sp>
        <p:nvSpPr>
          <p:cNvPr id="8" name="Shape 6"/>
          <p:cNvSpPr/>
          <p:nvPr/>
        </p:nvSpPr>
        <p:spPr>
          <a:xfrm>
            <a:off x="2468880" y="1920240"/>
            <a:ext cx="201168" cy="0"/>
          </a:xfrm>
          <a:prstGeom prst="line">
            <a:avLst/>
          </a:prstGeom>
          <a:noFill/>
          <a:ln w="20320">
            <a:solidFill>
              <a:srgbClr val="5C6E73"/>
            </a:solidFill>
            <a:prstDash val="solid"/>
            <a:tailEnd type="triangle"/>
          </a:ln>
        </p:spPr>
        <p:txBody>
          <a:bodyPr/>
          <a:lstStyle/>
          <a:p>
            <a:endParaRPr lang="en-US"/>
          </a:p>
        </p:txBody>
      </p:sp>
      <p:sp>
        <p:nvSpPr>
          <p:cNvPr id="9" name="Shape 7"/>
          <p:cNvSpPr/>
          <p:nvPr/>
        </p:nvSpPr>
        <p:spPr>
          <a:xfrm>
            <a:off x="2670048"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0" name="Text 8"/>
          <p:cNvSpPr/>
          <p:nvPr/>
        </p:nvSpPr>
        <p:spPr>
          <a:xfrm>
            <a:off x="2670048"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down-thin to 1,500</a:t>
            </a:r>
            <a:endParaRPr lang="en-US" sz="1400" dirty="0"/>
          </a:p>
        </p:txBody>
      </p:sp>
      <p:sp>
        <p:nvSpPr>
          <p:cNvPr id="11" name="Shape 9"/>
          <p:cNvSpPr/>
          <p:nvPr/>
        </p:nvSpPr>
        <p:spPr>
          <a:xfrm>
            <a:off x="4818888" y="1920240"/>
            <a:ext cx="201168" cy="0"/>
          </a:xfrm>
          <a:prstGeom prst="line">
            <a:avLst/>
          </a:prstGeom>
          <a:noFill/>
          <a:ln w="20320">
            <a:solidFill>
              <a:srgbClr val="5C6E73"/>
            </a:solidFill>
            <a:prstDash val="solid"/>
            <a:tailEnd type="triangle"/>
          </a:ln>
        </p:spPr>
        <p:txBody>
          <a:bodyPr/>
          <a:lstStyle/>
          <a:p>
            <a:endParaRPr lang="en-US"/>
          </a:p>
        </p:txBody>
      </p:sp>
      <p:sp>
        <p:nvSpPr>
          <p:cNvPr id="12" name="Shape 10"/>
          <p:cNvSpPr/>
          <p:nvPr/>
        </p:nvSpPr>
        <p:spPr>
          <a:xfrm>
            <a:off x="5020056" y="1554480"/>
            <a:ext cx="2148840" cy="731520"/>
          </a:xfrm>
          <a:prstGeom prst="roundRect">
            <a:avLst>
              <a:gd name="adj" fmla="val 8750"/>
            </a:avLst>
          </a:prstGeom>
          <a:solidFill>
            <a:srgbClr val="EDE9FE"/>
          </a:solidFill>
          <a:ln w="15240">
            <a:solidFill>
              <a:srgbClr val="7C3AED"/>
            </a:solidFill>
            <a:prstDash val="solid"/>
          </a:ln>
        </p:spPr>
        <p:txBody>
          <a:bodyPr/>
          <a:lstStyle/>
          <a:p>
            <a:endParaRPr lang="en-US"/>
          </a:p>
        </p:txBody>
      </p:sp>
      <p:sp>
        <p:nvSpPr>
          <p:cNvPr id="13" name="Text 11"/>
          <p:cNvSpPr/>
          <p:nvPr/>
        </p:nvSpPr>
        <p:spPr>
          <a:xfrm>
            <a:off x="5020056" y="1554480"/>
            <a:ext cx="2148840" cy="731520"/>
          </a:xfrm>
          <a:prstGeom prst="rect">
            <a:avLst/>
          </a:prstGeom>
          <a:noFill/>
          <a:ln/>
        </p:spPr>
        <p:txBody>
          <a:bodyPr wrap="square" lIns="38100" tIns="38100" rIns="38100" bIns="38100" rtlCol="0" anchor="ctr"/>
          <a:lstStyle/>
          <a:p>
            <a:pPr marL="0" indent="0" algn="ctr">
              <a:buNone/>
            </a:pPr>
            <a:r>
              <a:rPr lang="en-US" sz="1400" b="1" dirty="0">
                <a:solidFill>
                  <a:srgbClr val="7C3AED"/>
                </a:solidFill>
              </a:rPr>
              <a:t>marker ON if ≥ 2 UMI</a:t>
            </a:r>
            <a:endParaRPr lang="en-US" sz="1400" dirty="0"/>
          </a:p>
        </p:txBody>
      </p:sp>
      <p:sp>
        <p:nvSpPr>
          <p:cNvPr id="14" name="Shape 12"/>
          <p:cNvSpPr/>
          <p:nvPr/>
        </p:nvSpPr>
        <p:spPr>
          <a:xfrm>
            <a:off x="7168896" y="1920240"/>
            <a:ext cx="201168" cy="0"/>
          </a:xfrm>
          <a:prstGeom prst="line">
            <a:avLst/>
          </a:prstGeom>
          <a:noFill/>
          <a:ln w="20320">
            <a:solidFill>
              <a:srgbClr val="5C6E73"/>
            </a:solidFill>
            <a:prstDash val="solid"/>
            <a:tailEnd type="triangle"/>
          </a:ln>
        </p:spPr>
        <p:txBody>
          <a:bodyPr/>
          <a:lstStyle/>
          <a:p>
            <a:endParaRPr lang="en-US"/>
          </a:p>
        </p:txBody>
      </p:sp>
      <p:sp>
        <p:nvSpPr>
          <p:cNvPr id="15" name="Shape 13"/>
          <p:cNvSpPr/>
          <p:nvPr/>
        </p:nvSpPr>
        <p:spPr>
          <a:xfrm>
            <a:off x="7370064"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6" name="Text 14"/>
          <p:cNvSpPr/>
          <p:nvPr/>
        </p:nvSpPr>
        <p:spPr>
          <a:xfrm>
            <a:off x="7370064"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classify nucleus (e.g. PC)</a:t>
            </a:r>
            <a:endParaRPr lang="en-US" sz="1400" dirty="0"/>
          </a:p>
        </p:txBody>
      </p:sp>
      <p:sp>
        <p:nvSpPr>
          <p:cNvPr id="17" name="Shape 15"/>
          <p:cNvSpPr/>
          <p:nvPr/>
        </p:nvSpPr>
        <p:spPr>
          <a:xfrm>
            <a:off x="9518904" y="1920240"/>
            <a:ext cx="201168" cy="0"/>
          </a:xfrm>
          <a:prstGeom prst="line">
            <a:avLst/>
          </a:prstGeom>
          <a:noFill/>
          <a:ln w="20320">
            <a:solidFill>
              <a:srgbClr val="5C6E73"/>
            </a:solidFill>
            <a:prstDash val="solid"/>
            <a:tailEnd type="triangle"/>
          </a:ln>
        </p:spPr>
        <p:txBody>
          <a:bodyPr/>
          <a:lstStyle/>
          <a:p>
            <a:endParaRPr lang="en-US"/>
          </a:p>
        </p:txBody>
      </p:sp>
      <p:sp>
        <p:nvSpPr>
          <p:cNvPr id="18" name="Shape 16"/>
          <p:cNvSpPr/>
          <p:nvPr/>
        </p:nvSpPr>
        <p:spPr>
          <a:xfrm>
            <a:off x="9720072"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9" name="Text 17"/>
          <p:cNvSpPr/>
          <p:nvPr/>
        </p:nvSpPr>
        <p:spPr>
          <a:xfrm>
            <a:off x="9720072"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fraction per donor</a:t>
            </a:r>
            <a:endParaRPr lang="en-US" sz="1400" dirty="0"/>
          </a:p>
        </p:txBody>
      </p:sp>
      <p:sp>
        <p:nvSpPr>
          <p:cNvPr id="20" name="Shape 18"/>
          <p:cNvSpPr/>
          <p:nvPr/>
        </p:nvSpPr>
        <p:spPr>
          <a:xfrm>
            <a:off x="64008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1" name="Shape 19"/>
          <p:cNvSpPr/>
          <p:nvPr/>
        </p:nvSpPr>
        <p:spPr>
          <a:xfrm>
            <a:off x="640080" y="2788920"/>
            <a:ext cx="91440" cy="1207008"/>
          </a:xfrm>
          <a:prstGeom prst="rect">
            <a:avLst/>
          </a:prstGeom>
          <a:solidFill>
            <a:srgbClr val="1B2B31"/>
          </a:solidFill>
          <a:ln/>
        </p:spPr>
        <p:txBody>
          <a:bodyPr/>
          <a:lstStyle/>
          <a:p>
            <a:endParaRPr lang="en-US"/>
          </a:p>
        </p:txBody>
      </p:sp>
      <p:sp>
        <p:nvSpPr>
          <p:cNvPr id="22" name="Text 20"/>
          <p:cNvSpPr/>
          <p:nvPr/>
        </p:nvSpPr>
        <p:spPr>
          <a:xfrm>
            <a:off x="914400" y="2926080"/>
            <a:ext cx="4937760" cy="365760"/>
          </a:xfrm>
          <a:prstGeom prst="rect">
            <a:avLst/>
          </a:prstGeom>
          <a:noFill/>
          <a:ln/>
        </p:spPr>
        <p:txBody>
          <a:bodyPr wrap="square" lIns="0" tIns="0" rIns="0" bIns="0" rtlCol="0" anchor="t"/>
          <a:lstStyle/>
          <a:p>
            <a:pPr marL="0" indent="0" algn="l">
              <a:buNone/>
            </a:pPr>
            <a:r>
              <a:rPr lang="en-US" sz="1600" b="1" dirty="0">
                <a:solidFill>
                  <a:srgbClr val="1B2B31"/>
                </a:solidFill>
              </a:rPr>
              <a:t>Raw counts, not Single Cell Transformation (SCT)</a:t>
            </a:r>
            <a:endParaRPr lang="en-US" sz="1600" dirty="0"/>
          </a:p>
        </p:txBody>
      </p:sp>
      <p:sp>
        <p:nvSpPr>
          <p:cNvPr id="23" name="Text 21"/>
          <p:cNvSpPr/>
          <p:nvPr/>
        </p:nvSpPr>
        <p:spPr>
          <a:xfrm>
            <a:off x="91440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A single molecule may be ambient — absolute detection is what matters.</a:t>
            </a:r>
            <a:endParaRPr lang="en-US" sz="1300" dirty="0"/>
          </a:p>
        </p:txBody>
      </p:sp>
      <p:sp>
        <p:nvSpPr>
          <p:cNvPr id="24" name="Shape 22"/>
          <p:cNvSpPr/>
          <p:nvPr/>
        </p:nvSpPr>
        <p:spPr>
          <a:xfrm>
            <a:off x="617220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5" name="Shape 23"/>
          <p:cNvSpPr/>
          <p:nvPr/>
        </p:nvSpPr>
        <p:spPr>
          <a:xfrm>
            <a:off x="6172200" y="2788920"/>
            <a:ext cx="91440" cy="1207008"/>
          </a:xfrm>
          <a:prstGeom prst="rect">
            <a:avLst/>
          </a:prstGeom>
          <a:solidFill>
            <a:srgbClr val="0D9488"/>
          </a:solidFill>
          <a:ln/>
        </p:spPr>
        <p:txBody>
          <a:bodyPr/>
          <a:lstStyle/>
          <a:p>
            <a:endParaRPr lang="en-US"/>
          </a:p>
        </p:txBody>
      </p:sp>
      <p:sp>
        <p:nvSpPr>
          <p:cNvPr id="26" name="Text 24"/>
          <p:cNvSpPr/>
          <p:nvPr/>
        </p:nvSpPr>
        <p:spPr>
          <a:xfrm>
            <a:off x="6446520" y="2926080"/>
            <a:ext cx="4937760" cy="365760"/>
          </a:xfrm>
          <a:prstGeom prst="rect">
            <a:avLst/>
          </a:prstGeom>
          <a:noFill/>
          <a:ln/>
        </p:spPr>
        <p:txBody>
          <a:bodyPr wrap="square" lIns="0" tIns="0" rIns="0" bIns="0" rtlCol="0" anchor="t"/>
          <a:lstStyle/>
          <a:p>
            <a:pPr marL="0" indent="0" algn="l">
              <a:buNone/>
            </a:pPr>
            <a:r>
              <a:rPr lang="en-US" sz="1600" b="1" dirty="0">
                <a:solidFill>
                  <a:srgbClr val="0D9488"/>
                </a:solidFill>
              </a:rPr>
              <a:t>Depth-matched¹</a:t>
            </a:r>
            <a:endParaRPr lang="en-US" sz="1600" dirty="0"/>
          </a:p>
        </p:txBody>
      </p:sp>
      <p:sp>
        <p:nvSpPr>
          <p:cNvPr id="27" name="Text 25"/>
          <p:cNvSpPr/>
          <p:nvPr/>
        </p:nvSpPr>
        <p:spPr>
          <a:xfrm>
            <a:off x="644652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Down-thin every nucleus to 1,500 UMIs so depth can’t drive detection (stable at 1k / 1.5k / 3k).</a:t>
            </a:r>
            <a:endParaRPr lang="en-US" sz="1300" dirty="0"/>
          </a:p>
        </p:txBody>
      </p:sp>
      <p:sp>
        <p:nvSpPr>
          <p:cNvPr id="28" name="Shape 26"/>
          <p:cNvSpPr/>
          <p:nvPr/>
        </p:nvSpPr>
        <p:spPr>
          <a:xfrm>
            <a:off x="64008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9" name="Shape 27"/>
          <p:cNvSpPr/>
          <p:nvPr/>
        </p:nvSpPr>
        <p:spPr>
          <a:xfrm>
            <a:off x="640080" y="4160520"/>
            <a:ext cx="91440" cy="1207008"/>
          </a:xfrm>
          <a:prstGeom prst="rect">
            <a:avLst/>
          </a:prstGeom>
          <a:solidFill>
            <a:srgbClr val="7C3AED"/>
          </a:solidFill>
          <a:ln/>
        </p:spPr>
        <p:txBody>
          <a:bodyPr/>
          <a:lstStyle/>
          <a:p>
            <a:endParaRPr lang="en-US"/>
          </a:p>
        </p:txBody>
      </p:sp>
      <p:sp>
        <p:nvSpPr>
          <p:cNvPr id="30" name="Text 28"/>
          <p:cNvSpPr/>
          <p:nvPr/>
        </p:nvSpPr>
        <p:spPr>
          <a:xfrm>
            <a:off x="914400" y="4297680"/>
            <a:ext cx="4937760" cy="365760"/>
          </a:xfrm>
          <a:prstGeom prst="rect">
            <a:avLst/>
          </a:prstGeom>
          <a:noFill/>
          <a:ln/>
        </p:spPr>
        <p:txBody>
          <a:bodyPr wrap="square" lIns="0" tIns="0" rIns="0" bIns="0" rtlCol="0" anchor="t"/>
          <a:lstStyle/>
          <a:p>
            <a:pPr marL="0" indent="0" algn="l">
              <a:buNone/>
            </a:pPr>
            <a:r>
              <a:rPr lang="en-US" sz="1600" b="1" dirty="0">
                <a:solidFill>
                  <a:srgbClr val="7C3AED"/>
                </a:solidFill>
              </a:rPr>
              <a:t>≥2 UMI, not ≥1</a:t>
            </a:r>
            <a:endParaRPr lang="en-US" sz="1600" dirty="0"/>
          </a:p>
        </p:txBody>
      </p:sp>
      <p:sp>
        <p:nvSpPr>
          <p:cNvPr id="31" name="Text 29"/>
          <p:cNvSpPr/>
          <p:nvPr/>
        </p:nvSpPr>
        <p:spPr>
          <a:xfrm>
            <a:off x="91440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Kills ambient soup — apparent co-expression 7–10% → 0.2–0.5%.</a:t>
            </a:r>
            <a:endParaRPr lang="en-US" sz="1300" dirty="0"/>
          </a:p>
        </p:txBody>
      </p:sp>
      <p:sp>
        <p:nvSpPr>
          <p:cNvPr id="32" name="Shape 30"/>
          <p:cNvSpPr/>
          <p:nvPr/>
        </p:nvSpPr>
        <p:spPr>
          <a:xfrm>
            <a:off x="617220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33" name="Shape 31"/>
          <p:cNvSpPr/>
          <p:nvPr/>
        </p:nvSpPr>
        <p:spPr>
          <a:xfrm>
            <a:off x="6172200" y="4160520"/>
            <a:ext cx="91440" cy="1207008"/>
          </a:xfrm>
          <a:prstGeom prst="rect">
            <a:avLst/>
          </a:prstGeom>
          <a:solidFill>
            <a:srgbClr val="1D4ED8"/>
          </a:solidFill>
          <a:ln/>
        </p:spPr>
        <p:txBody>
          <a:bodyPr/>
          <a:lstStyle/>
          <a:p>
            <a:endParaRPr lang="en-US"/>
          </a:p>
        </p:txBody>
      </p:sp>
      <p:sp>
        <p:nvSpPr>
          <p:cNvPr id="34" name="Text 32"/>
          <p:cNvSpPr/>
          <p:nvPr/>
        </p:nvSpPr>
        <p:spPr>
          <a:xfrm>
            <a:off x="6446520" y="4297680"/>
            <a:ext cx="4937760" cy="365760"/>
          </a:xfrm>
          <a:prstGeom prst="rect">
            <a:avLst/>
          </a:prstGeom>
          <a:noFill/>
          <a:ln/>
        </p:spPr>
        <p:txBody>
          <a:bodyPr wrap="square" lIns="0" tIns="0" rIns="0" bIns="0" rtlCol="0" anchor="t"/>
          <a:lstStyle/>
          <a:p>
            <a:pPr marL="0" indent="0" algn="l">
              <a:buNone/>
            </a:pPr>
            <a:r>
              <a:rPr lang="en-US" sz="1600" b="1" dirty="0">
                <a:solidFill>
                  <a:srgbClr val="1D4ED8"/>
                </a:solidFill>
              </a:rPr>
              <a:t>Donor is the unit (~47)</a:t>
            </a:r>
            <a:endParaRPr lang="en-US" sz="1600" dirty="0"/>
          </a:p>
        </p:txBody>
      </p:sp>
      <p:sp>
        <p:nvSpPr>
          <p:cNvPr id="35" name="Text 33"/>
          <p:cNvSpPr/>
          <p:nvPr/>
        </p:nvSpPr>
        <p:spPr>
          <a:xfrm>
            <a:off x="644652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No pseudoreplication. Robust on 6 marker sets (2–1,637 genes, incl. Paper 2’s own).</a:t>
            </a:r>
            <a:endParaRPr lang="en-US" sz="1300" dirty="0"/>
          </a:p>
        </p:txBody>
      </p:sp>
      <p:sp>
        <p:nvSpPr>
          <p:cNvPr id="36" name="Shape 34"/>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7" name="Text 35"/>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r>
              <a:rPr lang="en-US" sz="1300" b="1" kern="0" spc="300" dirty="0">
                <a:solidFill>
                  <a:srgbClr val="C0561B"/>
                </a:solidFill>
              </a:rPr>
              <a:t>WHAT WE MEASURE –THE FOUR CLASSES VOCABULARY</a:t>
            </a: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28757"/>
            <a:ext cx="11338560" cy="539496"/>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Four classes – and how they can move</a:t>
            </a:r>
          </a:p>
        </p:txBody>
      </p:sp>
      <p:sp>
        <p:nvSpPr>
          <p:cNvPr id="6" name="Text 4"/>
          <p:cNvSpPr/>
          <p:nvPr/>
        </p:nvSpPr>
        <p:spPr>
          <a:xfrm>
            <a:off x="640080" y="1325880"/>
            <a:ext cx="11247120" cy="457200"/>
          </a:xfrm>
          <a:prstGeom prst="rect">
            <a:avLst/>
          </a:prstGeom>
          <a:noFill/>
          <a:ln/>
        </p:spPr>
        <p:txBody>
          <a:bodyPr wrap="square" rtlCol="0" anchor="ctr"/>
          <a:lstStyle/>
          <a:p>
            <a:pPr marL="0" indent="0" algn="l">
              <a:buNone/>
            </a:pPr>
            <a:r>
              <a:rPr lang="en-US" sz="1500" b="1" dirty="0">
                <a:solidFill>
                  <a:srgbClr val="1B2B31"/>
                </a:solidFill>
              </a:rPr>
              <a:t>Every hepatocyte is one of four classes (left). </a:t>
            </a:r>
          </a:p>
          <a:p>
            <a:pPr marL="0" indent="0" algn="l">
              <a:buNone/>
            </a:pPr>
            <a:r>
              <a:rPr lang="en-US" sz="1500" b="1" dirty="0">
                <a:solidFill>
                  <a:srgbClr val="1B2B31"/>
                </a:solidFill>
              </a:rPr>
              <a:t>	</a:t>
            </a:r>
            <a:r>
              <a:rPr lang="en-US" sz="1500" dirty="0">
                <a:solidFill>
                  <a:srgbClr val="1B2B31"/>
                </a:solidFill>
              </a:rPr>
              <a:t>“Losing zonation” = cells redistribute across them — four distinct moves (right), each with its own count signature.</a:t>
            </a:r>
            <a:endParaRPr lang="en-US" sz="1500" dirty="0"/>
          </a:p>
        </p:txBody>
      </p:sp>
      <p:sp>
        <p:nvSpPr>
          <p:cNvPr id="7" name="Text 5"/>
          <p:cNvSpPr/>
          <p:nvPr/>
        </p:nvSpPr>
        <p:spPr>
          <a:xfrm>
            <a:off x="548640" y="2011680"/>
            <a:ext cx="5394960" cy="274320"/>
          </a:xfrm>
          <a:prstGeom prst="rect">
            <a:avLst/>
          </a:prstGeom>
          <a:noFill/>
          <a:ln/>
        </p:spPr>
        <p:txBody>
          <a:bodyPr wrap="square" rtlCol="0" anchor="ctr"/>
          <a:lstStyle/>
          <a:p>
            <a:pPr marL="0" indent="0" algn="l">
              <a:buNone/>
            </a:pPr>
            <a:r>
              <a:rPr lang="en-US" sz="1300" b="1" kern="0" spc="200" dirty="0">
                <a:solidFill>
                  <a:srgbClr val="5C6E73"/>
                </a:solidFill>
              </a:rPr>
              <a:t>THE FOUR CLASSES</a:t>
            </a:r>
            <a:endParaRPr lang="en-US" sz="1300" dirty="0"/>
          </a:p>
        </p:txBody>
      </p:sp>
      <p:sp>
        <p:nvSpPr>
          <p:cNvPr id="8" name="Text 6"/>
          <p:cNvSpPr/>
          <p:nvPr/>
        </p:nvSpPr>
        <p:spPr>
          <a:xfrm>
            <a:off x="1783080" y="2340864"/>
            <a:ext cx="4023360" cy="237744"/>
          </a:xfrm>
          <a:prstGeom prst="rect">
            <a:avLst/>
          </a:prstGeom>
          <a:noFill/>
          <a:ln/>
        </p:spPr>
        <p:txBody>
          <a:bodyPr wrap="square" lIns="0" tIns="0" rIns="0" bIns="0" rtlCol="0" anchor="ctr"/>
          <a:lstStyle/>
          <a:p>
            <a:pPr marL="0" indent="0" algn="ctr">
              <a:buNone/>
            </a:pPr>
            <a:r>
              <a:rPr lang="en-US" sz="1100" b="1" dirty="0">
                <a:solidFill>
                  <a:srgbClr val="EA580C"/>
                </a:solidFill>
              </a:rPr>
              <a:t>periportal program →</a:t>
            </a:r>
            <a:endParaRPr lang="en-US" sz="1100" dirty="0"/>
          </a:p>
        </p:txBody>
      </p:sp>
      <p:sp>
        <p:nvSpPr>
          <p:cNvPr id="9" name="Text 7"/>
          <p:cNvSpPr/>
          <p:nvPr/>
        </p:nvSpPr>
        <p:spPr>
          <a:xfrm>
            <a:off x="17830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0" name="Text 8"/>
          <p:cNvSpPr/>
          <p:nvPr/>
        </p:nvSpPr>
        <p:spPr>
          <a:xfrm>
            <a:off x="38404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1" name="Text 9"/>
          <p:cNvSpPr/>
          <p:nvPr/>
        </p:nvSpPr>
        <p:spPr>
          <a:xfrm>
            <a:off x="256032" y="3520440"/>
            <a:ext cx="1417320" cy="548640"/>
          </a:xfrm>
          <a:prstGeom prst="rect">
            <a:avLst/>
          </a:prstGeom>
          <a:noFill/>
          <a:ln/>
        </p:spPr>
        <p:txBody>
          <a:bodyPr wrap="square" lIns="0" tIns="0" rIns="0" bIns="0" rtlCol="0" anchor="ctr"/>
          <a:lstStyle/>
          <a:p>
            <a:pPr marL="0" indent="0" algn="ctr">
              <a:buNone/>
            </a:pPr>
            <a:r>
              <a:rPr lang="en-US" sz="1100" b="1" dirty="0">
                <a:solidFill>
                  <a:srgbClr val="1D4ED8"/>
                </a:solidFill>
              </a:rPr>
              <a:t>pericentral</a:t>
            </a:r>
            <a:endParaRPr lang="en-US" sz="1100" dirty="0"/>
          </a:p>
          <a:p>
            <a:pPr marL="0" indent="0" algn="ctr">
              <a:buNone/>
            </a:pPr>
            <a:r>
              <a:rPr lang="en-US" sz="1100" b="1" dirty="0">
                <a:solidFill>
                  <a:srgbClr val="1D4ED8"/>
                </a:solidFill>
              </a:rPr>
              <a:t>program ↓</a:t>
            </a:r>
            <a:endParaRPr lang="en-US" sz="1100" dirty="0"/>
          </a:p>
        </p:txBody>
      </p:sp>
      <p:sp>
        <p:nvSpPr>
          <p:cNvPr id="12" name="Text 10"/>
          <p:cNvSpPr/>
          <p:nvPr/>
        </p:nvSpPr>
        <p:spPr>
          <a:xfrm>
            <a:off x="457200" y="315468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3" name="Text 11"/>
          <p:cNvSpPr/>
          <p:nvPr/>
        </p:nvSpPr>
        <p:spPr>
          <a:xfrm>
            <a:off x="457200" y="438912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4" name="Shape 12"/>
          <p:cNvSpPr/>
          <p:nvPr/>
        </p:nvSpPr>
        <p:spPr>
          <a:xfrm>
            <a:off x="1783080" y="2880360"/>
            <a:ext cx="1965960" cy="1143000"/>
          </a:xfrm>
          <a:prstGeom prst="roundRect">
            <a:avLst>
              <a:gd name="adj" fmla="val 5600"/>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19476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6" name="Text 14"/>
          <p:cNvSpPr/>
          <p:nvPr/>
        </p:nvSpPr>
        <p:spPr>
          <a:xfrm>
            <a:off x="19476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pericentral only</a:t>
            </a:r>
            <a:endParaRPr lang="en-US" sz="1350" dirty="0"/>
          </a:p>
        </p:txBody>
      </p:sp>
      <p:sp>
        <p:nvSpPr>
          <p:cNvPr id="17" name="Shape 15"/>
          <p:cNvSpPr/>
          <p:nvPr/>
        </p:nvSpPr>
        <p:spPr>
          <a:xfrm>
            <a:off x="3840480" y="2880360"/>
            <a:ext cx="1965960" cy="1143000"/>
          </a:xfrm>
          <a:prstGeom prst="roundRect">
            <a:avLst>
              <a:gd name="adj" fmla="val 5600"/>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18" name="Text 16"/>
          <p:cNvSpPr/>
          <p:nvPr/>
        </p:nvSpPr>
        <p:spPr>
          <a:xfrm>
            <a:off x="40050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9" name="Text 17"/>
          <p:cNvSpPr/>
          <p:nvPr/>
        </p:nvSpPr>
        <p:spPr>
          <a:xfrm>
            <a:off x="40050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both — co-expression</a:t>
            </a:r>
            <a:endParaRPr lang="en-US" sz="1350" dirty="0"/>
          </a:p>
        </p:txBody>
      </p:sp>
      <p:sp>
        <p:nvSpPr>
          <p:cNvPr id="20" name="Shape 18"/>
          <p:cNvSpPr/>
          <p:nvPr/>
        </p:nvSpPr>
        <p:spPr>
          <a:xfrm>
            <a:off x="1783080" y="4114800"/>
            <a:ext cx="1965960" cy="1143000"/>
          </a:xfrm>
          <a:prstGeom prst="roundRect">
            <a:avLst>
              <a:gd name="adj" fmla="val 5600"/>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1947672" y="4233672"/>
            <a:ext cx="1636776" cy="457200"/>
          </a:xfrm>
          <a:prstGeom prst="rect">
            <a:avLst/>
          </a:prstGeom>
          <a:noFill/>
          <a:ln/>
        </p:spPr>
        <p:txBody>
          <a:bodyPr wrap="square" lIns="0" tIns="0" rIns="0" bIns="0" rtlCol="0" anchor="t"/>
          <a:lstStyle/>
          <a:p>
            <a:pPr marL="0" indent="0" algn="l">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2" name="Text 20"/>
          <p:cNvSpPr/>
          <p:nvPr/>
        </p:nvSpPr>
        <p:spPr>
          <a:xfrm>
            <a:off x="1947672" y="4736592"/>
            <a:ext cx="1636776" cy="411480"/>
          </a:xfrm>
          <a:prstGeom prst="rect">
            <a:avLst/>
          </a:prstGeom>
          <a:noFill/>
          <a:ln/>
        </p:spPr>
        <p:txBody>
          <a:bodyPr wrap="square" lIns="0" tIns="0" rIns="0" bIns="0" rtlCol="0" anchor="t"/>
          <a:lstStyle/>
          <a:p>
            <a:pPr marL="0" indent="0" algn="l">
              <a:buNone/>
            </a:pPr>
            <a:r>
              <a:rPr lang="en-US" sz="1350" dirty="0">
                <a:solidFill>
                  <a:srgbClr val="1B2B31"/>
                </a:solidFill>
              </a:rPr>
              <a:t>neither</a:t>
            </a:r>
            <a:endParaRPr lang="en-US" sz="1350" dirty="0"/>
          </a:p>
        </p:txBody>
      </p:sp>
      <p:sp>
        <p:nvSpPr>
          <p:cNvPr id="23" name="Shape 21"/>
          <p:cNvSpPr/>
          <p:nvPr/>
        </p:nvSpPr>
        <p:spPr>
          <a:xfrm>
            <a:off x="3840480" y="4114800"/>
            <a:ext cx="1965960" cy="1143000"/>
          </a:xfrm>
          <a:prstGeom prst="roundRect">
            <a:avLst>
              <a:gd name="adj" fmla="val 5600"/>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24" name="Text 22"/>
          <p:cNvSpPr/>
          <p:nvPr/>
        </p:nvSpPr>
        <p:spPr>
          <a:xfrm>
            <a:off x="4005072" y="423367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5" name="Text 23"/>
          <p:cNvSpPr/>
          <p:nvPr/>
        </p:nvSpPr>
        <p:spPr>
          <a:xfrm>
            <a:off x="4005072" y="473659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periportal only</a:t>
            </a:r>
            <a:endParaRPr lang="en-US" sz="1350" dirty="0"/>
          </a:p>
        </p:txBody>
      </p:sp>
      <p:sp>
        <p:nvSpPr>
          <p:cNvPr id="26" name="Shape 24"/>
          <p:cNvSpPr/>
          <p:nvPr/>
        </p:nvSpPr>
        <p:spPr>
          <a:xfrm>
            <a:off x="6126480" y="2331720"/>
            <a:ext cx="0" cy="2971800"/>
          </a:xfrm>
          <a:prstGeom prst="line">
            <a:avLst/>
          </a:prstGeom>
          <a:noFill/>
          <a:ln w="12700">
            <a:solidFill>
              <a:srgbClr val="D7D0C4"/>
            </a:solidFill>
            <a:prstDash val="solid"/>
          </a:ln>
        </p:spPr>
        <p:txBody>
          <a:bodyPr/>
          <a:lstStyle/>
          <a:p>
            <a:endParaRPr lang="en-US"/>
          </a:p>
        </p:txBody>
      </p:sp>
      <p:sp>
        <p:nvSpPr>
          <p:cNvPr id="27" name="Text 25"/>
          <p:cNvSpPr/>
          <p:nvPr/>
        </p:nvSpPr>
        <p:spPr>
          <a:xfrm>
            <a:off x="6400800" y="201168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FOUR MOVES</a:t>
            </a:r>
            <a:endParaRPr lang="en-US" sz="1300" dirty="0"/>
          </a:p>
        </p:txBody>
      </p:sp>
      <p:sp>
        <p:nvSpPr>
          <p:cNvPr id="28" name="Shape 26"/>
          <p:cNvSpPr/>
          <p:nvPr/>
        </p:nvSpPr>
        <p:spPr>
          <a:xfrm>
            <a:off x="6400800" y="2468880"/>
            <a:ext cx="2651760" cy="1280160"/>
          </a:xfrm>
          <a:prstGeom prst="roundRect">
            <a:avLst>
              <a:gd name="adj" fmla="val 5714"/>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29" name="Text 27"/>
          <p:cNvSpPr/>
          <p:nvPr/>
        </p:nvSpPr>
        <p:spPr>
          <a:xfrm>
            <a:off x="640080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Depletion</a:t>
            </a:r>
            <a:endParaRPr lang="en-US" sz="1450" dirty="0"/>
          </a:p>
          <a:p>
            <a:pPr marL="0" indent="0" algn="ctr">
              <a:buNone/>
            </a:pPr>
            <a:r>
              <a:rPr lang="en-US" sz="1450" b="1" dirty="0">
                <a:solidFill>
                  <a:srgbClr val="FFFFFF"/>
                </a:solidFill>
              </a:rPr>
              <a:t>an anchor box ↓</a:t>
            </a:r>
            <a:endParaRPr lang="en-US" sz="1450" dirty="0"/>
          </a:p>
        </p:txBody>
      </p:sp>
      <p:sp>
        <p:nvSpPr>
          <p:cNvPr id="30" name="Shape 28"/>
          <p:cNvSpPr/>
          <p:nvPr/>
        </p:nvSpPr>
        <p:spPr>
          <a:xfrm>
            <a:off x="9189720" y="2468880"/>
            <a:ext cx="2651760" cy="1280160"/>
          </a:xfrm>
          <a:prstGeom prst="roundRect">
            <a:avLst>
              <a:gd name="adj" fmla="val 5714"/>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31" name="Text 29"/>
          <p:cNvSpPr/>
          <p:nvPr/>
        </p:nvSpPr>
        <p:spPr>
          <a:xfrm>
            <a:off x="918972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Co-expression</a:t>
            </a:r>
            <a:endParaRPr lang="en-US" sz="1450" dirty="0"/>
          </a:p>
          <a:p>
            <a:pPr marL="0" indent="0" algn="ctr">
              <a:buNone/>
            </a:pPr>
            <a:r>
              <a:rPr lang="en-US" sz="1450" b="1" dirty="0">
                <a:solidFill>
                  <a:srgbClr val="FFFFFF"/>
                </a:solidFill>
              </a:rPr>
              <a:t>the dual box ↑</a:t>
            </a:r>
            <a:endParaRPr lang="en-US" sz="1450" dirty="0"/>
          </a:p>
        </p:txBody>
      </p:sp>
      <p:sp>
        <p:nvSpPr>
          <p:cNvPr id="32" name="Shape 30"/>
          <p:cNvSpPr/>
          <p:nvPr/>
        </p:nvSpPr>
        <p:spPr>
          <a:xfrm>
            <a:off x="6400800" y="3886200"/>
            <a:ext cx="2651760" cy="1280160"/>
          </a:xfrm>
          <a:prstGeom prst="roundRect">
            <a:avLst>
              <a:gd name="adj" fmla="val 5714"/>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33" name="Text 31"/>
          <p:cNvSpPr/>
          <p:nvPr/>
        </p:nvSpPr>
        <p:spPr>
          <a:xfrm>
            <a:off x="640080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1B2B31"/>
                </a:solidFill>
              </a:rPr>
              <a:t>Turn-off</a:t>
            </a:r>
            <a:endParaRPr lang="en-US" sz="1450" dirty="0"/>
          </a:p>
          <a:p>
            <a:pPr marL="0" indent="0" algn="ctr">
              <a:buNone/>
            </a:pPr>
            <a:r>
              <a:rPr lang="en-US" sz="1450" b="1" dirty="0">
                <a:solidFill>
                  <a:srgbClr val="1B2B31"/>
                </a:solidFill>
              </a:rPr>
              <a:t>the null box ↑</a:t>
            </a:r>
            <a:endParaRPr lang="en-US" sz="1450" dirty="0"/>
          </a:p>
        </p:txBody>
      </p:sp>
      <p:sp>
        <p:nvSpPr>
          <p:cNvPr id="34" name="Shape 32"/>
          <p:cNvSpPr/>
          <p:nvPr/>
        </p:nvSpPr>
        <p:spPr>
          <a:xfrm>
            <a:off x="9189720" y="3886200"/>
            <a:ext cx="2651760" cy="1280160"/>
          </a:xfrm>
          <a:prstGeom prst="roundRect">
            <a:avLst>
              <a:gd name="adj" fmla="val 5714"/>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35" name="Text 33"/>
          <p:cNvSpPr/>
          <p:nvPr/>
        </p:nvSpPr>
        <p:spPr>
          <a:xfrm>
            <a:off x="918972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Composition shift</a:t>
            </a:r>
            <a:endParaRPr lang="en-US" sz="1450" dirty="0"/>
          </a:p>
          <a:p>
            <a:pPr marL="0" indent="0" algn="ctr">
              <a:buNone/>
            </a:pPr>
            <a:r>
              <a:rPr lang="en-US" sz="1450" b="1" dirty="0">
                <a:solidFill>
                  <a:srgbClr val="FFFFFF"/>
                </a:solidFill>
              </a:rPr>
              <a:t>PP : PC ratio moves</a:t>
            </a:r>
            <a:endParaRPr lang="en-US" sz="1450" dirty="0"/>
          </a:p>
        </p:txBody>
      </p:sp>
      <p:sp>
        <p:nvSpPr>
          <p:cNvPr id="36" name="Text 34"/>
          <p:cNvSpPr/>
          <p:nvPr/>
        </p:nvSpPr>
        <p:spPr>
          <a:xfrm>
            <a:off x="640080" y="5577840"/>
            <a:ext cx="11247120" cy="731520"/>
          </a:xfrm>
          <a:prstGeom prst="rect">
            <a:avLst/>
          </a:prstGeom>
          <a:noFill/>
          <a:ln/>
        </p:spPr>
        <p:txBody>
          <a:bodyPr wrap="square" rtlCol="0" anchor="t"/>
          <a:lstStyle/>
          <a:p>
            <a:pPr marL="0" indent="0" algn="l">
              <a:buNone/>
            </a:pPr>
            <a:r>
              <a:rPr lang="en-US" sz="1300" dirty="0">
                <a:solidFill>
                  <a:srgbClr val="1B2B31"/>
                </a:solidFill>
              </a:rPr>
              <a:t>The moves are dissociable — an emptying anchor box (depletion) and a filling null box (turn-off) are opposite directions; neither implies the other. </a:t>
            </a:r>
          </a:p>
          <a:p>
            <a:pPr marL="0" indent="0" algn="l">
              <a:buNone/>
            </a:pPr>
            <a:r>
              <a:rPr lang="en-US" sz="1300" i="1" dirty="0">
                <a:solidFill>
                  <a:srgbClr val="5C6E73"/>
                </a:solidFill>
              </a:rPr>
              <a:t>A single z-score or correlation collapses all four into one number — only counting molecules tells them apart.</a:t>
            </a:r>
            <a:endParaRPr lang="en-US" sz="1300" dirty="0"/>
          </a:p>
        </p:txBody>
      </p:sp>
      <p:sp>
        <p:nvSpPr>
          <p:cNvPr id="37" name="Text 3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8" name="Text 3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5</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WHAT WE MEASURE - 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32715"/>
            <a:ext cx="11338560" cy="56669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Beyond the classes — zonation is a gradient</a:t>
            </a:r>
            <a:endParaRPr lang="en-US" sz="2800" dirty="0"/>
          </a:p>
        </p:txBody>
      </p:sp>
      <p:sp>
        <p:nvSpPr>
          <p:cNvPr id="6" name="Text 4"/>
          <p:cNvSpPr/>
          <p:nvPr/>
        </p:nvSpPr>
        <p:spPr>
          <a:xfrm>
            <a:off x="640080" y="1371600"/>
            <a:ext cx="11247120" cy="411480"/>
          </a:xfrm>
          <a:prstGeom prst="rect">
            <a:avLst/>
          </a:prstGeom>
          <a:noFill/>
          <a:ln/>
        </p:spPr>
        <p:txBody>
          <a:bodyPr wrap="square" rtlCol="0" anchor="ctr"/>
          <a:lstStyle/>
          <a:p>
            <a:pPr marL="0" indent="0" algn="l">
              <a:buNone/>
            </a:pPr>
            <a:r>
              <a:rPr lang="en-US" sz="1550" dirty="0">
                <a:solidFill>
                  <a:srgbClr val="1B2B31"/>
                </a:solidFill>
              </a:rPr>
              <a:t>Zonation is a continuous gradient — cells strung on an anti-diagonal. It can weaken two ways </a:t>
            </a:r>
            <a:r>
              <a:rPr lang="en-US" sz="1550" b="1" dirty="0">
                <a:solidFill>
                  <a:srgbClr val="1B2B31"/>
                </a:solidFill>
              </a:rPr>
              <a:t>without any cell changing class:</a:t>
            </a:r>
            <a:endParaRPr lang="en-US" sz="1550" dirty="0"/>
          </a:p>
        </p:txBody>
      </p:sp>
      <p:pic>
        <p:nvPicPr>
          <p:cNvPr id="7" name="Image 0" descr="D:\CS\Genomics\Hackathon\presentation/assets/fig_gradient_schematic.png"/>
          <p:cNvPicPr>
            <a:picLocks noChangeAspect="1"/>
          </p:cNvPicPr>
          <p:nvPr/>
        </p:nvPicPr>
        <p:blipFill>
          <a:blip r:embed="rId3"/>
          <a:stretch>
            <a:fillRect/>
          </a:stretch>
        </p:blipFill>
        <p:spPr>
          <a:xfrm>
            <a:off x="602144" y="1874520"/>
            <a:ext cx="6568113" cy="3703320"/>
          </a:xfrm>
          <a:prstGeom prst="rect">
            <a:avLst/>
          </a:prstGeom>
        </p:spPr>
      </p:pic>
      <p:grpSp>
        <p:nvGrpSpPr>
          <p:cNvPr id="20" name="Group 19">
            <a:extLst>
              <a:ext uri="{FF2B5EF4-FFF2-40B4-BE49-F238E27FC236}">
                <a16:creationId xmlns:a16="http://schemas.microsoft.com/office/drawing/2014/main" id="{26F22471-73C7-7718-6FC4-B1855826F0FE}"/>
              </a:ext>
            </a:extLst>
          </p:cNvPr>
          <p:cNvGrpSpPr/>
          <p:nvPr/>
        </p:nvGrpSpPr>
        <p:grpSpPr>
          <a:xfrm>
            <a:off x="7545304" y="2432304"/>
            <a:ext cx="4251960" cy="1129541"/>
            <a:chOff x="7543800" y="1920240"/>
            <a:chExt cx="4251960" cy="1129541"/>
          </a:xfrm>
        </p:grpSpPr>
        <p:sp>
          <p:nvSpPr>
            <p:cNvPr id="8" name="Shape 5"/>
            <p:cNvSpPr/>
            <p:nvPr/>
          </p:nvSpPr>
          <p:spPr>
            <a:xfrm>
              <a:off x="7543800" y="1920240"/>
              <a:ext cx="4251960" cy="1129541"/>
            </a:xfrm>
            <a:prstGeom prst="roundRect">
              <a:avLst>
                <a:gd name="adj" fmla="val 3243"/>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9" name="Text 6"/>
            <p:cNvSpPr/>
            <p:nvPr/>
          </p:nvSpPr>
          <p:spPr>
            <a:xfrm>
              <a:off x="7726680" y="2048256"/>
              <a:ext cx="3886200" cy="320040"/>
            </a:xfrm>
            <a:prstGeom prst="rect">
              <a:avLst/>
            </a:prstGeom>
            <a:noFill/>
            <a:ln/>
          </p:spPr>
          <p:txBody>
            <a:bodyPr wrap="square" lIns="0" tIns="0" rIns="0" bIns="0" rtlCol="0" anchor="ctr"/>
            <a:lstStyle/>
            <a:p>
              <a:pPr marL="0" indent="0" algn="l">
                <a:buNone/>
              </a:pPr>
              <a:r>
                <a:rPr lang="en-US" sz="1700" b="1" dirty="0">
                  <a:solidFill>
                    <a:srgbClr val="1B6E78"/>
                  </a:solidFill>
                  <a:latin typeface="Georgia" pitchFamily="34" charset="0"/>
                  <a:ea typeface="Georgia" pitchFamily="34" charset="-122"/>
                  <a:cs typeface="Georgia" pitchFamily="34" charset="-120"/>
                </a:rPr>
                <a:t>Compression  </a:t>
              </a:r>
              <a:r>
                <a:rPr lang="en-US" sz="1300" i="1" dirty="0">
                  <a:solidFill>
                    <a:srgbClr val="5C6E73"/>
                  </a:solidFill>
                </a:rPr>
                <a:t>— shape</a:t>
              </a:r>
              <a:endParaRPr lang="en-US" sz="1700" dirty="0"/>
            </a:p>
          </p:txBody>
        </p:sp>
        <p:sp>
          <p:nvSpPr>
            <p:cNvPr id="10" name="Text 7"/>
            <p:cNvSpPr/>
            <p:nvPr/>
          </p:nvSpPr>
          <p:spPr>
            <a:xfrm>
              <a:off x="7726680" y="2432304"/>
              <a:ext cx="3886200" cy="502920"/>
            </a:xfrm>
            <a:prstGeom prst="rect">
              <a:avLst/>
            </a:prstGeom>
            <a:noFill/>
            <a:ln/>
          </p:spPr>
          <p:txBody>
            <a:bodyPr wrap="square" rtlCol="0" anchor="t"/>
            <a:lstStyle/>
            <a:p>
              <a:pPr marL="0" indent="0" algn="l">
                <a:buNone/>
              </a:pPr>
              <a:r>
                <a:rPr lang="en-US" sz="1300" dirty="0">
                  <a:solidFill>
                    <a:srgbClr val="1B2B31"/>
                  </a:solidFill>
                </a:rPr>
                <a:t>Balance drifts to the middle; the poles’ contrast shrinks.</a:t>
              </a:r>
              <a:endParaRPr lang="en-US" sz="1300" dirty="0"/>
            </a:p>
          </p:txBody>
        </p:sp>
      </p:grpSp>
      <p:grpSp>
        <p:nvGrpSpPr>
          <p:cNvPr id="19" name="Group 18">
            <a:extLst>
              <a:ext uri="{FF2B5EF4-FFF2-40B4-BE49-F238E27FC236}">
                <a16:creationId xmlns:a16="http://schemas.microsoft.com/office/drawing/2014/main" id="{84A288FD-0880-3575-9F62-174F38ACF633}"/>
              </a:ext>
            </a:extLst>
          </p:cNvPr>
          <p:cNvGrpSpPr/>
          <p:nvPr/>
        </p:nvGrpSpPr>
        <p:grpSpPr>
          <a:xfrm>
            <a:off x="7543800" y="4032267"/>
            <a:ext cx="4251960" cy="1129541"/>
            <a:chOff x="7543800" y="3794760"/>
            <a:chExt cx="4251960" cy="1129541"/>
          </a:xfrm>
        </p:grpSpPr>
        <p:sp>
          <p:nvSpPr>
            <p:cNvPr id="12" name="Shape 9"/>
            <p:cNvSpPr/>
            <p:nvPr/>
          </p:nvSpPr>
          <p:spPr>
            <a:xfrm>
              <a:off x="7543800" y="3794760"/>
              <a:ext cx="4251960" cy="1129541"/>
            </a:xfrm>
            <a:prstGeom prst="roundRect">
              <a:avLst>
                <a:gd name="adj" fmla="val 3158"/>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3" name="Text 10"/>
            <p:cNvSpPr/>
            <p:nvPr/>
          </p:nvSpPr>
          <p:spPr>
            <a:xfrm>
              <a:off x="7726680" y="3922776"/>
              <a:ext cx="3886200" cy="320040"/>
            </a:xfrm>
            <a:prstGeom prst="rect">
              <a:avLst/>
            </a:prstGeom>
            <a:noFill/>
            <a:ln/>
          </p:spPr>
          <p:txBody>
            <a:bodyPr wrap="square" lIns="0" tIns="0" rIns="0" bIns="0" rtlCol="0" anchor="ctr"/>
            <a:lstStyle/>
            <a:p>
              <a:pPr marL="0" indent="0" algn="l">
                <a:buNone/>
              </a:pPr>
              <a:r>
                <a:rPr lang="en-US" sz="1700" b="1" dirty="0">
                  <a:solidFill>
                    <a:srgbClr val="C0561B"/>
                  </a:solidFill>
                  <a:latin typeface="Georgia" pitchFamily="34" charset="0"/>
                  <a:ea typeface="Georgia" pitchFamily="34" charset="-122"/>
                  <a:cs typeface="Georgia" pitchFamily="34" charset="-120"/>
                </a:rPr>
                <a:t>Dimming  </a:t>
              </a:r>
              <a:r>
                <a:rPr lang="en-US" sz="1300" i="1" dirty="0">
                  <a:solidFill>
                    <a:srgbClr val="5C6E73"/>
                  </a:solidFill>
                </a:rPr>
                <a:t>— level</a:t>
              </a:r>
              <a:endParaRPr lang="en-US" sz="1700" dirty="0"/>
            </a:p>
          </p:txBody>
        </p:sp>
        <p:sp>
          <p:nvSpPr>
            <p:cNvPr id="14" name="Text 11"/>
            <p:cNvSpPr/>
            <p:nvPr/>
          </p:nvSpPr>
          <p:spPr>
            <a:xfrm>
              <a:off x="7726680" y="4306824"/>
              <a:ext cx="3886200" cy="548640"/>
            </a:xfrm>
            <a:prstGeom prst="rect">
              <a:avLst/>
            </a:prstGeom>
            <a:noFill/>
            <a:ln/>
          </p:spPr>
          <p:txBody>
            <a:bodyPr wrap="square" rtlCol="0" anchor="t"/>
            <a:lstStyle/>
            <a:p>
              <a:pPr marL="0" indent="0" algn="l">
                <a:buNone/>
              </a:pPr>
              <a:r>
                <a:rPr lang="en-US" sz="1300" dirty="0">
                  <a:solidFill>
                    <a:srgbClr val="1B2B31"/>
                  </a:solidFill>
                </a:rPr>
                <a:t>The pericentral detox program declines in level — same balance, lower volume.</a:t>
              </a:r>
              <a:endParaRPr lang="en-US" sz="1300" dirty="0"/>
            </a:p>
          </p:txBody>
        </p:sp>
      </p:grpSp>
      <p:sp>
        <p:nvSpPr>
          <p:cNvPr id="17"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6</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METHODS &amp; SOFTWARE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METHOD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The analysis stack, end to end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1" u="none" strike="noStrike" kern="1200" cap="none" spc="0" normalizeH="0" baseline="0" noProof="0" dirty="0">
                <a:ln>
                  <a:noFill/>
                </a:ln>
                <a:solidFill>
                  <a:srgbClr val="5C6E73"/>
                </a:solidFill>
                <a:effectLst/>
                <a:uLnTx/>
                <a:uFillTx/>
                <a:latin typeface="Calibri" panose="020F0502020204030204"/>
                <a:ea typeface="+mn-ea"/>
                <a:cs typeface="+mn-cs"/>
              </a:rPr>
              <a:t>Every quantitative claim runs at the donor level on raw molecule counts. The methods, grouped by step:</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1920240"/>
            <a:ext cx="5394960" cy="54864"/>
          </a:xfrm>
          <a:prstGeom prst="rect">
            <a:avLst/>
          </a:prstGeom>
          <a:solidFill>
            <a:srgbClr val="1D4ED8"/>
          </a:solidFill>
          <a:ln/>
        </p:spPr>
      </p:sp>
      <p:sp>
        <p:nvSpPr>
          <p:cNvPr id="9" name="Text 7"/>
          <p:cNvSpPr/>
          <p:nvPr/>
        </p:nvSpPr>
        <p:spPr>
          <a:xfrm>
            <a:off x="86868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1D4ED8"/>
                </a:solidFill>
                <a:effectLst/>
                <a:uLnTx/>
                <a:uFillTx/>
                <a:latin typeface="Calibri" panose="020F0502020204030204"/>
                <a:ea typeface="+mn-ea"/>
                <a:cs typeface="+mn-cs"/>
              </a:rPr>
              <a:t>COUNTS &amp; DEPTH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86868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Raw UMI extraction (not SCT)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absolute detection needs molecules, not normalized residuals — Seurat / Matrix (R)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6868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Binomial down-sampling → 1,500 UMIs / nucleus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removes sequencing depth as a confound (the depth-match)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1920240"/>
            <a:ext cx="5394960" cy="54864"/>
          </a:xfrm>
          <a:prstGeom prst="rect">
            <a:avLst/>
          </a:prstGeom>
          <a:solidFill>
            <a:srgbClr val="0D9488"/>
          </a:solidFill>
          <a:ln/>
        </p:spPr>
      </p:sp>
      <p:sp>
        <p:nvSpPr>
          <p:cNvPr id="14" name="Text 12"/>
          <p:cNvSpPr/>
          <p:nvPr/>
        </p:nvSpPr>
        <p:spPr>
          <a:xfrm>
            <a:off x="640080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0D9488"/>
                </a:solidFill>
                <a:effectLst/>
                <a:uLnTx/>
                <a:uFillTx/>
                <a:latin typeface="Calibri" panose="020F0502020204030204"/>
                <a:ea typeface="+mn-ea"/>
                <a:cs typeface="+mn-cs"/>
              </a:rPr>
              <a:t>PER-GENE DGE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Pseudobulk, donor-level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sum each donor’s hepatocyte counts → one profile per donor (Squair 2021)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40080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edgeR — TMM + NB quasi-likelihood GLM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composition-robust normalization + per-gene fibrosis trend (filterByExpr gene filter)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4023360"/>
            <a:ext cx="5394960" cy="54864"/>
          </a:xfrm>
          <a:prstGeom prst="rect">
            <a:avLst/>
          </a:prstGeom>
          <a:solidFill>
            <a:srgbClr val="7C3AED"/>
          </a:solidFill>
          <a:ln/>
        </p:spPr>
      </p:sp>
      <p:sp>
        <p:nvSpPr>
          <p:cNvPr id="19" name="Text 17"/>
          <p:cNvSpPr/>
          <p:nvPr/>
        </p:nvSpPr>
        <p:spPr>
          <a:xfrm>
            <a:off x="86868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7C3AED"/>
                </a:solidFill>
                <a:effectLst/>
                <a:uLnTx/>
                <a:uFillTx/>
                <a:latin typeface="Calibri" panose="020F0502020204030204"/>
                <a:ea typeface="+mn-ea"/>
                <a:cs typeface="+mn-cs"/>
              </a:rPr>
              <a:t>GENE-SET TESTS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GSEA pre-rank — gseapy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is a set enriched at one end of the ranked genome?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868680" y="489204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CAMERA — competitive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set shifted more than the rest of the transcriptome? (Wu &amp; Smyth 2012)</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68680" y="54406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ROAST / mroast — self-contained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does the set move against zero? rotation p-value (Wu 2010)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617220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4" name="Shape 22"/>
          <p:cNvSpPr/>
          <p:nvPr/>
        </p:nvSpPr>
        <p:spPr>
          <a:xfrm>
            <a:off x="6172200" y="4023360"/>
            <a:ext cx="5394960" cy="54864"/>
          </a:xfrm>
          <a:prstGeom prst="rect">
            <a:avLst/>
          </a:prstGeom>
          <a:solidFill>
            <a:srgbClr val="C0561B"/>
          </a:solidFill>
          <a:ln/>
        </p:spPr>
      </p:sp>
      <p:sp>
        <p:nvSpPr>
          <p:cNvPr id="25" name="Text 23"/>
          <p:cNvSpPr/>
          <p:nvPr/>
        </p:nvSpPr>
        <p:spPr>
          <a:xfrm>
            <a:off x="640080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C0561B"/>
                </a:solidFill>
                <a:effectLst/>
                <a:uLnTx/>
                <a:uFillTx/>
                <a:latin typeface="Calibri" panose="020F0502020204030204"/>
                <a:ea typeface="+mn-ea"/>
                <a:cs typeface="+mn-cs"/>
              </a:rPr>
              <a:t>SOURCE &amp; STATISTICS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40080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decontX — ambient-RNA removal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models native + ambient mixture, subtracts the estimate (celda; Yang 2020)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0" y="49834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TOST equivalence  ·  Cramér’s V  ·  Spearman / partial corr.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bound the null · test batch confounding · trend &amp; covariate control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457200" y="6199632"/>
            <a:ext cx="2926080" cy="0"/>
          </a:xfrm>
          <a:prstGeom prst="line">
            <a:avLst/>
          </a:prstGeom>
          <a:noFill/>
          <a:ln w="9525">
            <a:solidFill>
              <a:srgbClr val="C9C0B2"/>
            </a:solidFill>
            <a:prstDash val="solid"/>
          </a:ln>
        </p:spPr>
      </p:sp>
      <p:sp>
        <p:nvSpPr>
          <p:cNvPr id="29" name="Text 27"/>
          <p:cNvSpPr/>
          <p:nvPr/>
        </p:nvSpPr>
        <p:spPr>
          <a:xfrm>
            <a:off x="457200" y="6254496"/>
            <a:ext cx="11247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256"/>
                </a:solidFill>
                <a:effectLst/>
                <a:uLnTx/>
                <a:uFillTx/>
                <a:latin typeface="Calibri" panose="020F0502020204030204"/>
                <a:ea typeface="+mn-ea"/>
                <a:cs typeface="+mn-cs"/>
              </a:rPr>
              <a:t>Stack: R (edgeR, limma, decontX/celda, Seurat) · Python (numpy, scipy, pandas, gseapy).   Refs: edgeR / TMM — Robinson, McCarthy &amp; Smyth 2010; Robinson &amp; Oshlack 2010 · CAMERA — Wu &amp; Smyth 2012 · ROAST — Wu et al. 2010 · decontX — Yang et al. 2020 · pseudobulk — Squair et al. 2021 · GSEA — Subramanian et al. 2005.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Results</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what the counts actually say – and a meaningful differential gene expression analysis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CLASSES RESULTS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icPr>
            <a:picLocks noChangeAspect="1"/>
          </p:cNvPicPr>
          <p:nvPr/>
        </p:nvPicPr>
        <p:blipFill>
          <a:blip r:embed="rId3"/>
          <a:stretch>
            <a:fillRect/>
          </a:stretch>
        </p:blipFill>
        <p:spPr>
          <a:xfrm>
            <a:off x="182880" y="1463040"/>
            <a:ext cx="8412480" cy="4126230"/>
          </a:xfrm>
          <a:prstGeom prst="rect">
            <a:avLst/>
          </a:prstGeom>
        </p:spPr>
      </p:pic>
      <p:sp>
        <p:nvSpPr>
          <p:cNvPr id="7" name="Text 4"/>
          <p:cNvSpPr/>
          <p:nvPr/>
        </p:nvSpPr>
        <p:spPr>
          <a:xfrm>
            <a:off x="182880" y="5760720"/>
            <a:ext cx="84124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2.  Pericentral / periportal anchor and dual co-expression across matched biopsy F1–F4 </a:t>
            </a:r>
          </a:p>
          <a:p>
            <a:pPr marL="0" indent="0" algn="ctr">
              <a:buNone/>
            </a:pPr>
            <a:r>
              <a:rPr lang="en-US" sz="1200" i="1" dirty="0">
                <a:solidFill>
                  <a:srgbClr val="5C6E73"/>
                </a:solidFill>
              </a:rPr>
              <a:t>(each point = one donor; bar = stage mean ± SEM; F0 n=2 omitted — in QA).</a:t>
            </a:r>
            <a:endParaRPr lang="en-US" sz="1200" dirty="0"/>
          </a:p>
        </p:txBody>
      </p:sp>
      <p:sp>
        <p:nvSpPr>
          <p:cNvPr id="8" name="Text 5"/>
          <p:cNvSpPr/>
          <p:nvPr/>
        </p:nvSpPr>
        <p:spPr>
          <a:xfrm>
            <a:off x="8732520" y="1508760"/>
            <a:ext cx="3200400" cy="3749040"/>
          </a:xfrm>
          <a:prstGeom prst="rect">
            <a:avLst/>
          </a:prstGeom>
          <a:noFill/>
          <a:ln/>
        </p:spPr>
        <p:txBody>
          <a:bodyPr wrap="square" rtlCol="0" anchor="t"/>
          <a:lstStyle/>
          <a:p>
            <a:pPr marL="0" indent="0" algn="l">
              <a:spcAft>
                <a:spcPts val="200"/>
              </a:spcAft>
              <a:buNone/>
            </a:pPr>
            <a:r>
              <a:rPr lang="en-US" sz="1400" b="1" dirty="0">
                <a:solidFill>
                  <a:srgbClr val="1D4ED8"/>
                </a:solidFill>
              </a:rPr>
              <a:t>No depletion.
</a:t>
            </a:r>
            <a:endParaRPr lang="en-US" sz="1400" dirty="0"/>
          </a:p>
          <a:p>
            <a:pPr marL="0" indent="0" algn="l">
              <a:spcAft>
                <a:spcPts val="200"/>
              </a:spcAft>
              <a:buNone/>
            </a:pPr>
            <a:r>
              <a:rPr lang="en-US" sz="1400" dirty="0">
                <a:solidFill>
                  <a:srgbClr val="1B2B31"/>
                </a:solidFill>
              </a:rPr>
              <a:t>PC &amp; PP anchors flat across F1–F4.
</a:t>
            </a:r>
            <a:endParaRPr lang="en-US" sz="1400" dirty="0"/>
          </a:p>
          <a:p>
            <a:pPr marL="0" indent="0" algn="l">
              <a:spcAft>
                <a:spcPts val="200"/>
              </a:spcAft>
              <a:buNone/>
            </a:pPr>
            <a:r>
              <a:rPr lang="en-US" sz="1400" b="1" dirty="0">
                <a:solidFill>
                  <a:srgbClr val="7C3AED"/>
                </a:solidFill>
              </a:rPr>
              <a:t>No co-expression.
</a:t>
            </a:r>
            <a:endParaRPr lang="en-US" sz="1400" dirty="0"/>
          </a:p>
          <a:p>
            <a:pPr marL="0" indent="0" algn="l">
              <a:spcAft>
                <a:spcPts val="200"/>
              </a:spcAft>
              <a:buNone/>
            </a:pPr>
            <a:r>
              <a:rPr lang="en-US" sz="1400" dirty="0">
                <a:solidFill>
                  <a:srgbClr val="1B2B31"/>
                </a:solidFill>
              </a:rPr>
              <a:t>Dual stays ~0.4% per cell (vs 2.9% in explants).
</a:t>
            </a:r>
            <a:endParaRPr lang="en-US" sz="1400" dirty="0"/>
          </a:p>
          <a:p>
            <a:pPr marL="0" indent="0" algn="l">
              <a:spcAft>
                <a:spcPts val="200"/>
              </a:spcAft>
              <a:buNone/>
            </a:pPr>
            <a:r>
              <a:rPr lang="en-US" sz="1400" b="1" dirty="0">
                <a:solidFill>
                  <a:srgbClr val="475569"/>
                </a:solidFill>
              </a:rPr>
              <a:t>Null &amp; PP:PC flat too.
</a:t>
            </a:r>
            <a:endParaRPr lang="en-US" sz="1400" dirty="0"/>
          </a:p>
          <a:p>
            <a:pPr marL="0" indent="0" algn="l">
              <a:spcAft>
                <a:spcPts val="200"/>
              </a:spcAft>
              <a:buNone/>
            </a:pPr>
            <a:r>
              <a:rPr lang="en-US" sz="1400" dirty="0">
                <a:solidFill>
                  <a:srgbClr val="1B2B31"/>
                </a:solidFill>
              </a:rPr>
              <a:t>40/40/40/41%;  ratio ≈ 1.1–1.7.
</a:t>
            </a:r>
            <a:endParaRPr lang="en-US" sz="1400" dirty="0"/>
          </a:p>
          <a:p>
            <a:pPr marL="0" indent="0" algn="l">
              <a:spcAft>
                <a:spcPts val="200"/>
              </a:spcAft>
              <a:buNone/>
            </a:pPr>
            <a:r>
              <a:rPr lang="en-US" sz="1600" b="1" dirty="0">
                <a:solidFill>
                  <a:srgbClr val="0D9488"/>
                </a:solidFill>
              </a:rPr>
              <a:t>→ no transcriptional de-zonation signal.</a:t>
            </a:r>
            <a:endParaRPr lang="en-US" sz="1400" dirty="0"/>
          </a:p>
        </p:txBody>
      </p:sp>
      <p:sp>
        <p:nvSpPr>
          <p:cNvPr id="9" name="Text 6"/>
          <p:cNvSpPr/>
          <p:nvPr/>
        </p:nvSpPr>
        <p:spPr>
          <a:xfrm>
            <a:off x="8732520" y="5722122"/>
            <a:ext cx="3200400" cy="496586"/>
          </a:xfrm>
          <a:prstGeom prst="rect">
            <a:avLst/>
          </a:prstGeom>
          <a:noFill/>
          <a:ln/>
        </p:spPr>
        <p:txBody>
          <a:bodyPr wrap="square" rtlCol="0" anchor="t"/>
          <a:lstStyle/>
          <a:p>
            <a:pPr marL="0" indent="0" algn="l">
              <a:buNone/>
            </a:pPr>
            <a:r>
              <a:rPr lang="en-US" sz="1100" i="1" dirty="0">
                <a:solidFill>
                  <a:srgbClr val="5C6E73"/>
                </a:solidFill>
              </a:rPr>
              <a:t>Equivalence (TOST): a &gt; ±19 pp F4–F1 shift is excluded; a ≤10 pp drift is not (F4 n=4). Spread + 10-confounder audit in QA.</a:t>
            </a:r>
            <a:endParaRPr lang="en-US" sz="110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628755"/>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Cells stay spread across the zones — no apparent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r>
              <a:rPr lang="en-US" sz="1450" b="1" dirty="0">
                <a:solidFill>
                  <a:srgbClr val="1B2B31"/>
                </a:solidFill>
              </a:rPr>
              <a:t>Each panel: where hepatocytes fall on the pericentral ↔ periportal axis. PC / (PC + PP) directly from counts. A zonal gradient histogram.</a:t>
            </a:r>
          </a:p>
          <a:p>
            <a:pPr marL="0" indent="0" algn="l">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icPr>
            <a:picLocks noChangeAspect="1"/>
          </p:cNvPicPr>
          <p:nvPr/>
        </p:nvPicPr>
        <p:blipFill>
          <a:blip r:embed="rId3"/>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3.  Per-cell zonal balance by stage (down-thinned to 1,500 UMIs, ≤300 nuclei/donor). </a:t>
            </a:r>
          </a:p>
          <a:p>
            <a:pPr marL="0" indent="0" algn="ctr">
              <a:buNone/>
            </a:pPr>
            <a:r>
              <a:rPr lang="en-US" sz="1200" i="1" dirty="0">
                <a:solidFill>
                  <a:srgbClr val="5C6E73"/>
                </a:solidFill>
              </a:rPr>
              <a:t>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marL="0" indent="0" algn="l">
              <a:buNone/>
            </a:pPr>
            <a:r>
              <a:rPr lang="en-US" sz="1450" dirty="0">
                <a:solidFill>
                  <a:srgbClr val="1B2B31"/>
                </a:solidFill>
              </a:rPr>
              <a:t>Across biopsy F1–F4 the mass stays spread — the share of cells landing across [0.4–0.6) drifts only 22 → 24 → 28 → 26% (peak F3, then reverts), non-monotone and mild. </a:t>
            </a: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9</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a:effectLst/>
      </p:bgPr>
    </p:bg>
    <p:spTree>
      <p:nvGrpSpPr>
        <p:cNvPr id="1" name=""/>
        <p:cNvGrpSpPr/>
        <p:nvPr/>
      </p:nvGrpSpPr>
      <p:grpSpPr>
        <a:xfrm>
          <a:off x="0" y="0"/>
          <a:ext cx="0" cy="0"/>
          <a:chOff x="0" y="0"/>
          <a:chExt cx="0" cy="0"/>
        </a:xfrm>
      </p:grpSpPr>
      <p:sp>
        <p:nvSpPr>
          <p:cNvPr id="13" name="Shape 6">
            <a:extLst>
              <a:ext uri="{FF2B5EF4-FFF2-40B4-BE49-F238E27FC236}">
                <a16:creationId xmlns:a16="http://schemas.microsoft.com/office/drawing/2014/main" id="{05A1DEB1-EB4F-E7FD-B843-D0D1C7305F2D}"/>
              </a:ext>
            </a:extLst>
          </p:cNvPr>
          <p:cNvSpPr/>
          <p:nvPr/>
        </p:nvSpPr>
        <p:spPr>
          <a:xfrm>
            <a:off x="8284463" y="4113652"/>
            <a:ext cx="3547873" cy="588977"/>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 gene, nothing usable moves</a:t>
            </a:r>
            <a:endParaRPr lang="en-US" sz="2800" dirty="0"/>
          </a:p>
        </p:txBody>
      </p:sp>
      <p:pic>
        <p:nvPicPr>
          <p:cNvPr id="6" name="Image 0" descr="D:\CS\Genomics\Hackathon\presentation/assets/fig_volcano.png"/>
          <p:cNvPicPr>
            <a:picLocks noChangeAspect="1"/>
          </p:cNvPicPr>
          <p:nvPr/>
        </p:nvPicPr>
        <p:blipFill>
          <a:blip r:embed="rId3"/>
          <a:stretch>
            <a:fillRect/>
          </a:stretch>
        </p:blipFill>
        <p:spPr>
          <a:xfrm>
            <a:off x="1065542" y="1417320"/>
            <a:ext cx="6372835" cy="4114800"/>
          </a:xfrm>
          <a:prstGeom prst="rect">
            <a:avLst/>
          </a:prstGeom>
        </p:spPr>
      </p:pic>
      <p:sp>
        <p:nvSpPr>
          <p:cNvPr id="7" name="Text 4"/>
          <p:cNvSpPr/>
          <p:nvPr/>
        </p:nvSpPr>
        <p:spPr>
          <a:xfrm>
            <a:off x="274320" y="5532120"/>
            <a:ext cx="7955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8412480" y="1645920"/>
            <a:ext cx="3520440" cy="1592085"/>
          </a:xfrm>
          <a:prstGeom prst="rect">
            <a:avLst/>
          </a:prstGeom>
          <a:noFill/>
          <a:ln/>
        </p:spPr>
        <p:txBody>
          <a:bodyPr wrap="square" rtlCol="0" anchor="t"/>
          <a:lstStyle/>
          <a:p>
            <a:pPr marL="0" indent="0" algn="l">
              <a:spcAft>
                <a:spcPts val="600"/>
              </a:spcAft>
              <a:buNone/>
            </a:pPr>
            <a:r>
              <a:rPr lang="en-US" sz="1400" b="1" dirty="0">
                <a:solidFill>
                  <a:srgbClr val="1B2B31"/>
                </a:solidFill>
              </a:rPr>
              <a:t>64 of ~21,000 genes pass FDR¹ </a:t>
            </a:r>
          </a:p>
          <a:p>
            <a:pPr marL="0" indent="0" algn="l">
              <a:spcAft>
                <a:spcPts val="600"/>
              </a:spcAft>
              <a:buNone/>
            </a:pPr>
            <a:r>
              <a:rPr lang="en-US" sz="1400" b="1" dirty="0">
                <a:solidFill>
                  <a:srgbClr val="1B2B31"/>
                </a:solidFill>
              </a:rPr>
              <a:t>	— </a:t>
            </a:r>
            <a:r>
              <a:rPr lang="en-US" sz="1400" dirty="0">
                <a:solidFill>
                  <a:srgbClr val="1B2B31"/>
                </a:solidFill>
              </a:rPr>
              <a:t>mostly biliary / ductular.
</a:t>
            </a:r>
            <a:r>
              <a:rPr lang="en-US" sz="1400" b="1" dirty="0">
                <a:solidFill>
                  <a:srgbClr val="1D4ED8"/>
                </a:solidFill>
              </a:rPr>
              <a:t>Zonation genes flat </a:t>
            </a:r>
            <a:r>
              <a:rPr lang="en-US" sz="1400" dirty="0">
                <a:solidFill>
                  <a:srgbClr val="1B2B31"/>
                </a:solidFill>
              </a:rPr>
              <a:t>(GLUL FDR 0.80). </a:t>
            </a:r>
          </a:p>
          <a:p>
            <a:pPr marL="0" indent="0" algn="l">
              <a:spcAft>
                <a:spcPts val="600"/>
              </a:spcAft>
              <a:buNone/>
            </a:pPr>
            <a:r>
              <a:rPr lang="en-US" sz="1400" dirty="0">
                <a:solidFill>
                  <a:srgbClr val="1B2B31"/>
                </a:solidFill>
              </a:rPr>
              <a:t>	No large single-gene program.
</a:t>
            </a:r>
            <a:endParaRPr lang="en-US" sz="1400" b="1" dirty="0">
              <a:solidFill>
                <a:srgbClr val="1B2B31"/>
              </a:solidFill>
            </a:endParaRPr>
          </a:p>
        </p:txBody>
      </p:sp>
      <p:sp>
        <p:nvSpPr>
          <p:cNvPr id="9" name="Shape 6"/>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0" name="Text 7"/>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Pseudobulk: Squair et al. 2021; edgeR / TMM: Robinson, McCarthy &amp; Smyth 2010; Robinson &amp; Oshlack 2010.</a:t>
            </a:r>
            <a:endParaRPr lang="en-US" sz="1000" dirty="0"/>
          </a:p>
        </p:txBody>
      </p:sp>
      <p:sp>
        <p:nvSpPr>
          <p:cNvPr id="11" name="Text 8"/>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2" name="Text 9"/>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10</a:t>
            </a:r>
            <a:endParaRPr lang="en-US" sz="1050" dirty="0"/>
          </a:p>
        </p:txBody>
      </p:sp>
      <p:sp>
        <p:nvSpPr>
          <p:cNvPr id="17" name="TextBox 16">
            <a:extLst>
              <a:ext uri="{FF2B5EF4-FFF2-40B4-BE49-F238E27FC236}">
                <a16:creationId xmlns:a16="http://schemas.microsoft.com/office/drawing/2014/main" id="{4853E2A5-6351-661E-2AFE-CB8EDD9F7715}"/>
              </a:ext>
            </a:extLst>
          </p:cNvPr>
          <p:cNvSpPr txBox="1"/>
          <p:nvPr/>
        </p:nvSpPr>
        <p:spPr>
          <a:xfrm>
            <a:off x="8372104" y="4150674"/>
            <a:ext cx="3301340" cy="523220"/>
          </a:xfrm>
          <a:prstGeom prst="rect">
            <a:avLst/>
          </a:prstGeom>
          <a:noFill/>
        </p:spPr>
        <p:txBody>
          <a:bodyPr wrap="square">
            <a:spAutoFit/>
          </a:bodyPr>
          <a:lstStyle/>
          <a:p>
            <a:r>
              <a:rPr kumimoji="0" lang="en-US" sz="1400" b="1" i="0" u="none" strike="noStrike" kern="1200" cap="none" spc="0" normalizeH="0" baseline="0" noProof="0" dirty="0">
                <a:ln>
                  <a:noFill/>
                </a:ln>
                <a:solidFill>
                  <a:srgbClr val="FF0000"/>
                </a:solidFill>
                <a:effectLst/>
                <a:uLnTx/>
                <a:uFillTx/>
                <a:latin typeface="Calibri" panose="020F0502020204030204"/>
                <a:ea typeface="+mn-ea"/>
                <a:cs typeface="+mn-cs"/>
              </a:rPr>
              <a:t>But a weak program, spread thinly across many genes, hides from per-gene FDR </a:t>
            </a:r>
            <a:endParaRPr lang="en-US" dirty="0">
              <a:solidFill>
                <a:srgbClr val="FF000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5F1"/>
          </a:solidFill>
          <a:ln/>
        </p:spPr>
        <p:txBody>
          <a:bodyPr/>
          <a:lstStyle/>
          <a:p>
            <a:r>
              <a:rPr lang="en-US" dirty="0"/>
              <a:t>c</a:t>
            </a:r>
          </a:p>
        </p:txBody>
      </p:sp>
      <p:sp>
        <p:nvSpPr>
          <p:cNvPr id="3" name="Shape 1"/>
          <p:cNvSpPr/>
          <p:nvPr/>
        </p:nvSpPr>
        <p:spPr>
          <a:xfrm>
            <a:off x="457200" y="310896"/>
            <a:ext cx="146304" cy="237744"/>
          </a:xfrm>
          <a:prstGeom prst="rect">
            <a:avLst/>
          </a:prstGeom>
          <a:solidFill>
            <a:srgbClr val="C0561B"/>
          </a:solidFill>
          <a:ln/>
        </p:spPr>
      </p:sp>
      <p:sp>
        <p:nvSpPr>
          <p:cNvPr id="4" name="Text 2"/>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SOURCE</a:t>
            </a:r>
            <a:endParaRPr lang="en-US" sz="1300" dirty="0"/>
          </a:p>
        </p:txBody>
      </p:sp>
      <p:sp>
        <p:nvSpPr>
          <p:cNvPr id="5" name="Text 3"/>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6" name="Text 4"/>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The biliary signal: compositional? a lead</a:t>
            </a:r>
            <a:endParaRPr lang="en-US" sz="2800" dirty="0"/>
          </a:p>
        </p:txBody>
      </p:sp>
      <p:sp>
        <p:nvSpPr>
          <p:cNvPr id="7" name="Text 5"/>
          <p:cNvSpPr/>
          <p:nvPr/>
        </p:nvSpPr>
        <p:spPr>
          <a:xfrm>
            <a:off x="640080" y="1335024"/>
            <a:ext cx="11247120" cy="411480"/>
          </a:xfrm>
          <a:prstGeom prst="rect">
            <a:avLst/>
          </a:prstGeom>
          <a:noFill/>
          <a:ln/>
        </p:spPr>
        <p:txBody>
          <a:bodyPr wrap="square" rtlCol="0" anchor="ctr"/>
          <a:lstStyle/>
          <a:p>
            <a:pPr marL="0" indent="0" algn="l">
              <a:buNone/>
            </a:pPr>
            <a:r>
              <a:rPr lang="en-US" sz="1450" b="1" dirty="0">
                <a:solidFill>
                  <a:srgbClr val="1B2B31"/>
                </a:solidFill>
              </a:rPr>
              <a:t>What we see:  </a:t>
            </a:r>
            <a:r>
              <a:rPr lang="en-US" sz="1450" dirty="0">
                <a:solidFill>
                  <a:srgbClr val="1B2B31"/>
                </a:solidFill>
              </a:rPr>
              <a:t>biliary / ductular genes (EPCAM, SOX9, GRHL2, B3GNT3, SPINT2) rise at F4 — exactly where cirrhosis’s ductular reaction floods the tissue with cholangiocytes.</a:t>
            </a:r>
            <a:endParaRPr lang="en-US" sz="1450" dirty="0"/>
          </a:p>
        </p:txBody>
      </p:sp>
      <p:pic>
        <p:nvPicPr>
          <p:cNvPr id="8" name="Image 0" descr="D:\CS\Genomics\Hackathon\presentation/assets/fig_compositional.png"/>
          <p:cNvPicPr>
            <a:picLocks noChangeAspect="1"/>
          </p:cNvPicPr>
          <p:nvPr/>
        </p:nvPicPr>
        <p:blipFill>
          <a:blip r:embed="rId3"/>
          <a:stretch>
            <a:fillRect/>
          </a:stretch>
        </p:blipFill>
        <p:spPr>
          <a:xfrm>
            <a:off x="3791788" y="1783080"/>
            <a:ext cx="4623665" cy="1828800"/>
          </a:xfrm>
          <a:prstGeom prst="rect">
            <a:avLst/>
          </a:prstGeom>
        </p:spPr>
      </p:pic>
      <p:sp>
        <p:nvSpPr>
          <p:cNvPr id="9" name="Text 6"/>
          <p:cNvSpPr/>
          <p:nvPr/>
        </p:nvSpPr>
        <p:spPr>
          <a:xfrm>
            <a:off x="365760" y="3657600"/>
            <a:ext cx="1147572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Source attribution — cross-lineage abundance, decontX ambient-RNA removal, and the F4 ductular reaction.</a:t>
            </a:r>
            <a:endParaRPr lang="en-US" sz="1200" dirty="0"/>
          </a:p>
        </p:txBody>
      </p:sp>
      <p:sp>
        <p:nvSpPr>
          <p:cNvPr id="10" name="Shape 7"/>
          <p:cNvSpPr/>
          <p:nvPr/>
        </p:nvSpPr>
        <p:spPr>
          <a:xfrm>
            <a:off x="548640" y="4041648"/>
            <a:ext cx="11201400" cy="603504"/>
          </a:xfrm>
          <a:prstGeom prst="roundRect">
            <a:avLst>
              <a:gd name="adj" fmla="val 7576"/>
            </a:avLst>
          </a:prstGeom>
          <a:solidFill>
            <a:srgbClr val="E7F2ED"/>
          </a:solidFill>
          <a:ln/>
        </p:spPr>
      </p:sp>
      <p:sp>
        <p:nvSpPr>
          <p:cNvPr id="11" name="Text 8"/>
          <p:cNvSpPr/>
          <p:nvPr/>
        </p:nvSpPr>
        <p:spPr>
          <a:xfrm>
            <a:off x="713232" y="4041648"/>
            <a:ext cx="2697480" cy="603504"/>
          </a:xfrm>
          <a:prstGeom prst="rect">
            <a:avLst/>
          </a:prstGeom>
          <a:noFill/>
          <a:ln/>
        </p:spPr>
        <p:txBody>
          <a:bodyPr wrap="square" lIns="0" tIns="0" rIns="0" bIns="0" rtlCol="0" anchor="ctr"/>
          <a:lstStyle/>
          <a:p>
            <a:pPr marL="0" indent="0">
              <a:buNone/>
            </a:pPr>
            <a:r>
              <a:rPr lang="en-US" sz="1100" b="1" kern="0" spc="50" dirty="0">
                <a:solidFill>
                  <a:srgbClr val="065F46"/>
                </a:solidFill>
              </a:rPr>
              <a:t>COMPOSITIONAL  (the lead)</a:t>
            </a:r>
            <a:endParaRPr lang="en-US" sz="1100" dirty="0"/>
          </a:p>
        </p:txBody>
      </p:sp>
      <p:sp>
        <p:nvSpPr>
          <p:cNvPr id="12" name="Text 9"/>
          <p:cNvSpPr/>
          <p:nvPr/>
        </p:nvSpPr>
        <p:spPr>
          <a:xfrm>
            <a:off x="3474720" y="4041648"/>
            <a:ext cx="8138160" cy="603504"/>
          </a:xfrm>
          <a:prstGeom prst="rect">
            <a:avLst/>
          </a:prstGeom>
          <a:noFill/>
          <a:ln/>
        </p:spPr>
        <p:txBody>
          <a:bodyPr wrap="square" lIns="0" tIns="0" rIns="0" bIns="0" rtlCol="0" anchor="ctr"/>
          <a:lstStyle/>
          <a:p>
            <a:pPr marL="0" indent="0">
              <a:buNone/>
            </a:pPr>
            <a:r>
              <a:rPr lang="en-US" sz="1100" dirty="0">
                <a:solidFill>
                  <a:srgbClr val="1B2B31"/>
                </a:solidFill>
              </a:rPr>
              <a:t>These are cholangiocyte genes. At F4 there are more cholangiocytes → more of their RNA in the ambient “soup” (plus the odd doublet) enters hepatocyte droplets → hepatocytes look biliary without transdifferentiating.</a:t>
            </a:r>
            <a:endParaRPr lang="en-US" sz="1100" dirty="0"/>
          </a:p>
        </p:txBody>
      </p:sp>
      <p:sp>
        <p:nvSpPr>
          <p:cNvPr id="13" name="Shape 10"/>
          <p:cNvSpPr/>
          <p:nvPr/>
        </p:nvSpPr>
        <p:spPr>
          <a:xfrm>
            <a:off x="548640" y="4700016"/>
            <a:ext cx="11201400" cy="603504"/>
          </a:xfrm>
          <a:prstGeom prst="roundRect">
            <a:avLst>
              <a:gd name="adj" fmla="val 7576"/>
            </a:avLst>
          </a:prstGeom>
          <a:solidFill>
            <a:srgbClr val="FBF0E2"/>
          </a:solidFill>
          <a:ln/>
        </p:spPr>
      </p:sp>
      <p:sp>
        <p:nvSpPr>
          <p:cNvPr id="14" name="Text 11"/>
          <p:cNvSpPr/>
          <p:nvPr/>
        </p:nvSpPr>
        <p:spPr>
          <a:xfrm>
            <a:off x="713232" y="4700016"/>
            <a:ext cx="2697480" cy="603504"/>
          </a:xfrm>
          <a:prstGeom prst="rect">
            <a:avLst/>
          </a:prstGeom>
          <a:noFill/>
          <a:ln/>
        </p:spPr>
        <p:txBody>
          <a:bodyPr wrap="square" lIns="0" tIns="0" rIns="0" bIns="0" rtlCol="0" anchor="ctr"/>
          <a:lstStyle/>
          <a:p>
            <a:pPr marL="0" indent="0">
              <a:buNone/>
            </a:pPr>
            <a:r>
              <a:rPr lang="en-US" sz="1100" b="1" kern="0" spc="50" dirty="0">
                <a:solidFill>
                  <a:srgbClr val="B45309"/>
                </a:solidFill>
              </a:rPr>
              <a:t>RARE PER CELL  (read carefully)</a:t>
            </a:r>
            <a:endParaRPr lang="en-US" sz="1100" dirty="0"/>
          </a:p>
        </p:txBody>
      </p:sp>
      <p:sp>
        <p:nvSpPr>
          <p:cNvPr id="15" name="Text 12"/>
          <p:cNvSpPr/>
          <p:nvPr/>
        </p:nvSpPr>
        <p:spPr>
          <a:xfrm>
            <a:off x="3474720" y="4700016"/>
            <a:ext cx="8138160" cy="603504"/>
          </a:xfrm>
          <a:prstGeom prst="rect">
            <a:avLst/>
          </a:prstGeom>
          <a:noFill/>
          <a:ln/>
        </p:spPr>
        <p:txBody>
          <a:bodyPr wrap="square" lIns="0" tIns="0" rIns="0" bIns="0" rtlCol="0" anchor="ctr"/>
          <a:lstStyle/>
          <a:p>
            <a:pPr marL="0" indent="0">
              <a:buNone/>
            </a:pPr>
            <a:r>
              <a:rPr lang="en-US" sz="1100" dirty="0">
                <a:solidFill>
                  <a:srgbClr val="1B2B31"/>
                </a:solidFill>
              </a:rPr>
              <a:t>Only ~0.4% of hepatocyte nuclei co-detect biliary markers at ≥2 UMI — not population-wide. But that is prevalence over ALL hepatocytes: it argues against MASS transdifferentiation, not against a rare sub-population (class imbalance).</a:t>
            </a:r>
            <a:endParaRPr lang="en-US" sz="1100" dirty="0"/>
          </a:p>
        </p:txBody>
      </p:sp>
      <p:sp>
        <p:nvSpPr>
          <p:cNvPr id="16" name="Shape 13"/>
          <p:cNvSpPr/>
          <p:nvPr/>
        </p:nvSpPr>
        <p:spPr>
          <a:xfrm>
            <a:off x="548640" y="5358384"/>
            <a:ext cx="11201400" cy="603504"/>
          </a:xfrm>
          <a:prstGeom prst="roundRect">
            <a:avLst>
              <a:gd name="adj" fmla="val 7576"/>
            </a:avLst>
          </a:prstGeom>
          <a:solidFill>
            <a:srgbClr val="FBEEE9"/>
          </a:solidFill>
          <a:ln/>
        </p:spPr>
      </p:sp>
      <p:sp>
        <p:nvSpPr>
          <p:cNvPr id="17" name="Text 14"/>
          <p:cNvSpPr/>
          <p:nvPr/>
        </p:nvSpPr>
        <p:spPr>
          <a:xfrm>
            <a:off x="713232" y="5358384"/>
            <a:ext cx="2697480" cy="603504"/>
          </a:xfrm>
          <a:prstGeom prst="rect">
            <a:avLst/>
          </a:prstGeom>
          <a:noFill/>
          <a:ln/>
        </p:spPr>
        <p:txBody>
          <a:bodyPr wrap="square" lIns="0" tIns="0" rIns="0" bIns="0" rtlCol="0" anchor="ctr"/>
          <a:lstStyle/>
          <a:p>
            <a:pPr marL="0" indent="0">
              <a:buNone/>
            </a:pPr>
            <a:r>
              <a:rPr lang="en-US" sz="1100" b="1" kern="0" spc="50" dirty="0">
                <a:solidFill>
                  <a:srgbClr val="BE123C"/>
                </a:solidFill>
              </a:rPr>
              <a:t>OPEN  (a residual survives)</a:t>
            </a:r>
            <a:endParaRPr lang="en-US" sz="1100" dirty="0"/>
          </a:p>
        </p:txBody>
      </p:sp>
      <p:sp>
        <p:nvSpPr>
          <p:cNvPr id="18" name="Text 15"/>
          <p:cNvSpPr/>
          <p:nvPr/>
        </p:nvSpPr>
        <p:spPr>
          <a:xfrm>
            <a:off x="3474720" y="5358384"/>
            <a:ext cx="8138160" cy="603504"/>
          </a:xfrm>
          <a:prstGeom prst="rect">
            <a:avLst/>
          </a:prstGeom>
          <a:noFill/>
          <a:ln/>
        </p:spPr>
        <p:txBody>
          <a:bodyPr wrap="square" lIns="0" tIns="0" rIns="0" bIns="0" rtlCol="0" anchor="ctr"/>
          <a:lstStyle/>
          <a:p>
            <a:pPr marL="0" indent="0">
              <a:buNone/>
            </a:pPr>
            <a:r>
              <a:rPr lang="en-US" sz="1100" dirty="0">
                <a:solidFill>
                  <a:srgbClr val="1B2B31"/>
                </a:solidFill>
              </a:rPr>
              <a:t>decontX removes about half the hits (64 → 34), but EPCAM / SPINT2 / B3GNT3 survive decontamination — ambient can’t explain all of it, so a rare intrinsic state is not excluded.</a:t>
            </a:r>
            <a:endParaRPr lang="en-US" sz="1100" dirty="0"/>
          </a:p>
        </p:txBody>
      </p:sp>
      <p:sp>
        <p:nvSpPr>
          <p:cNvPr id="19" name="Text 16"/>
          <p:cNvSpPr/>
          <p:nvPr/>
        </p:nvSpPr>
        <p:spPr>
          <a:xfrm>
            <a:off x="548640" y="6089904"/>
            <a:ext cx="11247120" cy="320040"/>
          </a:xfrm>
          <a:prstGeom prst="rect">
            <a:avLst/>
          </a:prstGeom>
          <a:noFill/>
          <a:ln/>
        </p:spPr>
        <p:txBody>
          <a:bodyPr wrap="square" rtlCol="0" anchor="ctr"/>
          <a:lstStyle/>
          <a:p>
            <a:pPr marL="0" indent="0" algn="l">
              <a:buNone/>
            </a:pPr>
            <a:r>
              <a:rPr lang="en-US" sz="1300" b="1" dirty="0">
                <a:solidFill>
                  <a:srgbClr val="123F47"/>
                </a:solidFill>
              </a:rPr>
              <a:t>Verdict:  </a:t>
            </a:r>
            <a:r>
              <a:rPr lang="en-US" sz="1300" i="1" dirty="0">
                <a:solidFill>
                  <a:srgbClr val="1B2B31"/>
                </a:solidFill>
              </a:rPr>
              <a:t>most consistent with composition / ambient (the ductular reaction) — a lead, not a closed verdict.</a:t>
            </a:r>
            <a:endParaRPr lang="en-US" sz="1300" dirty="0"/>
          </a:p>
        </p:txBody>
      </p:sp>
      <p:sp>
        <p:nvSpPr>
          <p:cNvPr id="20" name="Text 1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ONE REAL CHANGE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Pericentral detox dims — identity stays</a:t>
            </a:r>
            <a:endParaRPr lang="en-US" sz="2800" dirty="0"/>
          </a:p>
        </p:txBody>
      </p:sp>
      <p:sp>
        <p:nvSpPr>
          <p:cNvPr id="6" name="Text 4"/>
          <p:cNvSpPr/>
          <p:nvPr/>
        </p:nvSpPr>
        <p:spPr>
          <a:xfrm>
            <a:off x="640080" y="1280560"/>
            <a:ext cx="11247120" cy="457200"/>
          </a:xfrm>
          <a:prstGeom prst="rect">
            <a:avLst/>
          </a:prstGeom>
          <a:noFill/>
          <a:ln/>
        </p:spPr>
        <p:txBody>
          <a:bodyPr wrap="square" rtlCol="0" anchor="ctr"/>
          <a:lstStyle/>
          <a:p>
            <a:pPr marL="0" indent="0" algn="l">
              <a:buNone/>
            </a:pPr>
            <a:r>
              <a:rPr lang="en-US" sz="1550" b="1" dirty="0">
                <a:solidFill>
                  <a:srgbClr val="1B2B31"/>
                </a:solidFill>
              </a:rPr>
              <a:t>Cells keep their class — </a:t>
            </a:r>
            <a:r>
              <a:rPr lang="en-US" sz="1550" dirty="0">
                <a:solidFill>
                  <a:srgbClr val="1B2B31"/>
                </a:solidFill>
              </a:rPr>
              <a:t>but within pericentral nuclei, the detox program’s level falls with fibrosis</a:t>
            </a:r>
            <a:endParaRPr lang="en-US" sz="1550" dirty="0"/>
          </a:p>
        </p:txBody>
      </p:sp>
      <p:pic>
        <p:nvPicPr>
          <p:cNvPr id="7" name="Image 0" descr="D:\CS\Genomics\Hackathon\presentation/assets/fig_dimming.png"/>
          <p:cNvPicPr>
            <a:picLocks noChangeAspect="1"/>
          </p:cNvPicPr>
          <p:nvPr/>
        </p:nvPicPr>
        <p:blipFill>
          <a:blip r:embed="rId3"/>
          <a:stretch>
            <a:fillRect/>
          </a:stretch>
        </p:blipFill>
        <p:spPr>
          <a:xfrm>
            <a:off x="1679538" y="1828800"/>
            <a:ext cx="8848165" cy="3200400"/>
          </a:xfrm>
          <a:prstGeom prst="rect">
            <a:avLst/>
          </a:prstGeom>
        </p:spPr>
      </p:pic>
      <p:sp>
        <p:nvSpPr>
          <p:cNvPr id="8" name="Text 5"/>
          <p:cNvSpPr/>
          <p:nvPr/>
        </p:nvSpPr>
        <p:spPr>
          <a:xfrm>
            <a:off x="411480" y="5074920"/>
            <a:ext cx="11384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5.  Left — within-PC detox output¹ (depth-matched transcripts per PC nucleus) across fibrosis. Right — gene-set programs²: PC detox / identity down, biliary + fibrogenesis up, validating controls behaved.</a:t>
            </a:r>
            <a:endParaRPr lang="en-US" sz="1200" dirty="0"/>
          </a:p>
        </p:txBody>
      </p:sp>
      <p:sp>
        <p:nvSpPr>
          <p:cNvPr id="9" name="Text 6"/>
          <p:cNvSpPr/>
          <p:nvPr/>
        </p:nvSpPr>
        <p:spPr>
          <a:xfrm>
            <a:off x="640080" y="5486400"/>
            <a:ext cx="11247120" cy="777240"/>
          </a:xfrm>
          <a:prstGeom prst="rect">
            <a:avLst/>
          </a:prstGeom>
          <a:noFill/>
          <a:ln/>
        </p:spPr>
        <p:txBody>
          <a:bodyPr wrap="square" rtlCol="0" anchor="t"/>
          <a:lstStyle/>
          <a:p>
            <a:pPr marL="0" indent="0" algn="l">
              <a:buNone/>
            </a:pPr>
            <a:r>
              <a:rPr lang="en-US" sz="1250" b="1" dirty="0">
                <a:solidFill>
                  <a:srgbClr val="1B6E78"/>
                </a:solidFill>
              </a:rPr>
              <a:t>Like a radio: </a:t>
            </a:r>
            <a:r>
              <a:rPr lang="en-US" sz="1250" i="1" dirty="0">
                <a:solidFill>
                  <a:srgbClr val="334155"/>
                </a:solidFill>
              </a:rPr>
              <a:t>the genre held (cells keep identity); the volume dropped (the program dims).   </a:t>
            </a:r>
            <a:r>
              <a:rPr lang="en-US" sz="1250" dirty="0">
                <a:solidFill>
                  <a:srgbClr val="5C6E73"/>
                </a:solidFill>
              </a:rPr>
              <a:t>A relative decline (transcripts within a fixed budget), not proven absolute molecule loss; a donor-level trend; could partly reflect a shift among PC subzones. No single gene clears per-gene FDR — only the coordinated set + the per-cell trend.</a:t>
            </a:r>
            <a:endParaRPr lang="en-US" sz="1250" dirty="0"/>
          </a:p>
        </p:txBody>
      </p:sp>
      <p:sp>
        <p:nvSpPr>
          <p:cNvPr id="10" name="Shape 7"/>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1" name="Text 8"/>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Within-PC detox output: depth-matched to 1,500 UMIs, donor-level Spearman (ρ=−0.48, p=0.003); measured on detox genes (CYP2E1, CYP1A2, ADH4…) disjoint from the GLUL/CYP3A4 identity anchors — so the anchor fraction stays flat while the module dims.   ² Gene-set: camera — Wu &amp; Smyth 2012; ROAST — Wu et al. 2010; GSEA — gseapy.</a:t>
            </a:r>
            <a:endParaRPr lang="en-US" sz="1000" dirty="0"/>
          </a:p>
        </p:txBody>
      </p:sp>
      <p:sp>
        <p:nvSpPr>
          <p:cNvPr id="12" name="Text 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3" name="Text 1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11</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621792" y="448056"/>
            <a:ext cx="146304" cy="237744"/>
          </a:xfrm>
          <a:prstGeom prst="rect">
            <a:avLst/>
          </a:prstGeom>
          <a:solidFill>
            <a:srgbClr val="C0561B"/>
          </a:solidFill>
          <a:ln/>
        </p:spPr>
        <p:txBody>
          <a:bodyPr/>
          <a:lstStyle/>
          <a:p>
            <a:endParaRPr lang="en-US"/>
          </a:p>
        </p:txBody>
      </p:sp>
      <p:sp>
        <p:nvSpPr>
          <p:cNvPr id="5" name="Text 3"/>
          <p:cNvSpPr/>
          <p:nvPr/>
        </p:nvSpPr>
        <p:spPr>
          <a:xfrm>
            <a:off x="832104" y="411480"/>
            <a:ext cx="10515600" cy="365760"/>
          </a:xfrm>
          <a:prstGeom prst="rect">
            <a:avLst/>
          </a:prstGeom>
          <a:noFill/>
          <a:ln/>
        </p:spPr>
        <p:txBody>
          <a:bodyPr wrap="square" rtlCol="0" anchor="ctr"/>
          <a:lstStyle/>
          <a:p>
            <a:pPr marL="0" indent="0" algn="l">
              <a:buNone/>
            </a:pPr>
            <a:r>
              <a:rPr lang="en-US" sz="1400" b="1" kern="0" spc="300" dirty="0">
                <a:solidFill>
                  <a:srgbClr val="C0561B"/>
                </a:solidFill>
              </a:rPr>
              <a:t>CONCLUSION</a:t>
            </a:r>
            <a:endParaRPr lang="en-US" sz="1400" dirty="0"/>
          </a:p>
        </p:txBody>
      </p:sp>
      <p:sp>
        <p:nvSpPr>
          <p:cNvPr id="6" name="Text 4"/>
          <p:cNvSpPr/>
          <p:nvPr/>
        </p:nvSpPr>
        <p:spPr>
          <a:xfrm>
            <a:off x="547651" y="777240"/>
            <a:ext cx="11284131" cy="731520"/>
          </a:xfrm>
          <a:prstGeom prst="rect">
            <a:avLst/>
          </a:prstGeom>
          <a:noFill/>
          <a:ln/>
        </p:spPr>
        <p:txBody>
          <a:bodyPr wrap="square" rtlCol="0" anchor="ctr"/>
          <a:lstStyle/>
          <a:p>
            <a:pPr marL="0" indent="0" algn="l">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86537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01</a:t>
            </a:r>
            <a:endParaRPr lang="en-US" sz="3700" dirty="0"/>
          </a:p>
        </p:txBody>
      </p:sp>
      <p:sp>
        <p:nvSpPr>
          <p:cNvPr id="8" name="Text 6"/>
          <p:cNvSpPr/>
          <p:nvPr/>
        </p:nvSpPr>
        <p:spPr>
          <a:xfrm>
            <a:off x="2194560" y="192024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Cells keep their zonal genomic identity — no de-zonation signal</a:t>
            </a:r>
            <a:endParaRPr lang="en-US" sz="2100" dirty="0"/>
          </a:p>
        </p:txBody>
      </p:sp>
      <p:sp>
        <p:nvSpPr>
          <p:cNvPr id="9" name="Text 7"/>
          <p:cNvSpPr/>
          <p:nvPr/>
        </p:nvSpPr>
        <p:spPr>
          <a:xfrm>
            <a:off x="841248" y="296265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02</a:t>
            </a:r>
            <a:endParaRPr lang="en-US" sz="3700" dirty="0"/>
          </a:p>
        </p:txBody>
      </p:sp>
      <p:sp>
        <p:nvSpPr>
          <p:cNvPr id="10" name="Text 8"/>
          <p:cNvSpPr/>
          <p:nvPr/>
        </p:nvSpPr>
        <p:spPr>
          <a:xfrm>
            <a:off x="2194560" y="301752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one real change: the pericentral detox program dims</a:t>
            </a:r>
            <a:endParaRPr lang="en-US" sz="2100" dirty="0"/>
          </a:p>
        </p:txBody>
      </p:sp>
      <p:sp>
        <p:nvSpPr>
          <p:cNvPr id="11" name="Text 9"/>
          <p:cNvSpPr/>
          <p:nvPr/>
        </p:nvSpPr>
        <p:spPr>
          <a:xfrm>
            <a:off x="841248" y="405993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03</a:t>
            </a:r>
            <a:endParaRPr lang="en-US" sz="3700" dirty="0"/>
          </a:p>
        </p:txBody>
      </p:sp>
      <p:sp>
        <p:nvSpPr>
          <p:cNvPr id="12" name="Text 10"/>
          <p:cNvSpPr/>
          <p:nvPr/>
        </p:nvSpPr>
        <p:spPr>
          <a:xfrm>
            <a:off x="2194560" y="411480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dramatic trajectory </a:t>
            </a:r>
            <a:r>
              <a:rPr lang="en-US" sz="2100" b="1" dirty="0">
                <a:solidFill>
                  <a:srgbClr val="FF0000"/>
                </a:solidFill>
                <a:latin typeface="Georgia" pitchFamily="34" charset="0"/>
                <a:ea typeface="Georgia" pitchFamily="34" charset="-122"/>
                <a:cs typeface="Georgia" pitchFamily="34" charset="-120"/>
              </a:rPr>
              <a:t>possibly</a:t>
            </a:r>
            <a:r>
              <a:rPr lang="en-US" sz="2100" b="1" dirty="0">
                <a:solidFill>
                  <a:srgbClr val="FFFFFF"/>
                </a:solidFill>
                <a:latin typeface="Georgia" pitchFamily="34" charset="0"/>
                <a:ea typeface="Georgia" pitchFamily="34" charset="-122"/>
                <a:cs typeface="Georgia" pitchFamily="34" charset="-120"/>
              </a:rPr>
              <a:t> tracks acquisition, not disease</a:t>
            </a:r>
            <a:endParaRPr lang="en-US" sz="2100" dirty="0"/>
          </a:p>
        </p:txBody>
      </p:sp>
      <p:sp>
        <p:nvSpPr>
          <p:cNvPr id="13" name="Shape 11"/>
          <p:cNvSpPr/>
          <p:nvPr/>
        </p:nvSpPr>
        <p:spPr>
          <a:xfrm>
            <a:off x="2194560" y="5212080"/>
            <a:ext cx="9098280" cy="0"/>
          </a:xfrm>
          <a:prstGeom prst="line">
            <a:avLst/>
          </a:prstGeom>
          <a:noFill/>
          <a:ln w="12700">
            <a:solidFill>
              <a:srgbClr val="2E4A4D"/>
            </a:solidFill>
            <a:prstDash val="solid"/>
          </a:ln>
        </p:spPr>
        <p:txBody>
          <a:bodyPr/>
          <a:lstStyle/>
          <a:p>
            <a:endParaRPr lang="en-US"/>
          </a:p>
        </p:txBody>
      </p:sp>
      <p:sp>
        <p:nvSpPr>
          <p:cNvPr id="14" name="Text 12"/>
          <p:cNvSpPr/>
          <p:nvPr/>
        </p:nvSpPr>
        <p:spPr>
          <a:xfrm>
            <a:off x="841248" y="5394960"/>
            <a:ext cx="10881360" cy="457200"/>
          </a:xfrm>
          <a:prstGeom prst="rect">
            <a:avLst/>
          </a:prstGeom>
          <a:noFill/>
          <a:ln/>
        </p:spPr>
        <p:txBody>
          <a:bodyPr wrap="square" rtlCol="0" anchor="t"/>
          <a:lstStyle/>
          <a:p>
            <a:pPr marL="0" indent="0" algn="l">
              <a:buNone/>
            </a:pPr>
            <a:r>
              <a:rPr lang="en-US" sz="1500" b="1" i="1" dirty="0">
                <a:solidFill>
                  <a:srgbClr val="FFFFFF"/>
                </a:solidFill>
              </a:rPr>
              <a:t>We correct one evidence leg</a:t>
            </a:r>
            <a:r>
              <a:rPr lang="en-US" sz="1500" i="1" dirty="0">
                <a:solidFill>
                  <a:srgbClr val="C9D6D3"/>
                </a:solidFill>
              </a:rPr>
              <a:t> — </a:t>
            </a:r>
          </a:p>
          <a:p>
            <a:pPr marL="0" indent="0" algn="l">
              <a:buNone/>
            </a:pPr>
            <a:r>
              <a:rPr lang="en-US" sz="1500" i="1" dirty="0">
                <a:solidFill>
                  <a:srgbClr val="C9D6D3"/>
                </a:solidFill>
              </a:rPr>
              <a:t>	the snRNA marker-correlation; the paper’s imaging and protein staining are untouched. </a:t>
            </a:r>
          </a:p>
          <a:p>
            <a:pPr marL="0" indent="0" algn="l">
              <a:buNone/>
            </a:pPr>
            <a:r>
              <a:rPr lang="en-US" sz="1500" i="1" dirty="0">
                <a:solidFill>
                  <a:srgbClr val="C9D6D3"/>
                </a:solidFill>
              </a:rPr>
              <a:t>	The biliary signal is a separate compositional lead.</a:t>
            </a:r>
            <a:endParaRPr lang="en-US" sz="1500" dirty="0"/>
          </a:p>
        </p:txBody>
      </p:sp>
      <p:sp>
        <p:nvSpPr>
          <p:cNvPr id="16"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7"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13</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242B"/>
          </a:solidFill>
          <a:ln/>
        </p:spPr>
      </p:sp>
      <p:sp>
        <p:nvSpPr>
          <p:cNvPr id="3" name="Shape 1"/>
          <p:cNvSpPr/>
          <p:nvPr/>
        </p:nvSpPr>
        <p:spPr>
          <a:xfrm>
            <a:off x="0" y="0"/>
            <a:ext cx="256032" cy="6858000"/>
          </a:xfrm>
          <a:prstGeom prst="rect">
            <a:avLst/>
          </a:prstGeom>
          <a:solidFill>
            <a:srgbClr val="1B6E78"/>
          </a:solidFill>
          <a:ln/>
        </p:spPr>
      </p:sp>
      <p:sp>
        <p:nvSpPr>
          <p:cNvPr id="4" name="Shape 2"/>
          <p:cNvSpPr/>
          <p:nvPr/>
        </p:nvSpPr>
        <p:spPr>
          <a:xfrm>
            <a:off x="256032" y="0"/>
            <a:ext cx="109728" cy="6858000"/>
          </a:xfrm>
          <a:prstGeom prst="rect">
            <a:avLst/>
          </a:prstGeom>
          <a:solidFill>
            <a:srgbClr val="C0561B"/>
          </a:solidFill>
          <a:ln/>
        </p:spPr>
      </p:sp>
      <p:pic>
        <p:nvPicPr>
          <p:cNvPr id="5" name="Image 0" descr="D:\CS\Genomics\Hackathon\presentation/assets/thankyou_art.png"/>
          <p:cNvPicPr>
            <a:picLocks noChangeAspect="1"/>
          </p:cNvPicPr>
          <p:nvPr/>
        </p:nvPicPr>
        <p:blipFill>
          <a:blip r:embed="rId3"/>
          <a:stretch>
            <a:fillRect/>
          </a:stretch>
        </p:blipFill>
        <p:spPr>
          <a:xfrm>
            <a:off x="7863840" y="1463040"/>
            <a:ext cx="4023360" cy="4023360"/>
          </a:xfrm>
          <a:prstGeom prst="rect">
            <a:avLst/>
          </a:prstGeom>
        </p:spPr>
      </p:pic>
      <p:sp>
        <p:nvSpPr>
          <p:cNvPr id="6" name="Text 3"/>
          <p:cNvSpPr/>
          <p:nvPr/>
        </p:nvSpPr>
        <p:spPr>
          <a:xfrm>
            <a:off x="868680" y="2148840"/>
            <a:ext cx="6858000" cy="1188720"/>
          </a:xfrm>
          <a:prstGeom prst="rect">
            <a:avLst/>
          </a:prstGeom>
          <a:noFill/>
          <a:ln/>
        </p:spPr>
        <p:txBody>
          <a:bodyPr wrap="square" rtlCol="0" anchor="ctr"/>
          <a:lstStyle/>
          <a:p>
            <a:pPr marL="0" indent="0" algn="l">
              <a:buNone/>
            </a:pPr>
            <a:r>
              <a:rPr lang="en-US" sz="5200" b="1" dirty="0">
                <a:solidFill>
                  <a:srgbClr val="FFFFFF"/>
                </a:solidFill>
                <a:latin typeface="Georgia" pitchFamily="34" charset="0"/>
                <a:ea typeface="Georgia" pitchFamily="34" charset="-122"/>
                <a:cs typeface="Georgia" pitchFamily="34" charset="-120"/>
              </a:rPr>
              <a:t>Thank you</a:t>
            </a:r>
            <a:endParaRPr lang="en-US" sz="5200" dirty="0"/>
          </a:p>
        </p:txBody>
      </p:sp>
      <p:sp>
        <p:nvSpPr>
          <p:cNvPr id="7" name="Text 4"/>
          <p:cNvSpPr/>
          <p:nvPr/>
        </p:nvSpPr>
        <p:spPr>
          <a:xfrm>
            <a:off x="896112" y="3493008"/>
            <a:ext cx="6858000" cy="502920"/>
          </a:xfrm>
          <a:prstGeom prst="rect">
            <a:avLst/>
          </a:prstGeom>
          <a:noFill/>
          <a:ln/>
        </p:spPr>
        <p:txBody>
          <a:bodyPr wrap="square" rtlCol="0" anchor="ctr"/>
          <a:lstStyle/>
          <a:p>
            <a:pPr marL="0" indent="0" algn="l">
              <a:buNone/>
            </a:pPr>
            <a:r>
              <a:rPr lang="en-US" sz="1800" i="1" dirty="0">
                <a:solidFill>
                  <a:srgbClr val="9FC0C4"/>
                </a:solidFill>
              </a:rPr>
              <a:t>now — QA:  your questions</a:t>
            </a:r>
            <a:endParaRPr lang="en-US" sz="1800" dirty="0"/>
          </a:p>
        </p:txBody>
      </p:sp>
      <p:sp>
        <p:nvSpPr>
          <p:cNvPr id="8" name="Text 5"/>
          <p:cNvSpPr/>
          <p:nvPr/>
        </p:nvSpPr>
        <p:spPr>
          <a:xfrm>
            <a:off x="896112" y="4187952"/>
            <a:ext cx="6858000" cy="457200"/>
          </a:xfrm>
          <a:prstGeom prst="rect">
            <a:avLst/>
          </a:prstGeom>
          <a:noFill/>
          <a:ln/>
        </p:spPr>
        <p:txBody>
          <a:bodyPr wrap="square" rtlCol="0" anchor="ctr"/>
          <a:lstStyle/>
          <a:p>
            <a:pPr marL="0" indent="0" algn="l">
              <a:buNone/>
            </a:pPr>
            <a:r>
              <a:rPr lang="en-US" sz="1350" i="1" dirty="0">
                <a:solidFill>
                  <a:srgbClr val="C0561B"/>
                </a:solidFill>
              </a:rPr>
              <a:t>No hepatocytes lost their identity in the making of this talk.</a:t>
            </a:r>
            <a:endParaRPr lang="en-US" sz="1350" dirty="0"/>
          </a:p>
        </p:txBody>
      </p:sp>
      <p:sp>
        <p:nvSpPr>
          <p:cNvPr id="9" name="Text 6"/>
          <p:cNvSpPr/>
          <p:nvPr/>
        </p:nvSpPr>
        <p:spPr>
          <a:xfrm>
            <a:off x="896112" y="6126480"/>
            <a:ext cx="10607040" cy="365760"/>
          </a:xfrm>
          <a:prstGeom prst="rect">
            <a:avLst/>
          </a:prstGeom>
          <a:noFill/>
          <a:ln/>
        </p:spPr>
        <p:txBody>
          <a:bodyPr wrap="square" rtlCol="0" anchor="ctr"/>
          <a:lstStyle/>
          <a:p>
            <a:pPr marL="0" indent="0" algn="l">
              <a:buNone/>
            </a:pPr>
            <a:r>
              <a:rPr lang="en-US" sz="1300" dirty="0">
                <a:solidFill>
                  <a:srgbClr val="7E8F8B"/>
                </a:solidFill>
              </a:rPr>
              <a:t>Roee Tekoah  ·  Shira Gelbstein  ·  Computational Genomics 76553 · HUJI</a:t>
            </a:r>
            <a:endParaRPr lang="en-US" sz="1300" dirty="0"/>
          </a:p>
        </p:txBody>
      </p:sp>
    </p:spTree>
    <p:extLst>
      <p:ext uri="{BB962C8B-B14F-4D97-AF65-F5344CB8AC3E}">
        <p14:creationId xmlns:p14="http://schemas.microsoft.com/office/powerpoint/2010/main" val="21032984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We re-tested only the snRNA-seq transcriptional zonation/plasticity evidence.</a:t>
            </a:r>
            <a:endParaRPr lang="en-US" sz="2000" dirty="0"/>
          </a:p>
          <a:p>
            <a:pPr marL="342900" indent="-342900" algn="l">
              <a:spcAft>
                <a:spcPts val="900"/>
              </a:spcAft>
              <a:buSzPct val="100000"/>
              <a:buChar char="•"/>
            </a:pPr>
            <a:r>
              <a:rPr lang="en-US" sz="2000" dirty="0">
                <a:solidFill>
                  <a:srgbClr val="1B2B31"/>
                </a:solidFill>
              </a:rPr>
              <a:t>We did NOT test imaging, protein staining, organoids, or 3D architecture.</a:t>
            </a:r>
            <a:endParaRPr lang="en-US" sz="2000" dirty="0"/>
          </a:p>
          <a:p>
            <a:pPr marL="342900" indent="-342900" algn="l">
              <a:spcAft>
                <a:spcPts val="900"/>
              </a:spcAft>
              <a:buSzPct val="100000"/>
              <a:buChar char="•"/>
            </a:pPr>
            <a:r>
              <a:rPr lang="en-US" sz="2000" dirty="0">
                <a:solidFill>
                  <a:srgbClr val="1B2B31"/>
                </a:solidFill>
              </a:rPr>
              <a:t>Claim: matched biopsy transcriptomes do not show progressive zonation loss.</a:t>
            </a:r>
            <a:endParaRPr lang="en-US" sz="2000" dirty="0"/>
          </a:p>
          <a:p>
            <a:pPr marL="342900" indent="-342900" algn="l">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DONOR VARIANCE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QA</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Why a flat result is readable despite huge donor spread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B2B31"/>
                </a:solidFill>
                <a:effectLst/>
                <a:uLnTx/>
                <a:uFillTx/>
                <a:latin typeface="Calibri" panose="020F0502020204030204"/>
                <a:ea typeface="+mn-ea"/>
                <a:cs typeface="+mn-cs"/>
              </a:rPr>
              <a:t>Within each fibrosis stage the per-donor pericentral-anchor fraction spans ~25–35 pp (SD ≈ 12 pp).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B2B31"/>
                </a:solidFill>
                <a:effectLst/>
                <a:uLnTx/>
                <a:uFillTx/>
                <a:latin typeface="Calibri" panose="020F0502020204030204"/>
                <a:ea typeface="+mn-ea"/>
                <a:cs typeface="+mn-cs"/>
              </a:rPr>
              <a:t>Could that scatter be hiding a real trend? No — four reasons: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2011680"/>
            <a:ext cx="91440" cy="1417320"/>
          </a:xfrm>
          <a:prstGeom prst="rect">
            <a:avLst/>
          </a:prstGeom>
          <a:solidFill>
            <a:srgbClr val="1D4ED8"/>
          </a:solidFill>
          <a:ln/>
        </p:spPr>
      </p:sp>
      <p:sp>
        <p:nvSpPr>
          <p:cNvPr id="9" name="Text 7"/>
          <p:cNvSpPr/>
          <p:nvPr/>
        </p:nvSpPr>
        <p:spPr>
          <a:xfrm>
            <a:off x="89611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D4ED8"/>
                </a:solidFill>
                <a:effectLst/>
                <a:uLnTx/>
                <a:uFillTx/>
                <a:latin typeface="Georgia" pitchFamily="34" charset="0"/>
                <a:ea typeface="Georgia" pitchFamily="34" charset="-122"/>
                <a:cs typeface="Georgia" pitchFamily="34" charset="-120"/>
              </a:rPr>
              <a:t>1</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46304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donor is the replicate — not the cell</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46304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Inference is donor-level (F1–F4 = 8 / 12 / 12 / 4). A stage MEAN has standard error SE ≈ SD/√n ≈ 12/√10 ≈ 4 pp — we compare stage means (± 4 pp), not individual donors (± 12 pp).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2011680"/>
            <a:ext cx="91440" cy="1417320"/>
          </a:xfrm>
          <a:prstGeom prst="rect">
            <a:avLst/>
          </a:prstGeom>
          <a:solidFill>
            <a:srgbClr val="0D9488"/>
          </a:solidFill>
          <a:ln/>
        </p:spPr>
      </p:sp>
      <p:sp>
        <p:nvSpPr>
          <p:cNvPr id="14" name="Text 12"/>
          <p:cNvSpPr/>
          <p:nvPr/>
        </p:nvSpPr>
        <p:spPr>
          <a:xfrm>
            <a:off x="642823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0D9488"/>
                </a:solidFill>
                <a:effectLst/>
                <a:uLnTx/>
                <a:uFillTx/>
                <a:latin typeface="Georgia" pitchFamily="34" charset="0"/>
                <a:ea typeface="Georgia" pitchFamily="34" charset="-122"/>
                <a:cs typeface="Georgia" pitchFamily="34" charset="-120"/>
              </a:rPr>
              <a:t>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99516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spread is the same at every stage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99516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Variance is homoscedastic — as wide at F1 as at F4. A real progression would shift the mean monotonically beyond ± 4 pp; it doesn’t. This is noise around a flat line, not a trend buried in noise.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3584448"/>
            <a:ext cx="91440" cy="1417320"/>
          </a:xfrm>
          <a:prstGeom prst="rect">
            <a:avLst/>
          </a:prstGeom>
          <a:solidFill>
            <a:srgbClr val="7C3AED"/>
          </a:solidFill>
          <a:ln/>
        </p:spPr>
      </p:sp>
      <p:sp>
        <p:nvSpPr>
          <p:cNvPr id="19" name="Text 17"/>
          <p:cNvSpPr/>
          <p:nvPr/>
        </p:nvSpPr>
        <p:spPr>
          <a:xfrm>
            <a:off x="89611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7C3AED"/>
                </a:solidFill>
                <a:effectLst/>
                <a:uLnTx/>
                <a:uFillTx/>
                <a:latin typeface="Georgia" pitchFamily="34" charset="0"/>
                <a:ea typeface="Georgia" pitchFamily="34" charset="-122"/>
                <a:cs typeface="Georgia" pitchFamily="34" charset="-120"/>
              </a:rPr>
              <a:t>3</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46304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We bound what is excluded (TOST)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146304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Not merely “no trend found”: a shift &gt; ± 19 pp between F1 and F4 is positively rejected at the donor level. Only a subtle drift (≤ 10 pp) remains possible — limited by F4’s n = 4.</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617220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3" name="Shape 21"/>
          <p:cNvSpPr/>
          <p:nvPr/>
        </p:nvSpPr>
        <p:spPr>
          <a:xfrm>
            <a:off x="6172200" y="3584448"/>
            <a:ext cx="91440" cy="1417320"/>
          </a:xfrm>
          <a:prstGeom prst="rect">
            <a:avLst/>
          </a:prstGeom>
          <a:solidFill>
            <a:srgbClr val="C0561B"/>
          </a:solidFill>
          <a:ln/>
        </p:spPr>
      </p:sp>
      <p:sp>
        <p:nvSpPr>
          <p:cNvPr id="24" name="Text 22"/>
          <p:cNvSpPr/>
          <p:nvPr/>
        </p:nvSpPr>
        <p:spPr>
          <a:xfrm>
            <a:off x="642823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C0561B"/>
                </a:solidFill>
                <a:effectLst/>
                <a:uLnTx/>
                <a:uFillTx/>
                <a:latin typeface="Georgia" pitchFamily="34" charset="0"/>
                <a:ea typeface="Georgia" pitchFamily="34" charset="-122"/>
                <a:cs typeface="Georgia" pitchFamily="34" charset="-120"/>
              </a:rPr>
              <a:t>4</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99516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Stable across marker sets &amp; thresholds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99516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The flat result holds on 6 marker sets (2–1,637 genes, incl. Paper 2’s own) and the full ≥1 / ≥2 / ≥3-UMI grid — no setting-dependent signal hiding in the variance.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640080" y="5257800"/>
            <a:ext cx="10927080" cy="658368"/>
          </a:xfrm>
          <a:prstGeom prst="roundRect">
            <a:avLst>
              <a:gd name="adj" fmla="val 8333"/>
            </a:avLst>
          </a:prstGeom>
          <a:solidFill>
            <a:srgbClr val="E7F0EE"/>
          </a:solidFill>
          <a:ln w="12700">
            <a:solidFill>
              <a:srgbClr val="1B6E78"/>
            </a:solidFill>
            <a:prstDash val="solid"/>
          </a:ln>
        </p:spPr>
      </p:sp>
      <p:sp>
        <p:nvSpPr>
          <p:cNvPr id="28" name="Text 26"/>
          <p:cNvSpPr/>
          <p:nvPr/>
        </p:nvSpPr>
        <p:spPr>
          <a:xfrm>
            <a:off x="868680" y="5257800"/>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Bottom line:  </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large person-to-person variance ≠ an undetectable signal. With donor-level inference and an equivalence bound, a large progressive de-zonation is </a:t>
            </a: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excluded</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 (a subtle ≤10-pp drift is not).</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Null is flat; the PP : PC ratio shows no stage trend</a:t>
            </a:r>
            <a:endParaRPr lang="en-US" sz="2600" dirty="0"/>
          </a:p>
        </p:txBody>
      </p:sp>
      <p:pic>
        <p:nvPicPr>
          <p:cNvPr id="5" name="Image 0" descr="D:\CS\Genomics\Hackathon\presentation/assets/fig_secondary.png"/>
          <p:cNvPicPr>
            <a:picLocks noChangeAspect="1"/>
          </p:cNvPicPr>
          <p:nvPr/>
        </p:nvPicPr>
        <p:blipFill>
          <a:blip r:embed="rId3"/>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7.  Null (double-negative) fraction and the periportal : pericentral anchor ratio across biopsy F1–F4 (each point = one donor; bar = stage mean ± SEM).</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marL="0" indent="0" algn="l">
              <a:buNone/>
            </a:pPr>
            <a:r>
              <a:rPr lang="en-US" sz="1350" b="1" dirty="0">
                <a:solidFill>
                  <a:srgbClr val="475569"/>
                </a:solidFill>
              </a:rPr>
              <a:t>Null (double-negative): </a:t>
            </a:r>
            <a:r>
              <a:rPr lang="en-US" sz="1350" dirty="0">
                <a:solidFill>
                  <a:srgbClr val="1B2B31"/>
                </a:solidFill>
              </a:rPr>
              <a:t>≈ 40 / 40 / 40 / 41% — no rise across stages.
</a:t>
            </a:r>
            <a:endParaRPr lang="en-US" sz="1350" dirty="0"/>
          </a:p>
          <a:p>
            <a:pPr marL="0" indent="0" algn="l">
              <a:buNone/>
            </a:pPr>
            <a:r>
              <a:rPr lang="en-US" sz="1350" b="1" dirty="0">
                <a:solidFill>
                  <a:srgbClr val="7C3AED"/>
                </a:solidFill>
              </a:rPr>
              <a:t>PP : PC ratio: </a:t>
            </a:r>
            <a:r>
              <a:rPr lang="en-US" sz="1350" dirty="0">
                <a:solidFill>
                  <a:srgbClr val="1B2B31"/>
                </a:solidFill>
              </a:rPr>
              <a:t>≈ 1.20 / 1.25 / 1.67 / 1.07 — near the 1 : 1 line (F3 pulled by one high donor).
</a:t>
            </a:r>
            <a:endParaRPr lang="en-US" sz="1350" dirty="0"/>
          </a:p>
          <a:p>
            <a:pPr marL="0" indent="0" algn="l">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icPr>
            <a:picLocks noChangeAspect="1"/>
          </p:cNvPicPr>
          <p:nvPr/>
        </p:nvPicPr>
        <p:blipFill>
          <a:blip r:embed="rId3"/>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8.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marL="0" indent="0" algn="l">
              <a:buNone/>
            </a:pPr>
            <a:r>
              <a:rPr lang="en-US" sz="1800" b="1" dirty="0">
                <a:solidFill>
                  <a:srgbClr val="1B2B31"/>
                </a:solidFill>
              </a:rPr>
              <a:t>Detection matches across all three lobes.
</a:t>
            </a:r>
            <a:endParaRPr lang="en-US" sz="1800" dirty="0"/>
          </a:p>
          <a:p>
            <a:pPr marL="0" indent="0" algn="l">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End-Stage Shenanigans: Five donors, five phenotypes</a:t>
            </a:r>
            <a:endParaRPr lang="en-US" sz="2600" dirty="0"/>
          </a:p>
        </p:txBody>
      </p:sp>
      <p:pic>
        <p:nvPicPr>
          <p:cNvPr id="5" name="Image 0" descr="D:\CS\Genomics\Hackathon\presentation/assets/fig_explant.png"/>
          <p:cNvPicPr>
            <a:picLocks noChangeAspect="1"/>
          </p:cNvPicPr>
          <p:nvPr/>
        </p:nvPicPr>
        <p:blipFill>
          <a:blip r:embed="rId3"/>
          <a:stretch>
            <a:fillRect/>
          </a:stretch>
        </p:blipFill>
        <p:spPr>
          <a:xfrm>
            <a:off x="731520" y="1371600"/>
            <a:ext cx="7498080" cy="3916062"/>
          </a:xfrm>
          <a:prstGeom prst="rect">
            <a:avLst/>
          </a:prstGeom>
        </p:spPr>
      </p:pic>
      <p:sp>
        <p:nvSpPr>
          <p:cNvPr id="6" name="Text 3"/>
          <p:cNvSpPr/>
          <p:nvPr/>
        </p:nvSpPr>
        <p:spPr>
          <a:xfrm>
            <a:off x="866107" y="5381501"/>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9.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marL="0" indent="0" algn="l">
              <a:buNone/>
            </a:pPr>
            <a:r>
              <a:rPr lang="en-US" sz="1700" b="1" dirty="0">
                <a:solidFill>
                  <a:srgbClr val="1B2B31"/>
                </a:solidFill>
              </a:rPr>
              <a:t>PC-anchor 3% → 50%;  PP:PC 0.13 → 20.
</a:t>
            </a:r>
            <a:endParaRPr lang="en-US" sz="1700" dirty="0"/>
          </a:p>
          <a:p>
            <a:pPr marL="0" indent="0" algn="l">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icPr>
            <a:picLocks noChangeAspect="1"/>
          </p:cNvPicPr>
          <p:nvPr/>
        </p:nvPicPr>
        <p:blipFill>
          <a:blip r:embed="rId3"/>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10.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marL="0" indent="0" algn="l">
              <a:buNone/>
            </a:pPr>
            <a:r>
              <a:rPr lang="en-US" sz="1600" b="1" dirty="0">
                <a:solidFill>
                  <a:srgbClr val="1B2B31"/>
                </a:solidFill>
              </a:rPr>
              <a:t>Stable across every variant:
</a:t>
            </a:r>
            <a:endParaRPr lang="en-US" sz="1600" dirty="0"/>
          </a:p>
          <a:p>
            <a:pPr marL="0" indent="0" algn="l">
              <a:buNone/>
            </a:pPr>
            <a:r>
              <a:rPr lang="en-US" sz="1600" dirty="0">
                <a:solidFill>
                  <a:srgbClr val="1B2B31"/>
                </a:solidFill>
              </a:rPr>
              <a:t>anchor genes, periportal rule, ALDOB in/out, CPS1-based, 1 vs 2 UMI.
</a:t>
            </a:r>
            <a:endParaRPr lang="en-US" sz="1600" dirty="0"/>
          </a:p>
          <a:p>
            <a:pPr marL="0" indent="0" algn="l">
              <a:buNone/>
            </a:pPr>
            <a:r>
              <a:rPr lang="en-US" sz="1600" b="1" dirty="0">
                <a:solidFill>
                  <a:srgbClr val="0D9488"/>
                </a:solidFill>
              </a:rPr>
              <a:t>No depletion · no dual rise · no turn-off — in all.
</a:t>
            </a:r>
            <a:endParaRPr lang="en-US" sz="1600" dirty="0"/>
          </a:p>
          <a:p>
            <a:pPr marL="0" indent="0" algn="l">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corr( ALB share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marL="342900" indent="-342900" algn="l">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marL="342900" indent="-342900" algn="l">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marL="342900" indent="-342900" algn="l">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decontX models a native + ambient RNA mixture and subtracts the estimate.</a:t>
            </a:r>
            <a:endParaRPr lang="en-US" sz="2000" dirty="0"/>
          </a:p>
          <a:p>
            <a:pPr marL="342900" indent="-342900" algn="l">
              <a:spcAft>
                <a:spcPts val="900"/>
              </a:spcAft>
              <a:buSzPct val="100000"/>
              <a:buChar char="•"/>
            </a:pPr>
            <a:r>
              <a:rPr lang="en-US" sz="2000" dirty="0">
                <a:solidFill>
                  <a:srgbClr val="1B2B31"/>
                </a:solidFill>
              </a:rPr>
              <a:t>Hits 64 → 34; SOX4/SOX9 drop below significance → supports an ambient contribution.</a:t>
            </a:r>
            <a:endParaRPr lang="en-US" sz="2000" dirty="0"/>
          </a:p>
          <a:p>
            <a:pPr marL="342900" indent="-342900" algn="l">
              <a:spcAft>
                <a:spcPts val="900"/>
              </a:spcAft>
              <a:buSzPct val="100000"/>
              <a:buChar char="•"/>
            </a:pPr>
            <a:r>
              <a:rPr lang="en-US" sz="2000" dirty="0">
                <a:solidFill>
                  <a:srgbClr val="1B2B31"/>
                </a:solidFill>
              </a:rPr>
              <a:t>But it can remove true hybrid signal OR leave residual contamination.</a:t>
            </a:r>
            <a:endParaRPr lang="en-US" sz="2000" dirty="0"/>
          </a:p>
          <a:p>
            <a:pPr marL="342900" indent="-342900" algn="l">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3383280">
                  <a:extLst>
                    <a:ext uri="{9D8B030D-6E8A-4147-A177-3AD203B41FA5}">
                      <a16:colId xmlns:a16="http://schemas.microsoft.com/office/drawing/2014/main" val="20004"/>
                    </a:ext>
                  </a:extLst>
                </a:gridCol>
              </a:tblGrid>
              <a:tr h="365760">
                <a:tc>
                  <a:txBody>
                    <a:bodyPr/>
                    <a:lstStyle/>
                    <a:p>
                      <a:pPr marL="0" indent="0" algn="l">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marL="0" indent="0" algn="l">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marL="0" indent="0" algn="l">
              <a:spcAft>
                <a:spcPts val="900"/>
              </a:spcAft>
              <a:buNone/>
            </a:pPr>
            <a:r>
              <a:rPr lang="en-US" sz="1600" b="1" dirty="0">
                <a:solidFill>
                  <a:srgbClr val="1B2B31"/>
                </a:solidFill>
              </a:rPr>
              <a:t>Pseudobulk  </a:t>
            </a:r>
            <a:r>
              <a:rPr lang="en-US" sz="1600" dirty="0">
                <a:solidFill>
                  <a:srgbClr val="1B2B31"/>
                </a:solidFill>
              </a:rPr>
              <a:t>— sum each donor’s hepatocyte counts into one profile per donor (donor = unit of inference).
</a:t>
            </a:r>
            <a:endParaRPr lang="en-US" sz="1600" dirty="0"/>
          </a:p>
          <a:p>
            <a:pPr marL="0" indent="0" algn="l">
              <a:spcAft>
                <a:spcPts val="900"/>
              </a:spcAft>
              <a:buNone/>
            </a:pPr>
            <a:r>
              <a:rPr lang="en-US" sz="1600" b="1" dirty="0">
                <a:solidFill>
                  <a:srgbClr val="1B2B31"/>
                </a:solidFill>
              </a:rPr>
              <a:t>CPM  </a:t>
            </a:r>
            <a:r>
              <a:rPr lang="en-US" sz="1600" dirty="0">
                <a:solidFill>
                  <a:srgbClr val="1B2B31"/>
                </a:solidFill>
              </a:rPr>
              <a:t>— each gene as a share of the donor’s total counts; simple, but compositional (a few surging genes shrink everyone else’s share).
</a:t>
            </a:r>
            <a:endParaRPr lang="en-US" sz="1600" dirty="0"/>
          </a:p>
          <a:p>
            <a:pPr marL="0" indent="0" algn="l">
              <a:spcAft>
                <a:spcPts val="900"/>
              </a:spcAft>
              <a:buNone/>
            </a:pPr>
            <a:r>
              <a:rPr lang="en-US" sz="1600" b="1" dirty="0">
                <a:solidFill>
                  <a:srgbClr val="0D9488"/>
                </a:solidFill>
              </a:rPr>
              <a:t>TMM  </a:t>
            </a:r>
            <a:r>
              <a:rPr lang="en-US" sz="1600" dirty="0">
                <a:solidFill>
                  <a:srgbClr val="1B2B31"/>
                </a:solidFill>
              </a:rPr>
              <a:t>— the scaling factor is taken from the bulk of genes after trimming the extreme movers, so surging genes can’t set it → composition-robust.
</a:t>
            </a:r>
            <a:endParaRPr lang="en-US" sz="1600" dirty="0"/>
          </a:p>
          <a:p>
            <a:pPr marL="0" indent="0" algn="l">
              <a:spcAft>
                <a:spcPts val="900"/>
              </a:spcAft>
              <a:buNone/>
            </a:pPr>
            <a:r>
              <a:rPr lang="en-US" sz="1600" b="1" dirty="0">
                <a:solidFill>
                  <a:srgbClr val="1B2B31"/>
                </a:solidFill>
              </a:rPr>
              <a:t>Per-gene DGE  </a:t>
            </a:r>
            <a:r>
              <a:rPr lang="en-US" sz="1600" dirty="0">
                <a:solidFill>
                  <a:srgbClr val="1B2B31"/>
                </a:solidFill>
              </a:rPr>
              <a:t>— test each gene on its own for a fibrosis trend (edgeR); misses a weak shift shared by many genes.
</a:t>
            </a:r>
            <a:endParaRPr lang="en-US" sz="1600" dirty="0"/>
          </a:p>
          <a:p>
            <a:pPr marL="0" indent="0" algn="l">
              <a:spcAft>
                <a:spcPts val="900"/>
              </a:spcAft>
              <a:buNone/>
            </a:pPr>
            <a:r>
              <a:rPr lang="en-US" sz="1600" b="1" dirty="0">
                <a:solidFill>
                  <a:srgbClr val="C0561B"/>
                </a:solidFill>
              </a:rPr>
              <a:t>Gene-set test  </a:t>
            </a: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marL="0" indent="0" algn="l">
              <a:spcAft>
                <a:spcPts val="900"/>
              </a:spcAft>
              <a:buNone/>
            </a:pPr>
            <a:r>
              <a:rPr lang="en-US" sz="1600" b="1" dirty="0">
                <a:solidFill>
                  <a:srgbClr val="0D9488"/>
                </a:solidFill>
              </a:rPr>
              <a:t>Within-PC detox output  </a:t>
            </a:r>
            <a:r>
              <a:rPr lang="en-US" sz="1600" dirty="0">
                <a:solidFill>
                  <a:srgbClr val="1B2B31"/>
                </a:solidFill>
              </a:rPr>
              <a:t>— detox transcripts per pericentral nucleus after equalizing read depth: per-cell, relative to the cell’s own output, immune to between-cell composition.
</a:t>
            </a:r>
            <a:endParaRPr lang="en-US" sz="1600" dirty="0"/>
          </a:p>
          <a:p>
            <a:pPr marL="0" indent="0" algn="l">
              <a:spcAft>
                <a:spcPts val="900"/>
              </a:spcAft>
              <a:buNone/>
            </a:pPr>
            <a:r>
              <a:rPr lang="en-US" sz="1600" b="1" dirty="0">
                <a:solidFill>
                  <a:srgbClr val="1B2B31"/>
                </a:solidFill>
              </a:rPr>
              <a:t>Adversarial check  </a:t>
            </a:r>
            <a:r>
              <a:rPr lang="en-US" sz="1600" dirty="0">
                <a:solidFill>
                  <a:srgbClr val="1B2B31"/>
                </a:solidFill>
              </a:rPr>
              <a:t>— redo with TMM, with ROAST, with the rising genes removed, and with the per-cell measure; all four agreed → the dimming is real.</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QA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l">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program level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marL="0" indent="0" algn="l">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777240" y="457200"/>
            <a:ext cx="146304" cy="237744"/>
          </a:xfrm>
          <a:prstGeom prst="rect">
            <a:avLst/>
          </a:prstGeom>
          <a:solidFill>
            <a:srgbClr val="C0561B"/>
          </a:solidFill>
          <a:ln/>
        </p:spPr>
        <p:txBody>
          <a:bodyPr/>
          <a:lstStyle/>
          <a:p>
            <a:endParaRPr lang="en-US"/>
          </a:p>
        </p:txBody>
      </p:sp>
      <p:sp>
        <p:nvSpPr>
          <p:cNvPr id="5" name="Text 3"/>
          <p:cNvSpPr/>
          <p:nvPr/>
        </p:nvSpPr>
        <p:spPr>
          <a:xfrm>
            <a:off x="987552" y="420624"/>
            <a:ext cx="10515600" cy="365760"/>
          </a:xfrm>
          <a:prstGeom prst="rect">
            <a:avLst/>
          </a:prstGeom>
          <a:noFill/>
          <a:ln/>
        </p:spPr>
        <p:txBody>
          <a:bodyPr wrap="square" rtlCol="0" anchor="ctr"/>
          <a:lstStyle/>
          <a:p>
            <a:pPr marL="0" indent="0" algn="l">
              <a:buNone/>
            </a:pPr>
            <a:r>
              <a:rPr lang="en-US" sz="1400" b="1" kern="0" spc="300" dirty="0">
                <a:solidFill>
                  <a:srgbClr val="C0561B"/>
                </a:solidFill>
              </a:rPr>
              <a:t>QA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marL="0" indent="0" algn="l">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8" name="Text 6"/>
          <p:cNvSpPr/>
          <p:nvPr/>
        </p:nvSpPr>
        <p:spPr>
          <a:xfrm>
            <a:off x="777240" y="1783080"/>
            <a:ext cx="3520440" cy="457200"/>
          </a:xfrm>
          <a:prstGeom prst="rect">
            <a:avLst/>
          </a:prstGeom>
          <a:noFill/>
          <a:ln/>
        </p:spPr>
        <p:txBody>
          <a:bodyPr wrap="square" rtlCol="0" anchor="ctr"/>
          <a:lstStyle/>
          <a:p>
            <a:pPr marL="0" indent="0" algn="ctr">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Full healthy→end-stage trajectory is source-confounded.</a:t>
            </a:r>
            <a:endParaRPr lang="en-US" sz="1450" dirty="0"/>
          </a:p>
          <a:p>
            <a:pPr marL="342900" indent="-342900" algn="l">
              <a:spcAft>
                <a:spcPts val="900"/>
              </a:spcAft>
              <a:buSzPct val="100000"/>
              <a:buChar char="•"/>
            </a:pPr>
            <a:r>
              <a:rPr lang="en-US" sz="1450" dirty="0">
                <a:solidFill>
                  <a:srgbClr val="E2E8F0"/>
                </a:solidFill>
              </a:rPr>
              <a:t>In biopsy F1–F4 cells keep zonal identity — no de-zonation (large shift excluded).</a:t>
            </a:r>
            <a:endParaRPr lang="en-US" sz="1450" dirty="0"/>
          </a:p>
          <a:p>
            <a:pPr marL="342900" indent="-342900" algn="l">
              <a:spcAft>
                <a:spcPts val="900"/>
              </a:spcAft>
              <a:buSzPct val="100000"/>
              <a:buChar char="•"/>
            </a:pPr>
            <a:r>
              <a:rPr lang="en-US" sz="1450" dirty="0">
                <a:solidFill>
                  <a:srgbClr val="E2E8F0"/>
                </a:solidFill>
              </a:rPr>
              <a:t>Two real biopsy-internal signals: a compositional biliary signal (a lead),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4526280" y="1783080"/>
            <a:ext cx="3520440" cy="457200"/>
          </a:xfrm>
          <a:prstGeom prst="rect">
            <a:avLst/>
          </a:prstGeom>
          <a:noFill/>
          <a:ln/>
        </p:spPr>
        <p:txBody>
          <a:bodyPr wrap="square" rtlCol="0" anchor="ctr"/>
          <a:lstStyle/>
          <a:p>
            <a:pPr marL="0" indent="0" algn="ctr">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“PC-like program,” not lobular location — counts can’t see spatial position.</a:t>
            </a:r>
            <a:endParaRPr lang="en-US" sz="1450" dirty="0"/>
          </a:p>
          <a:p>
            <a:pPr marL="342900" indent="-342900" algn="l">
              <a:spcAft>
                <a:spcPts val="900"/>
              </a:spcAft>
              <a:buSzPct val="100000"/>
              <a:buChar char="•"/>
            </a:pPr>
            <a:r>
              <a:rPr lang="en-US" sz="1450" dirty="0">
                <a:solidFill>
                  <a:srgbClr val="E2E8F0"/>
                </a:solidFill>
              </a:rPr>
              <a:t>Imaging / protein / organoid evidence not re-analyzed.</a:t>
            </a:r>
            <a:endParaRPr lang="en-US" sz="1450" dirty="0"/>
          </a:p>
          <a:p>
            <a:pPr marL="342900" indent="-342900" algn="l">
              <a:spcAft>
                <a:spcPts val="900"/>
              </a:spcAft>
              <a:buSzPct val="100000"/>
              <a:buChar char="•"/>
            </a:pPr>
            <a:r>
              <a:rPr lang="en-US" sz="1450" dirty="0">
                <a:solidFill>
                  <a:srgbClr val="E2E8F0"/>
                </a:solidFill>
              </a:rPr>
              <a:t>F4 has only 4 biopsy donors.</a:t>
            </a:r>
            <a:endParaRPr lang="en-US" sz="1450" dirty="0"/>
          </a:p>
          <a:p>
            <a:pPr marL="342900" indent="-342900" algn="l">
              <a:spcAft>
                <a:spcPts val="900"/>
              </a:spcAft>
              <a:buSzPct val="100000"/>
              <a:buChar char="•"/>
            </a:pPr>
            <a:r>
              <a:rPr lang="en-US" sz="1450" dirty="0">
                <a:solidFill>
                  <a:srgbClr val="E2E8F0"/>
                </a:solidFill>
              </a:rPr>
              <a:t>Detox dimming is a RELATIVE decline (not proven absolute) and could partly reflect a shift among PC subzones; self-contained test clears only the CYP core.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4" name="Text 12"/>
          <p:cNvSpPr/>
          <p:nvPr/>
        </p:nvSpPr>
        <p:spPr>
          <a:xfrm>
            <a:off x="8275320" y="1783080"/>
            <a:ext cx="3520440" cy="457200"/>
          </a:xfrm>
          <a:prstGeom prst="rect">
            <a:avLst/>
          </a:prstGeom>
          <a:noFill/>
          <a:ln/>
        </p:spPr>
        <p:txBody>
          <a:bodyPr wrap="square" rtlCol="0" anchor="ctr"/>
          <a:lstStyle/>
          <a:p>
            <a:pPr marL="0" indent="0" algn="ctr">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Spatial / independent-biopsy validation of the detox-dimming gradient.</a:t>
            </a:r>
            <a:endParaRPr lang="en-US" sz="1450" dirty="0"/>
          </a:p>
          <a:p>
            <a:pPr marL="342900" indent="-342900" algn="l">
              <a:spcAft>
                <a:spcPts val="900"/>
              </a:spcAft>
              <a:buSzPct val="100000"/>
              <a:buChar char="•"/>
            </a:pPr>
            <a:r>
              <a:rPr lang="en-US" sz="1450" dirty="0">
                <a:solidFill>
                  <a:srgbClr val="E2E8F0"/>
                </a:solidFill>
              </a:rPr>
              <a:t>Leave-one-F4-donor-out DGE.</a:t>
            </a:r>
            <a:endParaRPr lang="en-US" sz="1450" dirty="0"/>
          </a:p>
          <a:p>
            <a:pPr marL="342900" indent="-342900" algn="l">
              <a:spcAft>
                <a:spcPts val="900"/>
              </a:spcAft>
              <a:buSzPct val="100000"/>
              <a:buChar char="•"/>
            </a:pPr>
            <a:r>
              <a:rPr lang="en-US" sz="1450" dirty="0">
                <a:solidFill>
                  <a:srgbClr val="E2E8F0"/>
                </a:solidFill>
              </a:rPr>
              <a:t>Quantitative contamination model for the biliary lead.</a:t>
            </a:r>
            <a:endParaRPr lang="en-US" sz="1450" dirty="0"/>
          </a:p>
          <a:p>
            <a:pPr marL="342900" indent="-342900" algn="l">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48</TotalTime>
  <Words>5810</Words>
  <Application>Microsoft Office PowerPoint</Application>
  <PresentationFormat>Widescreen</PresentationFormat>
  <Paragraphs>487</Paragraphs>
  <Slides>31</Slides>
  <Notes>31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cp:lastModifiedBy>
  <cp:revision>67</cp:revision>
  <dcterms:created xsi:type="dcterms:W3CDTF">2026-06-24T17:40:29Z</dcterms:created>
  <dcterms:modified xsi:type="dcterms:W3CDTF">2026-06-25T14:09:21Z</dcterms:modified>
</cp:coreProperties>
</file>