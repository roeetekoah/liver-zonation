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10896"/>
            <a:ext cx="146304" cy="237744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C0561B"/>
                </a:solidFill>
              </a:rPr>
              <a:t>QA · THE RELATIVE RULER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052560" y="2926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B6E78"/>
                </a:solidFill>
              </a:rPr>
              <a:t>BACKUP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566928"/>
            <a:ext cx="1133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first ruler — and why we retired it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486400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417320"/>
            <a:ext cx="91440" cy="2468880"/>
          </a:xfrm>
          <a:prstGeom prst="rect">
            <a:avLst/>
          </a:prstGeom>
          <a:solidFill>
            <a:srgbClr val="1B6E78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536192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B6E78"/>
                </a:solidFill>
              </a:rPr>
              <a:t>HOW THE FIRST RULER WORKED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" y="182880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B31"/>
                </a:solidFill>
              </a:rPr>
              <a:t>One </a:t>
            </a:r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B31"/>
                </a:solidFill>
              </a:rPr>
              <a:t>relative coordinate.</a:t>
            </a:r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B31"/>
                </a:solidFill>
              </a:rPr>
              <a:t> The pericentral- and periportal-marker programs are each z-scored across all cells; “zonation strength” is read off the spread / anti-correlation of that coordinate — one number per group.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4672" y="32004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6E78"/>
                </a:solidFill>
              </a:rPr>
              <a:t>Markers:  </a:t>
            </a:r>
            <a:pPr algn="l" indent="0" marL="0">
              <a:buNone/>
            </a:pPr>
            <a:r>
              <a:rPr lang="en-US" sz="1250" dirty="0">
                <a:solidFill>
                  <a:srgbClr val="1B2B31"/>
                </a:solidFill>
              </a:rPr>
              <a:t>Paper 2’s landmark genes — later the full transcriptome-wide zonated set (1,273 pericentral / 364 periportal genes).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1417320"/>
            <a:ext cx="5367528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1417320"/>
            <a:ext cx="91440" cy="1143000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14" name="Text 12"/>
          <p:cNvSpPr/>
          <p:nvPr/>
        </p:nvSpPr>
        <p:spPr>
          <a:xfrm>
            <a:off x="6510528" y="1527048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BE123C"/>
                </a:solidFill>
              </a:rPr>
              <a:t>①  Depth-sensitive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10528" y="1874520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B31"/>
                </a:solidFill>
              </a:rPr>
              <a:t>z-scoring depends on cell count and sequencing depth. F4 biopsies run shallower — so the spread shrinks for non-biological reasons, even when zonation is unchanged.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2670048"/>
            <a:ext cx="5367528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2670048"/>
            <a:ext cx="91440" cy="1143000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18" name="Text 16"/>
          <p:cNvSpPr/>
          <p:nvPr/>
        </p:nvSpPr>
        <p:spPr>
          <a:xfrm>
            <a:off x="6510528" y="2779776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BE123C"/>
                </a:solidFill>
              </a:rPr>
              <a:t>②  Mechanism-blind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10528" y="3127248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B31"/>
                </a:solidFill>
              </a:rPr>
              <a:t>depletion, dimming, co-expression, turn-off and noise all shrink the spread the same way. One number cannot tell them apart.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11082528" cy="1371600"/>
          </a:xfrm>
          <a:prstGeom prst="roundRect">
            <a:avLst>
              <a:gd name="adj" fmla="val 4667"/>
            </a:avLst>
          </a:prstGeom>
          <a:solidFill>
            <a:srgbClr val="FBEEE9"/>
          </a:solidFill>
          <a:ln w="15240">
            <a:solidFill>
              <a:srgbClr val="BE123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426110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E123C"/>
                </a:solidFill>
              </a:rPr>
              <a:t>THE TELL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455371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B31"/>
                </a:solidFill>
              </a:rPr>
              <a:t>Biopsy-only, the relative ruler showed an apparent detox “drift” (a relative score sliding 66 → 49). It </a:t>
            </a:r>
            <a:pPr algn="l" indent="0" marL="0">
              <a:buNone/>
            </a:pPr>
            <a:r>
              <a:rPr lang="en-US" sz="1400" b="1" dirty="0">
                <a:solidFill>
                  <a:srgbClr val="1B2B31"/>
                </a:solidFill>
              </a:rPr>
              <a:t>did not survive the count-based classification</a:t>
            </a:r>
            <a:pPr algn="l" indent="0" marL="0">
              <a:buNone/>
            </a:pPr>
            <a:r>
              <a:rPr lang="en-US" sz="1400" dirty="0">
                <a:solidFill>
                  <a:srgbClr val="1B2B31"/>
                </a:solidFill>
              </a:rPr>
              <a:t> — the same donors, counted in real molecules, show nothing structural. That single number was reading depth and composition, not biology — so we replaced it with depth-matched molecule counts.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E73"/>
                </a:solidFill>
              </a:rPr>
              <a:t>Computational Genomics 76553  ·  HUJI  ·  MASLD snRNA-seq hackathon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10896"/>
            <a:ext cx="146304" cy="237744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C0561B"/>
                </a:solidFill>
              </a:rPr>
              <a:t>QA · PROCUREMENT &amp; STRESS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052560" y="2926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B6E78"/>
                </a:solidFill>
              </a:rPr>
              <a:t>BACKUP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566928"/>
            <a:ext cx="1133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two ends are confounded — the stress is handling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1B6E78"/>
                </a:solidFill>
              </a:rPr>
              <a:t>THREE TISSUE SOURCES — only one is a needle biopsy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55321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737360"/>
            <a:ext cx="91440" cy="7498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81965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Disease spectrum  ·  F0–F4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07568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C6E73"/>
                </a:solidFill>
              </a:rPr>
              <a:t>16-gauge needle core biopsy (right lobe, ~2 cm)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2249424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B31"/>
                </a:solidFill>
              </a:rPr>
              <a:t>38 donors   (F0 2 · F1 8 · F2 12 · F3 12 · F4 4)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578608"/>
            <a:ext cx="55321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578608"/>
            <a:ext cx="91440" cy="749808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660904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E123C"/>
                </a:solidFill>
              </a:rPr>
              <a:t>Healthy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2916936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C6E73"/>
                </a:solidFill>
              </a:rPr>
              <a:t>deceased-donor organ cube (~1 cm³, multi-lobe)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3090672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B31"/>
                </a:solidFill>
              </a:rPr>
              <a:t>4 donors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419856"/>
            <a:ext cx="55321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419856"/>
            <a:ext cx="91440" cy="749808"/>
          </a:xfrm>
          <a:prstGeom prst="rect">
            <a:avLst/>
          </a:prstGeom>
          <a:solidFill>
            <a:srgbClr val="86198F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50215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6198F"/>
                </a:solidFill>
              </a:rPr>
              <a:t>End-stage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3758184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C6E73"/>
                </a:solidFill>
              </a:rPr>
              <a:t>whole-organ explant cubes (multi-lobe)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3931920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B31"/>
                </a:solidFill>
              </a:rPr>
              <a:t>5 donors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4334256"/>
            <a:ext cx="5532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B31"/>
                </a:solidFill>
              </a:rPr>
              <a:t>Both ends are surgical organ cubes — not needle biopsies.</a:t>
            </a:r>
            <a:pPr algn="l" indent="0" marL="0">
              <a:buNone/>
            </a:pPr>
            <a:r>
              <a:rPr lang="en-US" sz="1200" dirty="0">
                <a:solidFill>
                  <a:srgbClr val="1B2B31"/>
                </a:solidFill>
              </a:rPr>
              <a:t>  Disease is read only from the matched biopsies (F0–F4).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55080" y="13716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1B6E78"/>
                </a:solidFill>
              </a:rPr>
              <a:t>HANDLING, NOT HYPOXIA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355080" y="166420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B31"/>
                </a:solidFill>
              </a:rPr>
              <a:t>The end-stage spike is the acute </a:t>
            </a:r>
            <a:pPr algn="l" indent="0" marL="0">
              <a:buNone/>
            </a:pPr>
            <a:r>
              <a:rPr lang="en-US" sz="1250" b="1" dirty="0">
                <a:solidFill>
                  <a:srgbClr val="DC2626"/>
                </a:solidFill>
              </a:rPr>
              <a:t>immediate-early</a:t>
            </a:r>
            <a:pPr algn="l" indent="0" marL="0">
              <a:buNone/>
            </a:pPr>
            <a:r>
              <a:rPr lang="en-US" sz="1250" dirty="0">
                <a:solidFill>
                  <a:srgbClr val="1B2B31"/>
                </a:solidFill>
              </a:rPr>
              <a:t> program (IEG) — not the sustained </a:t>
            </a:r>
            <a:pPr algn="l" indent="0" marL="0">
              <a:buNone/>
            </a:pPr>
            <a:r>
              <a:rPr lang="en-US" sz="1250" b="1" dirty="0">
                <a:solidFill>
                  <a:srgbClr val="1B2B31"/>
                </a:solidFill>
              </a:rPr>
              <a:t>hypoxia</a:t>
            </a:r>
            <a:pPr algn="l" indent="0" marL="0">
              <a:buNone/>
            </a:pPr>
            <a:r>
              <a:rPr lang="en-US" sz="1250" dirty="0">
                <a:solidFill>
                  <a:srgbClr val="1B2B31"/>
                </a:solidFill>
              </a:rPr>
              <a:t> program (HIF).   Fold = end-stage ÷ biopsy:</a:t>
            </a:r>
            <a:endParaRPr lang="en-US" sz="12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2212848"/>
          <a:ext cx="53035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188720"/>
                <a:gridCol w="11887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Lineage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F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IEG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F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HIF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F4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1"/>
                          </a:solidFill>
                        </a:rPr>
                        <a:t>Hepatocyte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C2626"/>
                          </a:solidFill>
                        </a:rPr>
                        <a:t>18.5×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C6E73"/>
                          </a:solidFill>
                        </a:rPr>
                        <a:t>1.8×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1"/>
                          </a:solidFill>
                        </a:rPr>
                        <a:t>Endothelial  (non-zonated)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C2626"/>
                          </a:solidFill>
                        </a:rPr>
                        <a:t>18.2×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C6E73"/>
                          </a:solidFill>
                        </a:rPr>
                        <a:t>2.6×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1"/>
                          </a:solidFill>
                        </a:rPr>
                        <a:t>Stellate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C2626"/>
                          </a:solidFill>
                        </a:rPr>
                        <a:t>12.0×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C6E73"/>
                          </a:solidFill>
                        </a:rPr>
                        <a:t>2.6×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1"/>
                          </a:solidFill>
                        </a:rPr>
                        <a:t>Cholangiocyte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C2626"/>
                          </a:solidFill>
                        </a:rPr>
                        <a:t>10.6×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C6E73"/>
                          </a:solidFill>
                        </a:rPr>
                        <a:t>0.8×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1"/>
                          </a:solidFill>
                        </a:rPr>
                        <a:t>Macrophage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C2626"/>
                          </a:solidFill>
                        </a:rPr>
                        <a:t>5.3×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C6E73"/>
                          </a:solidFill>
                        </a:rPr>
                        <a:t>1.9×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1"/>
                          </a:solidFill>
                        </a:rPr>
                        <a:t>Lymphocyte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C2626"/>
                          </a:solidFill>
                        </a:rPr>
                        <a:t>3.2×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C6E73"/>
                          </a:solidFill>
                        </a:rPr>
                        <a:t>1.6×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FE8"/>
                    </a:solidFill>
                  </a:tcPr>
                </a:tc>
              </a:tr>
            </a:tbl>
          </a:graphicData>
        </a:graphic>
      </p:graphicFrame>
      <p:sp>
        <p:nvSpPr>
          <p:cNvPr id="27" name="Text 24"/>
          <p:cNvSpPr/>
          <p:nvPr/>
        </p:nvSpPr>
        <p:spPr>
          <a:xfrm>
            <a:off x="6355080" y="4224528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B31"/>
                </a:solidFill>
              </a:rPr>
              <a:t>IEG jumps ~18× — as much in non-zonated endothelium as in hepatocytes. HIF barely moves. </a:t>
            </a:r>
            <a:pPr algn="l" indent="0" marL="0">
              <a:buNone/>
            </a:pPr>
            <a:r>
              <a:rPr lang="en-US" sz="1150" b="1" dirty="0">
                <a:solidFill>
                  <a:srgbClr val="1B2B31"/>
                </a:solidFill>
              </a:rPr>
              <a:t>Disease ischemia would lead with HIF; instead acute handling leads</a:t>
            </a:r>
            <a:pPr algn="l" indent="0" marL="0">
              <a:buNone/>
            </a:pPr>
            <a:r>
              <a:rPr lang="en-US" sz="1150" dirty="0">
                <a:solidFill>
                  <a:srgbClr val="1B2B31"/>
                </a:solidFill>
              </a:rPr>
              <a:t> → a procurement / dissociation signature, not zonation.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48640" y="5532120"/>
            <a:ext cx="11082528" cy="731520"/>
          </a:xfrm>
          <a:prstGeom prst="roundRect">
            <a:avLst>
              <a:gd name="adj" fmla="val 7500"/>
            </a:avLst>
          </a:prstGeom>
          <a:solidFill>
            <a:srgbClr val="E7F0EE"/>
          </a:solidFill>
          <a:ln w="12700">
            <a:solidFill>
              <a:srgbClr val="1B6E7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77240" y="5632704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3F47"/>
                </a:solidFill>
              </a:rPr>
              <a:t>Documented snRNA dissociation / handling artifact:  </a:t>
            </a:r>
            <a:pPr algn="l" indent="0" marL="0">
              <a:buNone/>
            </a:pPr>
            <a:r>
              <a:rPr lang="en-US" sz="1200" dirty="0">
                <a:solidFill>
                  <a:srgbClr val="1B2B31"/>
                </a:solidFill>
              </a:rPr>
              <a:t>van den Brink et al. 2017 (Nat. Methods);  O’Flanagan et al. 2019 &amp; Denisenko et al. 2020 (Genome Biol.). The immediate-early / heat-shock signature is the canonical tissue-handling tell.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E73"/>
                </a:solidFill>
              </a:rPr>
              <a:t>Computational Genomics 76553  ·  HUJI  ·  MASLD snRNA-seq hackathon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10896"/>
            <a:ext cx="146304" cy="237744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C0561B"/>
                </a:solidFill>
              </a:rPr>
              <a:t>QA · EXACT PIPELINE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052560" y="2926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B6E78"/>
                </a:solidFill>
              </a:rPr>
              <a:t>BACKUP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566928"/>
            <a:ext cx="1133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Raw-count anchor classification — the exact steps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1371600" cy="548640"/>
          </a:xfrm>
          <a:prstGeom prst="roundRect">
            <a:avLst>
              <a:gd name="adj" fmla="val 8333"/>
            </a:avLst>
          </a:prstGeom>
          <a:solidFill>
            <a:srgbClr val="1B2B31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417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raw UMI counts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911096" y="141732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6E73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03120" y="1417320"/>
            <a:ext cx="1554480" cy="548640"/>
          </a:xfrm>
          <a:prstGeom prst="roundRect">
            <a:avLst>
              <a:gd name="adj" fmla="val 8333"/>
            </a:avLst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03120" y="14173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down-thin to 1,500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48456" y="141732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6E73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840480" y="1417320"/>
            <a:ext cx="1691640" cy="548640"/>
          </a:xfrm>
          <a:prstGeom prst="roundRect">
            <a:avLst>
              <a:gd name="adj" fmla="val 8333"/>
            </a:avLst>
          </a:prstGeom>
          <a:solidFill>
            <a:srgbClr val="C0561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40480" y="14173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anchor ON if ≥ 2 UMI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522976" y="141732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6E73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715000" y="1417320"/>
            <a:ext cx="2286000" cy="548640"/>
          </a:xfrm>
          <a:prstGeom prst="roundRect">
            <a:avLst>
              <a:gd name="adj" fmla="val 8333"/>
            </a:avLst>
          </a:prstGeom>
          <a:solidFill>
            <a:srgbClr val="1D4ED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715000" y="1417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classify  PC/PP/dual/null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991856" y="141732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6E73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83880" y="1417320"/>
            <a:ext cx="1554480" cy="548640"/>
          </a:xfrm>
          <a:prstGeom prst="roundRect">
            <a:avLst>
              <a:gd name="adj" fmla="val 8333"/>
            </a:avLst>
          </a:prstGeom>
          <a:solidFill>
            <a:srgbClr val="1B6E7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183880" y="14173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fraction per donor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729216" y="141732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6E73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921240" y="1417320"/>
            <a:ext cx="1280160" cy="548640"/>
          </a:xfrm>
          <a:prstGeom prst="roundRect">
            <a:avLst>
              <a:gd name="adj" fmla="val 8333"/>
            </a:avLst>
          </a:prstGeom>
          <a:solidFill>
            <a:srgbClr val="1B6E7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921240" y="14173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median by stage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2286000"/>
            <a:ext cx="54864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2286000"/>
            <a:ext cx="91440" cy="18288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2404872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D4ED8"/>
                </a:solidFill>
              </a:rPr>
              <a:t>THE ANCHORS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04672" y="267004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4ED8"/>
                </a:solidFill>
              </a:rPr>
              <a:t>Pericentral:  </a:t>
            </a:r>
            <a:pPr algn="l" indent="0" marL="0">
              <a:buNone/>
            </a:pPr>
            <a:r>
              <a:rPr lang="en-US" sz="1300" dirty="0">
                <a:solidFill>
                  <a:srgbClr val="1B2B31"/>
                </a:solidFill>
              </a:rPr>
              <a:t>GLUL, CYP3A4
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A580C"/>
                </a:solidFill>
              </a:rPr>
              <a:t>Periportal:  </a:t>
            </a:r>
            <a:pPr algn="l" indent="0" marL="0">
              <a:buNone/>
            </a:pPr>
            <a:r>
              <a:rPr lang="en-US" sz="1300" dirty="0">
                <a:solidFill>
                  <a:srgbClr val="1B2B31"/>
                </a:solidFill>
              </a:rPr>
              <a:t>ASS1, PCK1, HAL, ALDOB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4672" y="3346704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B31"/>
                </a:solidFill>
              </a:rPr>
              <a:t>Rule (mutually exclusive):  </a:t>
            </a:r>
            <a:pPr algn="l" indent="0" marL="0">
              <a:buNone/>
            </a:pPr>
            <a:r>
              <a:rPr lang="en-US" sz="1150" dirty="0">
                <a:solidFill>
                  <a:srgbClr val="1B2B31"/>
                </a:solidFill>
              </a:rPr>
              <a:t>PC = ≥1 PC-anchor &amp; &lt;2 PP;  PP = ≥2 PP &amp; &lt;1 PC;  dual = ≥1 PC &amp; ≥2 PP;  null = neither.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63640" y="2286000"/>
            <a:ext cx="536752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63640" y="2286000"/>
            <a:ext cx="91440" cy="1828800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31" name="Text 29"/>
          <p:cNvSpPr/>
          <p:nvPr/>
        </p:nvSpPr>
        <p:spPr>
          <a:xfrm>
            <a:off x="6519672" y="2404872"/>
            <a:ext cx="4956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C0561B"/>
                </a:solidFill>
              </a:rPr>
              <a:t>WHY THESE CHOICES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519672" y="2670048"/>
            <a:ext cx="49560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B31"/>
                </a:solidFill>
              </a:rPr>
              <a:t>Down-thin to a common 1,500 UMIs</a:t>
            </a:r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B31"/>
                </a:solidFill>
              </a:rPr>
              <a:t> so depth can’t fake a class shift (held at 1,000 / 1,500 / 3,000; Monte-Carlo SD 0.006–0.010).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B31"/>
                </a:solidFill>
              </a:rPr>
              <a:t>≥ 2 UMI = ambient-robust</a:t>
            </a:r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B31"/>
                </a:solidFill>
              </a:rPr>
              <a:t> (≥ 1 lets ambient RNA call a class).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B31"/>
                </a:solidFill>
              </a:rPr>
              <a:t>Donor is the unit</a:t>
            </a:r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B31"/>
                </a:solidFill>
              </a:rPr>
              <a:t> — nuclei never pseudoreplicated (Squair et al. 2021).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4224528"/>
            <a:ext cx="11082528" cy="1810512"/>
          </a:xfrm>
          <a:prstGeom prst="roundRect">
            <a:avLst>
              <a:gd name="adj" fmla="val 3535"/>
            </a:avLst>
          </a:prstGeom>
          <a:solidFill>
            <a:srgbClr val="E7F0EE"/>
          </a:solidFill>
          <a:ln w="15240">
            <a:solidFill>
              <a:srgbClr val="1B6E7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77240" y="435254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3F47"/>
                </a:solidFill>
              </a:rPr>
              <a:t>9 / 9  raw-data sanity checks pass   </a:t>
            </a:r>
            <a:pPr algn="l" indent="0" marL="0">
              <a:buNone/>
            </a:pPr>
            <a:r>
              <a:rPr lang="en-US" sz="1100" i="1" dirty="0">
                <a:solidFill>
                  <a:srgbClr val="5C6E73"/>
                </a:solidFill>
              </a:rPr>
              <a:t>(src/prep/06_sanity_raw.py)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77240" y="4754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6E78"/>
                </a:solidFill>
              </a:rPr>
              <a:t>✓  </a:t>
            </a:r>
            <a:pPr algn="l" indent="0" marL="0">
              <a:buNone/>
            </a:pPr>
            <a:r>
              <a:rPr lang="en-US" sz="1150" dirty="0">
                <a:solidFill>
                  <a:srgbClr val="1B2B31"/>
                </a:solidFill>
              </a:rPr>
              <a:t>raw integer UMIs (not SCT)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389120" y="4754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6E78"/>
                </a:solidFill>
              </a:rPr>
              <a:t>✓  </a:t>
            </a:r>
            <a:pPr algn="l" indent="0" marL="0">
              <a:buNone/>
            </a:pPr>
            <a:r>
              <a:rPr lang="en-US" sz="1150" dirty="0">
                <a:solidFill>
                  <a:srgbClr val="1B2B31"/>
                </a:solidFill>
              </a:rPr>
              <a:t>panel == recorded library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001000" y="4754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6E78"/>
                </a:solidFill>
              </a:rPr>
              <a:t>✓  </a:t>
            </a:r>
            <a:pPr algn="l" indent="0" marL="0">
              <a:buNone/>
            </a:pPr>
            <a:r>
              <a:rPr lang="en-US" sz="1150" dirty="0">
                <a:solidFill>
                  <a:srgbClr val="1B2B31"/>
                </a:solidFill>
              </a:rPr>
              <a:t>raw range, not the SCT band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77240" y="517550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6E78"/>
                </a:solidFill>
              </a:rPr>
              <a:t>✓  </a:t>
            </a:r>
            <a:pPr algn="l" indent="0" marL="0">
              <a:buNone/>
            </a:pPr>
            <a:r>
              <a:rPr lang="en-US" sz="1150" dirty="0">
                <a:solidFill>
                  <a:srgbClr val="1B2B31"/>
                </a:solidFill>
              </a:rPr>
              <a:t>differs from the SCT matrix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389120" y="517550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6E78"/>
                </a:solidFill>
              </a:rPr>
              <a:t>✓  </a:t>
            </a:r>
            <a:pPr algn="l" indent="0" marL="0">
              <a:buNone/>
            </a:pPr>
            <a:r>
              <a:rPr lang="en-US" sz="1150" dirty="0">
                <a:solidFill>
                  <a:srgbClr val="1B2B31"/>
                </a:solidFill>
              </a:rPr>
              <a:t>ALB dominates hepatocytes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001000" y="517550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6E78"/>
                </a:solidFill>
              </a:rPr>
              <a:t>✓  </a:t>
            </a:r>
            <a:pPr algn="l" indent="0" marL="0">
              <a:buNone/>
            </a:pPr>
            <a:r>
              <a:rPr lang="en-US" sz="1150" dirty="0">
                <a:solidFill>
                  <a:srgbClr val="1B2B31"/>
                </a:solidFill>
              </a:rPr>
              <a:t>panel ≤ library, per cell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777240" y="55961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6E78"/>
                </a:solidFill>
              </a:rPr>
              <a:t>✓  </a:t>
            </a:r>
            <a:pPr algn="l" indent="0" marL="0">
              <a:buNone/>
            </a:pPr>
            <a:r>
              <a:rPr lang="en-US" sz="1150" dirty="0">
                <a:solidFill>
                  <a:srgbClr val="1B2B31"/>
                </a:solidFill>
              </a:rPr>
              <a:t>69,426 hepatocytes (matches paper)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389120" y="55961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6E78"/>
                </a:solidFill>
              </a:rPr>
              <a:t>✓  </a:t>
            </a:r>
            <a:pPr algn="l" indent="0" marL="0">
              <a:buNone/>
            </a:pPr>
            <a:r>
              <a:rPr lang="en-US" sz="1150" dirty="0">
                <a:solidFill>
                  <a:srgbClr val="1B2B31"/>
                </a:solidFill>
              </a:rPr>
              <a:t>detection rates plausible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8001000" y="55961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6E78"/>
                </a:solidFill>
              </a:rPr>
              <a:t>✓  </a:t>
            </a:r>
            <a:pPr algn="l" indent="0" marL="0">
              <a:buNone/>
            </a:pPr>
            <a:r>
              <a:rPr lang="en-US" sz="1150" dirty="0">
                <a:solidFill>
                  <a:srgbClr val="1B2B31"/>
                </a:solidFill>
              </a:rPr>
              <a:t>no silent gene drop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E73"/>
                </a:solidFill>
              </a:rPr>
              <a:t>Computational Genomics 76553  ·  HUJI  ·  MASLD snRNA-seq hackathon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2026-06-27T19:02:40Z</dcterms:created>
  <dcterms:modified xsi:type="dcterms:W3CDTF">2026-06-27T19:02:40Z</dcterms:modified>
</cp:coreProperties>
</file>