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Distinguish evidence levels. Strong: the genes are 5-78x more abundant in cholangiocytes and per-cell hepatocyte co-expression is ~0.4%. Suggestive: decontX halves the hits and drops SOX4/SOX9 — supports an ambient contribution but not proof. Open: EPCAM/SPINT2/B3GNT3 survive — a rare intrinsic state is not excluded; CXCL10 is set aside as a candidate real inflammatory signal. So the dominant evidence points to composition/ambient RNA, a lead not a closed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777240" y="1051560"/>
            <a:ext cx="10881360" cy="365760"/>
          </a:xfrm>
          <a:prstGeom prst="rect">
            <a:avLst/>
          </a:prstGeom>
          <a:noFill/>
          <a:ln/>
        </p:spPr>
        <p:txBody>
          <a:bodyPr wrap="square" rtlCol="0" anchor="ctr"/>
          <a:lstStyle/>
          <a:p>
            <a:pPr algn="l" indent="0" marL="0">
              <a:buNone/>
            </a:pPr>
            <a:r>
              <a:rPr lang="en-US" sz="1500" b="1" spc="300" kern="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algn="l" indent="0" marL="0">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algn="l" indent="0" marL="0">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algn="l" indent="0" marL="0">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sp>
      <p:sp>
        <p:nvSpPr>
          <p:cNvPr id="9" name="Text 7"/>
          <p:cNvSpPr/>
          <p:nvPr/>
        </p:nvSpPr>
        <p:spPr>
          <a:xfrm>
            <a:off x="777240" y="4343400"/>
            <a:ext cx="10607040" cy="411480"/>
          </a:xfrm>
          <a:prstGeom prst="rect">
            <a:avLst/>
          </a:prstGeom>
          <a:noFill/>
          <a:ln/>
        </p:spPr>
        <p:txBody>
          <a:bodyPr wrap="square" rtlCol="0" anchor="ctr"/>
          <a:lstStyle/>
          <a:p>
            <a:pPr algn="l" indent="0" marL="0">
              <a:buNone/>
            </a:pPr>
            <a:r>
              <a:rPr lang="en-US" sz="2000" b="1" dirty="0">
                <a:solidFill>
                  <a:srgbClr val="EDE7DB"/>
                </a:solidFill>
              </a:rPr>
              <a:t>Roee Tekoah</a:t>
            </a:r>
            <a:pPr algn="l" indent="0" marL="0">
              <a:buNone/>
            </a:pPr>
            <a:r>
              <a:rPr lang="en-US" sz="2000" dirty="0">
                <a:solidFill>
                  <a:srgbClr val="7E8F8B"/>
                </a:solidFill>
              </a:rPr>
              <a:t>   ·   </a:t>
            </a:r>
            <a:pPr algn="l" indent="0" marL="0">
              <a:buNone/>
            </a:pP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algn="l" indent="0" marL="0">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algn="l" indent="0" marL="0">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sp>
      <p:sp>
        <p:nvSpPr>
          <p:cNvPr id="7" name="Shape 5"/>
          <p:cNvSpPr/>
          <p:nvPr/>
        </p:nvSpPr>
        <p:spPr>
          <a:xfrm>
            <a:off x="914400" y="1691640"/>
            <a:ext cx="4754880" cy="502920"/>
          </a:xfrm>
          <a:prstGeom prst="rect">
            <a:avLst/>
          </a:prstGeom>
          <a:solidFill>
            <a:srgbClr val="1D4ED8"/>
          </a:solidFill>
          <a:ln/>
        </p:spPr>
      </p:sp>
      <p:sp>
        <p:nvSpPr>
          <p:cNvPr id="8" name="Text 6"/>
          <p:cNvSpPr/>
          <p:nvPr/>
        </p:nvSpPr>
        <p:spPr>
          <a:xfrm>
            <a:off x="1051560" y="1691640"/>
            <a:ext cx="4572000" cy="502920"/>
          </a:xfrm>
          <a:prstGeom prst="rect">
            <a:avLst/>
          </a:prstGeom>
          <a:noFill/>
          <a:ln/>
        </p:spPr>
        <p:txBody>
          <a:bodyPr wrap="square" rtlCol="0" anchor="ctr"/>
          <a:lstStyle/>
          <a:p>
            <a:pPr algn="l" indent="0" marL="0">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algn="r" indent="0" marL="0">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algn="l" indent="0" marL="0">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algn="r" indent="0" marL="0">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algn="ctr" indent="0" marL="0">
              <a:buNone/>
            </a:pPr>
            <a:r>
              <a:rPr lang="en-US" sz="1400" b="1" dirty="0">
                <a:solidFill>
                  <a:srgbClr val="1D4ED8"/>
                </a:solidFill>
              </a:rPr>
              <a:t>GLUL, CYP3A4, CYP2E1 </a:t>
            </a:r>
            <a:pPr algn="ctr" indent="0" marL="0">
              <a:buNone/>
            </a:pP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algn="ctr" indent="0" marL="0">
              <a:buNone/>
            </a:pPr>
            <a:r>
              <a:rPr lang="en-US" sz="1400" b="1" dirty="0">
                <a:solidFill>
                  <a:srgbClr val="EA580C"/>
                </a:solidFill>
              </a:rPr>
              <a:t>ASS1, CPS1, PCK1, HAL, ALDOB </a:t>
            </a:r>
            <a:pPr algn="ctr" indent="0" marL="0">
              <a:buNone/>
            </a:pP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sx="100000" sy="100000" kx="0" ky="0" algn="bl" rotWithShape="0" blurRad="88900" dist="38100" dir="5400000">
              <a:srgbClr val="000000">
                <a:alpha val="12000"/>
              </a:srgbClr>
            </a:outerShdw>
          </a:effectLst>
        </p:spPr>
      </p:sp>
      <p:sp>
        <p:nvSpPr>
          <p:cNvPr id="15" name="Text 13"/>
          <p:cNvSpPr/>
          <p:nvPr/>
        </p:nvSpPr>
        <p:spPr>
          <a:xfrm>
            <a:off x="822960" y="3346704"/>
            <a:ext cx="5029200" cy="274320"/>
          </a:xfrm>
          <a:prstGeom prst="rect">
            <a:avLst/>
          </a:prstGeom>
          <a:noFill/>
          <a:ln/>
        </p:spPr>
        <p:txBody>
          <a:bodyPr wrap="square" lIns="0" tIns="0" rIns="0" bIns="0" rtlCol="0" anchor="ctr"/>
          <a:lstStyle/>
          <a:p>
            <a:pPr algn="l" indent="0" marL="0">
              <a:buNone/>
            </a:pPr>
            <a:r>
              <a:rPr lang="en-US" sz="1200" b="1" spc="200" kern="0" dirty="0">
                <a:solidFill>
                  <a:srgbClr val="9FC0C4"/>
                </a:solidFill>
              </a:rPr>
              <a:t>THE PUBLISHED CLAIM   </a:t>
            </a:r>
            <a:pPr algn="l" indent="0" marL="0">
              <a:buNone/>
            </a:pP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algn="l" indent="0" marL="0">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algn="l" marL="342900" indent="-342900">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algn="l" marL="342900" indent="-342900">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0400"/>
            <a:ext cx="5349240" cy="2542032"/>
          </a:xfrm>
          <a:prstGeom prst="roundRect">
            <a:avLst>
              <a:gd name="adj" fmla="val 2878"/>
            </a:avLst>
          </a:prstGeom>
          <a:solidFill>
            <a:srgbClr val="FFFFFF"/>
          </a:solidFill>
          <a:ln w="19050">
            <a:solidFill>
              <a:srgbClr val="C0561B"/>
            </a:solidFill>
            <a:prstDash val="solid"/>
          </a:ln>
          <a:effectLst>
            <a:outerShdw sx="100000" sy="100000" kx="0" ky="0" algn="bl" rotWithShape="0" blurRad="88900" dist="38100" dir="5400000">
              <a:srgbClr val="000000">
                <a:alpha val="12000"/>
              </a:srgbClr>
            </a:outerShdw>
          </a:effectLst>
        </p:spPr>
      </p:sp>
      <p:sp>
        <p:nvSpPr>
          <p:cNvPr id="19" name="Text 17"/>
          <p:cNvSpPr/>
          <p:nvPr/>
        </p:nvSpPr>
        <p:spPr>
          <a:xfrm>
            <a:off x="6492240" y="3346704"/>
            <a:ext cx="4937760" cy="274320"/>
          </a:xfrm>
          <a:prstGeom prst="rect">
            <a:avLst/>
          </a:prstGeom>
          <a:noFill/>
          <a:ln/>
        </p:spPr>
        <p:txBody>
          <a:bodyPr wrap="square" lIns="0" tIns="0" rIns="0" bIns="0" rtlCol="0" anchor="ctr"/>
          <a:lstStyle/>
          <a:p>
            <a:pPr algn="l" indent="0" marL="0">
              <a:buNone/>
            </a:pPr>
            <a:r>
              <a:rPr lang="en-US" sz="1200" b="1" spc="200" kern="0" dirty="0">
                <a:solidFill>
                  <a:srgbClr val="C0561B"/>
                </a:solidFill>
              </a:rPr>
              <a:t>OUR QUESTION</a:t>
            </a:r>
            <a:endParaRPr lang="en-US" sz="1200" dirty="0"/>
          </a:p>
        </p:txBody>
      </p:sp>
      <p:sp>
        <p:nvSpPr>
          <p:cNvPr id="20" name="Text 18"/>
          <p:cNvSpPr/>
          <p:nvPr/>
        </p:nvSpPr>
        <p:spPr>
          <a:xfrm>
            <a:off x="6492240" y="3703320"/>
            <a:ext cx="4937760" cy="1828800"/>
          </a:xfrm>
          <a:prstGeom prst="rect">
            <a:avLst/>
          </a:prstGeom>
          <a:noFill/>
          <a:ln/>
        </p:spPr>
        <p:txBody>
          <a:bodyPr wrap="square" lIns="0" tIns="0" rIns="0" bIns="0" rtlCol="0" anchor="t"/>
          <a:lstStyle/>
          <a:p>
            <a:pPr algn="l" indent="0" marL="0">
              <a:buNone/>
            </a:pPr>
            <a:r>
              <a:rPr lang="en-US" sz="1650" b="1" dirty="0">
                <a:solidFill>
                  <a:srgbClr val="1B2B31"/>
                </a:solidFill>
                <a:latin typeface="Georgia" pitchFamily="34" charset="0"/>
                <a:ea typeface="Georgia" pitchFamily="34" charset="-122"/>
                <a:cs typeface="Georgia" pitchFamily="34" charset="-120"/>
              </a:rPr>
              <a:t>Does hepatocyte zonation degrade across MASLD — and is it linked to the hepatocyte→cholangiocyte transdifferentiation they describe?</a:t>
            </a:r>
            <a:endParaRPr lang="en-US" sz="1650" dirty="0"/>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algn="l" indent="0" marL="0">
              <a:buNone/>
            </a:pPr>
            <a:r>
              <a:rPr lang="en-US" sz="1300" b="1" spc="200" kern="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algn="l" indent="0" marL="0">
              <a:buNone/>
            </a:pPr>
            <a:r>
              <a:rPr lang="en-US" sz="1500" dirty="0">
                <a:solidFill>
                  <a:srgbClr val="1B2B31"/>
                </a:solidFill>
              </a:rPr>
              <a:t>We first read it with a z-scored zonation coordinate and marker–marker correlations, pooled across all samples.</a:t>
            </a:r>
            <a:endParaRPr lang="en-US" sz="1500" dirty="0"/>
          </a:p>
        </p:txBody>
      </p:sp>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sp>
      <p:sp>
        <p:nvSpPr>
          <p:cNvPr id="9" name="Text 7"/>
          <p:cNvSpPr/>
          <p:nvPr/>
        </p:nvSpPr>
        <p:spPr>
          <a:xfrm>
            <a:off x="841248" y="3291840"/>
            <a:ext cx="5120640" cy="274320"/>
          </a:xfrm>
          <a:prstGeom prst="rect">
            <a:avLst/>
          </a:prstGeom>
          <a:noFill/>
          <a:ln/>
        </p:spPr>
        <p:txBody>
          <a:bodyPr wrap="square" rtlCol="0" anchor="ctr"/>
          <a:lstStyle/>
          <a:p>
            <a:pPr algn="l" indent="0" marL="0">
              <a:buNone/>
            </a:pPr>
            <a:r>
              <a:rPr lang="en-US" sz="1200" b="1" spc="200" kern="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algn="l" indent="0" marL="0">
              <a:buNone/>
            </a:pPr>
            <a:r>
              <a:rPr lang="en-US" sz="1500" b="1" i="1" dirty="0">
                <a:solidFill>
                  <a:srgbClr val="123F47"/>
                </a:solidFill>
              </a:rPr>
              <a:t>“Hepatocytes lose their zonation; the pericentral program turns off, strongest at end-stage.”</a:t>
            </a:r>
            <a:endParaRPr lang="en-US" sz="1500" dirty="0"/>
          </a:p>
        </p:txBody>
      </p:sp>
      <p:sp>
        <p:nvSpPr>
          <p:cNvPr id="11" name="Text 9"/>
          <p:cNvSpPr/>
          <p:nvPr/>
        </p:nvSpPr>
        <p:spPr>
          <a:xfrm>
            <a:off x="640080" y="4892040"/>
            <a:ext cx="5486400" cy="457200"/>
          </a:xfrm>
          <a:prstGeom prst="rect">
            <a:avLst/>
          </a:prstGeom>
          <a:noFill/>
          <a:ln/>
        </p:spPr>
        <p:txBody>
          <a:bodyPr wrap="square" rtlCol="0" anchor="t"/>
          <a:lstStyle/>
          <a:p>
            <a:pPr algn="l" indent="0" marL="0">
              <a:buNone/>
            </a:pPr>
            <a:r>
              <a:rPr lang="en-US" sz="1250" i="1" dirty="0">
                <a:solidFill>
                  <a:srgbClr val="5C6E73"/>
                </a:solidFill>
              </a:rPr>
              <a:t>This is the published finding — our first, relative reading reproduced it.</a:t>
            </a:r>
            <a:endParaRPr lang="en-US" sz="1250" dirty="0"/>
          </a:p>
        </p:txBody>
      </p:sp>
      <p:sp>
        <p:nvSpPr>
          <p:cNvPr id="12" name="Text 10"/>
          <p:cNvSpPr/>
          <p:nvPr/>
        </p:nvSpPr>
        <p:spPr>
          <a:xfrm>
            <a:off x="6400800" y="1645920"/>
            <a:ext cx="5394960" cy="274320"/>
          </a:xfrm>
          <a:prstGeom prst="rect">
            <a:avLst/>
          </a:prstGeom>
          <a:noFill/>
          <a:ln/>
        </p:spPr>
        <p:txBody>
          <a:bodyPr wrap="square" rtlCol="0" anchor="ctr"/>
          <a:lstStyle/>
          <a:p>
            <a:pPr algn="l" indent="0" marL="0">
              <a:buNone/>
            </a:pPr>
            <a:r>
              <a:rPr lang="en-US" sz="1300" b="1" spc="200" kern="0" dirty="0">
                <a:solidFill>
                  <a:srgbClr val="C0561B"/>
                </a:solidFill>
              </a:rPr>
              <a:t>THE TRAP</a:t>
            </a:r>
            <a:endParaRPr lang="en-US" sz="1300" dirty="0"/>
          </a:p>
        </p:txBody>
      </p:sp>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4" name="Shape 12"/>
          <p:cNvSpPr/>
          <p:nvPr/>
        </p:nvSpPr>
        <p:spPr>
          <a:xfrm>
            <a:off x="6400800" y="2057400"/>
            <a:ext cx="91440" cy="914400"/>
          </a:xfrm>
          <a:prstGeom prst="rect">
            <a:avLst/>
          </a:prstGeom>
          <a:solidFill>
            <a:srgbClr val="BE123C"/>
          </a:solidFill>
          <a:ln/>
        </p:spPr>
      </p:sp>
      <p:sp>
        <p:nvSpPr>
          <p:cNvPr id="15" name="Text 13"/>
          <p:cNvSpPr/>
          <p:nvPr/>
        </p:nvSpPr>
        <p:spPr>
          <a:xfrm>
            <a:off x="6693408" y="2185416"/>
            <a:ext cx="4937760" cy="320040"/>
          </a:xfrm>
          <a:prstGeom prst="rect">
            <a:avLst/>
          </a:prstGeom>
          <a:noFill/>
          <a:ln/>
        </p:spPr>
        <p:txBody>
          <a:bodyPr wrap="square" lIns="0" tIns="0" rIns="0" bIns="0" rtlCol="0" anchor="t"/>
          <a:lstStyle/>
          <a:p>
            <a:pPr algn="l" indent="0" marL="0">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algn="l" indent="0" marL="0">
              <a:buNone/>
            </a:pPr>
            <a:r>
              <a:rPr lang="en-US" sz="1250" dirty="0">
                <a:solidFill>
                  <a:srgbClr val="1B2B31"/>
                </a:solidFill>
              </a:rPr>
              <a:t>no counts — which cells, how many, and from where.</a:t>
            </a:r>
            <a:endParaRPr lang="en-US" sz="1250" dirty="0"/>
          </a:p>
        </p:txBody>
      </p:sp>
      <p:sp>
        <p:nvSpPr>
          <p:cNvPr id="17" name="Shape 15"/>
          <p:cNvSpPr/>
          <p:nvPr/>
        </p:nvSpPr>
        <p:spPr>
          <a:xfrm>
            <a:off x="6400800" y="3081528"/>
            <a:ext cx="5394960" cy="914400"/>
          </a:xfrm>
          <a:prstGeom prst="roundRect">
            <a:avLst>
              <a:gd name="adj" fmla="val 6000"/>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8" name="Shape 16"/>
          <p:cNvSpPr/>
          <p:nvPr/>
        </p:nvSpPr>
        <p:spPr>
          <a:xfrm>
            <a:off x="6400800" y="3081528"/>
            <a:ext cx="91440" cy="914400"/>
          </a:xfrm>
          <a:prstGeom prst="rect">
            <a:avLst/>
          </a:prstGeom>
          <a:solidFill>
            <a:srgbClr val="BE123C"/>
          </a:solidFill>
          <a:ln/>
        </p:spPr>
      </p:sp>
      <p:sp>
        <p:nvSpPr>
          <p:cNvPr id="19" name="Text 17"/>
          <p:cNvSpPr/>
          <p:nvPr/>
        </p:nvSpPr>
        <p:spPr>
          <a:xfrm>
            <a:off x="6693408" y="3209544"/>
            <a:ext cx="4937760" cy="320040"/>
          </a:xfrm>
          <a:prstGeom prst="rect">
            <a:avLst/>
          </a:prstGeom>
          <a:noFill/>
          <a:ln/>
        </p:spPr>
        <p:txBody>
          <a:bodyPr wrap="square" lIns="0" tIns="0" rIns="0" bIns="0" rtlCol="0" anchor="t"/>
          <a:lstStyle/>
          <a:p>
            <a:pPr algn="l" indent="0" marL="0">
              <a:buNone/>
            </a:pPr>
            <a:r>
              <a:rPr lang="en-US" sz="1600" b="1" dirty="0">
                <a:solidFill>
                  <a:srgbClr val="BE123C"/>
                </a:solidFill>
              </a:rPr>
              <a:t>Mixes the samples</a:t>
            </a:r>
            <a:endParaRPr lang="en-US" sz="1600" dirty="0"/>
          </a:p>
        </p:txBody>
      </p:sp>
      <p:sp>
        <p:nvSpPr>
          <p:cNvPr id="20" name="Text 18"/>
          <p:cNvSpPr/>
          <p:nvPr/>
        </p:nvSpPr>
        <p:spPr>
          <a:xfrm>
            <a:off x="6693408" y="3557016"/>
            <a:ext cx="4937760" cy="384048"/>
          </a:xfrm>
          <a:prstGeom prst="rect">
            <a:avLst/>
          </a:prstGeom>
          <a:noFill/>
          <a:ln/>
        </p:spPr>
        <p:txBody>
          <a:bodyPr wrap="square" lIns="0" tIns="0" rIns="0" bIns="0" rtlCol="0" anchor="t"/>
          <a:lstStyle/>
          <a:p>
            <a:pPr algn="l" indent="0" marL="0">
              <a:buNone/>
            </a:pPr>
            <a:r>
              <a:rPr lang="en-US" sz="1250" dirty="0">
                <a:solidFill>
                  <a:srgbClr val="1B2B31"/>
                </a:solidFill>
              </a:rPr>
              <a:t>pools healthy + biopsy + end-stage across a hidden acquisition break.</a:t>
            </a:r>
            <a:endParaRPr lang="en-US" sz="1250" dirty="0"/>
          </a:p>
        </p:txBody>
      </p:sp>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2" name="Shape 20"/>
          <p:cNvSpPr/>
          <p:nvPr/>
        </p:nvSpPr>
        <p:spPr>
          <a:xfrm>
            <a:off x="6400800" y="4105656"/>
            <a:ext cx="91440" cy="914400"/>
          </a:xfrm>
          <a:prstGeom prst="rect">
            <a:avLst/>
          </a:prstGeom>
          <a:solidFill>
            <a:srgbClr val="BE123C"/>
          </a:solidFill>
          <a:ln/>
        </p:spPr>
      </p:sp>
      <p:sp>
        <p:nvSpPr>
          <p:cNvPr id="23" name="Text 21"/>
          <p:cNvSpPr/>
          <p:nvPr/>
        </p:nvSpPr>
        <p:spPr>
          <a:xfrm>
            <a:off x="6693408" y="4233672"/>
            <a:ext cx="4937760" cy="320040"/>
          </a:xfrm>
          <a:prstGeom prst="rect">
            <a:avLst/>
          </a:prstGeom>
          <a:noFill/>
          <a:ln/>
        </p:spPr>
        <p:txBody>
          <a:bodyPr wrap="square" lIns="0" tIns="0" rIns="0" bIns="0" rtlCol="0" anchor="t"/>
          <a:lstStyle/>
          <a:p>
            <a:pPr algn="l" indent="0" marL="0">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algn="l" indent="0" marL="0">
              <a:buNone/>
            </a:pPr>
            <a:r>
              <a:rPr lang="en-US" sz="1250" dirty="0">
                <a:solidFill>
                  <a:srgbClr val="1B2B31"/>
                </a:solidFill>
              </a:rPr>
              <a:t>depth, cell number and tissue source all tilt a z-score or correlation.</a:t>
            </a:r>
            <a:endParaRPr lang="en-US" sz="1250" dirty="0"/>
          </a:p>
        </p:txBody>
      </p:sp>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sp>
      <p:sp>
        <p:nvSpPr>
          <p:cNvPr id="26" name="Text 24"/>
          <p:cNvSpPr/>
          <p:nvPr/>
        </p:nvSpPr>
        <p:spPr>
          <a:xfrm>
            <a:off x="6400800" y="5157216"/>
            <a:ext cx="5394960" cy="566928"/>
          </a:xfrm>
          <a:prstGeom prst="rect">
            <a:avLst/>
          </a:prstGeom>
          <a:noFill/>
          <a:ln/>
        </p:spPr>
        <p:txBody>
          <a:bodyPr wrap="square" rtlCol="0" anchor="ctr"/>
          <a:lstStyle/>
          <a:p>
            <a:pPr algn="ctr" indent="0" marL="0">
              <a:buNone/>
            </a:pPr>
            <a:r>
              <a:rPr lang="en-US" sz="1500" b="1" dirty="0">
                <a:solidFill>
                  <a:srgbClr val="123F47"/>
                </a:solidFill>
              </a:rPr>
              <a:t>→ so we count molecules instead.</a:t>
            </a:r>
            <a:endParaRPr lang="en-US" sz="1500" dirty="0"/>
          </a:p>
        </p:txBody>
      </p:sp>
      <p:sp>
        <p:nvSpPr>
          <p:cNvPr id="27" name="Text 25"/>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Stage is entangled with how the tissue was taken</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pPr algn="l" indent="0" marL="0">
              <a:buNone/>
            </a:pPr>
            <a:r>
              <a:rPr lang="en-US" sz="1450" b="1" dirty="0">
                <a:solidFill>
                  <a:srgbClr val="BE123C"/>
                </a:solidFill>
              </a:rPr>
              <a:t>①  Stage tracks how the tissue was taken</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sp>
      <p:sp>
        <p:nvSpPr>
          <p:cNvPr id="8" name="Shape 6"/>
          <p:cNvSpPr/>
          <p:nvPr/>
        </p:nvSpPr>
        <p:spPr>
          <a:xfrm>
            <a:off x="914400" y="1993392"/>
            <a:ext cx="1234440" cy="512064"/>
          </a:xfrm>
          <a:prstGeom prst="roundRect">
            <a:avLst>
              <a:gd name="adj" fmla="val 10714"/>
            </a:avLst>
          </a:prstGeom>
          <a:solidFill>
            <a:srgbClr val="BE123C"/>
          </a:solidFill>
          <a:ln/>
          <a:effectLst>
            <a:outerShdw sx="100000" sy="100000" kx="0" ky="0" algn="bl" rotWithShape="0" blurRad="88900" dist="38100" dir="5400000">
              <a:srgbClr val="000000">
                <a:alpha val="12000"/>
              </a:srgbClr>
            </a:outerShdw>
          </a:effectLst>
        </p:spPr>
      </p:sp>
      <p:sp>
        <p:nvSpPr>
          <p:cNvPr id="9" name="Text 7"/>
          <p:cNvSpPr/>
          <p:nvPr/>
        </p:nvSpPr>
        <p:spPr>
          <a:xfrm>
            <a:off x="914400" y="1993392"/>
            <a:ext cx="1234440" cy="512064"/>
          </a:xfrm>
          <a:prstGeom prst="rect">
            <a:avLst/>
          </a:prstGeom>
          <a:noFill/>
          <a:ln/>
        </p:spPr>
        <p:txBody>
          <a:bodyPr wrap="square" rtlCol="0" anchor="ctr"/>
          <a:lstStyle/>
          <a:p>
            <a:pPr algn="ctr" indent="0" marL="0">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sx="100000" sy="100000" kx="0" ky="0" algn="bl" rotWithShape="0" blurRad="88900" dist="38100" dir="5400000">
              <a:srgbClr val="000000">
                <a:alpha val="12000"/>
              </a:srgbClr>
            </a:outerShdw>
          </a:effectLst>
        </p:spPr>
      </p:sp>
      <p:sp>
        <p:nvSpPr>
          <p:cNvPr id="11" name="Text 9"/>
          <p:cNvSpPr/>
          <p:nvPr/>
        </p:nvSpPr>
        <p:spPr>
          <a:xfrm>
            <a:off x="2468880" y="1993392"/>
            <a:ext cx="1005840" cy="512064"/>
          </a:xfrm>
          <a:prstGeom prst="rect">
            <a:avLst/>
          </a:prstGeom>
          <a:noFill/>
          <a:ln/>
        </p:spPr>
        <p:txBody>
          <a:bodyPr wrap="square" rtlCol="0" anchor="ctr"/>
          <a:lstStyle/>
          <a:p>
            <a:pPr algn="ctr" indent="0" marL="0">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sx="100000" sy="100000" kx="0" ky="0" algn="bl" rotWithShape="0" blurRad="88900" dist="38100" dir="5400000">
              <a:srgbClr val="000000">
                <a:alpha val="12000"/>
              </a:srgbClr>
            </a:outerShdw>
          </a:effectLst>
        </p:spPr>
      </p:sp>
      <p:sp>
        <p:nvSpPr>
          <p:cNvPr id="13" name="Text 11"/>
          <p:cNvSpPr/>
          <p:nvPr/>
        </p:nvSpPr>
        <p:spPr>
          <a:xfrm>
            <a:off x="3566160" y="1993392"/>
            <a:ext cx="1005840" cy="512064"/>
          </a:xfrm>
          <a:prstGeom prst="rect">
            <a:avLst/>
          </a:prstGeom>
          <a:noFill/>
          <a:ln/>
        </p:spPr>
        <p:txBody>
          <a:bodyPr wrap="square" rtlCol="0" anchor="ctr"/>
          <a:lstStyle/>
          <a:p>
            <a:pPr algn="ctr" indent="0" marL="0">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sx="100000" sy="100000" kx="0" ky="0" algn="bl" rotWithShape="0" blurRad="88900" dist="38100" dir="5400000">
              <a:srgbClr val="000000">
                <a:alpha val="12000"/>
              </a:srgbClr>
            </a:outerShdw>
          </a:effectLst>
        </p:spPr>
      </p:sp>
      <p:sp>
        <p:nvSpPr>
          <p:cNvPr id="15" name="Text 13"/>
          <p:cNvSpPr/>
          <p:nvPr/>
        </p:nvSpPr>
        <p:spPr>
          <a:xfrm>
            <a:off x="4663440" y="1993392"/>
            <a:ext cx="1005840" cy="512064"/>
          </a:xfrm>
          <a:prstGeom prst="rect">
            <a:avLst/>
          </a:prstGeom>
          <a:noFill/>
          <a:ln/>
        </p:spPr>
        <p:txBody>
          <a:bodyPr wrap="square" rtlCol="0" anchor="ctr"/>
          <a:lstStyle/>
          <a:p>
            <a:pPr algn="ctr" indent="0" marL="0">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sx="100000" sy="100000" kx="0" ky="0" algn="bl" rotWithShape="0" blurRad="88900" dist="38100" dir="5400000">
              <a:srgbClr val="000000">
                <a:alpha val="12000"/>
              </a:srgbClr>
            </a:outerShdw>
          </a:effectLst>
        </p:spPr>
      </p:sp>
      <p:sp>
        <p:nvSpPr>
          <p:cNvPr id="17" name="Text 15"/>
          <p:cNvSpPr/>
          <p:nvPr/>
        </p:nvSpPr>
        <p:spPr>
          <a:xfrm>
            <a:off x="5760720" y="1993392"/>
            <a:ext cx="1005840" cy="512064"/>
          </a:xfrm>
          <a:prstGeom prst="rect">
            <a:avLst/>
          </a:prstGeom>
          <a:noFill/>
          <a:ln/>
        </p:spPr>
        <p:txBody>
          <a:bodyPr wrap="square" rtlCol="0" anchor="ctr"/>
          <a:lstStyle/>
          <a:p>
            <a:pPr algn="ctr" indent="0" marL="0">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sx="100000" sy="100000" kx="0" ky="0" algn="bl" rotWithShape="0" blurRad="88900" dist="38100" dir="5400000">
              <a:srgbClr val="000000">
                <a:alpha val="12000"/>
              </a:srgbClr>
            </a:outerShdw>
          </a:effectLst>
        </p:spPr>
      </p:sp>
      <p:sp>
        <p:nvSpPr>
          <p:cNvPr id="19" name="Text 17"/>
          <p:cNvSpPr/>
          <p:nvPr/>
        </p:nvSpPr>
        <p:spPr>
          <a:xfrm>
            <a:off x="6858000" y="1993392"/>
            <a:ext cx="1005840" cy="512064"/>
          </a:xfrm>
          <a:prstGeom prst="rect">
            <a:avLst/>
          </a:prstGeom>
          <a:noFill/>
          <a:ln/>
        </p:spPr>
        <p:txBody>
          <a:bodyPr wrap="square" rtlCol="0" anchor="ctr"/>
          <a:lstStyle/>
          <a:p>
            <a:pPr algn="ctr" indent="0" marL="0">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sx="100000" sy="100000" kx="0" ky="0" algn="bl" rotWithShape="0" blurRad="88900" dist="38100" dir="5400000">
              <a:srgbClr val="000000">
                <a:alpha val="12000"/>
              </a:srgbClr>
            </a:outerShdw>
          </a:effectLst>
        </p:spPr>
      </p:sp>
      <p:sp>
        <p:nvSpPr>
          <p:cNvPr id="21" name="Text 19"/>
          <p:cNvSpPr/>
          <p:nvPr/>
        </p:nvSpPr>
        <p:spPr>
          <a:xfrm>
            <a:off x="8229600" y="1993392"/>
            <a:ext cx="1920240" cy="512064"/>
          </a:xfrm>
          <a:prstGeom prst="rect">
            <a:avLst/>
          </a:prstGeom>
          <a:noFill/>
          <a:ln/>
        </p:spPr>
        <p:txBody>
          <a:bodyPr wrap="square" rtlCol="0" anchor="ctr"/>
          <a:lstStyle/>
          <a:p>
            <a:pPr algn="ctr" indent="0" marL="0">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sp>
      <p:sp>
        <p:nvSpPr>
          <p:cNvPr id="23" name="Shape 21"/>
          <p:cNvSpPr/>
          <p:nvPr/>
        </p:nvSpPr>
        <p:spPr>
          <a:xfrm>
            <a:off x="8156448" y="1938528"/>
            <a:ext cx="2066544" cy="877824"/>
          </a:xfrm>
          <a:prstGeom prst="rect">
            <a:avLst/>
          </a:prstGeom>
          <a:ln w="22860">
            <a:solidFill>
              <a:srgbClr val="BE123C"/>
            </a:solidFill>
            <a:prstDash val="dash"/>
          </a:ln>
        </p:spPr>
      </p:sp>
      <p:sp>
        <p:nvSpPr>
          <p:cNvPr id="24" name="Text 22"/>
          <p:cNvSpPr/>
          <p:nvPr/>
        </p:nvSpPr>
        <p:spPr>
          <a:xfrm>
            <a:off x="502920" y="2560320"/>
            <a:ext cx="2103120" cy="228600"/>
          </a:xfrm>
          <a:prstGeom prst="rect">
            <a:avLst/>
          </a:prstGeom>
          <a:noFill/>
          <a:ln/>
        </p:spPr>
        <p:txBody>
          <a:bodyPr wrap="square" rtlCol="0" anchor="ctr"/>
          <a:lstStyle/>
          <a:p>
            <a:pPr algn="ctr" indent="0" marL="0">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algn="ctr" indent="0" marL="0">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algn="ctr" indent="0" marL="0">
              <a:buNone/>
            </a:pPr>
            <a:r>
              <a:rPr lang="en-US" sz="1100" dirty="0">
                <a:solidFill>
                  <a:srgbClr val="86198F"/>
                </a:solidFill>
              </a:rPr>
              <a:t>explants</a:t>
            </a:r>
            <a:endParaRPr lang="en-US" sz="1100" dirty="0"/>
          </a:p>
        </p:txBody>
      </p:sp>
      <p:sp>
        <p:nvSpPr>
          <p:cNvPr id="27" name="Text 25"/>
          <p:cNvSpPr/>
          <p:nvPr/>
        </p:nvSpPr>
        <p:spPr>
          <a:xfrm>
            <a:off x="914400" y="2926080"/>
            <a:ext cx="10241280" cy="320040"/>
          </a:xfrm>
          <a:prstGeom prst="rect">
            <a:avLst/>
          </a:prstGeom>
          <a:noFill/>
          <a:ln/>
        </p:spPr>
        <p:txBody>
          <a:bodyPr wrap="square" rtlCol="0" anchor="ctr"/>
          <a:lstStyle/>
          <a:p>
            <a:pPr algn="ctr" indent="0" marL="0">
              <a:buNone/>
            </a:pPr>
            <a:r>
              <a:rPr lang="en-US" sz="1350" dirty="0">
                <a:solidFill>
                  <a:srgbClr val="1B2B31"/>
                </a:solidFill>
              </a:rPr>
              <a:t>The ends aren’t acquisition-matched to the biopsies (2/8/12/12/4) → </a:t>
            </a:r>
            <a:pPr algn="ctr" indent="0" marL="0">
              <a:buNone/>
            </a:pP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algn="l" indent="0" marL="0">
              <a:buNone/>
            </a:pPr>
            <a:r>
              <a:rPr lang="en-US" sz="1450" b="1" dirty="0">
                <a:solidFill>
                  <a:srgbClr val="DC2626"/>
                </a:solidFill>
              </a:rPr>
              <a:t>②  And the ends carry organ-wide stress</a:t>
            </a:r>
            <a:endParaRPr lang="en-US" sz="1450" dirty="0"/>
          </a:p>
        </p:txBody>
      </p:sp>
      <p:pic>
        <p:nvPicPr>
          <p:cNvPr id="29" name="Image 0" descr="D:\CS\Genomics\Hackathon\presentation/assets/fig_stress.png">    </p:cNvPr>
          <p:cNvPicPr>
            <a:picLocks noChangeAspect="1"/>
          </p:cNvPicPr>
          <p:nvPr/>
        </p:nvPicPr>
        <p:blipFill>
          <a:blip r:embed="rId1"/>
          <a:stretch>
            <a:fillRect/>
          </a:stretch>
        </p:blipFill>
        <p:spPr>
          <a:xfrm>
            <a:off x="1341935" y="3840480"/>
            <a:ext cx="5362850" cy="2057400"/>
          </a:xfrm>
          <a:prstGeom prst="rect">
            <a:avLst/>
          </a:prstGeom>
        </p:spPr>
      </p:pic>
      <p:sp>
        <p:nvSpPr>
          <p:cNvPr id="30" name="Text 27"/>
          <p:cNvSpPr/>
          <p:nvPr/>
        </p:nvSpPr>
        <p:spPr>
          <a:xfrm>
            <a:off x="274320" y="5925312"/>
            <a:ext cx="74980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8001000" y="3886200"/>
            <a:ext cx="3886200" cy="548640"/>
          </a:xfrm>
          <a:prstGeom prst="rect">
            <a:avLst/>
          </a:prstGeom>
          <a:noFill/>
          <a:ln/>
        </p:spPr>
        <p:txBody>
          <a:bodyPr wrap="square" rtlCol="0" anchor="t"/>
          <a:lstStyle/>
          <a:p>
            <a:pPr algn="l" indent="0" marL="0">
              <a:buNone/>
            </a:pPr>
            <a:r>
              <a:rPr lang="en-US" sz="1550" b="1" dirty="0">
                <a:solidFill>
                  <a:srgbClr val="DC2626"/>
                </a:solidFill>
              </a:rPr>
              <a:t>Stress spikes even where there’s no zonation.</a:t>
            </a:r>
            <a:endParaRPr lang="en-US" sz="1550" dirty="0"/>
          </a:p>
        </p:txBody>
      </p:sp>
      <p:sp>
        <p:nvSpPr>
          <p:cNvPr id="32" name="Text 29"/>
          <p:cNvSpPr/>
          <p:nvPr/>
        </p:nvSpPr>
        <p:spPr>
          <a:xfrm>
            <a:off x="8001000" y="4617720"/>
            <a:ext cx="3886200" cy="1325880"/>
          </a:xfrm>
          <a:prstGeom prst="rect">
            <a:avLst/>
          </a:prstGeom>
          <a:noFill/>
          <a:ln/>
        </p:spPr>
        <p:txBody>
          <a:bodyPr wrap="square" rtlCol="0" anchor="t"/>
          <a:lstStyle/>
          <a:p>
            <a:pPr algn="l" indent="0" marL="0">
              <a:buNone/>
            </a:pPr>
            <a:r>
              <a:rPr lang="en-US" sz="1250" dirty="0">
                <a:solidFill>
                  <a:srgbClr val="1B2B31"/>
                </a:solidFill>
              </a:rPr>
              <a:t>Immediate-early / heat-shock genes jump 18× in the ends — but </a:t>
            </a:r>
            <a:pPr algn="l" indent="0" marL="0">
              <a:buNone/>
            </a:pPr>
            <a:r>
              <a:rPr lang="en-US" sz="1250" b="1" dirty="0">
                <a:solidFill>
                  <a:srgbClr val="1B2B31"/>
                </a:solidFill>
              </a:rPr>
              <a:t>endothelium, which has no zonation program, jumps 18× too</a:t>
            </a:r>
            <a:pPr algn="l" indent="0" marL="0">
              <a:buNone/>
            </a:pPr>
            <a:r>
              <a:rPr lang="en-US" sz="1250" dirty="0">
                <a:solidFill>
                  <a:srgbClr val="1B2B31"/>
                </a:solidFill>
              </a:rPr>
              <a:t>; hypoxia (HIF) stays flat. So it’s acute handling¹, not a zonation change.</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sp>
      <p:sp>
        <p:nvSpPr>
          <p:cNvPr id="34" name="Text 31"/>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Method</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VOCABULARY</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Four classes — and the four ways they can move</a:t>
            </a:r>
            <a:endParaRPr lang="en-US" sz="2800" dirty="0"/>
          </a:p>
        </p:txBody>
      </p:sp>
      <p:sp>
        <p:nvSpPr>
          <p:cNvPr id="6" name="Text 4"/>
          <p:cNvSpPr/>
          <p:nvPr/>
        </p:nvSpPr>
        <p:spPr>
          <a:xfrm>
            <a:off x="640080" y="1325880"/>
            <a:ext cx="11247120" cy="457200"/>
          </a:xfrm>
          <a:prstGeom prst="rect">
            <a:avLst/>
          </a:prstGeom>
          <a:noFill/>
          <a:ln/>
        </p:spPr>
        <p:txBody>
          <a:bodyPr wrap="square" rtlCol="0" anchor="ctr"/>
          <a:lstStyle/>
          <a:p>
            <a:pPr algn="l" indent="0" marL="0">
              <a:buNone/>
            </a:pPr>
            <a:r>
              <a:rPr lang="en-US" sz="1500" b="1" dirty="0">
                <a:solidFill>
                  <a:srgbClr val="1B2B31"/>
                </a:solidFill>
              </a:rPr>
              <a:t>Every hepatocyte is one of four classes (left). </a:t>
            </a:r>
            <a:pPr algn="l" indent="0" marL="0">
              <a:buNone/>
            </a:pP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algn="l" indent="0" marL="0">
              <a:buNone/>
            </a:pPr>
            <a:r>
              <a:rPr lang="en-US" sz="1300" b="1" spc="200" kern="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algn="ctr" indent="0" marL="0">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algn="ctr" indent="0" marL="0">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algn="ctr" indent="0" marL="0">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algn="ctr" indent="0" marL="0">
              <a:buNone/>
            </a:pPr>
            <a:r>
              <a:rPr lang="en-US" sz="1100" b="1" dirty="0">
                <a:solidFill>
                  <a:srgbClr val="1D4ED8"/>
                </a:solidFill>
              </a:rPr>
              <a:t>pericentral</a:t>
            </a:r>
            <a:endParaRPr lang="en-US" sz="1100" dirty="0"/>
          </a:p>
          <a:p>
            <a:pPr algn="ctr" indent="0" marL="0">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algn="ctr" indent="0" marL="0">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algn="ctr" indent="0" marL="0">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sx="100000" sy="100000" kx="0" ky="0" algn="bl" rotWithShape="0" blurRad="88900" dist="38100" dir="5400000">
              <a:srgbClr val="000000">
                <a:alpha val="12000"/>
              </a:srgbClr>
            </a:outerShdw>
          </a:effectLst>
        </p:spPr>
      </p:sp>
      <p:sp>
        <p:nvSpPr>
          <p:cNvPr id="15" name="Text 13"/>
          <p:cNvSpPr/>
          <p:nvPr/>
        </p:nvSpPr>
        <p:spPr>
          <a:xfrm>
            <a:off x="1947672" y="2999232"/>
            <a:ext cx="163677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algn="l" indent="0" marL="0">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sx="100000" sy="100000" kx="0" ky="0" algn="bl" rotWithShape="0" blurRad="88900" dist="38100" dir="5400000">
              <a:srgbClr val="000000">
                <a:alpha val="12000"/>
              </a:srgbClr>
            </a:outerShdw>
          </a:effectLst>
        </p:spPr>
      </p:sp>
      <p:sp>
        <p:nvSpPr>
          <p:cNvPr id="18" name="Text 16"/>
          <p:cNvSpPr/>
          <p:nvPr/>
        </p:nvSpPr>
        <p:spPr>
          <a:xfrm>
            <a:off x="4005072" y="2999232"/>
            <a:ext cx="163677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algn="l" indent="0" marL="0">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sx="100000" sy="100000" kx="0" ky="0" algn="bl" rotWithShape="0" blurRad="88900" dist="38100" dir="5400000">
              <a:srgbClr val="000000">
                <a:alpha val="12000"/>
              </a:srgbClr>
            </a:outerShdw>
          </a:effectLst>
        </p:spPr>
      </p:sp>
      <p:sp>
        <p:nvSpPr>
          <p:cNvPr id="21" name="Text 19"/>
          <p:cNvSpPr/>
          <p:nvPr/>
        </p:nvSpPr>
        <p:spPr>
          <a:xfrm>
            <a:off x="1947672" y="4233672"/>
            <a:ext cx="1636776" cy="457200"/>
          </a:xfrm>
          <a:prstGeom prst="rect">
            <a:avLst/>
          </a:prstGeom>
          <a:noFill/>
          <a:ln/>
        </p:spPr>
        <p:txBody>
          <a:bodyPr wrap="square" lIns="0" tIns="0" rIns="0" bIns="0" rtlCol="0" anchor="t"/>
          <a:lstStyle/>
          <a:p>
            <a:pPr algn="l" indent="0" marL="0">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algn="l" indent="0" marL="0">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sx="100000" sy="100000" kx="0" ky="0" algn="bl" rotWithShape="0" blurRad="88900" dist="38100" dir="5400000">
              <a:srgbClr val="000000">
                <a:alpha val="12000"/>
              </a:srgbClr>
            </a:outerShdw>
          </a:effectLst>
        </p:spPr>
      </p:sp>
      <p:sp>
        <p:nvSpPr>
          <p:cNvPr id="24" name="Text 22"/>
          <p:cNvSpPr/>
          <p:nvPr/>
        </p:nvSpPr>
        <p:spPr>
          <a:xfrm>
            <a:off x="4005072" y="4233672"/>
            <a:ext cx="1636776" cy="457200"/>
          </a:xfrm>
          <a:prstGeom prst="rect">
            <a:avLst/>
          </a:prstGeom>
          <a:noFill/>
          <a:ln/>
        </p:spPr>
        <p:txBody>
          <a:bodyPr wrap="square" lIns="0" tIns="0" rIns="0" bIns="0" rtlCol="0" anchor="t"/>
          <a:lstStyle/>
          <a:p>
            <a:pPr algn="l" indent="0" marL="0">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algn="l" indent="0" marL="0">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sp>
      <p:sp>
        <p:nvSpPr>
          <p:cNvPr id="27" name="Text 25"/>
          <p:cNvSpPr/>
          <p:nvPr/>
        </p:nvSpPr>
        <p:spPr>
          <a:xfrm>
            <a:off x="6400800" y="2011680"/>
            <a:ext cx="5486400" cy="274320"/>
          </a:xfrm>
          <a:prstGeom prst="rect">
            <a:avLst/>
          </a:prstGeom>
          <a:noFill/>
          <a:ln/>
        </p:spPr>
        <p:txBody>
          <a:bodyPr wrap="square" rtlCol="0" anchor="ctr"/>
          <a:lstStyle/>
          <a:p>
            <a:pPr algn="l" indent="0" marL="0">
              <a:buNone/>
            </a:pPr>
            <a:r>
              <a:rPr lang="en-US" sz="1300" b="1" spc="200" kern="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sx="100000" sy="100000" kx="0" ky="0" algn="bl" rotWithShape="0" blurRad="88900" dist="38100" dir="5400000">
              <a:srgbClr val="000000">
                <a:alpha val="12000"/>
              </a:srgbClr>
            </a:outerShdw>
          </a:effectLst>
        </p:spPr>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Depletion</a:t>
            </a:r>
            <a:endParaRPr lang="en-US" sz="1450" dirty="0"/>
          </a:p>
          <a:p>
            <a:pPr algn="ctr" indent="0" marL="0">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sx="100000" sy="100000" kx="0" ky="0" algn="bl" rotWithShape="0" blurRad="88900" dist="38100" dir="5400000">
              <a:srgbClr val="000000">
                <a:alpha val="12000"/>
              </a:srgbClr>
            </a:outerShdw>
          </a:effectLst>
        </p:spPr>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Co-expression</a:t>
            </a:r>
            <a:endParaRPr lang="en-US" sz="1450" dirty="0"/>
          </a:p>
          <a:p>
            <a:pPr algn="ctr" indent="0" marL="0">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sx="100000" sy="100000" kx="0" ky="0" algn="bl" rotWithShape="0" blurRad="88900" dist="38100" dir="5400000">
              <a:srgbClr val="000000">
                <a:alpha val="12000"/>
              </a:srgbClr>
            </a:outerShdw>
          </a:effectLst>
        </p:spPr>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algn="ctr" indent="0" marL="0">
              <a:buNone/>
            </a:pPr>
            <a:r>
              <a:rPr lang="en-US" sz="1450" b="1" dirty="0">
                <a:solidFill>
                  <a:srgbClr val="1B2B31"/>
                </a:solidFill>
              </a:rPr>
              <a:t>Turn-off</a:t>
            </a:r>
            <a:endParaRPr lang="en-US" sz="1450" dirty="0"/>
          </a:p>
          <a:p>
            <a:pPr algn="ctr" indent="0" marL="0">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sx="100000" sy="100000" kx="0" ky="0" algn="bl" rotWithShape="0" blurRad="88900" dist="38100" dir="5400000">
              <a:srgbClr val="000000">
                <a:alpha val="12000"/>
              </a:srgbClr>
            </a:outerShdw>
          </a:effectLst>
        </p:spPr>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algn="ctr" indent="0" marL="0">
              <a:buNone/>
            </a:pPr>
            <a:r>
              <a:rPr lang="en-US" sz="1450" b="1" dirty="0">
                <a:solidFill>
                  <a:srgbClr val="FFFFFF"/>
                </a:solidFill>
              </a:rPr>
              <a:t>Composition shift</a:t>
            </a:r>
            <a:endParaRPr lang="en-US" sz="1450" dirty="0"/>
          </a:p>
          <a:p>
            <a:pPr algn="ctr" indent="0" marL="0">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algn="l" indent="0" marL="0">
              <a:buNone/>
            </a:pPr>
            <a:r>
              <a:rPr lang="en-US" sz="1300" dirty="0">
                <a:solidFill>
                  <a:srgbClr val="1B2B31"/>
                </a:solidFill>
              </a:rPr>
              <a:t>The moves are dissociable — an emptying anchor box (depletion) and a filling null box (turn-off) are opposite directions; neither implies the other. </a:t>
            </a:r>
            <a:pPr algn="l" indent="0" marL="0">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5</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Beyond the boxes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algn="l" indent="0" marL="0">
              <a:buNone/>
            </a:pPr>
            <a:r>
              <a:rPr lang="en-US" sz="1550" dirty="0">
                <a:solidFill>
                  <a:srgbClr val="1B2B31"/>
                </a:solidFill>
              </a:rPr>
              <a:t>Zonation is a continuous gradient — cells strung on an anti-diagonal. It can weaken two ways </a:t>
            </a:r>
            <a:pPr algn="l" indent="0" marL="0">
              <a:buNone/>
            </a:pP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r>
          <p:cNvPicPr>
            <a:picLocks noChangeAspect="1"/>
          </p:cNvPicPr>
          <p:nvPr/>
        </p:nvPicPr>
        <p:blipFill>
          <a:blip r:embed="rId1"/>
          <a:stretch>
            <a:fillRect/>
          </a:stretch>
        </p:blipFill>
        <p:spPr>
          <a:xfrm>
            <a:off x="602144" y="1874520"/>
            <a:ext cx="6568113" cy="3703320"/>
          </a:xfrm>
          <a:prstGeom prst="rect">
            <a:avLst/>
          </a:prstGeom>
        </p:spPr>
      </p:pic>
      <p:sp>
        <p:nvSpPr>
          <p:cNvPr id="8" name="Shape 5"/>
          <p:cNvSpPr/>
          <p:nvPr/>
        </p:nvSpPr>
        <p:spPr>
          <a:xfrm>
            <a:off x="7543800" y="1920240"/>
            <a:ext cx="4251960" cy="1691640"/>
          </a:xfrm>
          <a:prstGeom prst="roundRect">
            <a:avLst>
              <a:gd name="adj" fmla="val 3243"/>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9" name="Text 6"/>
          <p:cNvSpPr/>
          <p:nvPr/>
        </p:nvSpPr>
        <p:spPr>
          <a:xfrm>
            <a:off x="7726680" y="2048256"/>
            <a:ext cx="3886200" cy="320040"/>
          </a:xfrm>
          <a:prstGeom prst="rect">
            <a:avLst/>
          </a:prstGeom>
          <a:noFill/>
          <a:ln/>
        </p:spPr>
        <p:txBody>
          <a:bodyPr wrap="square" lIns="0" tIns="0" rIns="0" bIns="0" rtlCol="0" anchor="ctr"/>
          <a:lstStyle/>
          <a:p>
            <a:pPr algn="l" indent="0" marL="0">
              <a:buNone/>
            </a:pPr>
            <a:r>
              <a:rPr lang="en-US" sz="1700" b="1" dirty="0">
                <a:solidFill>
                  <a:srgbClr val="1B6E78"/>
                </a:solidFill>
                <a:latin typeface="Georgia" pitchFamily="34" charset="0"/>
                <a:ea typeface="Georgia" pitchFamily="34" charset="-122"/>
                <a:cs typeface="Georgia" pitchFamily="34" charset="-120"/>
              </a:rPr>
              <a:t>Compression  </a:t>
            </a:r>
            <a:pPr algn="l" indent="0" marL="0">
              <a:buNone/>
            </a:pP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algn="l" indent="0" marL="0">
              <a:buNone/>
            </a:pPr>
            <a:r>
              <a:rPr lang="en-US" sz="1300" dirty="0">
                <a:solidFill>
                  <a:srgbClr val="1B2B31"/>
                </a:solidFill>
              </a:rPr>
              <a:t>Balance drifts to the middle; the poles’ contrast shrinks.</a:t>
            </a:r>
            <a:endParaRPr lang="en-US" sz="1300" dirty="0"/>
          </a:p>
        </p:txBody>
      </p:sp>
      <p:sp>
        <p:nvSpPr>
          <p:cNvPr id="11" name="Text 8"/>
          <p:cNvSpPr/>
          <p:nvPr/>
        </p:nvSpPr>
        <p:spPr>
          <a:xfrm>
            <a:off x="7726680" y="3108960"/>
            <a:ext cx="3886200" cy="365760"/>
          </a:xfrm>
          <a:prstGeom prst="rect">
            <a:avLst/>
          </a:prstGeom>
          <a:noFill/>
          <a:ln/>
        </p:spPr>
        <p:txBody>
          <a:bodyPr wrap="square" rtlCol="0" anchor="t"/>
          <a:lstStyle/>
          <a:p>
            <a:pPr algn="l" indent="0" marL="0">
              <a:buNone/>
            </a:pPr>
            <a:r>
              <a:rPr lang="en-US" sz="1200" i="1" dirty="0">
                <a:solidFill>
                  <a:srgbClr val="14532D"/>
                </a:solidFill>
              </a:rPr>
              <a:t>Mild, non-monotone → </a:t>
            </a:r>
            <a:pPr algn="l" indent="0" marL="0">
              <a:buNone/>
            </a:pPr>
            <a:r>
              <a:rPr lang="en-US" sz="1200" b="1" i="1" dirty="0">
                <a:solidFill>
                  <a:srgbClr val="14532D"/>
                </a:solidFill>
              </a:rPr>
              <a:t>gradient present.</a:t>
            </a:r>
            <a:endParaRPr lang="en-US" sz="1200" dirty="0"/>
          </a:p>
        </p:txBody>
      </p:sp>
      <p:sp>
        <p:nvSpPr>
          <p:cNvPr id="12" name="Shape 9"/>
          <p:cNvSpPr/>
          <p:nvPr/>
        </p:nvSpPr>
        <p:spPr>
          <a:xfrm>
            <a:off x="7543800" y="3794760"/>
            <a:ext cx="4251960" cy="1737360"/>
          </a:xfrm>
          <a:prstGeom prst="roundRect">
            <a:avLst>
              <a:gd name="adj" fmla="val 3158"/>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13" name="Text 10"/>
          <p:cNvSpPr/>
          <p:nvPr/>
        </p:nvSpPr>
        <p:spPr>
          <a:xfrm>
            <a:off x="7726680" y="3922776"/>
            <a:ext cx="3886200" cy="320040"/>
          </a:xfrm>
          <a:prstGeom prst="rect">
            <a:avLst/>
          </a:prstGeom>
          <a:noFill/>
          <a:ln/>
        </p:spPr>
        <p:txBody>
          <a:bodyPr wrap="square" lIns="0" tIns="0" rIns="0" bIns="0" rtlCol="0" anchor="ctr"/>
          <a:lstStyle/>
          <a:p>
            <a:pPr algn="l" indent="0" marL="0">
              <a:buNone/>
            </a:pPr>
            <a:r>
              <a:rPr lang="en-US" sz="1700" b="1" dirty="0">
                <a:solidFill>
                  <a:srgbClr val="C0561B"/>
                </a:solidFill>
                <a:latin typeface="Georgia" pitchFamily="34" charset="0"/>
                <a:ea typeface="Georgia" pitchFamily="34" charset="-122"/>
                <a:cs typeface="Georgia" pitchFamily="34" charset="-120"/>
              </a:rPr>
              <a:t>Dimming  </a:t>
            </a:r>
            <a:pPr algn="l" indent="0" marL="0">
              <a:buNone/>
            </a:pP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algn="l" indent="0" marL="0">
              <a:buNone/>
            </a:pPr>
            <a:r>
              <a:rPr lang="en-US" sz="1300" dirty="0">
                <a:solidFill>
                  <a:srgbClr val="1B2B31"/>
                </a:solidFill>
              </a:rPr>
              <a:t>The pericentral detox program declines in level — same balance, lower volume.</a:t>
            </a:r>
            <a:endParaRPr lang="en-US" sz="1300" dirty="0"/>
          </a:p>
        </p:txBody>
      </p:sp>
      <p:sp>
        <p:nvSpPr>
          <p:cNvPr id="15" name="Text 12"/>
          <p:cNvSpPr/>
          <p:nvPr/>
        </p:nvSpPr>
        <p:spPr>
          <a:xfrm>
            <a:off x="7726680" y="5029200"/>
            <a:ext cx="3886200" cy="365760"/>
          </a:xfrm>
          <a:prstGeom prst="rect">
            <a:avLst/>
          </a:prstGeom>
          <a:noFill/>
          <a:ln/>
        </p:spPr>
        <p:txBody>
          <a:bodyPr wrap="square" rtlCol="0" anchor="t"/>
          <a:lstStyle/>
          <a:p>
            <a:pPr algn="l" indent="0" marL="0">
              <a:buNone/>
            </a:pPr>
            <a:r>
              <a:rPr lang="en-US" sz="1200" i="1" dirty="0">
                <a:solidFill>
                  <a:srgbClr val="7C2D12"/>
                </a:solidFill>
              </a:rPr>
              <a:t>Real coordinated decline → </a:t>
            </a:r>
            <a:pPr algn="l" indent="0" marL="0">
              <a:buNone/>
            </a:pPr>
            <a:r>
              <a:rPr lang="en-US" sz="1200" b="1" i="1" dirty="0">
                <a:solidFill>
                  <a:srgbClr val="7C2D12"/>
                </a:solidFill>
              </a:rPr>
              <a:t>a finding (Results).</a:t>
            </a:r>
            <a:endParaRPr lang="en-US" sz="1200" dirty="0"/>
          </a:p>
        </p:txBody>
      </p:sp>
      <p:sp>
        <p:nvSpPr>
          <p:cNvPr id="16" name="Text 13"/>
          <p:cNvSpPr/>
          <p:nvPr/>
        </p:nvSpPr>
        <p:spPr>
          <a:xfrm>
            <a:off x="411480" y="5760720"/>
            <a:ext cx="7040880" cy="548640"/>
          </a:xfrm>
          <a:prstGeom prst="rect">
            <a:avLst/>
          </a:prstGeom>
          <a:noFill/>
          <a:ln/>
        </p:spPr>
        <p:txBody>
          <a:bodyPr wrap="square" rtlCol="0" anchor="t"/>
          <a:lstStyle/>
          <a:p>
            <a:pPr algn="l" indent="0" marL="0">
              <a:buNone/>
            </a:pPr>
            <a:r>
              <a:rPr lang="en-US" sz="1250" b="1" dirty="0">
                <a:solidFill>
                  <a:srgbClr val="334155"/>
                </a:solidFill>
              </a:rPr>
              <a:t>Matched biopsies: shape holds (no compression); level dims (detox — confirmed next). </a:t>
            </a:r>
            <a:pPr algn="l" indent="0" marL="0">
              <a:buNone/>
            </a:pPr>
            <a:r>
              <a:rPr lang="en-US" sz="1250" i="1" dirty="0">
                <a:solidFill>
                  <a:srgbClr val="5C6E73"/>
                </a:solidFill>
              </a:rPr>
              <a:t>Only the explant collapses to one pole.</a:t>
            </a:r>
            <a:endParaRPr lang="en-US" sz="1250" dirty="0"/>
          </a:p>
        </p:txBody>
      </p:sp>
      <p:sp>
        <p:nvSpPr>
          <p:cNvPr id="17" name="Text 1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6</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algn="ctr" indent="0" marL="0">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algn="ctr" indent="0" marL="0">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1" name="Shape 19"/>
          <p:cNvSpPr/>
          <p:nvPr/>
        </p:nvSpPr>
        <p:spPr>
          <a:xfrm>
            <a:off x="640080" y="2788920"/>
            <a:ext cx="91440" cy="1207008"/>
          </a:xfrm>
          <a:prstGeom prst="rect">
            <a:avLst/>
          </a:prstGeom>
          <a:solidFill>
            <a:srgbClr val="1B2B31"/>
          </a:solidFill>
          <a:ln/>
        </p:spPr>
      </p:sp>
      <p:sp>
        <p:nvSpPr>
          <p:cNvPr id="22" name="Text 20"/>
          <p:cNvSpPr/>
          <p:nvPr/>
        </p:nvSpPr>
        <p:spPr>
          <a:xfrm>
            <a:off x="914400" y="2926080"/>
            <a:ext cx="4937760" cy="365760"/>
          </a:xfrm>
          <a:prstGeom prst="rect">
            <a:avLst/>
          </a:prstGeom>
          <a:noFill/>
          <a:ln/>
        </p:spPr>
        <p:txBody>
          <a:bodyPr wrap="square" lIns="0" tIns="0" rIns="0" bIns="0" rtlCol="0" anchor="t"/>
          <a:lstStyle/>
          <a:p>
            <a:pPr algn="l" indent="0" marL="0">
              <a:buNone/>
            </a:pPr>
            <a:r>
              <a:rPr lang="en-US" sz="1600" b="1" dirty="0">
                <a:solidFill>
                  <a:srgbClr val="1B2B31"/>
                </a:solidFill>
              </a:rPr>
              <a:t>Raw counts, not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5" name="Shape 23"/>
          <p:cNvSpPr/>
          <p:nvPr/>
        </p:nvSpPr>
        <p:spPr>
          <a:xfrm>
            <a:off x="6172200" y="2788920"/>
            <a:ext cx="91440" cy="1207008"/>
          </a:xfrm>
          <a:prstGeom prst="rect">
            <a:avLst/>
          </a:prstGeom>
          <a:solidFill>
            <a:srgbClr val="0D9488"/>
          </a:solidFill>
          <a:ln/>
        </p:spPr>
      </p:sp>
      <p:sp>
        <p:nvSpPr>
          <p:cNvPr id="26" name="Text 24"/>
          <p:cNvSpPr/>
          <p:nvPr/>
        </p:nvSpPr>
        <p:spPr>
          <a:xfrm>
            <a:off x="6446520" y="2926080"/>
            <a:ext cx="4937760" cy="365760"/>
          </a:xfrm>
          <a:prstGeom prst="rect">
            <a:avLst/>
          </a:prstGeom>
          <a:noFill/>
          <a:ln/>
        </p:spPr>
        <p:txBody>
          <a:bodyPr wrap="square" lIns="0" tIns="0" rIns="0" bIns="0" rtlCol="0" anchor="t"/>
          <a:lstStyle/>
          <a:p>
            <a:pPr algn="l" indent="0" marL="0">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29" name="Shape 27"/>
          <p:cNvSpPr/>
          <p:nvPr/>
        </p:nvSpPr>
        <p:spPr>
          <a:xfrm>
            <a:off x="640080" y="4160520"/>
            <a:ext cx="91440" cy="1207008"/>
          </a:xfrm>
          <a:prstGeom prst="rect">
            <a:avLst/>
          </a:prstGeom>
          <a:solidFill>
            <a:srgbClr val="7C3AED"/>
          </a:solidFill>
          <a:ln/>
        </p:spPr>
      </p:sp>
      <p:sp>
        <p:nvSpPr>
          <p:cNvPr id="30" name="Text 28"/>
          <p:cNvSpPr/>
          <p:nvPr/>
        </p:nvSpPr>
        <p:spPr>
          <a:xfrm>
            <a:off x="914400" y="4297680"/>
            <a:ext cx="4937760" cy="365760"/>
          </a:xfrm>
          <a:prstGeom prst="rect">
            <a:avLst/>
          </a:prstGeom>
          <a:noFill/>
          <a:ln/>
        </p:spPr>
        <p:txBody>
          <a:bodyPr wrap="square" lIns="0" tIns="0" rIns="0" bIns="0" rtlCol="0" anchor="t"/>
          <a:lstStyle/>
          <a:p>
            <a:pPr algn="l" indent="0" marL="0">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sx="100000" sy="100000" kx="0" ky="0" algn="bl" rotWithShape="0" blurRad="88900" dist="38100" dir="5400000">
              <a:srgbClr val="000000">
                <a:alpha val="12000"/>
              </a:srgbClr>
            </a:outerShdw>
          </a:effectLst>
        </p:spPr>
      </p:sp>
      <p:sp>
        <p:nvSpPr>
          <p:cNvPr id="33" name="Shape 31"/>
          <p:cNvSpPr/>
          <p:nvPr/>
        </p:nvSpPr>
        <p:spPr>
          <a:xfrm>
            <a:off x="6172200" y="4160520"/>
            <a:ext cx="91440" cy="1207008"/>
          </a:xfrm>
          <a:prstGeom prst="rect">
            <a:avLst/>
          </a:prstGeom>
          <a:solidFill>
            <a:srgbClr val="1D4ED8"/>
          </a:solidFill>
          <a:ln/>
        </p:spPr>
      </p:sp>
      <p:sp>
        <p:nvSpPr>
          <p:cNvPr id="34" name="Text 32"/>
          <p:cNvSpPr/>
          <p:nvPr/>
        </p:nvSpPr>
        <p:spPr>
          <a:xfrm>
            <a:off x="6446520" y="4297680"/>
            <a:ext cx="4937760" cy="365760"/>
          </a:xfrm>
          <a:prstGeom prst="rect">
            <a:avLst/>
          </a:prstGeom>
          <a:noFill/>
          <a:ln/>
        </p:spPr>
        <p:txBody>
          <a:bodyPr wrap="square" lIns="0" tIns="0" rIns="0" bIns="0" rtlCol="0" anchor="t"/>
          <a:lstStyle/>
          <a:p>
            <a:pPr algn="l" indent="0" marL="0">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algn="l" indent="0" marL="0">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sp>
      <p:sp>
        <p:nvSpPr>
          <p:cNvPr id="37" name="Text 35"/>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Text 2"/>
          <p:cNvSpPr/>
          <p:nvPr/>
        </p:nvSpPr>
        <p:spPr>
          <a:xfrm>
            <a:off x="868680" y="2651760"/>
            <a:ext cx="10515600" cy="1005840"/>
          </a:xfrm>
          <a:prstGeom prst="rect">
            <a:avLst/>
          </a:prstGeom>
          <a:noFill/>
          <a:ln/>
        </p:spPr>
        <p:txBody>
          <a:bodyPr wrap="square"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algn="l" indent="0" marL="0">
              <a:buNone/>
            </a:pPr>
            <a:r>
              <a:rPr lang="en-US" sz="1700" i="1" dirty="0">
                <a:solidFill>
                  <a:srgbClr val="9FC0C4"/>
                </a:solidFill>
              </a:rPr>
              <a:t>what the counts actually say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RESULT</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r>
          <p:cNvPicPr>
            <a:picLocks noChangeAspect="1"/>
          </p:cNvPicPr>
          <p:nvPr/>
        </p:nvPicPr>
        <p:blipFill>
          <a:blip r:embed="rId1"/>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2.  Pericentral / periportal anchor and dual co-expression across matched biopsy F1–F4 (box = per-donor spread; F0 n=2 omitted — in backup).</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algn="l" indent="0" marL="0">
              <a:spcAft>
                <a:spcPts val="200"/>
              </a:spcAft>
              <a:buNone/>
            </a:pPr>
            <a:r>
              <a:rPr lang="en-US" sz="1400" b="1" dirty="0">
                <a:solidFill>
                  <a:srgbClr val="1D4ED8"/>
                </a:solidFill>
              </a:rPr>
              <a:t>No depletion.
</a:t>
            </a:r>
            <a:endParaRPr lang="en-US" sz="1400" dirty="0"/>
          </a:p>
          <a:p>
            <a:pPr algn="l" indent="0" marL="0">
              <a:spcAft>
                <a:spcPts val="200"/>
              </a:spcAft>
              <a:buNone/>
            </a:pPr>
            <a:r>
              <a:rPr lang="en-US" sz="1400" dirty="0">
                <a:solidFill>
                  <a:srgbClr val="1B2B31"/>
                </a:solidFill>
              </a:rPr>
              <a:t>PC &amp; PP anchors flat across F1–F4.
</a:t>
            </a:r>
            <a:endParaRPr lang="en-US" sz="1400" dirty="0"/>
          </a:p>
          <a:p>
            <a:pPr algn="l" indent="0" marL="0">
              <a:spcAft>
                <a:spcPts val="200"/>
              </a:spcAft>
              <a:buNone/>
            </a:pPr>
            <a:r>
              <a:rPr lang="en-US" sz="1400" b="1" dirty="0">
                <a:solidFill>
                  <a:srgbClr val="7C3AED"/>
                </a:solidFill>
              </a:rPr>
              <a:t>No co-expression.
</a:t>
            </a:r>
            <a:endParaRPr lang="en-US" sz="1400" dirty="0"/>
          </a:p>
          <a:p>
            <a:pPr algn="l" indent="0" marL="0">
              <a:spcAft>
                <a:spcPts val="200"/>
              </a:spcAft>
              <a:buNone/>
            </a:pPr>
            <a:r>
              <a:rPr lang="en-US" sz="1400" dirty="0">
                <a:solidFill>
                  <a:srgbClr val="1B2B31"/>
                </a:solidFill>
              </a:rPr>
              <a:t>Dual stays ~0.4% (vs 2.9% in explants).
</a:t>
            </a:r>
            <a:endParaRPr lang="en-US" sz="1400" dirty="0"/>
          </a:p>
          <a:p>
            <a:pPr algn="l" indent="0" marL="0">
              <a:spcAft>
                <a:spcPts val="200"/>
              </a:spcAft>
              <a:buNone/>
            </a:pPr>
            <a:r>
              <a:rPr lang="en-US" sz="1400" b="1" dirty="0">
                <a:solidFill>
                  <a:srgbClr val="475569"/>
                </a:solidFill>
              </a:rPr>
              <a:t>Null &amp; PP:PC flat too.
</a:t>
            </a:r>
            <a:endParaRPr lang="en-US" sz="1400" dirty="0"/>
          </a:p>
          <a:p>
            <a:pPr algn="l" indent="0" marL="0">
              <a:spcAft>
                <a:spcPts val="200"/>
              </a:spcAft>
              <a:buNone/>
            </a:pPr>
            <a:r>
              <a:rPr lang="en-US" sz="1400" dirty="0">
                <a:solidFill>
                  <a:srgbClr val="1B2B31"/>
                </a:solidFill>
              </a:rPr>
              <a:t>44/36/39/39%;  ratio ≈ 1.1.
</a:t>
            </a:r>
            <a:endParaRPr lang="en-US" sz="1400" dirty="0"/>
          </a:p>
          <a:p>
            <a:pPr algn="l" indent="0" marL="0">
              <a:spcAft>
                <a:spcPts val="200"/>
              </a:spcAft>
              <a:buNone/>
            </a:pPr>
            <a:r>
              <a:rPr lang="en-US" sz="1600" b="1" dirty="0">
                <a:solidFill>
                  <a:srgbClr val="0D9488"/>
                </a:solidFill>
              </a:rPr>
              <a:t>→ no de-zonation signal.</a:t>
            </a:r>
            <a:endParaRPr lang="en-US" sz="1400" dirty="0"/>
          </a:p>
        </p:txBody>
      </p:sp>
      <p:sp>
        <p:nvSpPr>
          <p:cNvPr id="9" name="Text 6"/>
          <p:cNvSpPr/>
          <p:nvPr/>
        </p:nvSpPr>
        <p:spPr>
          <a:xfrm>
            <a:off x="8732520" y="5532120"/>
            <a:ext cx="3200400" cy="731520"/>
          </a:xfrm>
          <a:prstGeom prst="rect">
            <a:avLst/>
          </a:prstGeom>
          <a:noFill/>
          <a:ln/>
        </p:spPr>
        <p:txBody>
          <a:bodyPr wrap="square" rtlCol="0" anchor="t"/>
          <a:lstStyle/>
          <a:p>
            <a:pPr algn="l" indent="0" marL="0">
              <a:buNone/>
            </a:pPr>
            <a:r>
              <a:rPr lang="en-US" sz="1100" i="1" dirty="0">
                <a:solidFill>
                  <a:srgbClr val="5C6E73"/>
                </a:solidFill>
              </a:rPr>
              <a:t>Spread, the equivalence bound (&gt; ±19 pp excluded) and the 10-confounder audit — all in backup.</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8</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Cells stay spread across the zones — no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pPr algn="l" indent="0" marL="0">
              <a:buNone/>
            </a:pPr>
            <a:r>
              <a:rPr lang="en-US" sz="1450" b="1" dirty="0">
                <a:solidFill>
                  <a:srgbClr val="1B2B31"/>
                </a:solidFill>
              </a:rPr>
              <a:t>Each panel: where hepatocytes fall on the pericentral ↔ periportal axis.  </a:t>
            </a:r>
            <a:pPr algn="l" indent="0" marL="0">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r>
          <p:cNvPicPr>
            <a:picLocks noChangeAspect="1"/>
          </p:cNvPicPr>
          <p:nvPr/>
        </p:nvPicPr>
        <p:blipFill>
          <a:blip r:embed="rId1"/>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3.  Per-cell zonal balance by stage (down-thinned to 1,500 UMIs, ≤300 nuclei/donor). 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algn="l" indent="0" marL="0">
              <a:buNone/>
            </a:pPr>
            <a:r>
              <a:rPr lang="en-US" sz="1450" dirty="0">
                <a:solidFill>
                  <a:srgbClr val="1B2B31"/>
                </a:solidFill>
              </a:rPr>
              <a:t>Across biopsy F1–F4 the mass stays spread — the middle [0.4–0.6) drifts only 22 → 24 → 28 → 26% (peak F3, then reverts), non-monotone and mild. </a:t>
            </a:r>
            <a:pPr algn="l" indent="0" marL="0">
              <a:buNone/>
            </a:pP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9</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r>
          <p:cNvPicPr>
            <a:picLocks noChangeAspect="1"/>
          </p:cNvPicPr>
          <p:nvPr/>
        </p:nvPicPr>
        <p:blipFill>
          <a:blip r:embed="rId1"/>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3840480"/>
          </a:xfrm>
          <a:prstGeom prst="rect">
            <a:avLst/>
          </a:prstGeom>
          <a:noFill/>
          <a:ln/>
        </p:spPr>
        <p:txBody>
          <a:bodyPr wrap="square" rtlCol="0" anchor="t"/>
          <a:lstStyle/>
          <a:p>
            <a:pPr algn="l" indent="0" marL="0">
              <a:spcAft>
                <a:spcPts val="600"/>
              </a:spcAft>
              <a:buNone/>
            </a:pPr>
            <a:r>
              <a:rPr lang="en-US" sz="1400" b="1" dirty="0">
                <a:solidFill>
                  <a:srgbClr val="1B2B31"/>
                </a:solidFill>
              </a:rPr>
              <a:t>64 of ~21,000 genes pass FDR¹ — </a:t>
            </a:r>
            <a:pPr algn="l" indent="0" marL="0">
              <a:spcAft>
                <a:spcPts val="600"/>
              </a:spcAft>
              <a:buNone/>
            </a:pPr>
            <a:r>
              <a:rPr lang="en-US" sz="1400" dirty="0">
                <a:solidFill>
                  <a:srgbClr val="1B2B31"/>
                </a:solidFill>
              </a:rPr>
              <a:t>mostly biliary / ductular.
</a:t>
            </a:r>
            <a:pPr algn="l" indent="0" marL="0">
              <a:spcAft>
                <a:spcPts val="600"/>
              </a:spcAft>
              <a:buNone/>
            </a:pPr>
            <a:r>
              <a:rPr lang="en-US" sz="1400" b="1" dirty="0">
                <a:solidFill>
                  <a:srgbClr val="1D4ED8"/>
                </a:solidFill>
              </a:rPr>
              <a:t>Zonation genes flat </a:t>
            </a:r>
            <a:pPr algn="l" indent="0" marL="0">
              <a:spcAft>
                <a:spcPts val="600"/>
              </a:spcAft>
              <a:buNone/>
            </a:pPr>
            <a:r>
              <a:rPr lang="en-US" sz="1400" dirty="0">
                <a:solidFill>
                  <a:srgbClr val="1B2B31"/>
                </a:solidFill>
              </a:rPr>
              <a:t>(GLUL FDR 0.80). No large single-gene program.
</a:t>
            </a:r>
            <a:pPr algn="l" indent="0" marL="0">
              <a:spcAft>
                <a:spcPts val="600"/>
              </a:spcAft>
              <a:buNone/>
            </a:pPr>
            <a:r>
              <a:rPr lang="en-US" sz="1400" dirty="0">
                <a:solidFill>
                  <a:srgbClr val="1B2B31"/>
                </a:solidFill>
              </a:rPr>
              <a:t>But a weak program, spread thinly across many genes, hides from per-gene FDR — </a:t>
            </a:r>
            <a:pPr algn="l" indent="0" marL="0">
              <a:spcAft>
                <a:spcPts val="600"/>
              </a:spcAft>
              <a:buNone/>
            </a:pPr>
            <a:r>
              <a:rPr lang="en-US" sz="1400" b="1" dirty="0">
                <a:solidFill>
                  <a:srgbClr val="C0561B"/>
                </a:solidFill>
              </a:rPr>
              <a:t>the coordinated pericentral-detox decline is exactly that (next slide).</a:t>
            </a:r>
            <a:endParaRPr lang="en-US" sz="1400" dirty="0"/>
          </a:p>
        </p:txBody>
      </p:sp>
      <p:sp>
        <p:nvSpPr>
          <p:cNvPr id="9" name="Shape 6"/>
          <p:cNvSpPr/>
          <p:nvPr/>
        </p:nvSpPr>
        <p:spPr>
          <a:xfrm>
            <a:off x="457200" y="6199632"/>
            <a:ext cx="2926080" cy="0"/>
          </a:xfrm>
          <a:prstGeom prst="line">
            <a:avLst/>
          </a:prstGeom>
          <a:noFill/>
          <a:ln w="9525">
            <a:solidFill>
              <a:srgbClr val="C9C0B2"/>
            </a:solidFill>
            <a:prstDash val="solid"/>
          </a:ln>
        </p:spPr>
      </p:sp>
      <p:sp>
        <p:nvSpPr>
          <p:cNvPr id="10" name="Text 7"/>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10</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371600"/>
            <a:ext cx="11247120" cy="457200"/>
          </a:xfrm>
          <a:prstGeom prst="rect">
            <a:avLst/>
          </a:prstGeom>
          <a:noFill/>
          <a:ln/>
        </p:spPr>
        <p:txBody>
          <a:bodyPr wrap="square" rtlCol="0" anchor="ctr"/>
          <a:lstStyle/>
          <a:p>
            <a:pPr algn="l" indent="0" marL="0">
              <a:buNone/>
            </a:pPr>
            <a:r>
              <a:rPr lang="en-US" sz="1550" b="1" dirty="0">
                <a:solidFill>
                  <a:srgbClr val="1B2B31"/>
                </a:solidFill>
              </a:rPr>
              <a:t>Cells keep their class — </a:t>
            </a:r>
            <a:pPr algn="l" indent="0" marL="0">
              <a:buNone/>
            </a:pPr>
            <a:r>
              <a:rPr lang="en-US" sz="1550" dirty="0">
                <a:solidFill>
                  <a:srgbClr val="1B2B31"/>
                </a:solidFill>
              </a:rPr>
              <a:t>but within pericentral nuclei the detox program’s level falls with fibrosis (the one hint our counts gave, now confirmed).</a:t>
            </a:r>
            <a:endParaRPr lang="en-US" sz="1550" dirty="0"/>
          </a:p>
        </p:txBody>
      </p:sp>
      <p:pic>
        <p:nvPicPr>
          <p:cNvPr id="7" name="Image 0" descr="D:\CS\Genomics\Hackathon\presentation/assets/fig_dimming.png">    </p:cNvPr>
          <p:cNvPicPr>
            <a:picLocks noChangeAspect="1"/>
          </p:cNvPicPr>
          <p:nvPr/>
        </p:nvPicPr>
        <p:blipFill>
          <a:blip r:embed="rId1"/>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algn="l" indent="0" marL="0">
              <a:buNone/>
            </a:pPr>
            <a:r>
              <a:rPr lang="en-US" sz="1250" b="1" dirty="0">
                <a:solidFill>
                  <a:srgbClr val="1B6E78"/>
                </a:solidFill>
              </a:rPr>
              <a:t>Like a radio: </a:t>
            </a:r>
            <a:pPr algn="l" indent="0" marL="0">
              <a:buNone/>
            </a:pPr>
            <a:r>
              <a:rPr lang="en-US" sz="1250" i="1" dirty="0">
                <a:solidFill>
                  <a:srgbClr val="334155"/>
                </a:solidFill>
              </a:rPr>
              <a:t>the genre held (cells keep identity); the volume dropped (the program dims).   </a:t>
            </a:r>
            <a:pPr algn="l" indent="0" marL="0">
              <a:buNone/>
            </a:pP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sp>
      <p:sp>
        <p:nvSpPr>
          <p:cNvPr id="11" name="Text 8"/>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11</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algn="l" indent="0" marL="0">
              <a:buNone/>
            </a:pPr>
            <a:r>
              <a:rPr lang="en-US" sz="1300" b="1" spc="300" kern="0" dirty="0">
                <a:solidFill>
                  <a:srgbClr val="C0561B"/>
                </a:solidFill>
              </a:rPr>
              <a:t>SOURCE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algn="r" indent="0" marL="0">
              <a:buNone/>
            </a:pPr>
            <a:r>
              <a:rPr lang="en-US" sz="1100" b="1" spc="200" kern="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algn="l" indent="0" marL="0">
              <a:buNone/>
            </a:pPr>
            <a:r>
              <a:rPr lang="en-US" sz="2800" b="1" dirty="0">
                <a:solidFill>
                  <a:srgbClr val="1B2B31"/>
                </a:solidFill>
                <a:latin typeface="Georgia" pitchFamily="34" charset="0"/>
                <a:ea typeface="Georgia" pitchFamily="34" charset="-122"/>
                <a:cs typeface="Georgia" pitchFamily="34" charset="-120"/>
              </a:rPr>
              <a:t>The biliary signal: most likely compositional — a lead</a:t>
            </a:r>
            <a:endParaRPr lang="en-US" sz="2800" dirty="0"/>
          </a:p>
        </p:txBody>
      </p:sp>
      <p:pic>
        <p:nvPicPr>
          <p:cNvPr id="6" name="Image 0" descr="D:\CS\Genomics\Hackathon\presentation/assets/fig_compositional.png">    </p:cNvPr>
          <p:cNvPicPr>
            <a:picLocks noChangeAspect="1"/>
          </p:cNvPicPr>
          <p:nvPr/>
        </p:nvPicPr>
        <p:blipFill>
          <a:blip r:embed="rId1"/>
          <a:stretch>
            <a:fillRect/>
          </a:stretch>
        </p:blipFill>
        <p:spPr>
          <a:xfrm>
            <a:off x="2208441" y="1371600"/>
            <a:ext cx="7744638" cy="3063240"/>
          </a:xfrm>
          <a:prstGeom prst="rect">
            <a:avLst/>
          </a:prstGeom>
        </p:spPr>
      </p:pic>
      <p:sp>
        <p:nvSpPr>
          <p:cNvPr id="7" name="Text 4"/>
          <p:cNvSpPr/>
          <p:nvPr/>
        </p:nvSpPr>
        <p:spPr>
          <a:xfrm>
            <a:off x="274320" y="4498848"/>
            <a:ext cx="116128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6.  Source attribution — cross-lineage abundance, decontX ambient-RNA removal, and the F4 ductular reaction.</a:t>
            </a:r>
            <a:endParaRPr lang="en-US" sz="1200" dirty="0"/>
          </a:p>
        </p:txBody>
      </p:sp>
      <p:sp>
        <p:nvSpPr>
          <p:cNvPr id="8" name="Shape 5"/>
          <p:cNvSpPr/>
          <p:nvPr/>
        </p:nvSpPr>
        <p:spPr>
          <a:xfrm>
            <a:off x="548640" y="4828032"/>
            <a:ext cx="11155680" cy="384048"/>
          </a:xfrm>
          <a:prstGeom prst="roundRect">
            <a:avLst>
              <a:gd name="adj" fmla="val 11905"/>
            </a:avLst>
          </a:prstGeom>
          <a:solidFill>
            <a:srgbClr val="E7F2ED"/>
          </a:solidFill>
          <a:ln/>
        </p:spPr>
      </p:sp>
      <p:sp>
        <p:nvSpPr>
          <p:cNvPr id="9" name="Text 6"/>
          <p:cNvSpPr/>
          <p:nvPr/>
        </p:nvSpPr>
        <p:spPr>
          <a:xfrm>
            <a:off x="713232" y="4828032"/>
            <a:ext cx="1737360" cy="384048"/>
          </a:xfrm>
          <a:prstGeom prst="rect">
            <a:avLst/>
          </a:prstGeom>
          <a:noFill/>
          <a:ln/>
        </p:spPr>
        <p:txBody>
          <a:bodyPr wrap="square" lIns="0" tIns="0" rIns="0" bIns="0" rtlCol="0" anchor="ctr"/>
          <a:lstStyle/>
          <a:p>
            <a:pPr indent="0" marL="0">
              <a:buNone/>
            </a:pPr>
            <a:r>
              <a:rPr lang="en-US" sz="1200" b="1" spc="100" kern="0" dirty="0">
                <a:solidFill>
                  <a:srgbClr val="065F46"/>
                </a:solidFill>
              </a:rPr>
              <a:t>STRONG</a:t>
            </a:r>
            <a:endParaRPr lang="en-US" sz="1200" dirty="0"/>
          </a:p>
        </p:txBody>
      </p:sp>
      <p:sp>
        <p:nvSpPr>
          <p:cNvPr id="10" name="Text 7"/>
          <p:cNvSpPr/>
          <p:nvPr/>
        </p:nvSpPr>
        <p:spPr>
          <a:xfrm>
            <a:off x="2468880" y="4828032"/>
            <a:ext cx="9052560" cy="384048"/>
          </a:xfrm>
          <a:prstGeom prst="rect">
            <a:avLst/>
          </a:prstGeom>
          <a:noFill/>
          <a:ln/>
        </p:spPr>
        <p:txBody>
          <a:bodyPr wrap="square" lIns="0" tIns="0" rIns="0" bIns="0" rtlCol="0" anchor="ctr"/>
          <a:lstStyle/>
          <a:p>
            <a:pPr indent="0" marL="0">
              <a:buNone/>
            </a:pPr>
            <a:r>
              <a:rPr lang="en-US" sz="1300" dirty="0">
                <a:solidFill>
                  <a:srgbClr val="1B2B31"/>
                </a:solidFill>
              </a:rPr>
              <a:t>Biliary genes are cholangiocyte genes; hepatocyte co-expression ~0.4%</a:t>
            </a:r>
            <a:endParaRPr lang="en-US" sz="1300" dirty="0"/>
          </a:p>
        </p:txBody>
      </p:sp>
      <p:sp>
        <p:nvSpPr>
          <p:cNvPr id="11" name="Shape 8"/>
          <p:cNvSpPr/>
          <p:nvPr/>
        </p:nvSpPr>
        <p:spPr>
          <a:xfrm>
            <a:off x="548640" y="5257800"/>
            <a:ext cx="11155680" cy="384048"/>
          </a:xfrm>
          <a:prstGeom prst="roundRect">
            <a:avLst>
              <a:gd name="adj" fmla="val 11905"/>
            </a:avLst>
          </a:prstGeom>
          <a:solidFill>
            <a:srgbClr val="FBF0E2"/>
          </a:solidFill>
          <a:ln/>
        </p:spPr>
      </p:sp>
      <p:sp>
        <p:nvSpPr>
          <p:cNvPr id="12" name="Text 9"/>
          <p:cNvSpPr/>
          <p:nvPr/>
        </p:nvSpPr>
        <p:spPr>
          <a:xfrm>
            <a:off x="713232" y="5257800"/>
            <a:ext cx="1737360" cy="384048"/>
          </a:xfrm>
          <a:prstGeom prst="rect">
            <a:avLst/>
          </a:prstGeom>
          <a:noFill/>
          <a:ln/>
        </p:spPr>
        <p:txBody>
          <a:bodyPr wrap="square" lIns="0" tIns="0" rIns="0" bIns="0" rtlCol="0" anchor="ctr"/>
          <a:lstStyle/>
          <a:p>
            <a:pPr indent="0" marL="0">
              <a:buNone/>
            </a:pPr>
            <a:r>
              <a:rPr lang="en-US" sz="1200" b="1" spc="100" kern="0" dirty="0">
                <a:solidFill>
                  <a:srgbClr val="B45309"/>
                </a:solidFill>
              </a:rPr>
              <a:t>SUGGESTIVE</a:t>
            </a:r>
            <a:endParaRPr lang="en-US" sz="1200" dirty="0"/>
          </a:p>
        </p:txBody>
      </p:sp>
      <p:sp>
        <p:nvSpPr>
          <p:cNvPr id="13" name="Text 10"/>
          <p:cNvSpPr/>
          <p:nvPr/>
        </p:nvSpPr>
        <p:spPr>
          <a:xfrm>
            <a:off x="2468880" y="5257800"/>
            <a:ext cx="9052560" cy="384048"/>
          </a:xfrm>
          <a:prstGeom prst="rect">
            <a:avLst/>
          </a:prstGeom>
          <a:noFill/>
          <a:ln/>
        </p:spPr>
        <p:txBody>
          <a:bodyPr wrap="square" lIns="0" tIns="0" rIns="0" bIns="0" rtlCol="0" anchor="ctr"/>
          <a:lstStyle/>
          <a:p>
            <a:pPr indent="0" marL="0">
              <a:buNone/>
            </a:pPr>
            <a:r>
              <a:rPr lang="en-US" sz="1300" dirty="0">
                <a:solidFill>
                  <a:srgbClr val="1B2B31"/>
                </a:solidFill>
              </a:rPr>
              <a:t>decontX¹ halves the hits — an ambient contribution, not proof</a:t>
            </a:r>
            <a:endParaRPr lang="en-US" sz="1300" dirty="0"/>
          </a:p>
        </p:txBody>
      </p:sp>
      <p:sp>
        <p:nvSpPr>
          <p:cNvPr id="14" name="Shape 11"/>
          <p:cNvSpPr/>
          <p:nvPr/>
        </p:nvSpPr>
        <p:spPr>
          <a:xfrm>
            <a:off x="548640" y="5687568"/>
            <a:ext cx="11155680" cy="384048"/>
          </a:xfrm>
          <a:prstGeom prst="roundRect">
            <a:avLst>
              <a:gd name="adj" fmla="val 11905"/>
            </a:avLst>
          </a:prstGeom>
          <a:solidFill>
            <a:srgbClr val="FBEEE9"/>
          </a:solidFill>
          <a:ln/>
        </p:spPr>
      </p:sp>
      <p:sp>
        <p:nvSpPr>
          <p:cNvPr id="15" name="Text 12"/>
          <p:cNvSpPr/>
          <p:nvPr/>
        </p:nvSpPr>
        <p:spPr>
          <a:xfrm>
            <a:off x="713232" y="5687568"/>
            <a:ext cx="1737360" cy="384048"/>
          </a:xfrm>
          <a:prstGeom prst="rect">
            <a:avLst/>
          </a:prstGeom>
          <a:noFill/>
          <a:ln/>
        </p:spPr>
        <p:txBody>
          <a:bodyPr wrap="square" lIns="0" tIns="0" rIns="0" bIns="0" rtlCol="0" anchor="ctr"/>
          <a:lstStyle/>
          <a:p>
            <a:pPr indent="0" marL="0">
              <a:buNone/>
            </a:pPr>
            <a:r>
              <a:rPr lang="en-US" sz="1200" b="1" spc="100" kern="0" dirty="0">
                <a:solidFill>
                  <a:srgbClr val="BE123C"/>
                </a:solidFill>
              </a:rPr>
              <a:t>OPEN</a:t>
            </a:r>
            <a:endParaRPr lang="en-US" sz="1200" dirty="0"/>
          </a:p>
        </p:txBody>
      </p:sp>
      <p:sp>
        <p:nvSpPr>
          <p:cNvPr id="16" name="Text 13"/>
          <p:cNvSpPr/>
          <p:nvPr/>
        </p:nvSpPr>
        <p:spPr>
          <a:xfrm>
            <a:off x="2468880" y="5687568"/>
            <a:ext cx="9052560" cy="384048"/>
          </a:xfrm>
          <a:prstGeom prst="rect">
            <a:avLst/>
          </a:prstGeom>
          <a:noFill/>
          <a:ln/>
        </p:spPr>
        <p:txBody>
          <a:bodyPr wrap="square" lIns="0" tIns="0" rIns="0" bIns="0" rtlCol="0" anchor="ctr"/>
          <a:lstStyle/>
          <a:p>
            <a:pPr indent="0" marL="0">
              <a:buNone/>
            </a:pPr>
            <a:r>
              <a:rPr lang="en-US" sz="1300" dirty="0">
                <a:solidFill>
                  <a:srgbClr val="1B2B31"/>
                </a:solidFill>
              </a:rPr>
              <a:t>EPCAM / SPINT2 / B3GNT3 survive — a rare intrinsic state not excluded; CXCL10 a separate inflammatory lead</a:t>
            </a:r>
            <a:endParaRPr lang="en-US" sz="1300" dirty="0"/>
          </a:p>
        </p:txBody>
      </p:sp>
      <p:sp>
        <p:nvSpPr>
          <p:cNvPr id="17" name="Shape 14"/>
          <p:cNvSpPr/>
          <p:nvPr/>
        </p:nvSpPr>
        <p:spPr>
          <a:xfrm>
            <a:off x="457200" y="6199632"/>
            <a:ext cx="2926080" cy="0"/>
          </a:xfrm>
          <a:prstGeom prst="line">
            <a:avLst/>
          </a:prstGeom>
          <a:noFill/>
          <a:ln w="9525">
            <a:solidFill>
              <a:srgbClr val="C9C0B2"/>
            </a:solidFill>
            <a:prstDash val="solid"/>
          </a:ln>
        </p:spPr>
      </p:sp>
      <p:sp>
        <p:nvSpPr>
          <p:cNvPr id="18" name="Text 15"/>
          <p:cNvSpPr/>
          <p:nvPr/>
        </p:nvSpPr>
        <p:spPr>
          <a:xfrm>
            <a:off x="457200" y="6254496"/>
            <a:ext cx="10607040" cy="237744"/>
          </a:xfrm>
          <a:prstGeom prst="rect">
            <a:avLst/>
          </a:prstGeom>
          <a:noFill/>
          <a:ln/>
        </p:spPr>
        <p:txBody>
          <a:bodyPr wrap="square" lIns="0" tIns="0" rIns="0" bIns="0" rtlCol="0" anchor="ctr"/>
          <a:lstStyle/>
          <a:p>
            <a:pPr algn="l" indent="0" marL="0">
              <a:buNone/>
            </a:pPr>
            <a:r>
              <a:rPr lang="en-US" sz="1000" i="1" dirty="0">
                <a:solidFill>
                  <a:srgbClr val="6B6256"/>
                </a:solidFill>
              </a:rPr>
              <a:t>¹ Ambient-RNA removal: decontX — Yang et al., Genome Biol. 2020.    Source attribution is a lead, not a closed verdict.</a:t>
            </a:r>
            <a:endParaRPr lang="en-US" sz="1000" dirty="0"/>
          </a:p>
        </p:txBody>
      </p:sp>
      <p:sp>
        <p:nvSpPr>
          <p:cNvPr id="19" name="Text 16"/>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20" name="Text 17"/>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12</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CONCLUSION</a:t>
            </a:r>
            <a:endParaRPr lang="en-US" sz="1400" dirty="0"/>
          </a:p>
        </p:txBody>
      </p:sp>
      <p:sp>
        <p:nvSpPr>
          <p:cNvPr id="6" name="Text 4"/>
          <p:cNvSpPr/>
          <p:nvPr/>
        </p:nvSpPr>
        <p:spPr>
          <a:xfrm>
            <a:off x="777240" y="777240"/>
            <a:ext cx="10789920" cy="731520"/>
          </a:xfrm>
          <a:prstGeom prst="rect">
            <a:avLst/>
          </a:prstGeom>
          <a:noFill/>
          <a:ln/>
        </p:spPr>
        <p:txBody>
          <a:bodyPr wrap="square" rtlCol="0" anchor="ctr"/>
          <a:lstStyle/>
          <a:p>
            <a:pPr algn="l" indent="0" marL="0">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algn="l" indent="0" marL="0">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algn="l" indent="0" marL="0">
              <a:buNone/>
            </a:pPr>
            <a:r>
              <a:rPr lang="en-US" sz="2100" b="1" dirty="0">
                <a:solidFill>
                  <a:srgbClr val="FFFFFF"/>
                </a:solidFill>
                <a:latin typeface="Georgia" pitchFamily="34" charset="0"/>
                <a:ea typeface="Georgia" pitchFamily="34" charset="-122"/>
                <a:cs typeface="Georgia" pitchFamily="34" charset="-120"/>
              </a:rPr>
              <a:t>Cells keep their zonal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algn="l" indent="0" marL="0">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algn="l" indent="0" marL="0">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algn="l" indent="0" marL="0">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algn="l" indent="0" marL="0">
              <a:buNone/>
            </a:pPr>
            <a:r>
              <a:rPr lang="en-US" sz="2100" b="1" dirty="0">
                <a:solidFill>
                  <a:srgbClr val="FFFFFF"/>
                </a:solidFill>
                <a:latin typeface="Georgia" pitchFamily="34" charset="0"/>
                <a:ea typeface="Georgia" pitchFamily="34" charset="-122"/>
                <a:cs typeface="Georgia" pitchFamily="34" charset="-120"/>
              </a:rPr>
              <a:t>The dramatic trajectory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sp>
      <p:sp>
        <p:nvSpPr>
          <p:cNvPr id="14" name="Text 12"/>
          <p:cNvSpPr/>
          <p:nvPr/>
        </p:nvSpPr>
        <p:spPr>
          <a:xfrm>
            <a:off x="841248" y="5394960"/>
            <a:ext cx="10881360" cy="457200"/>
          </a:xfrm>
          <a:prstGeom prst="rect">
            <a:avLst/>
          </a:prstGeom>
          <a:noFill/>
          <a:ln/>
        </p:spPr>
        <p:txBody>
          <a:bodyPr wrap="square" rtlCol="0" anchor="t"/>
          <a:lstStyle/>
          <a:p>
            <a:pPr algn="l" indent="0" marL="0">
              <a:buNone/>
            </a:pPr>
            <a:r>
              <a:rPr lang="en-US" sz="1500" b="1" i="1" dirty="0">
                <a:solidFill>
                  <a:srgbClr val="FFFFFF"/>
                </a:solidFill>
              </a:rPr>
              <a:t>We correct one evidence leg</a:t>
            </a:r>
            <a:pPr algn="l" indent="0" marL="0">
              <a:buNone/>
            </a:pPr>
            <a:r>
              <a:rPr lang="en-US" sz="1500" i="1" dirty="0">
                <a:solidFill>
                  <a:srgbClr val="C9D6D3"/>
                </a:solidFill>
              </a:rPr>
              <a:t> — the snRNA marker-correlation; the paper’s imaging and protein staining are untouched. The biliary signal is a separate compositional lead.</a:t>
            </a:r>
            <a:endParaRPr lang="en-US" sz="1500" dirty="0"/>
          </a:p>
        </p:txBody>
      </p:sp>
      <p:sp>
        <p:nvSpPr>
          <p:cNvPr id="15" name="Text 13"/>
          <p:cNvSpPr/>
          <p:nvPr/>
        </p:nvSpPr>
        <p:spPr>
          <a:xfrm>
            <a:off x="841248" y="6144768"/>
            <a:ext cx="10881360" cy="365760"/>
          </a:xfrm>
          <a:prstGeom prst="rect">
            <a:avLst/>
          </a:prstGeom>
          <a:noFill/>
          <a:ln/>
        </p:spPr>
        <p:txBody>
          <a:bodyPr wrap="square" rtlCol="0" anchor="t"/>
          <a:lstStyle/>
          <a:p>
            <a:pPr algn="l" indent="0" marL="0">
              <a:buNone/>
            </a:pPr>
            <a:r>
              <a:rPr lang="en-US" sz="1200" dirty="0">
                <a:solidFill>
                  <a:srgbClr val="8FA3A0"/>
                </a:solidFill>
              </a:rPr>
              <a:t>Scope — a “PC-like program,” not lobular location; a weak coordinated gene-set program is not excluded; F4 is only 4 donors.</a:t>
            </a:r>
            <a:endParaRPr lang="en-US" sz="12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algn="l" indent="0" marL="0">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algn="r" indent="0" marL="0">
              <a:buNone/>
            </a:pPr>
            <a:r>
              <a:rPr lang="en-US" sz="1050" dirty="0">
                <a:solidFill>
                  <a:srgbClr val="5C6E73"/>
                </a:solidFill>
              </a:rPr>
              <a:t>13</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We re-tested only the snRNA-seq transcriptional zonation/plasticity evidence.</a:t>
            </a:r>
            <a:endParaRPr lang="en-US" sz="2000" dirty="0"/>
          </a:p>
          <a:p>
            <a:pPr algn="l" marL="342900" indent="-342900">
              <a:spcAft>
                <a:spcPts val="900"/>
              </a:spcAft>
              <a:buSzPct val="100000"/>
              <a:buChar char="•"/>
            </a:pPr>
            <a:r>
              <a:rPr lang="en-US" sz="2000" dirty="0">
                <a:solidFill>
                  <a:srgbClr val="1B2B31"/>
                </a:solidFill>
              </a:rPr>
              <a:t>We did NOT test imaging, protein staining, organoids, or 3D architecture.</a:t>
            </a:r>
            <a:endParaRPr lang="en-US" sz="2000" dirty="0"/>
          </a:p>
          <a:p>
            <a:pPr algn="l" marL="342900" indent="-342900">
              <a:spcAft>
                <a:spcPts val="900"/>
              </a:spcAft>
              <a:buSzPct val="100000"/>
              <a:buChar char="•"/>
            </a:pPr>
            <a:r>
              <a:rPr lang="en-US" sz="2000" dirty="0">
                <a:solidFill>
                  <a:srgbClr val="1B2B31"/>
                </a:solidFill>
              </a:rPr>
              <a:t>Claim: matched biopsy transcriptomes do not show progressive zonation loss.</a:t>
            </a:r>
            <a:endParaRPr lang="en-US" sz="2000" dirty="0"/>
          </a:p>
          <a:p>
            <a:pPr algn="l" marL="342900" indent="-342900">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Null and the PP : PC ratio are flat too</a:t>
            </a:r>
            <a:endParaRPr lang="en-US" sz="2600" dirty="0"/>
          </a:p>
        </p:txBody>
      </p:sp>
      <p:pic>
        <p:nvPicPr>
          <p:cNvPr id="5" name="Image 0" descr="D:\CS\Genomics\Hackathon\presentation/assets/fig_secondary.png">    </p:cNvPr>
          <p:cNvPicPr>
            <a:picLocks noChangeAspect="1"/>
          </p:cNvPicPr>
          <p:nvPr/>
        </p:nvPicPr>
        <p:blipFill>
          <a:blip r:embed="rId1"/>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7.  Null (double-negative) fraction and the periportal : pericentral anchor ratio across biopsy F1–F4 (box = per-donor spread; each point = one donor).</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algn="l" indent="0" marL="0">
              <a:buNone/>
            </a:pPr>
            <a:r>
              <a:rPr lang="en-US" sz="1350" b="1" dirty="0">
                <a:solidFill>
                  <a:srgbClr val="475569"/>
                </a:solidFill>
              </a:rPr>
              <a:t>Null (double-negative): </a:t>
            </a:r>
            <a:pPr algn="l" indent="0" marL="0">
              <a:buNone/>
            </a:pPr>
            <a:r>
              <a:rPr lang="en-US" sz="1350" dirty="0">
                <a:solidFill>
                  <a:srgbClr val="1B2B31"/>
                </a:solidFill>
              </a:rPr>
              <a:t>≈ 44 / 36 / 39 / 39% — no rise across stages.
</a:t>
            </a:r>
            <a:endParaRPr lang="en-US" sz="1350" dirty="0"/>
          </a:p>
          <a:p>
            <a:pPr algn="l" indent="0" marL="0">
              <a:buNone/>
            </a:pPr>
            <a:r>
              <a:rPr lang="en-US" sz="1350" b="1" dirty="0">
                <a:solidFill>
                  <a:srgbClr val="7C3AED"/>
                </a:solidFill>
              </a:rPr>
              <a:t>PP : PC ratio: </a:t>
            </a:r>
            <a:pPr algn="l" indent="0" marL="0">
              <a:buNone/>
            </a:pPr>
            <a:r>
              <a:rPr lang="en-US" sz="1350" dirty="0">
                <a:solidFill>
                  <a:srgbClr val="1B2B31"/>
                </a:solidFill>
              </a:rPr>
              <a:t>≈ 1.16 / 1.01 / 1.10 / 1.18 — hovers around the balanced 1 : 1 line.
</a:t>
            </a:r>
            <a:endParaRPr lang="en-US" sz="1350" dirty="0"/>
          </a:p>
          <a:p>
            <a:pPr algn="l" indent="0" marL="0">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r>
          <p:cNvPicPr>
            <a:picLocks noChangeAspect="1"/>
          </p:cNvPicPr>
          <p:nvPr/>
        </p:nvPicPr>
        <p:blipFill>
          <a:blip r:embed="rId1"/>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algn="l" indent="0" marL="0">
              <a:buNone/>
            </a:pPr>
            <a:r>
              <a:rPr lang="en-US" sz="1800" b="1" dirty="0">
                <a:solidFill>
                  <a:srgbClr val="1B2B31"/>
                </a:solidFill>
              </a:rPr>
              <a:t>Detection matches across all three lobes.
</a:t>
            </a:r>
            <a:endParaRPr lang="en-US" sz="1800" dirty="0"/>
          </a:p>
          <a:p>
            <a:pPr algn="l" indent="0" marL="0">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Five organs, five phenotypes</a:t>
            </a:r>
            <a:endParaRPr lang="en-US" sz="2600" dirty="0"/>
          </a:p>
        </p:txBody>
      </p:sp>
      <p:pic>
        <p:nvPicPr>
          <p:cNvPr id="5" name="Image 0" descr="D:\CS\Genomics\Hackathon\presentation/assets/fig_explant.png">    </p:cNvPr>
          <p:cNvPicPr>
            <a:picLocks noChangeAspect="1"/>
          </p:cNvPicPr>
          <p:nvPr/>
        </p:nvPicPr>
        <p:blipFill>
          <a:blip r:embed="rId1"/>
          <a:stretch>
            <a:fillRect/>
          </a:stretch>
        </p:blipFill>
        <p:spPr>
          <a:xfrm>
            <a:off x="731520" y="1371600"/>
            <a:ext cx="7498080" cy="3916062"/>
          </a:xfrm>
          <a:prstGeom prst="rect">
            <a:avLst/>
          </a:prstGeom>
        </p:spPr>
      </p:pic>
      <p:sp>
        <p:nvSpPr>
          <p:cNvPr id="6" name="Text 3"/>
          <p:cNvSpPr/>
          <p:nvPr/>
        </p:nvSpPr>
        <p:spPr>
          <a:xfrm>
            <a:off x="731520" y="5943600"/>
            <a:ext cx="749808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algn="l" indent="0" marL="0">
              <a:buNone/>
            </a:pPr>
            <a:r>
              <a:rPr lang="en-US" sz="1700" b="1" dirty="0">
                <a:solidFill>
                  <a:srgbClr val="1B2B31"/>
                </a:solidFill>
              </a:rPr>
              <a:t>PC-anchor 3% → 50%;  PP:PC 0.13 → 20.
</a:t>
            </a:r>
            <a:endParaRPr lang="en-US" sz="1700" dirty="0"/>
          </a:p>
          <a:p>
            <a:pPr algn="l" indent="0" marL="0">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r>
          <p:cNvPicPr>
            <a:picLocks noChangeAspect="1"/>
          </p:cNvPicPr>
          <p:nvPr/>
        </p:nvPicPr>
        <p:blipFill>
          <a:blip r:embed="rId1"/>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algn="ctr" indent="0" marL="0">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algn="l" indent="0" marL="0">
              <a:buNone/>
            </a:pPr>
            <a:r>
              <a:rPr lang="en-US" sz="1600" b="1" dirty="0">
                <a:solidFill>
                  <a:srgbClr val="1B2B31"/>
                </a:solidFill>
              </a:rPr>
              <a:t>Stable across every variant:
</a:t>
            </a:r>
            <a:endParaRPr lang="en-US" sz="1600" dirty="0"/>
          </a:p>
          <a:p>
            <a:pPr algn="l" indent="0" marL="0">
              <a:buNone/>
            </a:pPr>
            <a:r>
              <a:rPr lang="en-US" sz="1600" dirty="0">
                <a:solidFill>
                  <a:srgbClr val="1B2B31"/>
                </a:solidFill>
              </a:rPr>
              <a:t>anchor genes, periportal rule, ALDOB in/out, CPS1-based, 1 vs 2 UMI.
</a:t>
            </a:r>
            <a:endParaRPr lang="en-US" sz="1600" dirty="0"/>
          </a:p>
          <a:p>
            <a:pPr algn="l" indent="0" marL="0">
              <a:buNone/>
            </a:pPr>
            <a:r>
              <a:rPr lang="en-US" sz="1600" b="1" dirty="0">
                <a:solidFill>
                  <a:srgbClr val="0D9488"/>
                </a:solidFill>
              </a:rPr>
              <a:t>No depletion · no dual rise · no turn-off — in all.
</a:t>
            </a:r>
            <a:endParaRPr lang="en-US" sz="1600" dirty="0"/>
          </a:p>
          <a:p>
            <a:pPr algn="l" indent="0" marL="0">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gridCol w="6035040"/>
                <a:gridCol w="2651760"/>
              </a:tblGrid>
              <a:tr h="384048">
                <a:tc>
                  <a:txBody>
                    <a:bodyPr/>
                    <a:lstStyle/>
                    <a:p>
                      <a:pPr algn="l" indent="0" marL="0">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algn="l" marL="342900" indent="-342900">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algn="l" marL="342900" indent="-342900">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algn="l" marL="342900" indent="-342900">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B2B31"/>
                </a:solidFill>
              </a:rPr>
              <a:t>decontX models a native + ambient RNA mixture and subtracts the estimate.</a:t>
            </a:r>
            <a:endParaRPr lang="en-US" sz="2000" dirty="0"/>
          </a:p>
          <a:p>
            <a:pPr algn="l" marL="342900" indent="-342900">
              <a:spcAft>
                <a:spcPts val="900"/>
              </a:spcAft>
              <a:buSzPct val="100000"/>
              <a:buChar char="•"/>
            </a:pPr>
            <a:r>
              <a:rPr lang="en-US" sz="2000" dirty="0">
                <a:solidFill>
                  <a:srgbClr val="1B2B31"/>
                </a:solidFill>
              </a:rPr>
              <a:t>Hits 64 → 34; SOX4/SOX9 drop below significance → supports an ambient contribution.</a:t>
            </a:r>
            <a:endParaRPr lang="en-US" sz="2000" dirty="0"/>
          </a:p>
          <a:p>
            <a:pPr algn="l" marL="342900" indent="-342900">
              <a:spcAft>
                <a:spcPts val="900"/>
              </a:spcAft>
              <a:buSzPct val="100000"/>
              <a:buChar char="•"/>
            </a:pPr>
            <a:r>
              <a:rPr lang="en-US" sz="2000" dirty="0">
                <a:solidFill>
                  <a:srgbClr val="1B2B31"/>
                </a:solidFill>
              </a:rPr>
              <a:t>But it can remove true hybrid signal OR leave residual contamination.</a:t>
            </a:r>
            <a:endParaRPr lang="en-US" sz="2000" dirty="0"/>
          </a:p>
          <a:p>
            <a:pPr algn="l" marL="342900" indent="-342900">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gridCol w="3931920"/>
                <a:gridCol w="640080"/>
                <a:gridCol w="731520"/>
                <a:gridCol w="3383280"/>
              </a:tblGrid>
              <a:tr h="365760">
                <a:tc>
                  <a:txBody>
                    <a:bodyPr/>
                    <a:lstStyle/>
                    <a:p>
                      <a:pPr algn="l" indent="0" marL="0">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algn="l" indent="0" marL="0">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algn="l" indent="0" marL="0">
              <a:spcAft>
                <a:spcPts val="900"/>
              </a:spcAft>
              <a:buNone/>
            </a:pPr>
            <a:r>
              <a:rPr lang="en-US" sz="1600" b="1" dirty="0">
                <a:solidFill>
                  <a:srgbClr val="1B2B31"/>
                </a:solidFill>
              </a:rPr>
              <a:t>Pseudobulk  </a:t>
            </a:r>
            <a:pPr algn="l" indent="0" marL="0">
              <a:spcAft>
                <a:spcPts val="900"/>
              </a:spcAft>
              <a:buNone/>
            </a:pPr>
            <a:r>
              <a:rPr lang="en-US" sz="1600" dirty="0">
                <a:solidFill>
                  <a:srgbClr val="1B2B31"/>
                </a:solidFill>
              </a:rPr>
              <a:t>— sum each donor’s hepatocyte counts into one profile per donor (donor = unit of inference).
</a:t>
            </a:r>
            <a:endParaRPr lang="en-US" sz="1600" dirty="0"/>
          </a:p>
          <a:p>
            <a:pPr algn="l" indent="0" marL="0">
              <a:spcAft>
                <a:spcPts val="900"/>
              </a:spcAft>
              <a:buNone/>
            </a:pPr>
            <a:r>
              <a:rPr lang="en-US" sz="1600" b="1" dirty="0">
                <a:solidFill>
                  <a:srgbClr val="1B2B31"/>
                </a:solidFill>
              </a:rPr>
              <a:t>CPM  </a:t>
            </a:r>
            <a:pPr algn="l" indent="0" marL="0">
              <a:spcAft>
                <a:spcPts val="900"/>
              </a:spcAft>
              <a:buNone/>
            </a:pPr>
            <a:r>
              <a:rPr lang="en-US" sz="1600" dirty="0">
                <a:solidFill>
                  <a:srgbClr val="1B2B31"/>
                </a:solidFill>
              </a:rPr>
              <a:t>— each gene as a share of the donor’s total counts; simple, but compositional (a few surging genes shrink everyone else’s share).
</a:t>
            </a:r>
            <a:endParaRPr lang="en-US" sz="1600" dirty="0"/>
          </a:p>
          <a:p>
            <a:pPr algn="l" indent="0" marL="0">
              <a:spcAft>
                <a:spcPts val="900"/>
              </a:spcAft>
              <a:buNone/>
            </a:pPr>
            <a:r>
              <a:rPr lang="en-US" sz="1600" b="1" dirty="0">
                <a:solidFill>
                  <a:srgbClr val="0D9488"/>
                </a:solidFill>
              </a:rPr>
              <a:t>TMM  </a:t>
            </a:r>
            <a:pPr algn="l" indent="0" marL="0">
              <a:spcAft>
                <a:spcPts val="900"/>
              </a:spcAft>
              <a:buNone/>
            </a:pPr>
            <a:r>
              <a:rPr lang="en-US" sz="1600" dirty="0">
                <a:solidFill>
                  <a:srgbClr val="1B2B31"/>
                </a:solidFill>
              </a:rPr>
              <a:t>— the scaling factor is taken from the bulk of genes after trimming the extreme movers, so surging genes can’t set it → composition-robust.
</a:t>
            </a:r>
            <a:endParaRPr lang="en-US" sz="1600" dirty="0"/>
          </a:p>
          <a:p>
            <a:pPr algn="l" indent="0" marL="0">
              <a:spcAft>
                <a:spcPts val="900"/>
              </a:spcAft>
              <a:buNone/>
            </a:pPr>
            <a:r>
              <a:rPr lang="en-US" sz="1600" b="1" dirty="0">
                <a:solidFill>
                  <a:srgbClr val="1B2B31"/>
                </a:solidFill>
              </a:rPr>
              <a:t>Per-gene DGE  </a:t>
            </a:r>
            <a:pPr algn="l" indent="0" marL="0">
              <a:spcAft>
                <a:spcPts val="900"/>
              </a:spcAft>
              <a:buNone/>
            </a:pPr>
            <a:r>
              <a:rPr lang="en-US" sz="1600" dirty="0">
                <a:solidFill>
                  <a:srgbClr val="1B2B31"/>
                </a:solidFill>
              </a:rPr>
              <a:t>— test each gene on its own for a fibrosis trend (edgeR); misses a weak shift shared by many genes.
</a:t>
            </a:r>
            <a:endParaRPr lang="en-US" sz="1600" dirty="0"/>
          </a:p>
          <a:p>
            <a:pPr algn="l" indent="0" marL="0">
              <a:spcAft>
                <a:spcPts val="900"/>
              </a:spcAft>
              <a:buNone/>
            </a:pPr>
            <a:r>
              <a:rPr lang="en-US" sz="1600" b="1" dirty="0">
                <a:solidFill>
                  <a:srgbClr val="C0561B"/>
                </a:solidFill>
              </a:rPr>
              <a:t>Gene-set test  </a:t>
            </a:r>
            <a:pPr algn="l" indent="0" marL="0">
              <a:spcAft>
                <a:spcPts val="900"/>
              </a:spcAft>
              <a:buNone/>
            </a:pP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algn="l" indent="0" marL="0">
              <a:spcAft>
                <a:spcPts val="900"/>
              </a:spcAft>
              <a:buNone/>
            </a:pPr>
            <a:r>
              <a:rPr lang="en-US" sz="1600" b="1" dirty="0">
                <a:solidFill>
                  <a:srgbClr val="0D9488"/>
                </a:solidFill>
              </a:rPr>
              <a:t>Within-PC detox output  </a:t>
            </a:r>
            <a:pPr algn="l" indent="0" marL="0">
              <a:spcAft>
                <a:spcPts val="900"/>
              </a:spcAft>
              <a:buNone/>
            </a:pPr>
            <a:r>
              <a:rPr lang="en-US" sz="1600" dirty="0">
                <a:solidFill>
                  <a:srgbClr val="1B2B31"/>
                </a:solidFill>
              </a:rPr>
              <a:t>— detox transcripts per pericentral nucleus after equalizing read depth: per-cell, relative to the cell’s own output, immune to between-cell composition.
</a:t>
            </a:r>
            <a:endParaRPr lang="en-US" sz="1600" dirty="0"/>
          </a:p>
          <a:p>
            <a:pPr algn="l" indent="0" marL="0">
              <a:spcAft>
                <a:spcPts val="900"/>
              </a:spcAft>
              <a:buNone/>
            </a:pPr>
            <a:r>
              <a:rPr lang="en-US" sz="1600" b="1" dirty="0">
                <a:solidFill>
                  <a:srgbClr val="1B2B31"/>
                </a:solidFill>
              </a:rPr>
              <a:t>Adversarial check  </a:t>
            </a:r>
            <a:pPr algn="l" indent="0" marL="0">
              <a:spcAft>
                <a:spcPts val="900"/>
              </a:spcAft>
              <a:buNone/>
            </a:pP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10972800" cy="320040"/>
          </a:xfrm>
          <a:prstGeom prst="rect">
            <a:avLst/>
          </a:prstGeom>
          <a:noFill/>
          <a:ln/>
        </p:spPr>
        <p:txBody>
          <a:bodyPr wrap="square" rtlCol="0" anchor="ctr"/>
          <a:lstStyle/>
          <a:p>
            <a:pPr indent="0" marL="0">
              <a:buNone/>
            </a:pPr>
            <a:r>
              <a:rPr lang="en-US" sz="1300" b="1" spc="300" kern="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algn="l" indent="0" marL="0">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gridCol w="2697480"/>
                <a:gridCol w="3611880"/>
                <a:gridCol w="2377440"/>
              </a:tblGrid>
              <a:tr h="365760">
                <a:tc>
                  <a:txBody>
                    <a:bodyPr/>
                    <a:lstStyle/>
                    <a:p>
                      <a:pPr algn="l" indent="0" marL="0">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r h="365760">
                <a:tc>
                  <a:txBody>
                    <a:bodyPr/>
                    <a:lstStyle/>
                    <a:p>
                      <a:pPr algn="l" indent="0" marL="0">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algn="l" indent="0" marL="0">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sp>
      <p:sp>
        <p:nvSpPr>
          <p:cNvPr id="3" name="Shape 1"/>
          <p:cNvSpPr/>
          <p:nvPr/>
        </p:nvSpPr>
        <p:spPr>
          <a:xfrm>
            <a:off x="256032" y="0"/>
            <a:ext cx="109728" cy="6858000"/>
          </a:xfrm>
          <a:prstGeom prst="rect">
            <a:avLst/>
          </a:prstGeom>
          <a:solidFill>
            <a:srgbClr val="C0561B"/>
          </a:solidFill>
          <a:ln/>
        </p:spPr>
      </p:sp>
      <p:sp>
        <p:nvSpPr>
          <p:cNvPr id="4" name="Shape 2"/>
          <p:cNvSpPr/>
          <p:nvPr/>
        </p:nvSpPr>
        <p:spPr>
          <a:xfrm>
            <a:off x="777240" y="457200"/>
            <a:ext cx="146304" cy="237744"/>
          </a:xfrm>
          <a:prstGeom prst="rect">
            <a:avLst/>
          </a:prstGeom>
          <a:solidFill>
            <a:srgbClr val="C0561B"/>
          </a:solidFill>
          <a:ln/>
        </p:spPr>
      </p:sp>
      <p:sp>
        <p:nvSpPr>
          <p:cNvPr id="5" name="Text 3"/>
          <p:cNvSpPr/>
          <p:nvPr/>
        </p:nvSpPr>
        <p:spPr>
          <a:xfrm>
            <a:off x="987552" y="420624"/>
            <a:ext cx="10515600" cy="365760"/>
          </a:xfrm>
          <a:prstGeom prst="rect">
            <a:avLst/>
          </a:prstGeom>
          <a:noFill/>
          <a:ln/>
        </p:spPr>
        <p:txBody>
          <a:bodyPr wrap="square" rtlCol="0" anchor="ctr"/>
          <a:lstStyle/>
          <a:p>
            <a:pPr algn="l" indent="0" marL="0">
              <a:buNone/>
            </a:pPr>
            <a:r>
              <a:rPr lang="en-US" sz="1400" b="1" spc="300" kern="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algn="l" indent="0" marL="0">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8" name="Text 6"/>
          <p:cNvSpPr/>
          <p:nvPr/>
        </p:nvSpPr>
        <p:spPr>
          <a:xfrm>
            <a:off x="777240" y="1783080"/>
            <a:ext cx="3520440" cy="457200"/>
          </a:xfrm>
          <a:prstGeom prst="rect">
            <a:avLst/>
          </a:prstGeom>
          <a:noFill/>
          <a:ln/>
        </p:spPr>
        <p:txBody>
          <a:bodyPr wrap="square" rtlCol="0" anchor="ctr"/>
          <a:lstStyle/>
          <a:p>
            <a:pPr algn="ctr" indent="0" marL="0">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Full healthy→end-stage trajectory is source-confounded.</a:t>
            </a:r>
            <a:endParaRPr lang="en-US" sz="1450" dirty="0"/>
          </a:p>
          <a:p>
            <a:pPr algn="l" marL="342900" indent="-342900">
              <a:spcAft>
                <a:spcPts val="900"/>
              </a:spcAft>
              <a:buSzPct val="100000"/>
              <a:buChar char="•"/>
            </a:pPr>
            <a:r>
              <a:rPr lang="en-US" sz="1450" dirty="0">
                <a:solidFill>
                  <a:srgbClr val="E2E8F0"/>
                </a:solidFill>
              </a:rPr>
              <a:t>In biopsy F1–F4 cells keep zonal identity — no de-zonation (large shift excluded).</a:t>
            </a:r>
            <a:endParaRPr lang="en-US" sz="1450" dirty="0"/>
          </a:p>
          <a:p>
            <a:pPr algn="l" marL="342900" indent="-342900">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1" name="Text 9"/>
          <p:cNvSpPr/>
          <p:nvPr/>
        </p:nvSpPr>
        <p:spPr>
          <a:xfrm>
            <a:off x="4526280" y="1783080"/>
            <a:ext cx="3520440" cy="457200"/>
          </a:xfrm>
          <a:prstGeom prst="rect">
            <a:avLst/>
          </a:prstGeom>
          <a:noFill/>
          <a:ln/>
        </p:spPr>
        <p:txBody>
          <a:bodyPr wrap="square" rtlCol="0" anchor="ctr"/>
          <a:lstStyle/>
          <a:p>
            <a:pPr algn="ctr" indent="0" marL="0">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“PC-like program,” not lobular location — counts can’t see spatial position.</a:t>
            </a:r>
            <a:endParaRPr lang="en-US" sz="1450" dirty="0"/>
          </a:p>
          <a:p>
            <a:pPr algn="l" marL="342900" indent="-342900">
              <a:spcAft>
                <a:spcPts val="900"/>
              </a:spcAft>
              <a:buSzPct val="100000"/>
              <a:buChar char="•"/>
            </a:pPr>
            <a:r>
              <a:rPr lang="en-US" sz="1450" dirty="0">
                <a:solidFill>
                  <a:srgbClr val="E2E8F0"/>
                </a:solidFill>
              </a:rPr>
              <a:t>Imaging / protein / organoid evidence not re-analyzed.</a:t>
            </a:r>
            <a:endParaRPr lang="en-US" sz="1450" dirty="0"/>
          </a:p>
          <a:p>
            <a:pPr algn="l" marL="342900" indent="-342900">
              <a:spcAft>
                <a:spcPts val="900"/>
              </a:spcAft>
              <a:buSzPct val="100000"/>
              <a:buChar char="•"/>
            </a:pPr>
            <a:r>
              <a:rPr lang="en-US" sz="1450" dirty="0">
                <a:solidFill>
                  <a:srgbClr val="E2E8F0"/>
                </a:solidFill>
              </a:rPr>
              <a:t>F4 has only 4 biopsy donors.</a:t>
            </a:r>
            <a:endParaRPr lang="en-US" sz="1450" dirty="0"/>
          </a:p>
          <a:p>
            <a:pPr algn="l" marL="342900" indent="-342900">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sx="100000" sy="100000" kx="0" ky="0" algn="bl" rotWithShape="0" blurRad="88900" dist="38100" dir="5400000">
              <a:srgbClr val="000000">
                <a:alpha val="12000"/>
              </a:srgbClr>
            </a:outerShdw>
          </a:effectLst>
        </p:spPr>
      </p:sp>
      <p:sp>
        <p:nvSpPr>
          <p:cNvPr id="14" name="Text 12"/>
          <p:cNvSpPr/>
          <p:nvPr/>
        </p:nvSpPr>
        <p:spPr>
          <a:xfrm>
            <a:off x="8275320" y="1783080"/>
            <a:ext cx="3520440" cy="457200"/>
          </a:xfrm>
          <a:prstGeom prst="rect">
            <a:avLst/>
          </a:prstGeom>
          <a:noFill/>
          <a:ln/>
        </p:spPr>
        <p:txBody>
          <a:bodyPr wrap="square" rtlCol="0" anchor="ctr"/>
          <a:lstStyle/>
          <a:p>
            <a:pPr algn="ctr" indent="0" marL="0">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algn="l" marL="342900" indent="-342900">
              <a:spcAft>
                <a:spcPts val="900"/>
              </a:spcAft>
              <a:buSzPct val="100000"/>
              <a:buChar char="•"/>
            </a:pPr>
            <a:r>
              <a:rPr lang="en-US" sz="1450" dirty="0">
                <a:solidFill>
                  <a:srgbClr val="E2E8F0"/>
                </a:solidFill>
              </a:rPr>
              <a:t>Spatial / independent-biopsy validation of the detox-dimming gradient.</a:t>
            </a:r>
            <a:endParaRPr lang="en-US" sz="1450" dirty="0"/>
          </a:p>
          <a:p>
            <a:pPr algn="l" marL="342900" indent="-342900">
              <a:spcAft>
                <a:spcPts val="900"/>
              </a:spcAft>
              <a:buSzPct val="100000"/>
              <a:buChar char="•"/>
            </a:pPr>
            <a:r>
              <a:rPr lang="en-US" sz="1450" dirty="0">
                <a:solidFill>
                  <a:srgbClr val="E2E8F0"/>
                </a:solidFill>
              </a:rPr>
              <a:t>Leave-one-F4-donor-out DGE.</a:t>
            </a:r>
            <a:endParaRPr lang="en-US" sz="1450" dirty="0"/>
          </a:p>
          <a:p>
            <a:pPr algn="l" marL="342900" indent="-342900">
              <a:spcAft>
                <a:spcPts val="900"/>
              </a:spcAft>
              <a:buSzPct val="100000"/>
              <a:buChar char="•"/>
            </a:pPr>
            <a:r>
              <a:rPr lang="en-US" sz="1450" dirty="0">
                <a:solidFill>
                  <a:srgbClr val="E2E8F0"/>
                </a:solidFill>
              </a:rPr>
              <a:t>Quantitative contamination model for the biliary lead.</a:t>
            </a:r>
            <a:endParaRPr lang="en-US" sz="1450" dirty="0"/>
          </a:p>
          <a:p>
            <a:pPr algn="l" marL="342900" indent="-342900">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 Shira Gelbstein</cp:lastModifiedBy>
  <cp:revision>1</cp:revision>
  <dcterms:created xsi:type="dcterms:W3CDTF">2026-06-24T17:40:29Z</dcterms:created>
  <dcterms:modified xsi:type="dcterms:W3CDTF">2026-06-24T17:40:29Z</dcterms:modified>
</cp:coreProperties>
</file>