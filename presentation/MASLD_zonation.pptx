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We are Roee Tekoah and Shira Gelbstein; this is our hackathon re-analysis of the single-nucleus RNA-seq in Gribben et al., Nature 2024, asking whether the evidence for progressive hepatocyte de-zonation in MASLD survives once tissue acquisition is controlled. One-line answer in the title: matched biopsies preserve transcriptional zonation.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Minimal background: the liver lobule is zonated — pericentral hepatocytes (near the central vein) run one program (GLUL, CYP3A4, the CYP/detox genes), periportal hepatocytes (near the portal tract) run another (ASS1, CPS1, PCK1, urea cycle). Gribben et al.'s claim is that in MASLD hepatocytes lose this zonation and acquire cholangiocyte-like identity. That is what we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research question, posed as in our own project framing: does hepatocyte zonation degrade across MASLD, and is that linked to the transdifferentiation Paper 1 reported? The pivot is methodological — we abandoned a relative/correlation ruler (which conflates depth, tissue and biology) for raw molecule counts at the donor level, and we restrict to the acquisition-matched biopsy axis, which the next slide motivates.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legacy approach and the claim it produced, then dismantle it. We first read the data with a z-scored relative ruler and marker correlations — which produced the headline 'hepatocytes lose zonation, pericentral turns off.' But every such metric is a relative summary pooled across all samples; it hides who moved and is bent by depth, cell number and tissue source. That motivated the pivot to raw molecule counts on the matched axis.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De-zonation is not one thing. Pericentral OR periportal cells could deplete; cells could co-express both poles; cells could turn both off; or the periportal-to-pericentral ratio could shift. We deliberately say 'depletion' generally — we suspected pericentral depletion and will show it is absent, but depletion is the general confounder and we test each mechanism. A single correlation score conflates them; counts separate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load-bearing point. Disease stage is collinear with how the tissue was obtained: healthy and end-stage are deceased-donor organ tissue and explants; F0–F4 are needle biopsies. So a 'progressive' trajectory can be manufactured by procurement, ischemia, dissociation or batch. We restrict the disease axis to the matched biopsies, F1–F4.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decisive cross-lineage control: stress is ~22x higher in end-stage explants than biopsies — but endothelial cells, which have no zonation program, show the same ~18x immediate-early spike as hepatocytes. So this is organ-wide acute handling stress, not a hepatocyte zonation program — which justifies excluding the deceased-donor and explant endpoints.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raw counts: a single marker molecule may be ambient, so absolute molecule detection matters and SCT-normalized values are the wrong object. We down-thin every nucleus to a common 1,500-UMI budget, call a marker on only at &gt;=2 UMIs, classify each hepatocyte PC/PP/dual/null, and infer at the donor level (~47) to avoid pseudoreplication. Robust across the marker/threshold sensitivity grid.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result. Pericentral-anchor fraction is flat/non-monotone across F0-F4 — no depletion. Dual co-expression at the ambient-robust &gt;=2-UMI cut stays ~0.4% and does not trend (vs ~2.9% in the confounded explants). Null and PP:PC are also flat. The equivalence bound excludes a large ~20-percentage-point shift but cannot exclude subtle drift below ~10 points (F4 n=4).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full extent of the confounder work. Top four are the structural confounds that make the original full-trajectory comparison uninterpretable (source, stress, batch, lobe). The remaining six are within-biopsy checks that our preserved-zonation null is not an artifact — depth, ambient RNA, cholangiocyte mis-annotation, ploidy, the depth-match discard, and clinical covariates. Every one was tested in counts at the donor level; none manufactures the result. Batch at the single-experiment-label level is perfectly confounded and we flag it as untestable rather than absent.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Pseudobulk per donor — donors, not cells, are the replicates. This is an independent count-based check (zonation genes flat, GLUL FDR 0.80) plus a discovery layer: only 64 of ~21,000 genes are significant, and they are biliary/ductular markers, not a broad program. Careful wording: no large single-GENE program outside the biliary burden — gene-set testing is still owed for weak coordinated pathways.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evidence levels. Strong: the genes are 5-78x more abundant in cholangiocytes and per-cell hepatocyte co-expression is ~0.4%. Suggestive: decontX halves the hits and drops SOX4/SOX9 — supports an ambient contribution but is not proof. Open: EPCAM/SPINT2/B3GNT3 survive. So the dominant evidence points to composition/ambient RNA, but a rare intrinsic state is not excluded; CXCL10 is set aside as a candidate real inflammatory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methodological lesson: in single-cell disease atlases, acquisition matching can dominate apparent disease trajectories. Bottom line, narrow and honest: the snRNA-seq transcriptomic evidence for progressive de-zonation does not survive matched-source re-analysis; imaging/protein/organoid evidence is untouched; the biliary burden is most consistent with composition/ambient RNA, a rare intrinsic state not excluded.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6E78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109728" cy="6858000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9FC0C4"/>
                </a:solidFill>
              </a:rPr>
              <a:t>LIVER GENOMICS  ·  SINGLE-NUCLEUS RE-ANALYSIS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10607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Matched biopsies preserve hepatocyte transcriptional zonation in MASLD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3246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9D6D3"/>
                </a:solidFill>
              </a:rPr>
              <a:t>A critical re-analysis of the single-nucleus RNA-seq in Gribben et al., Nature 2024 (GSE202379)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4160520"/>
            <a:ext cx="4572000" cy="0"/>
          </a:xfrm>
          <a:prstGeom prst="line">
            <a:avLst/>
          </a:prstGeom>
          <a:noFill/>
          <a:ln w="19050">
            <a:solidFill>
              <a:srgbClr val="C056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3434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DE7DB"/>
                </a:solidFill>
              </a:rPr>
              <a:t>Roee Tekoah</a:t>
            </a:r>
            <a:pPr algn="l" indent="0" marL="0">
              <a:buNone/>
            </a:pPr>
            <a:r>
              <a:rPr lang="en-US" sz="2000" dirty="0">
                <a:solidFill>
                  <a:srgbClr val="7E8F8B"/>
                </a:solidFill>
              </a:rPr>
              <a:t>   ·   </a:t>
            </a:r>
            <a:pPr algn="l" indent="0" marL="0">
              <a:buNone/>
            </a:pPr>
            <a:r>
              <a:rPr lang="en-US" sz="2000" b="1" dirty="0">
                <a:solidFill>
                  <a:srgbClr val="EDE7DB"/>
                </a:solidFill>
              </a:rPr>
              <a:t>Shira Gelbstein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4846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CB0AC"/>
                </a:solidFill>
              </a:rPr>
              <a:t>Computational Genomics (76553)  ·  Hebrew University of Jerusalem  ·  Hackathon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E8F8B"/>
                </a:solidFill>
              </a:rPr>
              <a:t>47 donors  ·  ~99,809 nuclei  ·  69,426 hepatocytes  ·  raw-count, donor-level analysis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BACKGROUND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38912" y="585216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Hepatocytes are transcriptionally zonated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1691640"/>
            <a:ext cx="4754880" cy="502920"/>
          </a:xfrm>
          <a:prstGeom prst="roundRect">
            <a:avLst>
              <a:gd name="adj" fmla="val 9091"/>
            </a:avLst>
          </a:prstGeom>
          <a:solidFill>
            <a:srgbClr val="1D4ED8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0" y="1691640"/>
            <a:ext cx="4754880" cy="502920"/>
          </a:xfrm>
          <a:prstGeom prst="roundRect">
            <a:avLst>
              <a:gd name="adj" fmla="val 9091"/>
            </a:avLst>
          </a:prstGeom>
          <a:solidFill>
            <a:srgbClr val="EA580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916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Pericentral (zone 3)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0" y="16916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Periportal (zone 1)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C6E73"/>
                </a:solidFill>
              </a:rPr>
              <a:t>Central vein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95360" y="2240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C6E73"/>
                </a:solidFill>
              </a:rPr>
              <a:t>Portal tract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GLUL, CYP3A4, CYP2E1 </a:t>
            </a:r>
            <a:pPr algn="ctr" indent="0" marL="0">
              <a:buNone/>
            </a:pPr>
            <a:r>
              <a:rPr lang="en-US" sz="1400" dirty="0">
                <a:solidFill>
                  <a:srgbClr val="1B2B31"/>
                </a:solidFill>
              </a:rPr>
              <a:t>— drug metabolism (Wnt-driven)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0" y="2560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</a:rPr>
              <a:t>ASS1, CPS1, PCK1, HAL, ALDOB </a:t>
            </a:r>
            <a:pPr algn="ctr" indent="0" marL="0">
              <a:buNone/>
            </a:pPr>
            <a:r>
              <a:rPr lang="en-US" sz="1400" dirty="0">
                <a:solidFill>
                  <a:srgbClr val="1B2B31"/>
                </a:solidFill>
              </a:rPr>
              <a:t>— urea cycle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429000"/>
            <a:ext cx="9509760" cy="1737360"/>
          </a:xfrm>
          <a:prstGeom prst="roundRect">
            <a:avLst>
              <a:gd name="adj" fmla="val 4211"/>
            </a:avLst>
          </a:prstGeom>
          <a:solidFill>
            <a:srgbClr val="FEF2F2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43000" y="3611880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E123C"/>
                </a:solidFill>
              </a:rPr>
              <a:t>THE PUBLISHED CLAIM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977640"/>
            <a:ext cx="9052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B31"/>
                </a:solidFill>
              </a:rPr>
              <a:t>“Hepatocytes lose their zonation.”  </a:t>
            </a:r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Gribben et al. report that, as human MASLD progresses, hepatocytes co-express pericentral + periportal markers and transdifferentiate toward cholangiocytes (epithelial plasticity).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Computational Genomics 76553  ·  HUJI  ·  MASLD snRNA-seq hackathon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THE QUESTION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38912" y="585216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Disease — or how the tissue was taken?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1691640"/>
            <a:ext cx="9509760" cy="1371600"/>
          </a:xfrm>
          <a:prstGeom prst="roundRect">
            <a:avLst>
              <a:gd name="adj" fmla="val 5333"/>
            </a:avLst>
          </a:prstGeom>
          <a:solidFill>
            <a:srgbClr val="ECF1F1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828800"/>
            <a:ext cx="9052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0561B"/>
                </a:solidFill>
              </a:rPr>
              <a:t>Our research question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2194560"/>
            <a:ext cx="9052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1B2B31"/>
                </a:solidFill>
              </a:rPr>
              <a:t>Does hepatocyte zonation degrade across MASLD progression — and is that degradation linked to the hepatocyte→cholangiocyte transdifferentiation Paper 1 reported?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429000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0561B"/>
                </a:solidFill>
              </a:rPr>
              <a:t>The pivot — how we test 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38862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B31"/>
                </a:solidFill>
              </a:rPr>
              <a:t>Earlier, a relative / correlation ruler suggested a collapse — but it conflates sequencing depth, tissue source and biology.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0D9488"/>
                </a:solidFill>
              </a:rPr>
              <a:t>We instead count molecules: raw UMI counts, depth-normalized, with the donor (~47) as the unit of inference.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2B31"/>
                </a:solidFill>
              </a:rPr>
              <a:t>And we test on the acquisition-matched needle-biopsy axis only (next slide explains why).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Computational Genomics 76553  ·  HUJI  ·  MASLD snRNA-seq hackathon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THE LEGACY APPROACH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38912" y="585216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metric that produced the collapse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852160" cy="1234440"/>
          </a:xfrm>
          <a:prstGeom prst="roundRect">
            <a:avLst>
              <a:gd name="adj" fmla="val 5185"/>
            </a:avLst>
          </a:prstGeom>
          <a:solidFill>
            <a:srgbClr val="ECF1F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1051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C6E73"/>
                </a:solidFill>
              </a:rPr>
              <a:t>WHAT WE FIRST USED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B31"/>
                </a:solidFill>
              </a:rPr>
              <a:t>A z-scored zonation coordinate, marker–marker correlations, and spread / slope-loss plots — pooled across all samples.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66160" y="3063240"/>
            <a:ext cx="0" cy="320040"/>
          </a:xfrm>
          <a:prstGeom prst="line">
            <a:avLst/>
          </a:prstGeom>
          <a:noFill/>
          <a:ln w="20320">
            <a:solidFill>
              <a:srgbClr val="5C6E7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3520440"/>
            <a:ext cx="5852160" cy="1371600"/>
          </a:xfrm>
          <a:prstGeom prst="roundRect">
            <a:avLst>
              <a:gd name="adj" fmla="val 4667"/>
            </a:avLst>
          </a:prstGeom>
          <a:solidFill>
            <a:srgbClr val="FBEEE9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63931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E123C"/>
                </a:solidFill>
              </a:rPr>
              <a:t>THE CLAIM IT PRODUCED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931920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123F47"/>
                </a:solidFill>
              </a:rPr>
              <a:t>“Hepatocytes lose their zonation; the pericentral program turns off, strongest at end-stage.”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49440" y="1783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0561B"/>
                </a:solidFill>
              </a:rPr>
              <a:t>THE TRAP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78040" y="224028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B2B31"/>
                </a:solidFill>
              </a:rPr>
              <a:t>Every metric is a relative summary — it hides who moved, how many, and from where.</a:t>
            </a:r>
            <a:endParaRPr lang="en-US" sz="17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B2B31"/>
                </a:solidFill>
              </a:rPr>
              <a:t>They pool healthy + biopsy + end-stage across a hidden sampling discontinuity.</a:t>
            </a:r>
            <a:endParaRPr lang="en-US" sz="17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1B2B31"/>
                </a:solidFill>
              </a:rPr>
              <a:t>Depth, cell number and tissue source all bend a z-score or correlation.</a:t>
            </a:r>
            <a:endParaRPr lang="en-US" sz="17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0D9488"/>
                </a:solidFill>
              </a:rPr>
              <a:t>→ so we switched to raw molecule counts (next slide: why the samples differ).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Computational Genomics 76553  ·  HUJI  ·  MASLD snRNA-seq hackathon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WHAT WE TEST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38912" y="585216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Zonation loss is not one mechanism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B31"/>
                </a:solidFill>
              </a:rPr>
              <a:t>If the zonation expression signal breaks down, it can do so in distinct ways — each has its own count signature, which we test separately: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37744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1D4ED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377440"/>
            <a:ext cx="237744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Depletion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(a pole's cells lost)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520440" y="237744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7C3A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2377440"/>
            <a:ext cx="237744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Co-expression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(both poles on)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26480" y="237744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9CA3A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2377440"/>
            <a:ext cx="237744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B31"/>
                </a:solidFill>
              </a:rPr>
              <a:t>Turn-off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B2B31"/>
                </a:solidFill>
              </a:rPr>
              <a:t>(neither pole on)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732520" y="237744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EA58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32520" y="2377440"/>
            <a:ext cx="260604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Composition shift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(PP : PC ratio moves)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We suspected pericentral depletion specifically — but </a:t>
            </a:r>
            <a:pPr algn="l"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“depletion” is general</a:t>
            </a:r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 (either pole, or both). We test each mechanism, not just the one we expected.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663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C6E73"/>
                </a:solidFill>
              </a:rPr>
              <a:t>A single anti-correlation or UMAP impression conflates these — which is exactly the trap we avoid with absolute counts.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Computational Genomics 76553  ·  HUJI  ·  MASLD snRNA-seq hackathon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THE CONFOUND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38912" y="585216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is entangled with acquisition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1783080"/>
            <a:ext cx="1280160" cy="640080"/>
          </a:xfrm>
          <a:prstGeom prst="roundRect">
            <a:avLst>
              <a:gd name="adj" fmla="val 8571"/>
            </a:avLst>
          </a:prstGeom>
          <a:solidFill>
            <a:srgbClr val="BE123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7830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Healthy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331720" y="178308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31720" y="17830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520440" y="178308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17830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09160" y="178308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830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897880" y="178308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97880" y="17830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086600" y="178308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086600" y="17830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F4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0" y="178308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86198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0" y="17830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End-stage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14400" y="1581912"/>
            <a:ext cx="9784080" cy="0"/>
          </a:xfrm>
          <a:prstGeom prst="line">
            <a:avLst/>
          </a:prstGeom>
          <a:noFill/>
          <a:ln w="19050">
            <a:solidFill>
              <a:srgbClr val="5C6E73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40080" y="2606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E123C"/>
                </a:solidFill>
              </a:rPr>
              <a:t>deceased-donor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E123C"/>
                </a:solidFill>
              </a:rPr>
              <a:t>organ cubes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331720" y="26060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16-gauge needle biopsies, right lobe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0" y="26060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6198F"/>
                </a:solidFill>
              </a:rPr>
              <a:t>explanted cirrhotic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6198F"/>
                </a:solidFill>
              </a:rPr>
              <a:t>organs, multi-lobe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68680" y="1737360"/>
            <a:ext cx="1371600" cy="1600200"/>
          </a:xfrm>
          <a:prstGeom prst="rect">
            <a:avLst/>
          </a:prstGeom>
          <a:ln w="25400">
            <a:solidFill>
              <a:srgbClr val="BE123C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8641080" y="1737360"/>
            <a:ext cx="2103120" cy="1600200"/>
          </a:xfrm>
          <a:prstGeom prst="rect">
            <a:avLst/>
          </a:prstGeom>
          <a:ln w="25400">
            <a:solidFill>
              <a:srgbClr val="BE123C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804672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E123C"/>
                </a:solidFill>
              </a:rPr>
              <a:t>not acquisition-matched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3886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B31"/>
                </a:solidFill>
              </a:rPr>
              <a:t>47 donors   ·   biopsy axis F0/F1/F2/F3/F4 = 2 / 8 / 12 / 12 / 4   ·   end-stage = 5   ·   healthy = 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" y="43159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9488"/>
                </a:solidFill>
              </a:rPr>
              <a:t>Primary inference: biopsy F1–F4 (F0 n=2 shown for context).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54480" y="48006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B2B31"/>
                </a:solidFill>
              </a:rPr>
              <a:t>The full trajectory is also an acquisition trajectory.</a:t>
            </a:r>
            <a:endParaRPr lang="en-US" sz="18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800" b="1" dirty="0">
                <a:solidFill>
                  <a:srgbClr val="0D9488"/>
                </a:solidFill>
              </a:rPr>
              <a:t>So healthy / end-stage comparisons cannot cleanly isolate disease biology — we use biopsy-only F1–F4.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Computational Genomics 76553  ·  HUJI  ·  MASLD snRNA-seq hackathon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38912" y="585216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Endpoints carry organ-wide stress</a:t>
            </a:r>
            <a:endParaRPr lang="en-US" sz="2800" dirty="0"/>
          </a:p>
        </p:txBody>
      </p:sp>
      <p:pic>
        <p:nvPicPr>
          <p:cNvPr id="5" name="Image 0" descr="D:\CS\Genomics\Hackathon\presentation/assets/fig_stre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371600"/>
            <a:ext cx="822960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5349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E73"/>
                </a:solidFill>
              </a:rPr>
              <a:t>Figure 1.  Procurement-stress module by tissue source (donor-level); the same immediate-early spike appears in non-zonated endothelium.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686800" y="150876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EF2F2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778240" y="1572768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Same stress spike in hepatocytes AND endothelium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732520" y="3063240"/>
            <a:ext cx="3154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B2B31"/>
                </a:solidFill>
              </a:rPr>
              <a:t>FOS, JUN, JUNB, JUND, ATF3, DUSP1, HSPA1A/B.</a:t>
            </a:r>
            <a:endParaRPr lang="en-US" sz="15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1B2B31"/>
                </a:solidFill>
              </a:rPr>
              <a:t>Endothelium has no zonation program.</a:t>
            </a:r>
            <a:endParaRPr lang="en-US" sz="15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DC2626"/>
                </a:solidFill>
              </a:rPr>
              <a:t>→ acquisition / procurement signal, not zonation biology.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Computational Genomics 76553  ·  HUJI  ·  MASLD snRNA-seq hackathon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HOW WE MEASURE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38912" y="585216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Raw-count anchor classification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148840" cy="731520"/>
          </a:xfrm>
          <a:prstGeom prst="roundRect">
            <a:avLst>
              <a:gd name="adj" fmla="val 8750"/>
            </a:avLst>
          </a:prstGeom>
          <a:solidFill>
            <a:srgbClr val="ECF1F1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21488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B31"/>
                </a:solidFill>
              </a:rPr>
              <a:t>raw UMI counts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97480" y="1920240"/>
            <a:ext cx="201168" cy="0"/>
          </a:xfrm>
          <a:prstGeom prst="line">
            <a:avLst/>
          </a:prstGeom>
          <a:noFill/>
          <a:ln w="20320">
            <a:solidFill>
              <a:srgbClr val="5C6E7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98648" y="1554480"/>
            <a:ext cx="2148840" cy="731520"/>
          </a:xfrm>
          <a:prstGeom prst="roundRect">
            <a:avLst>
              <a:gd name="adj" fmla="val 8750"/>
            </a:avLst>
          </a:prstGeom>
          <a:solidFill>
            <a:srgbClr val="ECF1F1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8648" y="1554480"/>
            <a:ext cx="21488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B31"/>
                </a:solidFill>
              </a:rPr>
              <a:t>down-thin to 1,500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47488" y="1920240"/>
            <a:ext cx="201168" cy="0"/>
          </a:xfrm>
          <a:prstGeom prst="line">
            <a:avLst/>
          </a:prstGeom>
          <a:noFill/>
          <a:ln w="20320">
            <a:solidFill>
              <a:srgbClr val="5C6E7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248656" y="1554480"/>
            <a:ext cx="2148840" cy="731520"/>
          </a:xfrm>
          <a:prstGeom prst="roundRect">
            <a:avLst>
              <a:gd name="adj" fmla="val 8750"/>
            </a:avLst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48656" y="1554480"/>
            <a:ext cx="21488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marker ON if ≥ 2 UMI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97496" y="1920240"/>
            <a:ext cx="201168" cy="0"/>
          </a:xfrm>
          <a:prstGeom prst="line">
            <a:avLst/>
          </a:prstGeom>
          <a:noFill/>
          <a:ln w="20320">
            <a:solidFill>
              <a:srgbClr val="5C6E7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598664" y="1554480"/>
            <a:ext cx="2148840" cy="731520"/>
          </a:xfrm>
          <a:prstGeom prst="roundRect">
            <a:avLst>
              <a:gd name="adj" fmla="val 8750"/>
            </a:avLst>
          </a:prstGeom>
          <a:solidFill>
            <a:srgbClr val="ECF1F1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98664" y="1554480"/>
            <a:ext cx="21488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B31"/>
                </a:solidFill>
              </a:rPr>
              <a:t>classify nucleus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747504" y="1920240"/>
            <a:ext cx="201168" cy="0"/>
          </a:xfrm>
          <a:prstGeom prst="line">
            <a:avLst/>
          </a:prstGeom>
          <a:noFill/>
          <a:ln w="20320">
            <a:solidFill>
              <a:srgbClr val="5C6E7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948672" y="1554480"/>
            <a:ext cx="2148840" cy="731520"/>
          </a:xfrm>
          <a:prstGeom prst="roundRect">
            <a:avLst>
              <a:gd name="adj" fmla="val 8750"/>
            </a:avLst>
          </a:prstGeom>
          <a:solidFill>
            <a:srgbClr val="ECF1F1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48672" y="1554480"/>
            <a:ext cx="214884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B31"/>
                </a:solidFill>
              </a:rPr>
              <a:t>fraction per donor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" y="28346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2834640"/>
            <a:ext cx="24688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PC-anchor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PC on / PP off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3657600" y="28346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0" y="2834640"/>
            <a:ext cx="24688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PP-anchor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PP on / PC off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400800" y="28346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0" y="2834640"/>
            <a:ext cx="24688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Dual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both programs on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9144000" y="283464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9CA3A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44000" y="2834640"/>
            <a:ext cx="21031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B31"/>
                </a:solidFill>
              </a:rPr>
              <a:t>Null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B2B31"/>
                </a:solidFill>
              </a:rPr>
              <a:t>neither on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14400" y="4114800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1B2B31"/>
                </a:solidFill>
              </a:rPr>
              <a:t>Why raw counts: </a:t>
            </a:r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B2B31"/>
                </a:solidFill>
              </a:rPr>
              <a:t>a single KRT19 or GLUL molecule may be ambient — absolute detection matters, so SCT-normalized values are the wrong object.
</a:t>
            </a:r>
            <a:endParaRPr lang="en-US" sz="16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7C3AED"/>
                </a:solidFill>
              </a:rPr>
              <a:t>≥2-UMI threshold </a:t>
            </a:r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B2B31"/>
                </a:solidFill>
              </a:rPr>
              <a:t>suppresses single-molecule ambient.    </a:t>
            </a:r>
            <a:pPr algn="l"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0D9488"/>
                </a:solidFill>
              </a:rPr>
              <a:t>Unit = donor (~47), never the nucleus </a:t>
            </a:r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B2B31"/>
                </a:solidFill>
              </a:rPr>
              <a:t>→ no pseudoreplication.
</a:t>
            </a:r>
            <a:endParaRPr lang="en-US" sz="16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1B2B31"/>
                </a:solidFill>
              </a:rPr>
              <a:t>Robust across the sensitivity grid </a:t>
            </a:r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B2B31"/>
                </a:solidFill>
              </a:rPr>
              <a:t>(anchor genes, periportal rule, ALDOB in/out, 1 vs 2 UMI).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Computational Genomics 76553  ·  HUJI  ·  MASLD snRNA-seq hackathon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THE RESULT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38912" y="585216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Matched biopsies stay zonated</a:t>
            </a:r>
            <a:endParaRPr lang="en-US" sz="2800" dirty="0"/>
          </a:p>
        </p:txBody>
      </p:sp>
      <p:pic>
        <p:nvPicPr>
          <p:cNvPr id="5" name="Image 0" descr="D:\CS\Genomics\Hackathon\presentation/assets/fig_result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417320"/>
            <a:ext cx="832104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525780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E73"/>
                </a:solidFill>
              </a:rPr>
              <a:t>Figure 2.  Pericentral and periportal depletion and dual co-expression across matched biopsy F1–F4 (donor=point, value-labelled; F0 n=2 in backup).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41080" y="150876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F47"/>
                </a:solidFill>
              </a:rPr>
              <a:t>The other two mechanisms (F1→F4 donor-median):
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475569"/>
                </a:solidFill>
              </a:rPr>
              <a:t>Null (turn-off): </a:t>
            </a:r>
            <a:pPr algn="l" indent="0" marL="0">
              <a:buNone/>
            </a:pPr>
            <a:r>
              <a:rPr lang="en-US" sz="1500" dirty="0">
                <a:solidFill>
                  <a:srgbClr val="1B2B31"/>
                </a:solidFill>
              </a:rPr>
              <a:t>44 / 36 / 39 / 39% — stable.
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A580C"/>
                </a:solidFill>
              </a:rPr>
              <a:t>PP : PC ratio: </a:t>
            </a:r>
            <a:pPr algn="l" indent="0" marL="0">
              <a:buNone/>
            </a:pPr>
            <a:r>
              <a:rPr lang="en-US" sz="1500" dirty="0">
                <a:solidFill>
                  <a:srgbClr val="1B2B31"/>
                </a:solidFill>
              </a:rPr>
              <a:t>1.16 / 1.01 / 1.10 / 1.18 — flat.
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</a:rPr>
              <a:t>Bound: </a:t>
            </a:r>
            <a:pPr algn="l" indent="0" marL="0">
              <a:buNone/>
            </a:pPr>
            <a:r>
              <a:rPr lang="en-US" sz="1500" i="1" dirty="0">
                <a:solidFill>
                  <a:srgbClr val="5C6E73"/>
                </a:solidFill>
              </a:rPr>
              <a:t>a large shift (~20 pp) is excluded; a subtle drift ≤10 pp is not (F4 n=4).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41080" y="4892040"/>
            <a:ext cx="3337560" cy="868680"/>
          </a:xfrm>
          <a:prstGeom prst="roundRect">
            <a:avLst>
              <a:gd name="adj" fmla="val 8421"/>
            </a:avLst>
          </a:prstGeom>
          <a:solidFill>
            <a:srgbClr val="123F47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778240" y="49377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Anchor fractions do not support large biopsy-axis de-zonation.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Computational Genomics 76553  ·  HUJI  ·  MASLD snRNA-seq hackathon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THE CONFOUNDER AUDIT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38912" y="585216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confounder we could test, tested in counts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C6E73"/>
                </a:solidFill>
              </a:rPr>
              <a:t>Two jobs: (a) the structural confounds that make the original trajectory uninterpretable, and (b) the within-biopsy checks that the preserved-zonation null is not itself an artifact.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11556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6035040"/>
                <a:gridCol w="26517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B31"/>
                          </a:solidFill>
                        </a:rPr>
                        <a:t>Confounder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B31"/>
                          </a:solidFill>
                        </a:rPr>
                        <a:t>What we did  (test · numbers)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B31"/>
                          </a:solidFill>
                        </a:rPr>
                        <a:t>Verdict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1"/>
                          </a:solidFill>
                        </a:rPr>
                        <a:t>Tissue source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1"/>
                          </a:solidFill>
                        </a:rPr>
                        <a:t>organ-cube / explant ends are not acquisition-matched to needle biopsy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1"/>
                          </a:solidFill>
                        </a:rPr>
                        <a:t>excluded → biopsy-only F1–F4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1"/>
                          </a:solidFill>
                        </a:rPr>
                        <a:t>Procurement stress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1"/>
                          </a:solidFill>
                        </a:rPr>
                        <a:t>IEG+HSP across 6 lineages; hep 18× ≈ endothelial 18× (no zonation)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1"/>
                          </a:solidFill>
                        </a:rPr>
                        <a:t>organ-wide handling, not zonation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1"/>
                          </a:solidFill>
                        </a:rPr>
                        <a:t>Sequencing batch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1"/>
                          </a:solidFill>
                        </a:rPr>
                        <a:t>run × source Cramér’s V = 0.84; run × F (biopsy) = 0.40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1"/>
                          </a:solidFill>
                        </a:rPr>
                        <a:t>ends confounded; biopsy estimable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1"/>
                          </a:solidFill>
                        </a:rPr>
                        <a:t>Lobe (caudate)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1"/>
                          </a:solidFill>
                        </a:rPr>
                        <a:t>marker detection R / C / L within explants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1"/>
                          </a:solidFill>
                        </a:rPr>
                        <a:t>lobe-invariant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1"/>
                          </a:solidFill>
                        </a:rPr>
                        <a:t>Sequencing depth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1"/>
                          </a:solidFill>
                        </a:rPr>
                        <a:t>binomial down-thin to B = 1,000 / 1,500 / 3,000 UMIs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1"/>
                          </a:solidFill>
                        </a:rPr>
                        <a:t>PC-share flat at every B (SD 0.006–0.010)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1"/>
                          </a:solidFill>
                        </a:rPr>
                        <a:t>Ambient RNA (“soup”)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1"/>
                          </a:solidFill>
                        </a:rPr>
                        <a:t>corr( ALB burden , dual fraction ) across 38 donors = +0.04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1"/>
                          </a:solidFill>
                        </a:rPr>
                        <a:t>does not drive co-expression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1"/>
                          </a:solidFill>
                        </a:rPr>
                        <a:t>Cholangiocyte mis-annotation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1"/>
                          </a:solidFill>
                        </a:rPr>
                        <a:t>KRT19⁺ ≤ 0.001, EPCAM⁺ ≤ 0.003 in every anchor class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1"/>
                          </a:solidFill>
                        </a:rPr>
                        <a:t>not contaminating cholangiocytes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1"/>
                          </a:solidFill>
                        </a:rPr>
                        <a:t>Ploidy / complexity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1"/>
                          </a:solidFill>
                        </a:rPr>
                        <a:t>nFeatures by stage: 2218 / 3063 / 3169 / 2641 / 1984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1"/>
                          </a:solidFill>
                        </a:rPr>
                        <a:t>non-monotone — does not track stage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1"/>
                          </a:solidFill>
                        </a:rPr>
                        <a:t>Depth-match discard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1"/>
                          </a:solidFill>
                        </a:rPr>
                        <a:t>3.5–7.8 % dropped below B, uniformly lower-detection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1"/>
                          </a:solidFill>
                        </a:rPr>
                        <a:t>depth-driven, not PC-biased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1"/>
                          </a:solidFill>
                        </a:rPr>
                        <a:t>Clinical covariates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1"/>
                          </a:solidFill>
                        </a:rPr>
                        <a:t>partial corr( detox , F | Age ) = −0.32; Age–F = +0.43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1"/>
                          </a:solidFill>
                        </a:rPr>
                        <a:t>demographics do not explain trends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Computational Genomics 76553  ·  HUJI  ·  MASLD snRNA-seq hackathon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GENOME-WIDE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38912" y="585216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signal: biliary markers</a:t>
            </a:r>
            <a:endParaRPr lang="en-US" sz="2800" dirty="0"/>
          </a:p>
        </p:txBody>
      </p:sp>
      <p:pic>
        <p:nvPicPr>
          <p:cNvPr id="5" name="Image 0" descr="D:\CS\Genomics\Hackathon\presentation/assets/fig_volcan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371600"/>
            <a:ext cx="795528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55321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E73"/>
                </a:solidFill>
              </a:rPr>
              <a:t>Figure 3.  Genome-wide pseudobulk differential expression, cirrhotic F4 vs F1 (edgeR).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412480" y="1645920"/>
            <a:ext cx="3474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B31"/>
                </a:solidFill>
              </a:rPr>
              <a:t>Pseudobulk per donor; edgeR TMM + NB quasi-likelihood.
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B31"/>
                </a:solidFill>
              </a:rPr>
              <a:t>64 genes FDR&lt;0.05 — mostly biliary/ductular.
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D4ED8"/>
                </a:solidFill>
              </a:rPr>
              <a:t>Zonation genes not significant (GLUL FDR 0.80).
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rgbClr val="7C3AED"/>
                </a:solidFill>
              </a:rPr>
              <a:t>“No large single-gene program outside the biliary burden.”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412480" y="5029200"/>
            <a:ext cx="3474720" cy="731520"/>
          </a:xfrm>
          <a:prstGeom prst="roundRect">
            <a:avLst>
              <a:gd name="adj" fmla="val 7500"/>
            </a:avLst>
          </a:prstGeom>
          <a:solidFill>
            <a:srgbClr val="ECF1F1"/>
          </a:solidFill>
          <a:ln/>
        </p:spPr>
      </p:sp>
      <p:sp>
        <p:nvSpPr>
          <p:cNvPr id="9" name="Text 6"/>
          <p:cNvSpPr/>
          <p:nvPr/>
        </p:nvSpPr>
        <p:spPr>
          <a:xfrm>
            <a:off x="8549640" y="50749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C6E73"/>
                </a:solidFill>
              </a:rPr>
              <a:t>Caveat: weak coordinated pathways still need gene-set testing.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Computational Genomics 76553  ·  HUJI  ·  MASLD snRNA-seq hackathon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SOURCE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38912" y="585216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biliary burden looks compositional</a:t>
            </a:r>
            <a:endParaRPr lang="en-US" sz="2800" dirty="0"/>
          </a:p>
        </p:txBody>
      </p:sp>
      <p:pic>
        <p:nvPicPr>
          <p:cNvPr id="5" name="Image 0" descr="D:\CS\Genomics\Hackathon\presentation/assets/fig_composition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371600"/>
            <a:ext cx="1161288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983480"/>
            <a:ext cx="1161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E73"/>
                </a:solidFill>
              </a:rPr>
              <a:t>Figure 4.  Source attribution — cross-lineage abundance, decontX ambient removal, and the F4 ductular reaction.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544068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Strong: </a:t>
            </a:r>
            <a:pPr algn="l" indent="0" marL="0">
              <a:buNone/>
            </a:pPr>
            <a:r>
              <a:rPr lang="en-US" sz="1500" dirty="0">
                <a:solidFill>
                  <a:srgbClr val="1B2B31"/>
                </a:solidFill>
              </a:rPr>
              <a:t>biliary genes far more abundant in cholangiocytes; hepatocyte co-expression rare (~0.4%).   </a:t>
            </a:r>
            <a:pPr algn="l"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Suggestive: </a:t>
            </a:r>
            <a:pPr algn="l" indent="0" marL="0">
              <a:buNone/>
            </a:pPr>
            <a:r>
              <a:rPr lang="en-US" sz="1500" dirty="0">
                <a:solidFill>
                  <a:srgbClr val="1B2B31"/>
                </a:solidFill>
              </a:rPr>
              <a:t>decontX halves the hits (ambient contribution — not proof).   </a:t>
            </a:r>
            <a:pPr algn="l" indent="0" marL="0">
              <a:buNone/>
            </a:pPr>
            <a:r>
              <a:rPr lang="en-US" sz="1500" b="1" dirty="0">
                <a:solidFill>
                  <a:srgbClr val="BE123C"/>
                </a:solidFill>
              </a:rPr>
              <a:t>Open: </a:t>
            </a:r>
            <a:pPr algn="l" indent="0" marL="0">
              <a:buNone/>
            </a:pPr>
            <a:r>
              <a:rPr lang="en-US" sz="1500" dirty="0">
                <a:solidFill>
                  <a:srgbClr val="1B2B31"/>
                </a:solidFill>
              </a:rPr>
              <a:t>EPCAM/SPINT2/B3GNT3 survive.  </a:t>
            </a:r>
            <a:pPr algn="l" indent="0" marL="0">
              <a:buNone/>
            </a:pPr>
            <a:r>
              <a:rPr lang="en-US" sz="1500" b="1" dirty="0">
                <a:solidFill>
                  <a:srgbClr val="DC2626"/>
                </a:solidFill>
              </a:rPr>
              <a:t>CXCL10 = possible real inflammation (does not track cholangiocytes).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Computational Genomics 76553  ·  HUJI  ·  MASLD snRNA-seq hackathon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6E78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109728" cy="6858000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457200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5" name="Text 3"/>
          <p:cNvSpPr/>
          <p:nvPr/>
        </p:nvSpPr>
        <p:spPr>
          <a:xfrm>
            <a:off x="987552" y="42062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C0561B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7772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Preservation, not progressive collapse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1E3A3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7373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B2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228600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</a:rPr>
              <a:t>Full healthy→end-stage trajectory is source-confounded.</a:t>
            </a:r>
            <a:endParaRPr lang="en-US" sz="14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</a:rPr>
              <a:t>In biopsy F1–F4, hepatocyte transcriptional zonation is preserved.</a:t>
            </a:r>
            <a:endParaRPr lang="en-US" sz="14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</a:rPr>
              <a:t>Main DGE signal = biliary/ductular burden, most consistent with composition / ambient RNA.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26280" y="160020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1E3A3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17373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A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0" y="228600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</a:rPr>
              <a:t>snRNA-seq ≠ lobule geometry / spatial architecture.</a:t>
            </a:r>
            <a:endParaRPr lang="en-US" sz="14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</a:rPr>
              <a:t>Imaging / protein / organoid evidence not re-analyzed.</a:t>
            </a:r>
            <a:endParaRPr lang="en-US" sz="14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</a:rPr>
              <a:t>F4 has only 4 biopsy donors.</a:t>
            </a:r>
            <a:endParaRPr lang="en-US" sz="14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</a:rPr>
              <a:t>Gene-level DGE can miss weak coordinated pathways.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75320" y="160020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1E3A3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75320" y="17373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CC6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03920" y="228600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</a:rPr>
              <a:t>CAMERA / ROAST gene-set tests.</a:t>
            </a:r>
            <a:endParaRPr lang="en-US" sz="14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</a:rPr>
              <a:t>Leave-one-F4-donor-out DGE.</a:t>
            </a:r>
            <a:endParaRPr lang="en-US" sz="14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</a:rPr>
              <a:t>Quantitative contamination model.</a:t>
            </a:r>
            <a:endParaRPr lang="en-US" sz="14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</a:rPr>
              <a:t>Spatial / independent biopsy validation.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0080" y="585216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</a:rPr>
              <a:t>The snRNA-seq transcriptomic evidence for progressive de-zonation does not survive matched-source re-analysis.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Computational Genomics 76553  ·  HUJI  ·  MASLD snRNA-seq hackathon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BACKUP  ·  DE-ZONATION MECHANISMS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38912" y="585216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3F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four-mechanism panel (F0–F4)</a:t>
            </a:r>
            <a:endParaRPr lang="en-US" sz="2600" dirty="0"/>
          </a:p>
        </p:txBody>
      </p:sp>
      <p:pic>
        <p:nvPicPr>
          <p:cNvPr id="5" name="Image 0" descr="D:\CS\Genomics\Hackathon\presentation/assets/fig_anchor2x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8720" y="1371600"/>
            <a:ext cx="841248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59436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E73"/>
                </a:solidFill>
              </a:rPr>
              <a:t>Figure 5.  Depletion, co-expression, turn-off and composition across biopsy fibrosis — none shows a large monotone change.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784080" y="237744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B31"/>
                </a:solidFill>
              </a:rPr>
              <a:t>None of the four routes shows a large monotone biopsy-axis change.
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BE123C"/>
                </a:solidFill>
              </a:rPr>
              <a:t>Confounded explants: dual ≈ 2.9% (~7×).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BACKUP  ·  SCOPE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38912" y="585216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3F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you overturning the paper? No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B2B31"/>
                </a:solidFill>
              </a:rPr>
              <a:t>We re-tested only the snRNA-seq transcriptional zonation/plasticity evidence.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B2B31"/>
                </a:solidFill>
              </a:rPr>
              <a:t>We did NOT test imaging, protein staining, organoids, or 3D architecture.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B2B31"/>
                </a:solidFill>
              </a:rPr>
              <a:t>Claim: matched biopsy transcriptomes do not show progressive zonation loss.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B2B31"/>
                </a:solidFill>
              </a:rPr>
              <a:t>We agree the strong signal is an end-stage phenomenon.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BACKUP  ·  LOBE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38912" y="585216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3F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Caudate lobe? Lobe-invariant</a:t>
            </a:r>
            <a:endParaRPr lang="en-US" sz="2600" dirty="0"/>
          </a:p>
        </p:txBody>
      </p:sp>
      <p:pic>
        <p:nvPicPr>
          <p:cNvPr id="5" name="Image 0" descr="D:\CS\Genomics\Hackathon\presentation/assets/fig_lob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371600"/>
            <a:ext cx="694944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9436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E73"/>
                </a:solidFill>
              </a:rPr>
              <a:t>Figure 6.  Zonation-marker detection across Right / Caudate / Left lobes in end-stage explants.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955280" y="23774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B31"/>
                </a:solidFill>
              </a:rPr>
              <a:t>Detection matches across lobes.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B31"/>
                </a:solidFill>
              </a:rPr>
              <a:t>Lobe does not explain the signal; explant-vs-biopsy acquisition still does.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BACKUP  ·  END-STAGE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38912" y="585216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3F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organs, five phenotypes</a:t>
            </a:r>
            <a:endParaRPr lang="en-US" sz="2600" dirty="0"/>
          </a:p>
        </p:txBody>
      </p:sp>
      <p:pic>
        <p:nvPicPr>
          <p:cNvPr id="5" name="Image 0" descr="D:\CS\Genomics\Hackathon\presentation/assets/fig_expla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371600"/>
            <a:ext cx="749808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9436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E73"/>
                </a:solidFill>
              </a:rPr>
              <a:t>Figure 7.  Per-explant anchor fractions — end-stage is heterogeneous, not one coherent program.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412480" y="237744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2B31"/>
                </a:solidFill>
              </a:rPr>
              <a:t>PC-anchor 3% → 50%;  PP:PC 0.13 → 20.
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B2B31"/>
                </a:solidFill>
              </a:rPr>
              <a:t>Dramatic but NOT one program — pooling manufactures a uniform “collapse.”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BACKUP  ·  ROBUSTNESS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38912" y="585216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3F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Sensitivity grid + equivalence bound</a:t>
            </a:r>
            <a:endParaRPr lang="en-US" sz="2600" dirty="0"/>
          </a:p>
        </p:txBody>
      </p:sp>
      <p:pic>
        <p:nvPicPr>
          <p:cNvPr id="5" name="Image 0" descr="D:\CS\Genomics\Hackathon\presentation/assets/fig_to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463040"/>
            <a:ext cx="585216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0" y="51663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E73"/>
                </a:solidFill>
              </a:rPr>
              <a:t>Figure 8.  Equivalence bound on the F4-vs-F1 pericentral-anchor change.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645920"/>
            <a:ext cx="52120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B31"/>
                </a:solidFill>
              </a:rPr>
              <a:t>Stable across every variant:
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B31"/>
                </a:solidFill>
              </a:rPr>
              <a:t>anchor genes, periportal rule, ALDOB in/out, CPS1-based, 1 vs 2 UMI.
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No depletion · no dual rise · no turn-off — in all.
</a:t>
            </a:r>
            <a:endParaRPr lang="en-US" sz="1600" dirty="0"/>
          </a:p>
          <a:p>
            <a:pPr algn="l" indent="0" marL="0">
              <a:buNone/>
            </a:pPr>
            <a:r>
              <a:rPr lang="en-US" sz="1600" i="1" dirty="0">
                <a:solidFill>
                  <a:srgbClr val="5C6E73"/>
                </a:solidFill>
              </a:rPr>
              <a:t>Bound: large shift (~20 pp) excluded; subtle drift ≤10 pp not (F4 n=4).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BACKUP  ·  METHODS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38912" y="585216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3F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raw counts, why pseudobulk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B2B31"/>
                </a:solidFill>
              </a:rPr>
              <a:t>Raw counts: marker co-detection + ambient sensitivity need molecules, not SCT residuals.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B2B31"/>
                </a:solidFill>
              </a:rPr>
              <a:t>Pseudobulk: cells from one donor are not independent — sum per donor, then edgeR (Squair 2021).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B2B31"/>
                </a:solidFill>
              </a:rPr>
              <a:t>edgeR: filterByExpr → 21,022 genes; TMM; NB quasi-likelihood GLM, robust dispersion; common BCV 0.405.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B2B31"/>
                </a:solidFill>
              </a:rPr>
              <a:t>Primary signal persists in DIRECTION with a run covariate and within a single run; significance attenuates with n (not a batch artifact).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BACKUP  ·  AMBIENT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38912" y="585216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3F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decontX prove contamination? No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B2B31"/>
                </a:solidFill>
              </a:rPr>
              <a:t>decontX models a native + ambient RNA mixture and subtracts the estimate.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B2B31"/>
                </a:solidFill>
              </a:rPr>
              <a:t>Hits 64 → 34; SOX4/SOX9 drop below significance → supports an ambient contribution.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B2B31"/>
                </a:solidFill>
              </a:rPr>
              <a:t>But it can remove true hybrid signal OR leave residual contamination.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B2B31"/>
                </a:solidFill>
              </a:rPr>
              <a:t>Source attribution is a lead, not a closed verdict; CXCL10 is a separate candidate inflammatory signal.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BACKUP  ·  NEXT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38912" y="585216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3F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one analysis still owed: gene-set testing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B2B31"/>
                </a:solidFill>
              </a:rPr>
              <a:t>Gene-level FDR can miss a coordinated WEAK program (many genes, small shifts).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B2B31"/>
                </a:solidFill>
              </a:rPr>
              <a:t>CAMERA + ROAST on pre-specified sets: PC, PP, detox, urea cycle, bile-acid/lipid,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B2B31"/>
                </a:solidFill>
              </a:rPr>
              <a:t>mitochondrial, ER stress, interferon, hypoxia, EMT/fetal/progenitor, cholangiocyte/ductular.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B2B31"/>
                </a:solidFill>
              </a:rPr>
              <a:t>Closes the caveat behind “no other large hepatocyte program.”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BACKUP  ·  SCENARIO COVERAGE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38912" y="585216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3F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de-zonation route, tested by count signature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72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657600"/>
                <a:gridCol w="21945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B2B31"/>
                          </a:solidFill>
                        </a:rPr>
                        <a:t>Mechanism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B2B31"/>
                          </a:solidFill>
                        </a:rPr>
                        <a:t>Count signature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B2B31"/>
                          </a:solidFill>
                        </a:rPr>
                        <a:t>Biopsy F0→F4 (donor-median)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B2B31"/>
                          </a:solidFill>
                        </a:rPr>
                        <a:t>Verdict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</a:rPr>
                        <a:t>Pericentral depletion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</a:rPr>
                        <a:t>PC-anchor fraction ↓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</a:rPr>
                        <a:t>36 / 19 / 23 / 22 / 21 %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</a:rPr>
                        <a:t>flat → no depletion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</a:rPr>
                        <a:t>Periportal depletion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</a:rPr>
                        <a:t>PP-anchor fraction ↓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</a:rPr>
                        <a:t>20 / 21 / 22 / 24 / 24 %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</a:rPr>
                        <a:t>flat → no depletion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</a:rPr>
                        <a:t>Co-expression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</a:rPr>
                        <a:t>dual (≥2 UMI) fraction ↑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</a:rPr>
                        <a:t>~0.0 / 0.2 / 0.4 / 0.2 / 0.2 %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</a:rPr>
                        <a:t>ambient soup → no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</a:rPr>
                        <a:t>Gradient compression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</a:rPr>
                        <a:t>per-cell balance → middle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</a:rPr>
                        <a:t>mild, non-monotone (peak F3)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</a:rPr>
                        <a:t>gradient present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</a:rPr>
                        <a:t>Turn-off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</a:rPr>
                        <a:t>null (double-neg) fraction ↑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</a:rPr>
                        <a:t>34 / 44 / 36 / 39 / 39 %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</a:rPr>
                        <a:t>flat → no turn-off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</a:rPr>
                        <a:t>Composition shift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</a:rPr>
                        <a:t>PP : PC anchor ratio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</a:rPr>
                        <a:t>0.62 / 1.16 / 1.01 / 1.10 / 1.18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</a:rPr>
                        <a:t>~flat → no shift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</a:rPr>
                        <a:t>Induction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</a:rPr>
                        <a:t>program burden ↑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</a:rPr>
                        <a:t>flat in biopsy; rises only end-stage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B31"/>
                          </a:solidFill>
                        </a:rPr>
                        <a:t>explant-only</a:t>
                      </a:r>
                      <a:endParaRPr lang="en-US" sz="135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C6E73"/>
                </a:solidFill>
              </a:rPr>
              <a:t>Each row is a distinct way zonation could fail, mapped to an absolute-count signature on depth-normalized counts; only the null (all stable) survives across biopsy F1–F4.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Matched biopsies preserve hepatocyte transcriptional zonation in MASLD</dc:title>
  <dc:subject>PptxGenJS Presentation</dc:subject>
  <dc:creator>Roee Tekoah, Shira Gelbstein</dc:creator>
  <cp:lastModifiedBy>Roee Tekoah, Shira Gelbstein</cp:lastModifiedBy>
  <cp:revision>1</cp:revision>
  <dcterms:created xsi:type="dcterms:W3CDTF">2026-06-23T19:27:53Z</dcterms:created>
  <dcterms:modified xsi:type="dcterms:W3CDTF">2026-06-23T19:27:53Z</dcterms:modified>
</cp:coreProperties>
</file>