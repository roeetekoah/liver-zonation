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Lst>
  <p:notesMasterIdLst>
    <p:notesMasterId r:id="rId3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notesMaster" Target="notesMasters/notesMaster1.xml"/><Relationship Id="rId32" Type="http://schemas.openxmlformats.org/officeDocument/2006/relationships/presProps" Target="presProps.xml"/><Relationship Id="rId33" Type="http://schemas.openxmlformats.org/officeDocument/2006/relationships/viewProps" Target="viewProps.xml"/><Relationship Id="rId34" Type="http://schemas.openxmlformats.org/officeDocument/2006/relationships/theme" Target="theme/theme1.xml"/><Relationship Id="rId3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Title slide. We are Roee Tekoah and Shira Gelbstein; this is our hackathon re-analysis of the single-nucleus RNA-seq in Gribben et al., Nature 2024, asking whether the evidence for progressive hepatocyte de-zonation in MASLD survives once tissue acquisition is controlled. One-line answer: in matched biopsies we find no detectable progressive de-zonation — a large collapse is excluded, subtle drift is not. We are not claiming zonation is 'preserved' in any positive sense, and we do not touch the paper's imaging/protein evidence.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Minimal background: the liver lobule is zonated — pericentral hepatocytes (near the central vein) run one program (GLUL, CYP3A4, the CYP/detox genes), periportal hepatocytes (near the portal tract) run another (ASS1, CPS1, PCK1, urea cycle). Gribben et al.'s claim is that in MASLD hepatocytes lose this zonation and acquire cholangiocyte-like identity. That is what we test.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first catch: the metric. We first read it with a relative ruler — a z-scored zonation coordinate + marker correlations pooled over all samples — which produced 'hepatocytes lose zonation; pericentral turns off, strongest at end-stage.' But a relative summary hides who moved, pools healthy+biopsy+end-stage across a hidden sampling break, and is bent by depth/cell-number/tissue-source; and even biopsy-only it stays depth-sensitive and conflates turn-off vs de-zonation vs noise. So we switched to raw molecule counts. The second catch is the tissue itself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tissue catch, both halves on one slide. (1) Stage is collinear with acquisition: healthy and end-stage are deceased-donor cubes/explants, F0-F4 are needle biopsies (2/8/12/12/4) — the ends are not acquisition-matched, so a 'progressive' trajectory can be manufactured by procurement/ischemia/dissociation/batch. (2) The ends also carry organ-wide stress: IEG+HSP spike ~18x in explants, but endothelium (no zonation program) spikes the same ~18x, and hypoxia (HIF) stays flat (1.7-2.6x) — acute handling, not a zonation program. Both reasons → exclude the deceased-donor/explant ends, use biopsy-only F1-F4. Verified from the paper's Methods + dataset metadata.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Definitions before mechanisms. Every hepatocyte is sorted into exactly one of four classes by which zonation program it runs: PC-anchor (pericentral only), PP-anchor (periportal only), Dual (both — the co-expression state), or Null (neither — double-negative). The 2x2 is pericentral detected/not against periportal detected/not. The card colours carry onto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De-zonation is not one event but several, each a different movement among the four boxes. Depletion = an anchor (pole-identity) box shrinks — pericentral OR periportal. Turn-off = the null, double-negative box grows. These are dissociable: a pole can convert to the opposite pole (depletion with the null box untouched), and cells can go double-negative without any single pole shrinking (turn-off with no depletion). Co-expression fills the dual box; composition shift tilts the PP:PC ratio. A single correlation collapses all four into one number; absolute box counts keep them separate.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continuous-gradient axis, which the discrete box-counts cannot capture. Compression = loss of SHAPE (per-cell PC/(PC+PP) balance drifts to the middle); dimming = loss of LEVEL (the program's relative magnitude falls while the balance is unchanged). Compression: mild non-monotone middle drift peaking at F3, both poles populated — gradient present; only the explant collapses. Dimming: the pericentral detox program declines in relative level — a real coordinated finding, confirmed in Results by gene-set + per-cell tests. Cells keep their identity.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raw counts: a single marker molecule may be ambient, so absolute detection matters and SCT-normalized values are the wrong object. Down-thin every nucleus to a common 1,500-UMI budget, call a marker on at &gt;=2 UMIs, classify each hepatocyte PC/PP/dual/null, infer at the donor level (~47). The &gt;=2 cut matters: at &gt;=1 UMI apparent co-expression is ~7-10% (ambient soup), collapsing ~40x to ~0.2-0.5% at &gt;=2. Robust on 6 marker sets spanning 2 to 1,637 genes (incl. Paper 2's own) and the full threshold grid. Raw-extraction integrity: 9/9 sanity checks pass (integer UMIs, library 920-49,854 not the SCT band, hepatocyte count = the paper's 69,426).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core result. Pericentral-anchor fraction is flat/non-monotone across F1-F4 — no depletion. Dual co-expression at the ambient-robust &gt;=2-UMI cut stays ~0.4% and does not trend (vs ~2.9% in the confounded explants). Null and PP:PC are also flat. The donor is the replicate, so each stage average has SE ~ SD/sqrt(n) ~ 4 pp despite the ~12 pp per-donor spread; the spread is the same at every stage (noise around a flat line). Equivalence bound excludes a &gt;19 pp shift but cannot exclude a &lt;=10 pp drift (F4 n=4).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per-cell gradient view — the most direct test of compression. x-axis is each cell's pericentral share PC/(PC+PP): 0 = all periportal, 1 = all pericentral; a spread of positions means zonation is intact, cells bunching into one pile means collapse. Across biopsy F1-F4 the distribution stays spread, with only a mild non-monotone middle drift peaking at F3 (it reverts at F4) — gradient present, not collapsed. The explant collapses onto the periportal pole — the same acquisition confound. On the rightward lean: the histograms center above 0.5 because the pericentral program is summed over 7 broadly/highly expressed CYP/detox genes vs 6 periportal genes — a marker-set asymmetry, not biology, and irrelevant to the claim, which is the CHANGE across stages (the lean is constant and cancels out). The dashed reference line marks the F1 centre, repeated across panels, to show it does not move.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Per-gene pseudobulk: nothing usable moves (64/21,000 significant, mostly biliary/ductular; zonation flat, GLUL FDR 0.80). No large single-gene program. But per-gene FDR catches a big change in any ONE gene; a weak coordinated program (many genes each drifting a little, same direction) slips past — that is the pericentral-detox decline shown on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one real biopsy-internal change. LEFT: within-PC detox output (detox transcripts per PC nucleus, depth-matched to 1,500 UMIs) falls from ~11.9 at F1 to ~8.8 at F4; donor-level Spearman rho -0.48, p=0.003. F0 (n=2) faded. RIGHT: gene-set test (camera) — PC detox (CYP) FDR 2e-6, PC identity 1.5e-4, phase-II 7e-3, all DOWN; biliary/ductular + fibrogenesis/inflammation controls UP; ER-stress flat (validating controls). CAREFUL FRAMING: this is a RELATIVE transcript decline within a fixed 1,500-UMI budget, not proven absolute molecule loss; it is a donor-level trend (not pseudoreplicated); it could partly reflect a shift among PC subzones rather than pure within-cell downregulation; no single detox gene clears per-gene FDR. Cells retain their pericentral/periportal identities — functional dimming of a zonated program, NOT de-zonation or transdifferentiation. This was our original within-PC metric (the one count hint), conservatively shelved as borderline, now confirmed by the coordinated set test + the full-trajectory trend, after ruling out a composition artifact (TMM, contaminant removal, the per-cell measure).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Distinguish evidence levels. Strong: the genes are 5-78x more abundant in cholangiocytes and per-cell hepatocyte co-expression is ~0.4%. Suggestive: decontX halves the hits and drops SOX4/SOX9 — supports an ambient contribution but not proof. Open: EPCAM/SPINT2/B3GNT3 survive — a rare intrinsic state is not excluded; CXCL10 is set aside as a candidate real inflammatory signal. So the dominant evidence points to composition/ambient RNA, a lead not a closed verdict.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the methodological lesson: in single-cell disease atlases, acquisition matching can dominate apparent disease trajectories. Bottom line, narrow and honest: the snRNA-seq evidence for progressive de-zonation does not survive matched-source re-analysis — we correct one evidence leg, the marker-correlation; imaging/protein/organoid untouched; the biliary burden is most consistent with composition/ambient RNA, a rare intrinsic state not excluded.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6242B"/>
        </a:solidFill>
      </p:bgPr>
    </p:bg>
    <p:spTree>
      <p:nvGrpSpPr>
        <p:cNvPr id="1" name=""/>
        <p:cNvGrpSpPr/>
        <p:nvPr/>
      </p:nvGrpSpPr>
      <p:grpSpPr>
        <a:xfrm>
          <a:off x="0" y="0"/>
          <a:ext cx="0" cy="0"/>
          <a:chOff x="0" y="0"/>
          <a:chExt cx="0" cy="0"/>
        </a:xfrm>
      </p:grpSpPr>
      <p:sp>
        <p:nvSpPr>
          <p:cNvPr id="2" name="Shape 0"/>
          <p:cNvSpPr/>
          <p:nvPr/>
        </p:nvSpPr>
        <p:spPr>
          <a:xfrm>
            <a:off x="0" y="0"/>
            <a:ext cx="256032" cy="6858000"/>
          </a:xfrm>
          <a:prstGeom prst="rect">
            <a:avLst/>
          </a:prstGeom>
          <a:solidFill>
            <a:srgbClr val="1B6E78"/>
          </a:solidFill>
          <a:ln/>
        </p:spPr>
      </p:sp>
      <p:sp>
        <p:nvSpPr>
          <p:cNvPr id="3" name="Shape 1"/>
          <p:cNvSpPr/>
          <p:nvPr/>
        </p:nvSpPr>
        <p:spPr>
          <a:xfrm>
            <a:off x="256032" y="0"/>
            <a:ext cx="109728" cy="6858000"/>
          </a:xfrm>
          <a:prstGeom prst="rect">
            <a:avLst/>
          </a:prstGeom>
          <a:solidFill>
            <a:srgbClr val="C0561B"/>
          </a:solidFill>
          <a:ln/>
        </p:spPr>
      </p:sp>
      <p:sp>
        <p:nvSpPr>
          <p:cNvPr id="4" name="Text 2"/>
          <p:cNvSpPr/>
          <p:nvPr/>
        </p:nvSpPr>
        <p:spPr>
          <a:xfrm>
            <a:off x="777240" y="1051560"/>
            <a:ext cx="10881360" cy="365760"/>
          </a:xfrm>
          <a:prstGeom prst="rect">
            <a:avLst/>
          </a:prstGeom>
          <a:noFill/>
          <a:ln/>
        </p:spPr>
        <p:txBody>
          <a:bodyPr wrap="square" rtlCol="0" anchor="ctr"/>
          <a:lstStyle/>
          <a:p>
            <a:pPr algn="l" indent="0" marL="0">
              <a:buNone/>
            </a:pPr>
            <a:r>
              <a:rPr lang="en-US" sz="1500" b="1" spc="300" kern="0" dirty="0">
                <a:solidFill>
                  <a:srgbClr val="9FC0C4"/>
                </a:solidFill>
              </a:rPr>
              <a:t>LIVER GENOMICS  ·  SINGLE-NUCLEUS RE-ANALYSIS</a:t>
            </a:r>
            <a:endParaRPr lang="en-US" sz="1500" dirty="0"/>
          </a:p>
        </p:txBody>
      </p:sp>
      <p:sp>
        <p:nvSpPr>
          <p:cNvPr id="5" name="Text 3"/>
          <p:cNvSpPr/>
          <p:nvPr/>
        </p:nvSpPr>
        <p:spPr>
          <a:xfrm>
            <a:off x="777240" y="1508760"/>
            <a:ext cx="10698480" cy="1920240"/>
          </a:xfrm>
          <a:prstGeom prst="rect">
            <a:avLst/>
          </a:prstGeom>
          <a:noFill/>
          <a:ln/>
        </p:spPr>
        <p:txBody>
          <a:bodyPr wrap="square" rtlCol="0" anchor="t"/>
          <a:lstStyle/>
          <a:p>
            <a:pPr algn="l" indent="0" marL="0">
              <a:buNone/>
            </a:pPr>
            <a:r>
              <a:rPr lang="en-US" sz="3100" b="1" dirty="0">
                <a:solidFill>
                  <a:srgbClr val="FFFFFF"/>
                </a:solidFill>
                <a:latin typeface="Georgia" pitchFamily="34" charset="0"/>
                <a:ea typeface="Georgia" pitchFamily="34" charset="-122"/>
                <a:cs typeface="Georgia" pitchFamily="34" charset="-120"/>
              </a:rPr>
              <a:t>No transcriptional de-zonation signal in matched MASLD biopsies — but the pericentral detox program dims</a:t>
            </a:r>
            <a:endParaRPr lang="en-US" sz="3100" dirty="0"/>
          </a:p>
        </p:txBody>
      </p:sp>
      <p:sp>
        <p:nvSpPr>
          <p:cNvPr id="6" name="Text 4"/>
          <p:cNvSpPr/>
          <p:nvPr/>
        </p:nvSpPr>
        <p:spPr>
          <a:xfrm>
            <a:off x="777240" y="3246120"/>
            <a:ext cx="10607040" cy="457200"/>
          </a:xfrm>
          <a:prstGeom prst="rect">
            <a:avLst/>
          </a:prstGeom>
          <a:noFill/>
          <a:ln/>
        </p:spPr>
        <p:txBody>
          <a:bodyPr wrap="square" rtlCol="0" anchor="ctr"/>
          <a:lstStyle/>
          <a:p>
            <a:pPr algn="l" indent="0" marL="0">
              <a:buNone/>
            </a:pPr>
            <a:r>
              <a:rPr lang="en-US" sz="1800" i="1" dirty="0">
                <a:solidFill>
                  <a:srgbClr val="C9D6D3"/>
                </a:solidFill>
              </a:rPr>
              <a:t>A critical re-analysis of the single-nucleus RNA-seq in Gribben et al., Nature 2024 (GSE202379)</a:t>
            </a:r>
            <a:endParaRPr lang="en-US" sz="1800" dirty="0"/>
          </a:p>
        </p:txBody>
      </p:sp>
      <p:sp>
        <p:nvSpPr>
          <p:cNvPr id="7" name="Shape 5"/>
          <p:cNvSpPr/>
          <p:nvPr/>
        </p:nvSpPr>
        <p:spPr>
          <a:xfrm>
            <a:off x="777240" y="4160520"/>
            <a:ext cx="4572000" cy="0"/>
          </a:xfrm>
          <a:prstGeom prst="line">
            <a:avLst/>
          </a:prstGeom>
          <a:noFill/>
          <a:ln w="19050">
            <a:solidFill>
              <a:srgbClr val="C0561B"/>
            </a:solidFill>
            <a:prstDash val="solid"/>
          </a:ln>
        </p:spPr>
      </p:sp>
      <p:sp>
        <p:nvSpPr>
          <p:cNvPr id="8" name="Text 6"/>
          <p:cNvSpPr/>
          <p:nvPr/>
        </p:nvSpPr>
        <p:spPr>
          <a:xfrm>
            <a:off x="777240" y="4343400"/>
            <a:ext cx="10607040" cy="411480"/>
          </a:xfrm>
          <a:prstGeom prst="rect">
            <a:avLst/>
          </a:prstGeom>
          <a:noFill/>
          <a:ln/>
        </p:spPr>
        <p:txBody>
          <a:bodyPr wrap="square" rtlCol="0" anchor="ctr"/>
          <a:lstStyle/>
          <a:p>
            <a:pPr algn="l" indent="0" marL="0">
              <a:buNone/>
            </a:pPr>
            <a:r>
              <a:rPr lang="en-US" sz="2000" b="1" dirty="0">
                <a:solidFill>
                  <a:srgbClr val="EDE7DB"/>
                </a:solidFill>
              </a:rPr>
              <a:t>Roee Tekoah</a:t>
            </a:r>
            <a:pPr algn="l" indent="0" marL="0">
              <a:buNone/>
            </a:pPr>
            <a:r>
              <a:rPr lang="en-US" sz="2000" dirty="0">
                <a:solidFill>
                  <a:srgbClr val="7E8F8B"/>
                </a:solidFill>
              </a:rPr>
              <a:t>   ·   </a:t>
            </a:r>
            <a:pPr algn="l" indent="0" marL="0">
              <a:buNone/>
            </a:pPr>
            <a:r>
              <a:rPr lang="en-US" sz="2000" b="1" dirty="0">
                <a:solidFill>
                  <a:srgbClr val="EDE7DB"/>
                </a:solidFill>
              </a:rPr>
              <a:t>Shira Gelbstein</a:t>
            </a:r>
            <a:endParaRPr lang="en-US" sz="2000" dirty="0"/>
          </a:p>
        </p:txBody>
      </p:sp>
      <p:sp>
        <p:nvSpPr>
          <p:cNvPr id="9" name="Text 7"/>
          <p:cNvSpPr/>
          <p:nvPr/>
        </p:nvSpPr>
        <p:spPr>
          <a:xfrm>
            <a:off x="777240" y="4846320"/>
            <a:ext cx="10607040" cy="365760"/>
          </a:xfrm>
          <a:prstGeom prst="rect">
            <a:avLst/>
          </a:prstGeom>
          <a:noFill/>
          <a:ln/>
        </p:spPr>
        <p:txBody>
          <a:bodyPr wrap="square" rtlCol="0" anchor="ctr"/>
          <a:lstStyle/>
          <a:p>
            <a:pPr algn="l" indent="0" marL="0">
              <a:buNone/>
            </a:pPr>
            <a:r>
              <a:rPr lang="en-US" sz="1500" dirty="0">
                <a:solidFill>
                  <a:srgbClr val="9CB0AC"/>
                </a:solidFill>
              </a:rPr>
              <a:t>Computational Genomics (76553)  ·  Hebrew University of Jerusalem  ·  Hackathon</a:t>
            </a:r>
            <a:endParaRPr lang="en-US" sz="1500" dirty="0"/>
          </a:p>
        </p:txBody>
      </p:sp>
      <p:sp>
        <p:nvSpPr>
          <p:cNvPr id="10" name="Text 8"/>
          <p:cNvSpPr/>
          <p:nvPr/>
        </p:nvSpPr>
        <p:spPr>
          <a:xfrm>
            <a:off x="777240" y="5806440"/>
            <a:ext cx="10607040" cy="365760"/>
          </a:xfrm>
          <a:prstGeom prst="rect">
            <a:avLst/>
          </a:prstGeom>
          <a:noFill/>
          <a:ln/>
        </p:spPr>
        <p:txBody>
          <a:bodyPr wrap="square" rtlCol="0" anchor="ctr"/>
          <a:lstStyle/>
          <a:p>
            <a:pPr algn="l" indent="0" marL="0">
              <a:buNone/>
            </a:pPr>
            <a:r>
              <a:rPr lang="en-US" sz="1300" dirty="0">
                <a:solidFill>
                  <a:srgbClr val="7E8F8B"/>
                </a:solidFill>
              </a:rPr>
              <a:t>47 donors  ·  ~99,809 nuclei  ·  69,426 hepatocytes  ·  raw-count, donor-level analysis</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5F1"/>
        </a:solidFill>
      </p:bgPr>
    </p:bg>
    <p:spTree>
      <p:nvGrpSpPr>
        <p:cNvPr id="1" name=""/>
        <p:cNvGrpSpPr/>
        <p:nvPr/>
      </p:nvGrpSpPr>
      <p:grpSpPr>
        <a:xfrm>
          <a:off x="0" y="0"/>
          <a:ext cx="0" cy="0"/>
          <a:chOff x="0" y="0"/>
          <a:chExt cx="0" cy="0"/>
        </a:xfrm>
      </p:grpSpPr>
      <p:sp>
        <p:nvSpPr>
          <p:cNvPr id="2" name="Shape 0"/>
          <p:cNvSpPr/>
          <p:nvPr/>
        </p:nvSpPr>
        <p:spPr>
          <a:xfrm>
            <a:off x="457200" y="310896"/>
            <a:ext cx="146304" cy="237744"/>
          </a:xfrm>
          <a:prstGeom prst="rect">
            <a:avLst/>
          </a:prstGeom>
          <a:solidFill>
            <a:srgbClr val="C0561B"/>
          </a:solidFill>
          <a:ln/>
        </p:spPr>
      </p:sp>
      <p:sp>
        <p:nvSpPr>
          <p:cNvPr id="3" name="Text 1"/>
          <p:cNvSpPr/>
          <p:nvPr/>
        </p:nvSpPr>
        <p:spPr>
          <a:xfrm>
            <a:off x="676656" y="274320"/>
            <a:ext cx="7863840" cy="320040"/>
          </a:xfrm>
          <a:prstGeom prst="rect">
            <a:avLst/>
          </a:prstGeom>
          <a:noFill/>
          <a:ln/>
        </p:spPr>
        <p:txBody>
          <a:bodyPr wrap="square" lIns="0" tIns="0" rIns="0" bIns="0" rtlCol="0" anchor="ctr"/>
          <a:lstStyle/>
          <a:p>
            <a:pPr algn="l" indent="0" marL="0">
              <a:buNone/>
            </a:pPr>
            <a:r>
              <a:rPr lang="en-US" sz="1300" b="1" spc="300" kern="0" dirty="0">
                <a:solidFill>
                  <a:srgbClr val="C0561B"/>
                </a:solidFill>
              </a:rPr>
              <a:t>BACKGROUND</a:t>
            </a:r>
            <a:endParaRPr lang="en-US" sz="1300" dirty="0"/>
          </a:p>
        </p:txBody>
      </p:sp>
      <p:sp>
        <p:nvSpPr>
          <p:cNvPr id="4" name="Text 2"/>
          <p:cNvSpPr/>
          <p:nvPr/>
        </p:nvSpPr>
        <p:spPr>
          <a:xfrm>
            <a:off x="8595360" y="292608"/>
            <a:ext cx="3154680" cy="274320"/>
          </a:xfrm>
          <a:prstGeom prst="rect">
            <a:avLst/>
          </a:prstGeom>
          <a:noFill/>
          <a:ln/>
        </p:spPr>
        <p:txBody>
          <a:bodyPr wrap="square" lIns="0" tIns="0" rIns="0" bIns="0" rtlCol="0" anchor="ctr"/>
          <a:lstStyle/>
          <a:p>
            <a:pPr algn="r" indent="0" marL="0">
              <a:buNone/>
            </a:pPr>
            <a:r>
              <a:rPr lang="en-US" sz="1100" b="1" spc="200" kern="0" dirty="0">
                <a:solidFill>
                  <a:srgbClr val="1B6E78"/>
                </a:solidFill>
              </a:rPr>
              <a:t>BACKGROUND</a:t>
            </a:r>
            <a:endParaRPr lang="en-US" sz="1100" dirty="0"/>
          </a:p>
        </p:txBody>
      </p:sp>
      <p:sp>
        <p:nvSpPr>
          <p:cNvPr id="5" name="Text 3"/>
          <p:cNvSpPr/>
          <p:nvPr/>
        </p:nvSpPr>
        <p:spPr>
          <a:xfrm>
            <a:off x="438912" y="585216"/>
            <a:ext cx="11338560" cy="777240"/>
          </a:xfrm>
          <a:prstGeom prst="rect">
            <a:avLst/>
          </a:prstGeom>
          <a:noFill/>
          <a:ln/>
        </p:spPr>
        <p:txBody>
          <a:bodyPr wrap="square" lIns="0" tIns="0" rIns="0" bIns="0" rtlCol="0" anchor="t"/>
          <a:lstStyle/>
          <a:p>
            <a:pPr algn="l" indent="0" marL="0">
              <a:buNone/>
            </a:pPr>
            <a:r>
              <a:rPr lang="en-US" sz="2800" b="1" dirty="0">
                <a:solidFill>
                  <a:srgbClr val="1B2B31"/>
                </a:solidFill>
                <a:latin typeface="Georgia" pitchFamily="34" charset="0"/>
                <a:ea typeface="Georgia" pitchFamily="34" charset="-122"/>
                <a:cs typeface="Georgia" pitchFamily="34" charset="-120"/>
              </a:rPr>
              <a:t>Hepatocytes are transcriptionally zonated</a:t>
            </a:r>
            <a:endParaRPr lang="en-US" sz="2800" dirty="0"/>
          </a:p>
        </p:txBody>
      </p:sp>
      <p:sp>
        <p:nvSpPr>
          <p:cNvPr id="6" name="Shape 4"/>
          <p:cNvSpPr/>
          <p:nvPr/>
        </p:nvSpPr>
        <p:spPr>
          <a:xfrm>
            <a:off x="914400" y="1691640"/>
            <a:ext cx="9509760" cy="502920"/>
          </a:xfrm>
          <a:prstGeom prst="rect">
            <a:avLst/>
          </a:prstGeom>
          <a:solidFill>
            <a:srgbClr val="EA580C"/>
          </a:solidFill>
          <a:ln/>
        </p:spPr>
      </p:sp>
      <p:sp>
        <p:nvSpPr>
          <p:cNvPr id="7" name="Shape 5"/>
          <p:cNvSpPr/>
          <p:nvPr/>
        </p:nvSpPr>
        <p:spPr>
          <a:xfrm>
            <a:off x="914400" y="1691640"/>
            <a:ext cx="4754880" cy="502920"/>
          </a:xfrm>
          <a:prstGeom prst="rect">
            <a:avLst/>
          </a:prstGeom>
          <a:solidFill>
            <a:srgbClr val="1D4ED8"/>
          </a:solidFill>
          <a:ln/>
        </p:spPr>
      </p:sp>
      <p:sp>
        <p:nvSpPr>
          <p:cNvPr id="8" name="Text 6"/>
          <p:cNvSpPr/>
          <p:nvPr/>
        </p:nvSpPr>
        <p:spPr>
          <a:xfrm>
            <a:off x="1051560" y="1691640"/>
            <a:ext cx="4572000" cy="502920"/>
          </a:xfrm>
          <a:prstGeom prst="rect">
            <a:avLst/>
          </a:prstGeom>
          <a:noFill/>
          <a:ln/>
        </p:spPr>
        <p:txBody>
          <a:bodyPr wrap="square" rtlCol="0" anchor="ctr"/>
          <a:lstStyle/>
          <a:p>
            <a:pPr algn="l" indent="0" marL="0">
              <a:buNone/>
            </a:pPr>
            <a:r>
              <a:rPr lang="en-US" sz="1500" b="1" dirty="0">
                <a:solidFill>
                  <a:srgbClr val="FFFFFF"/>
                </a:solidFill>
              </a:rPr>
              <a:t>Pericentral (zone 3)</a:t>
            </a:r>
            <a:endParaRPr lang="en-US" sz="1500" dirty="0"/>
          </a:p>
        </p:txBody>
      </p:sp>
      <p:sp>
        <p:nvSpPr>
          <p:cNvPr id="9" name="Text 7"/>
          <p:cNvSpPr/>
          <p:nvPr/>
        </p:nvSpPr>
        <p:spPr>
          <a:xfrm>
            <a:off x="5760720" y="1691640"/>
            <a:ext cx="4572000" cy="502920"/>
          </a:xfrm>
          <a:prstGeom prst="rect">
            <a:avLst/>
          </a:prstGeom>
          <a:noFill/>
          <a:ln/>
        </p:spPr>
        <p:txBody>
          <a:bodyPr wrap="square" rtlCol="0" anchor="ctr"/>
          <a:lstStyle/>
          <a:p>
            <a:pPr algn="r" indent="0" marL="0">
              <a:buNone/>
            </a:pPr>
            <a:r>
              <a:rPr lang="en-US" sz="1500" b="1" dirty="0">
                <a:solidFill>
                  <a:srgbClr val="FFFFFF"/>
                </a:solidFill>
              </a:rPr>
              <a:t>Periportal (zone 1)</a:t>
            </a:r>
            <a:endParaRPr lang="en-US" sz="1500" dirty="0"/>
          </a:p>
        </p:txBody>
      </p:sp>
      <p:sp>
        <p:nvSpPr>
          <p:cNvPr id="10" name="Text 8"/>
          <p:cNvSpPr/>
          <p:nvPr/>
        </p:nvSpPr>
        <p:spPr>
          <a:xfrm>
            <a:off x="548640" y="2240280"/>
            <a:ext cx="2194560" cy="274320"/>
          </a:xfrm>
          <a:prstGeom prst="rect">
            <a:avLst/>
          </a:prstGeom>
          <a:noFill/>
          <a:ln/>
        </p:spPr>
        <p:txBody>
          <a:bodyPr wrap="square" rtlCol="0" anchor="ctr"/>
          <a:lstStyle/>
          <a:p>
            <a:pPr algn="l" indent="0" marL="0">
              <a:buNone/>
            </a:pPr>
            <a:r>
              <a:rPr lang="en-US" sz="1250" dirty="0">
                <a:solidFill>
                  <a:srgbClr val="5C6E73"/>
                </a:solidFill>
              </a:rPr>
              <a:t>Central vein</a:t>
            </a:r>
            <a:endParaRPr lang="en-US" sz="1250" dirty="0"/>
          </a:p>
        </p:txBody>
      </p:sp>
      <p:sp>
        <p:nvSpPr>
          <p:cNvPr id="11" name="Text 9"/>
          <p:cNvSpPr/>
          <p:nvPr/>
        </p:nvSpPr>
        <p:spPr>
          <a:xfrm>
            <a:off x="8595360" y="2240280"/>
            <a:ext cx="2194560" cy="274320"/>
          </a:xfrm>
          <a:prstGeom prst="rect">
            <a:avLst/>
          </a:prstGeom>
          <a:noFill/>
          <a:ln/>
        </p:spPr>
        <p:txBody>
          <a:bodyPr wrap="square" rtlCol="0" anchor="ctr"/>
          <a:lstStyle/>
          <a:p>
            <a:pPr algn="r" indent="0" marL="0">
              <a:buNone/>
            </a:pPr>
            <a:r>
              <a:rPr lang="en-US" sz="1250" dirty="0">
                <a:solidFill>
                  <a:srgbClr val="5C6E73"/>
                </a:solidFill>
              </a:rPr>
              <a:t>Portal tract</a:t>
            </a:r>
            <a:endParaRPr lang="en-US" sz="1250" dirty="0"/>
          </a:p>
        </p:txBody>
      </p:sp>
      <p:sp>
        <p:nvSpPr>
          <p:cNvPr id="12" name="Text 10"/>
          <p:cNvSpPr/>
          <p:nvPr/>
        </p:nvSpPr>
        <p:spPr>
          <a:xfrm>
            <a:off x="914400" y="2560320"/>
            <a:ext cx="4754880" cy="320040"/>
          </a:xfrm>
          <a:prstGeom prst="rect">
            <a:avLst/>
          </a:prstGeom>
          <a:noFill/>
          <a:ln/>
        </p:spPr>
        <p:txBody>
          <a:bodyPr wrap="square" rtlCol="0" anchor="ctr"/>
          <a:lstStyle/>
          <a:p>
            <a:pPr algn="ctr" indent="0" marL="0">
              <a:buNone/>
            </a:pPr>
            <a:r>
              <a:rPr lang="en-US" sz="1400" b="1" dirty="0">
                <a:solidFill>
                  <a:srgbClr val="1D4ED8"/>
                </a:solidFill>
              </a:rPr>
              <a:t>GLUL, CYP3A4, CYP2E1 </a:t>
            </a:r>
            <a:pPr algn="ctr" indent="0" marL="0">
              <a:buNone/>
            </a:pPr>
            <a:r>
              <a:rPr lang="en-US" sz="1400" dirty="0">
                <a:solidFill>
                  <a:srgbClr val="1B2B31"/>
                </a:solidFill>
              </a:rPr>
              <a:t>— drug metabolism (Wnt-driven)</a:t>
            </a:r>
            <a:endParaRPr lang="en-US" sz="1400" dirty="0"/>
          </a:p>
        </p:txBody>
      </p:sp>
      <p:sp>
        <p:nvSpPr>
          <p:cNvPr id="13" name="Text 11"/>
          <p:cNvSpPr/>
          <p:nvPr/>
        </p:nvSpPr>
        <p:spPr>
          <a:xfrm>
            <a:off x="5669280" y="2560320"/>
            <a:ext cx="4754880" cy="320040"/>
          </a:xfrm>
          <a:prstGeom prst="rect">
            <a:avLst/>
          </a:prstGeom>
          <a:noFill/>
          <a:ln/>
        </p:spPr>
        <p:txBody>
          <a:bodyPr wrap="square" rtlCol="0" anchor="ctr"/>
          <a:lstStyle/>
          <a:p>
            <a:pPr algn="ctr" indent="0" marL="0">
              <a:buNone/>
            </a:pPr>
            <a:r>
              <a:rPr lang="en-US" sz="1400" b="1" dirty="0">
                <a:solidFill>
                  <a:srgbClr val="EA580C"/>
                </a:solidFill>
              </a:rPr>
              <a:t>ASS1, CPS1, PCK1, HAL, ALDOB </a:t>
            </a:r>
            <a:pPr algn="ctr" indent="0" marL="0">
              <a:buNone/>
            </a:pPr>
            <a:r>
              <a:rPr lang="en-US" sz="1400" dirty="0">
                <a:solidFill>
                  <a:srgbClr val="1B2B31"/>
                </a:solidFill>
              </a:rPr>
              <a:t>— urea cycle</a:t>
            </a:r>
            <a:endParaRPr lang="en-US" sz="1400" dirty="0"/>
          </a:p>
        </p:txBody>
      </p:sp>
      <p:sp>
        <p:nvSpPr>
          <p:cNvPr id="14" name="Shape 12"/>
          <p:cNvSpPr/>
          <p:nvPr/>
        </p:nvSpPr>
        <p:spPr>
          <a:xfrm>
            <a:off x="914400" y="3429000"/>
            <a:ext cx="9509760" cy="1783080"/>
          </a:xfrm>
          <a:prstGeom prst="roundRect">
            <a:avLst>
              <a:gd name="adj" fmla="val 4103"/>
            </a:avLst>
          </a:prstGeom>
          <a:solidFill>
            <a:srgbClr val="123F47"/>
          </a:solidFill>
          <a:ln/>
          <a:effectLst>
            <a:outerShdw sx="100000" sy="100000" kx="0" ky="0" algn="bl" rotWithShape="0" blurRad="88900" dist="38100" dir="5400000">
              <a:srgbClr val="000000">
                <a:alpha val="12000"/>
              </a:srgbClr>
            </a:outerShdw>
          </a:effectLst>
        </p:spPr>
      </p:sp>
      <p:sp>
        <p:nvSpPr>
          <p:cNvPr id="15" name="Text 13"/>
          <p:cNvSpPr/>
          <p:nvPr/>
        </p:nvSpPr>
        <p:spPr>
          <a:xfrm>
            <a:off x="1143000" y="3566160"/>
            <a:ext cx="9052560" cy="320040"/>
          </a:xfrm>
          <a:prstGeom prst="rect">
            <a:avLst/>
          </a:prstGeom>
          <a:noFill/>
          <a:ln/>
        </p:spPr>
        <p:txBody>
          <a:bodyPr wrap="square" rtlCol="0" anchor="ctr"/>
          <a:lstStyle/>
          <a:p>
            <a:pPr algn="l" indent="0" marL="0">
              <a:buNone/>
            </a:pPr>
            <a:r>
              <a:rPr lang="en-US" sz="1300" b="1" spc="200" kern="0" dirty="0">
                <a:solidFill>
                  <a:srgbClr val="9FC0C4"/>
                </a:solidFill>
              </a:rPr>
              <a:t>THE PUBLISHED CLAIM   </a:t>
            </a:r>
            <a:pPr algn="l" indent="0" marL="0">
              <a:buNone/>
            </a:pPr>
            <a:r>
              <a:rPr lang="en-US" sz="1200" dirty="0">
                <a:solidFill>
                  <a:srgbClr val="7E9DA0"/>
                </a:solidFill>
              </a:rPr>
              <a:t>— Gribben et al., Nature 2024</a:t>
            </a:r>
            <a:endParaRPr lang="en-US" sz="1300" dirty="0"/>
          </a:p>
        </p:txBody>
      </p:sp>
      <p:sp>
        <p:nvSpPr>
          <p:cNvPr id="16" name="Text 14"/>
          <p:cNvSpPr/>
          <p:nvPr/>
        </p:nvSpPr>
        <p:spPr>
          <a:xfrm>
            <a:off x="1143000" y="3840480"/>
            <a:ext cx="9052560" cy="365760"/>
          </a:xfrm>
          <a:prstGeom prst="rect">
            <a:avLst/>
          </a:prstGeom>
          <a:noFill/>
          <a:ln/>
        </p:spPr>
        <p:txBody>
          <a:bodyPr wrap="square" rtlCol="0" anchor="t"/>
          <a:lstStyle/>
          <a:p>
            <a:pPr algn="l" indent="0" marL="0">
              <a:buNone/>
            </a:pPr>
            <a:r>
              <a:rPr lang="en-US" sz="1900" b="1" dirty="0">
                <a:solidFill>
                  <a:srgbClr val="FFFFFF"/>
                </a:solidFill>
                <a:latin typeface="Georgia" pitchFamily="34" charset="0"/>
                <a:ea typeface="Georgia" pitchFamily="34" charset="-122"/>
                <a:cs typeface="Georgia" pitchFamily="34" charset="-120"/>
              </a:rPr>
              <a:t>“Hepatocytes lose their zonation.”</a:t>
            </a:r>
            <a:endParaRPr lang="en-US" sz="1900" dirty="0"/>
          </a:p>
        </p:txBody>
      </p:sp>
      <p:sp>
        <p:nvSpPr>
          <p:cNvPr id="17" name="Text 15"/>
          <p:cNvSpPr/>
          <p:nvPr/>
        </p:nvSpPr>
        <p:spPr>
          <a:xfrm>
            <a:off x="1371600" y="4297680"/>
            <a:ext cx="8778240" cy="822960"/>
          </a:xfrm>
          <a:prstGeom prst="rect">
            <a:avLst/>
          </a:prstGeom>
          <a:noFill/>
          <a:ln/>
        </p:spPr>
        <p:txBody>
          <a:bodyPr wrap="square" rtlCol="0" anchor="t"/>
          <a:lstStyle/>
          <a:p>
            <a:pPr algn="l" marL="342900" indent="-342900">
              <a:spcAft>
                <a:spcPts val="800"/>
              </a:spcAft>
              <a:buSzPct val="100000"/>
              <a:buChar char="•"/>
            </a:pPr>
            <a:r>
              <a:rPr lang="en-US" sz="1350" dirty="0">
                <a:solidFill>
                  <a:srgbClr val="D7E6E8"/>
                </a:solidFill>
              </a:rPr>
              <a:t>In end-stage disease, hepatocytes co-express pericentral + periportal markers — validated by imaging and protein.</a:t>
            </a:r>
            <a:endParaRPr lang="en-US" sz="1350" dirty="0"/>
          </a:p>
          <a:p>
            <a:pPr algn="l" marL="342900" indent="-342900">
              <a:spcAft>
                <a:spcPts val="800"/>
              </a:spcAft>
              <a:buSzPct val="100000"/>
              <a:buChar char="•"/>
            </a:pPr>
            <a:r>
              <a:rPr lang="en-US" sz="1350" dirty="0">
                <a:solidFill>
                  <a:srgbClr val="D7E6E8"/>
                </a:solidFill>
              </a:rPr>
              <a:t>Hepatocyte↔cholangiocyte transdifferentiation, which they note “seems to occur,” “prominent in end-stage.”</a:t>
            </a:r>
            <a:endParaRPr lang="en-US" sz="1350" dirty="0"/>
          </a:p>
        </p:txBody>
      </p:sp>
      <p:sp>
        <p:nvSpPr>
          <p:cNvPr id="18" name="Text 16"/>
          <p:cNvSpPr/>
          <p:nvPr/>
        </p:nvSpPr>
        <p:spPr>
          <a:xfrm>
            <a:off x="914400" y="5440680"/>
            <a:ext cx="9509760" cy="640080"/>
          </a:xfrm>
          <a:prstGeom prst="rect">
            <a:avLst/>
          </a:prstGeom>
          <a:noFill/>
          <a:ln/>
        </p:spPr>
        <p:txBody>
          <a:bodyPr wrap="square" rtlCol="0" anchor="t"/>
          <a:lstStyle/>
          <a:p>
            <a:pPr algn="l" indent="0" marL="0">
              <a:buNone/>
            </a:pPr>
            <a:r>
              <a:rPr lang="en-US" sz="1500" b="1" dirty="0">
                <a:solidFill>
                  <a:srgbClr val="C0561B"/>
                </a:solidFill>
              </a:rPr>
              <a:t>Our question:  </a:t>
            </a:r>
            <a:pPr algn="l" indent="0" marL="0">
              <a:buNone/>
            </a:pPr>
            <a:r>
              <a:rPr lang="en-US" sz="1500" i="1" dirty="0">
                <a:solidFill>
                  <a:srgbClr val="1B2B31"/>
                </a:solidFill>
              </a:rPr>
              <a:t>does this snRNA-seq de-zonation signal survive once tissue acquisition and the relative metric are controlled?</a:t>
            </a:r>
            <a:endParaRPr lang="en-US" sz="1500" dirty="0"/>
          </a:p>
        </p:txBody>
      </p:sp>
      <p:sp>
        <p:nvSpPr>
          <p:cNvPr id="19" name="Text 17"/>
          <p:cNvSpPr/>
          <p:nvPr/>
        </p:nvSpPr>
        <p:spPr>
          <a:xfrm>
            <a:off x="457200" y="6510528"/>
            <a:ext cx="9601200" cy="274320"/>
          </a:xfrm>
          <a:prstGeom prst="rect">
            <a:avLst/>
          </a:prstGeom>
          <a:noFill/>
          <a:ln/>
        </p:spPr>
        <p:txBody>
          <a:bodyPr wrap="square" lIns="0" tIns="0" rIns="0" bIns="0" rtlCol="0" anchor="ctr"/>
          <a:lstStyle/>
          <a:p>
            <a:pPr algn="l" indent="0" marL="0">
              <a:buNone/>
            </a:pPr>
            <a:r>
              <a:rPr lang="en-US" sz="1050" dirty="0">
                <a:solidFill>
                  <a:srgbClr val="5C6E73"/>
                </a:solidFill>
              </a:rPr>
              <a:t>Computational Genomics 76553  ·  HUJI  ·  MASLD snRNA-seq hackathon</a:t>
            </a:r>
            <a:endParaRPr lang="en-US" sz="1050" dirty="0"/>
          </a:p>
        </p:txBody>
      </p:sp>
      <p:sp>
        <p:nvSpPr>
          <p:cNvPr id="20" name="Text 18"/>
          <p:cNvSpPr/>
          <p:nvPr/>
        </p:nvSpPr>
        <p:spPr>
          <a:xfrm>
            <a:off x="11155680" y="6510528"/>
            <a:ext cx="548640" cy="274320"/>
          </a:xfrm>
          <a:prstGeom prst="rect">
            <a:avLst/>
          </a:prstGeom>
          <a:noFill/>
          <a:ln/>
        </p:spPr>
        <p:txBody>
          <a:bodyPr wrap="square" lIns="0" tIns="0" rIns="0" bIns="0" rtlCol="0" anchor="ctr"/>
          <a:lstStyle/>
          <a:p>
            <a:pPr algn="r" indent="0" marL="0">
              <a:buNone/>
            </a:pPr>
            <a:r>
              <a:rPr lang="en-US" sz="1050" dirty="0">
                <a:solidFill>
                  <a:srgbClr val="5C6E73"/>
                </a:solidFill>
              </a:rPr>
              <a:t>2</a:t>
            </a:r>
            <a:endParaRPr lang="en-US" sz="10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6242B"/>
        </a:solidFill>
      </p:bgPr>
    </p:bg>
    <p:spTree>
      <p:nvGrpSpPr>
        <p:cNvPr id="1" name=""/>
        <p:cNvGrpSpPr/>
        <p:nvPr/>
      </p:nvGrpSpPr>
      <p:grpSpPr>
        <a:xfrm>
          <a:off x="0" y="0"/>
          <a:ext cx="0" cy="0"/>
          <a:chOff x="0" y="0"/>
          <a:chExt cx="0" cy="0"/>
        </a:xfrm>
      </p:grpSpPr>
      <p:sp>
        <p:nvSpPr>
          <p:cNvPr id="2" name="Shape 0"/>
          <p:cNvSpPr/>
          <p:nvPr/>
        </p:nvSpPr>
        <p:spPr>
          <a:xfrm>
            <a:off x="0" y="0"/>
            <a:ext cx="256032" cy="6858000"/>
          </a:xfrm>
          <a:prstGeom prst="rect">
            <a:avLst/>
          </a:prstGeom>
          <a:solidFill>
            <a:srgbClr val="1B6E78"/>
          </a:solidFill>
          <a:ln/>
        </p:spPr>
      </p:sp>
      <p:sp>
        <p:nvSpPr>
          <p:cNvPr id="3" name="Shape 1"/>
          <p:cNvSpPr/>
          <p:nvPr/>
        </p:nvSpPr>
        <p:spPr>
          <a:xfrm>
            <a:off x="256032" y="0"/>
            <a:ext cx="109728" cy="6858000"/>
          </a:xfrm>
          <a:prstGeom prst="rect">
            <a:avLst/>
          </a:prstGeom>
          <a:solidFill>
            <a:srgbClr val="C0561B"/>
          </a:solidFill>
          <a:ln/>
        </p:spPr>
      </p:sp>
      <p:sp>
        <p:nvSpPr>
          <p:cNvPr id="4" name="Text 2"/>
          <p:cNvSpPr/>
          <p:nvPr/>
        </p:nvSpPr>
        <p:spPr>
          <a:xfrm>
            <a:off x="868680" y="2651760"/>
            <a:ext cx="10515600" cy="1005840"/>
          </a:xfrm>
          <a:prstGeom prst="rect">
            <a:avLst/>
          </a:prstGeom>
          <a:noFill/>
          <a:ln/>
        </p:spPr>
        <p:txBody>
          <a:bodyPr wrap="square" rtlCol="0" anchor="ctr"/>
          <a:lstStyle/>
          <a:p>
            <a:pPr algn="l" indent="0" marL="0">
              <a:buNone/>
            </a:pPr>
            <a:r>
              <a:rPr lang="en-US" sz="4400" b="1" dirty="0">
                <a:solidFill>
                  <a:srgbClr val="FFFFFF"/>
                </a:solidFill>
                <a:latin typeface="Georgia" pitchFamily="34" charset="0"/>
                <a:ea typeface="Georgia" pitchFamily="34" charset="-122"/>
                <a:cs typeface="Georgia" pitchFamily="34" charset="-120"/>
              </a:rPr>
              <a:t>The catch</a:t>
            </a:r>
            <a:endParaRPr lang="en-US" sz="4400" dirty="0"/>
          </a:p>
        </p:txBody>
      </p:sp>
      <p:sp>
        <p:nvSpPr>
          <p:cNvPr id="5" name="Text 3"/>
          <p:cNvSpPr/>
          <p:nvPr/>
        </p:nvSpPr>
        <p:spPr>
          <a:xfrm>
            <a:off x="896112" y="3794760"/>
            <a:ext cx="10515600" cy="457200"/>
          </a:xfrm>
          <a:prstGeom prst="rect">
            <a:avLst/>
          </a:prstGeom>
          <a:noFill/>
          <a:ln/>
        </p:spPr>
        <p:txBody>
          <a:bodyPr wrap="square" rtlCol="0" anchor="ctr"/>
          <a:lstStyle/>
          <a:p>
            <a:pPr algn="l" indent="0" marL="0">
              <a:buNone/>
            </a:pPr>
            <a:r>
              <a:rPr lang="en-US" sz="1700" i="1" dirty="0">
                <a:solidFill>
                  <a:srgbClr val="9FC0C4"/>
                </a:solidFill>
              </a:rPr>
              <a:t>two reasons the original signal can’t be trusted</a:t>
            </a:r>
            <a:endParaRPr lang="en-US" sz="17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5F1"/>
        </a:solidFill>
      </p:bgPr>
    </p:bg>
    <p:spTree>
      <p:nvGrpSpPr>
        <p:cNvPr id="1" name=""/>
        <p:cNvGrpSpPr/>
        <p:nvPr/>
      </p:nvGrpSpPr>
      <p:grpSpPr>
        <a:xfrm>
          <a:off x="0" y="0"/>
          <a:ext cx="0" cy="0"/>
          <a:chOff x="0" y="0"/>
          <a:chExt cx="0" cy="0"/>
        </a:xfrm>
      </p:grpSpPr>
      <p:sp>
        <p:nvSpPr>
          <p:cNvPr id="2" name="Shape 0"/>
          <p:cNvSpPr/>
          <p:nvPr/>
        </p:nvSpPr>
        <p:spPr>
          <a:xfrm>
            <a:off x="457200" y="310896"/>
            <a:ext cx="146304" cy="237744"/>
          </a:xfrm>
          <a:prstGeom prst="rect">
            <a:avLst/>
          </a:prstGeom>
          <a:solidFill>
            <a:srgbClr val="C0561B"/>
          </a:solidFill>
          <a:ln/>
        </p:spPr>
      </p:sp>
      <p:sp>
        <p:nvSpPr>
          <p:cNvPr id="3" name="Text 1"/>
          <p:cNvSpPr/>
          <p:nvPr/>
        </p:nvSpPr>
        <p:spPr>
          <a:xfrm>
            <a:off x="676656" y="274320"/>
            <a:ext cx="7863840" cy="320040"/>
          </a:xfrm>
          <a:prstGeom prst="rect">
            <a:avLst/>
          </a:prstGeom>
          <a:noFill/>
          <a:ln/>
        </p:spPr>
        <p:txBody>
          <a:bodyPr wrap="square" lIns="0" tIns="0" rIns="0" bIns="0" rtlCol="0" anchor="ctr"/>
          <a:lstStyle/>
          <a:p>
            <a:pPr algn="l" indent="0" marL="0">
              <a:buNone/>
            </a:pPr>
            <a:r>
              <a:rPr lang="en-US" sz="1300" b="1" spc="300" kern="0" dirty="0">
                <a:solidFill>
                  <a:srgbClr val="C0561B"/>
                </a:solidFill>
              </a:rPr>
              <a:t>THE METRIC — A TRAP</a:t>
            </a:r>
            <a:endParaRPr lang="en-US" sz="1300" dirty="0"/>
          </a:p>
        </p:txBody>
      </p:sp>
      <p:sp>
        <p:nvSpPr>
          <p:cNvPr id="4" name="Text 2"/>
          <p:cNvSpPr/>
          <p:nvPr/>
        </p:nvSpPr>
        <p:spPr>
          <a:xfrm>
            <a:off x="8595360" y="292608"/>
            <a:ext cx="3154680" cy="274320"/>
          </a:xfrm>
          <a:prstGeom prst="rect">
            <a:avLst/>
          </a:prstGeom>
          <a:noFill/>
          <a:ln/>
        </p:spPr>
        <p:txBody>
          <a:bodyPr wrap="square" lIns="0" tIns="0" rIns="0" bIns="0" rtlCol="0" anchor="ctr"/>
          <a:lstStyle/>
          <a:p>
            <a:pPr algn="r" indent="0" marL="0">
              <a:buNone/>
            </a:pPr>
            <a:r>
              <a:rPr lang="en-US" sz="1100" b="1" spc="200" kern="0" dirty="0">
                <a:solidFill>
                  <a:srgbClr val="1B6E78"/>
                </a:solidFill>
              </a:rPr>
              <a:t>THE CATCH</a:t>
            </a:r>
            <a:endParaRPr lang="en-US" sz="1100" dirty="0"/>
          </a:p>
        </p:txBody>
      </p:sp>
      <p:sp>
        <p:nvSpPr>
          <p:cNvPr id="5" name="Text 3"/>
          <p:cNvSpPr/>
          <p:nvPr/>
        </p:nvSpPr>
        <p:spPr>
          <a:xfrm>
            <a:off x="438912" y="585216"/>
            <a:ext cx="11338560" cy="777240"/>
          </a:xfrm>
          <a:prstGeom prst="rect">
            <a:avLst/>
          </a:prstGeom>
          <a:noFill/>
          <a:ln/>
        </p:spPr>
        <p:txBody>
          <a:bodyPr wrap="square" lIns="0" tIns="0" rIns="0" bIns="0" rtlCol="0" anchor="t"/>
          <a:lstStyle/>
          <a:p>
            <a:pPr algn="l" indent="0" marL="0">
              <a:buNone/>
            </a:pPr>
            <a:r>
              <a:rPr lang="en-US" sz="2800" b="1" dirty="0">
                <a:solidFill>
                  <a:srgbClr val="1B2B31"/>
                </a:solidFill>
                <a:latin typeface="Georgia" pitchFamily="34" charset="0"/>
                <a:ea typeface="Georgia" pitchFamily="34" charset="-122"/>
                <a:cs typeface="Georgia" pitchFamily="34" charset="-120"/>
              </a:rPr>
              <a:t>The relative ruler that produced the collapse</a:t>
            </a:r>
            <a:endParaRPr lang="en-US" sz="2800" dirty="0"/>
          </a:p>
        </p:txBody>
      </p:sp>
      <p:sp>
        <p:nvSpPr>
          <p:cNvPr id="6" name="Text 4"/>
          <p:cNvSpPr/>
          <p:nvPr/>
        </p:nvSpPr>
        <p:spPr>
          <a:xfrm>
            <a:off x="640080" y="1645920"/>
            <a:ext cx="5486400" cy="274320"/>
          </a:xfrm>
          <a:prstGeom prst="rect">
            <a:avLst/>
          </a:prstGeom>
          <a:noFill/>
          <a:ln/>
        </p:spPr>
        <p:txBody>
          <a:bodyPr wrap="square" rtlCol="0" anchor="ctr"/>
          <a:lstStyle/>
          <a:p>
            <a:pPr algn="l" indent="0" marL="0">
              <a:buNone/>
            </a:pPr>
            <a:r>
              <a:rPr lang="en-US" sz="1300" b="1" spc="200" kern="0" dirty="0">
                <a:solidFill>
                  <a:srgbClr val="5C6E73"/>
                </a:solidFill>
              </a:rPr>
              <a:t>THE OLD RULER</a:t>
            </a:r>
            <a:endParaRPr lang="en-US" sz="1300" dirty="0"/>
          </a:p>
        </p:txBody>
      </p:sp>
      <p:sp>
        <p:nvSpPr>
          <p:cNvPr id="7" name="Text 5"/>
          <p:cNvSpPr/>
          <p:nvPr/>
        </p:nvSpPr>
        <p:spPr>
          <a:xfrm>
            <a:off x="640080" y="1965960"/>
            <a:ext cx="5486400" cy="822960"/>
          </a:xfrm>
          <a:prstGeom prst="rect">
            <a:avLst/>
          </a:prstGeom>
          <a:noFill/>
          <a:ln/>
        </p:spPr>
        <p:txBody>
          <a:bodyPr wrap="square" rtlCol="0" anchor="t"/>
          <a:lstStyle/>
          <a:p>
            <a:pPr algn="l" indent="0" marL="0">
              <a:buNone/>
            </a:pPr>
            <a:r>
              <a:rPr lang="en-US" sz="1500" dirty="0">
                <a:solidFill>
                  <a:srgbClr val="1B2B31"/>
                </a:solidFill>
              </a:rPr>
              <a:t>We first read it with a z-scored zonation coordinate and marker–marker correlations, pooled across all samples.</a:t>
            </a:r>
            <a:endParaRPr lang="en-US" sz="1500" dirty="0"/>
          </a:p>
        </p:txBody>
      </p:sp>
      <p:sp>
        <p:nvSpPr>
          <p:cNvPr id="8" name="Shape 6"/>
          <p:cNvSpPr/>
          <p:nvPr/>
        </p:nvSpPr>
        <p:spPr>
          <a:xfrm>
            <a:off x="640080" y="3063240"/>
            <a:ext cx="5486400" cy="1463040"/>
          </a:xfrm>
          <a:prstGeom prst="roundRect">
            <a:avLst>
              <a:gd name="adj" fmla="val 4375"/>
            </a:avLst>
          </a:prstGeom>
          <a:solidFill>
            <a:srgbClr val="FBEEE9"/>
          </a:solidFill>
          <a:ln w="12700">
            <a:solidFill>
              <a:srgbClr val="BE123C"/>
            </a:solidFill>
            <a:prstDash val="solid"/>
          </a:ln>
        </p:spPr>
      </p:sp>
      <p:sp>
        <p:nvSpPr>
          <p:cNvPr id="9" name="Text 7"/>
          <p:cNvSpPr/>
          <p:nvPr/>
        </p:nvSpPr>
        <p:spPr>
          <a:xfrm>
            <a:off x="841248" y="3200400"/>
            <a:ext cx="5120640" cy="274320"/>
          </a:xfrm>
          <a:prstGeom prst="rect">
            <a:avLst/>
          </a:prstGeom>
          <a:noFill/>
          <a:ln/>
        </p:spPr>
        <p:txBody>
          <a:bodyPr wrap="square" rtlCol="0" anchor="ctr"/>
          <a:lstStyle/>
          <a:p>
            <a:pPr algn="l" indent="0" marL="0">
              <a:buNone/>
            </a:pPr>
            <a:r>
              <a:rPr lang="en-US" sz="1200" b="1" spc="200" kern="0" dirty="0">
                <a:solidFill>
                  <a:srgbClr val="BE123C"/>
                </a:solidFill>
              </a:rPr>
              <a:t>THE COLLAPSE IT PRODUCED</a:t>
            </a:r>
            <a:endParaRPr lang="en-US" sz="1200" dirty="0"/>
          </a:p>
        </p:txBody>
      </p:sp>
      <p:sp>
        <p:nvSpPr>
          <p:cNvPr id="10" name="Text 8"/>
          <p:cNvSpPr/>
          <p:nvPr/>
        </p:nvSpPr>
        <p:spPr>
          <a:xfrm>
            <a:off x="841248" y="3520440"/>
            <a:ext cx="5120640" cy="914400"/>
          </a:xfrm>
          <a:prstGeom prst="rect">
            <a:avLst/>
          </a:prstGeom>
          <a:noFill/>
          <a:ln/>
        </p:spPr>
        <p:txBody>
          <a:bodyPr wrap="square" rtlCol="0" anchor="t"/>
          <a:lstStyle/>
          <a:p>
            <a:pPr algn="l" indent="0" marL="0">
              <a:buNone/>
            </a:pPr>
            <a:r>
              <a:rPr lang="en-US" sz="1500" b="1" i="1" dirty="0">
                <a:solidFill>
                  <a:srgbClr val="123F47"/>
                </a:solidFill>
              </a:rPr>
              <a:t>“Hepatocytes lose their zonation; the pericentral program turns off, strongest at end-stage.”</a:t>
            </a:r>
            <a:endParaRPr lang="en-US" sz="1500" dirty="0"/>
          </a:p>
        </p:txBody>
      </p:sp>
      <p:sp>
        <p:nvSpPr>
          <p:cNvPr id="11" name="Text 9"/>
          <p:cNvSpPr/>
          <p:nvPr/>
        </p:nvSpPr>
        <p:spPr>
          <a:xfrm>
            <a:off x="6492240" y="1645920"/>
            <a:ext cx="5303520" cy="274320"/>
          </a:xfrm>
          <a:prstGeom prst="rect">
            <a:avLst/>
          </a:prstGeom>
          <a:noFill/>
          <a:ln/>
        </p:spPr>
        <p:txBody>
          <a:bodyPr wrap="square" rtlCol="0" anchor="ctr"/>
          <a:lstStyle/>
          <a:p>
            <a:pPr algn="l" indent="0" marL="0">
              <a:buNone/>
            </a:pPr>
            <a:r>
              <a:rPr lang="en-US" sz="1300" b="1" spc="200" kern="0" dirty="0">
                <a:solidFill>
                  <a:srgbClr val="C0561B"/>
                </a:solidFill>
              </a:rPr>
              <a:t>THE TRAP</a:t>
            </a:r>
            <a:endParaRPr lang="en-US" sz="1300" dirty="0"/>
          </a:p>
        </p:txBody>
      </p:sp>
      <p:sp>
        <p:nvSpPr>
          <p:cNvPr id="12" name="Text 10"/>
          <p:cNvSpPr/>
          <p:nvPr/>
        </p:nvSpPr>
        <p:spPr>
          <a:xfrm>
            <a:off x="6720840" y="2011680"/>
            <a:ext cx="5074920" cy="3291840"/>
          </a:xfrm>
          <a:prstGeom prst="rect">
            <a:avLst/>
          </a:prstGeom>
          <a:noFill/>
          <a:ln/>
        </p:spPr>
        <p:txBody>
          <a:bodyPr wrap="square" rtlCol="0" anchor="ctr"/>
          <a:lstStyle/>
          <a:p>
            <a:pPr algn="l" marL="342900" indent="-342900">
              <a:spcAft>
                <a:spcPts val="1100"/>
              </a:spcAft>
              <a:buSzPct val="100000"/>
              <a:buChar char="•"/>
            </a:pPr>
            <a:r>
              <a:rPr lang="en-US" sz="1600" dirty="0">
                <a:solidFill>
                  <a:srgbClr val="1B2B31"/>
                </a:solidFill>
              </a:rPr>
              <a:t>A relative summary — it hides who moved, how many, and from where.</a:t>
            </a:r>
            <a:endParaRPr lang="en-US" sz="1600" dirty="0"/>
          </a:p>
          <a:p>
            <a:pPr algn="l" marL="342900" indent="-342900">
              <a:spcAft>
                <a:spcPts val="1100"/>
              </a:spcAft>
              <a:buSzPct val="100000"/>
              <a:buChar char="•"/>
            </a:pPr>
            <a:r>
              <a:rPr lang="en-US" sz="1600" dirty="0">
                <a:solidFill>
                  <a:srgbClr val="1B2B31"/>
                </a:solidFill>
              </a:rPr>
              <a:t>It pools healthy + biopsy + end-stage across a hidden sampling break.</a:t>
            </a:r>
            <a:endParaRPr lang="en-US" sz="1600" dirty="0"/>
          </a:p>
          <a:p>
            <a:pPr algn="l" marL="342900" indent="-342900">
              <a:spcAft>
                <a:spcPts val="1100"/>
              </a:spcAft>
              <a:buSzPct val="100000"/>
              <a:buChar char="•"/>
            </a:pPr>
            <a:r>
              <a:rPr lang="en-US" sz="1600" dirty="0">
                <a:solidFill>
                  <a:srgbClr val="1B2B31"/>
                </a:solidFill>
              </a:rPr>
              <a:t>Depth, cell number and tissue source all bend a z-score or correlation.</a:t>
            </a:r>
            <a:endParaRPr lang="en-US" sz="1600" dirty="0"/>
          </a:p>
          <a:p>
            <a:pPr algn="l" marL="342900" indent="-342900">
              <a:spcAft>
                <a:spcPts val="1100"/>
              </a:spcAft>
              <a:buSzPct val="100000"/>
              <a:buChar char="•"/>
            </a:pPr>
            <a:r>
              <a:rPr lang="en-US" sz="1600" dirty="0">
                <a:solidFill>
                  <a:srgbClr val="1B2B31"/>
                </a:solidFill>
              </a:rPr>
              <a:t>Even biopsy-only it stays depth-sensitive and conflates turn-off / de-zonation / noise.</a:t>
            </a:r>
            <a:endParaRPr lang="en-US" sz="1600" dirty="0"/>
          </a:p>
          <a:p>
            <a:pPr algn="l" marL="342900" indent="-342900">
              <a:spcAft>
                <a:spcPts val="1100"/>
              </a:spcAft>
              <a:buSzPct val="100000"/>
              <a:buChar char="•"/>
            </a:pPr>
            <a:r>
              <a:rPr lang="en-US" sz="1600" b="1" dirty="0">
                <a:solidFill>
                  <a:srgbClr val="0D9488"/>
                </a:solidFill>
              </a:rPr>
              <a:t>→ so we switched to raw molecule counts (the other catch is the tissue itself).</a:t>
            </a:r>
            <a:endParaRPr lang="en-US" sz="1600" dirty="0"/>
          </a:p>
        </p:txBody>
      </p:sp>
      <p:sp>
        <p:nvSpPr>
          <p:cNvPr id="13" name="Text 11"/>
          <p:cNvSpPr/>
          <p:nvPr/>
        </p:nvSpPr>
        <p:spPr>
          <a:xfrm>
            <a:off x="457200" y="6510528"/>
            <a:ext cx="9601200" cy="274320"/>
          </a:xfrm>
          <a:prstGeom prst="rect">
            <a:avLst/>
          </a:prstGeom>
          <a:noFill/>
          <a:ln/>
        </p:spPr>
        <p:txBody>
          <a:bodyPr wrap="square" lIns="0" tIns="0" rIns="0" bIns="0" rtlCol="0" anchor="ctr"/>
          <a:lstStyle/>
          <a:p>
            <a:pPr algn="l" indent="0" marL="0">
              <a:buNone/>
            </a:pPr>
            <a:r>
              <a:rPr lang="en-US" sz="1050" dirty="0">
                <a:solidFill>
                  <a:srgbClr val="5C6E73"/>
                </a:solidFill>
              </a:rPr>
              <a:t>Computational Genomics 76553  ·  HUJI  ·  MASLD snRNA-seq hackathon</a:t>
            </a:r>
            <a:endParaRPr lang="en-US" sz="1050" dirty="0"/>
          </a:p>
        </p:txBody>
      </p:sp>
      <p:sp>
        <p:nvSpPr>
          <p:cNvPr id="14" name="Text 12"/>
          <p:cNvSpPr/>
          <p:nvPr/>
        </p:nvSpPr>
        <p:spPr>
          <a:xfrm>
            <a:off x="11155680" y="6510528"/>
            <a:ext cx="548640" cy="274320"/>
          </a:xfrm>
          <a:prstGeom prst="rect">
            <a:avLst/>
          </a:prstGeom>
          <a:noFill/>
          <a:ln/>
        </p:spPr>
        <p:txBody>
          <a:bodyPr wrap="square" lIns="0" tIns="0" rIns="0" bIns="0" rtlCol="0" anchor="ctr"/>
          <a:lstStyle/>
          <a:p>
            <a:pPr algn="r" indent="0" marL="0">
              <a:buNone/>
            </a:pPr>
            <a:r>
              <a:rPr lang="en-US" sz="1050" dirty="0">
                <a:solidFill>
                  <a:srgbClr val="5C6E73"/>
                </a:solidFill>
              </a:rPr>
              <a:t>3</a:t>
            </a:r>
            <a:endParaRPr lang="en-US" sz="10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5F1"/>
        </a:solidFill>
      </p:bgPr>
    </p:bg>
    <p:spTree>
      <p:nvGrpSpPr>
        <p:cNvPr id="1" name=""/>
        <p:cNvGrpSpPr/>
        <p:nvPr/>
      </p:nvGrpSpPr>
      <p:grpSpPr>
        <a:xfrm>
          <a:off x="0" y="0"/>
          <a:ext cx="0" cy="0"/>
          <a:chOff x="0" y="0"/>
          <a:chExt cx="0" cy="0"/>
        </a:xfrm>
      </p:grpSpPr>
      <p:sp>
        <p:nvSpPr>
          <p:cNvPr id="2" name="Shape 0"/>
          <p:cNvSpPr/>
          <p:nvPr/>
        </p:nvSpPr>
        <p:spPr>
          <a:xfrm>
            <a:off x="457200" y="310896"/>
            <a:ext cx="146304" cy="237744"/>
          </a:xfrm>
          <a:prstGeom prst="rect">
            <a:avLst/>
          </a:prstGeom>
          <a:solidFill>
            <a:srgbClr val="C0561B"/>
          </a:solidFill>
          <a:ln/>
        </p:spPr>
      </p:sp>
      <p:sp>
        <p:nvSpPr>
          <p:cNvPr id="3" name="Text 1"/>
          <p:cNvSpPr/>
          <p:nvPr/>
        </p:nvSpPr>
        <p:spPr>
          <a:xfrm>
            <a:off x="676656" y="274320"/>
            <a:ext cx="7863840" cy="320040"/>
          </a:xfrm>
          <a:prstGeom prst="rect">
            <a:avLst/>
          </a:prstGeom>
          <a:noFill/>
          <a:ln/>
        </p:spPr>
        <p:txBody>
          <a:bodyPr wrap="square" lIns="0" tIns="0" rIns="0" bIns="0" rtlCol="0" anchor="ctr"/>
          <a:lstStyle/>
          <a:p>
            <a:pPr algn="l" indent="0" marL="0">
              <a:buNone/>
            </a:pPr>
            <a:r>
              <a:rPr lang="en-US" sz="1300" b="1" spc="300" kern="0" dirty="0">
                <a:solidFill>
                  <a:srgbClr val="C0561B"/>
                </a:solidFill>
              </a:rPr>
              <a:t>THE TISSUE — A CONFOUND</a:t>
            </a:r>
            <a:endParaRPr lang="en-US" sz="1300" dirty="0"/>
          </a:p>
        </p:txBody>
      </p:sp>
      <p:sp>
        <p:nvSpPr>
          <p:cNvPr id="4" name="Text 2"/>
          <p:cNvSpPr/>
          <p:nvPr/>
        </p:nvSpPr>
        <p:spPr>
          <a:xfrm>
            <a:off x="8595360" y="292608"/>
            <a:ext cx="3154680" cy="274320"/>
          </a:xfrm>
          <a:prstGeom prst="rect">
            <a:avLst/>
          </a:prstGeom>
          <a:noFill/>
          <a:ln/>
        </p:spPr>
        <p:txBody>
          <a:bodyPr wrap="square" lIns="0" tIns="0" rIns="0" bIns="0" rtlCol="0" anchor="ctr"/>
          <a:lstStyle/>
          <a:p>
            <a:pPr algn="r" indent="0" marL="0">
              <a:buNone/>
            </a:pPr>
            <a:r>
              <a:rPr lang="en-US" sz="1100" b="1" spc="200" kern="0" dirty="0">
                <a:solidFill>
                  <a:srgbClr val="1B6E78"/>
                </a:solidFill>
              </a:rPr>
              <a:t>THE CATCH</a:t>
            </a:r>
            <a:endParaRPr lang="en-US" sz="1100" dirty="0"/>
          </a:p>
        </p:txBody>
      </p:sp>
      <p:sp>
        <p:nvSpPr>
          <p:cNvPr id="5" name="Text 3"/>
          <p:cNvSpPr/>
          <p:nvPr/>
        </p:nvSpPr>
        <p:spPr>
          <a:xfrm>
            <a:off x="438912" y="585216"/>
            <a:ext cx="11338560" cy="777240"/>
          </a:xfrm>
          <a:prstGeom prst="rect">
            <a:avLst/>
          </a:prstGeom>
          <a:noFill/>
          <a:ln/>
        </p:spPr>
        <p:txBody>
          <a:bodyPr wrap="square" lIns="0" tIns="0" rIns="0" bIns="0" rtlCol="0" anchor="t"/>
          <a:lstStyle/>
          <a:p>
            <a:pPr algn="l" indent="0" marL="0">
              <a:buNone/>
            </a:pPr>
            <a:r>
              <a:rPr lang="en-US" sz="2800" b="1" dirty="0">
                <a:solidFill>
                  <a:srgbClr val="1B2B31"/>
                </a:solidFill>
                <a:latin typeface="Georgia" pitchFamily="34" charset="0"/>
                <a:ea typeface="Georgia" pitchFamily="34" charset="-122"/>
                <a:cs typeface="Georgia" pitchFamily="34" charset="-120"/>
              </a:rPr>
              <a:t>Stage is entangled with how the tissue was taken</a:t>
            </a:r>
            <a:endParaRPr lang="en-US" sz="2800" dirty="0"/>
          </a:p>
        </p:txBody>
      </p:sp>
      <p:sp>
        <p:nvSpPr>
          <p:cNvPr id="6" name="Shape 4"/>
          <p:cNvSpPr/>
          <p:nvPr/>
        </p:nvSpPr>
        <p:spPr>
          <a:xfrm>
            <a:off x="914400" y="1481328"/>
            <a:ext cx="9235440" cy="0"/>
          </a:xfrm>
          <a:prstGeom prst="line">
            <a:avLst/>
          </a:prstGeom>
          <a:noFill/>
          <a:ln w="19050">
            <a:solidFill>
              <a:srgbClr val="5C6E73"/>
            </a:solidFill>
            <a:prstDash val="solid"/>
            <a:tailEnd type="triangle"/>
          </a:ln>
        </p:spPr>
      </p:sp>
      <p:sp>
        <p:nvSpPr>
          <p:cNvPr id="7" name="Shape 5"/>
          <p:cNvSpPr/>
          <p:nvPr/>
        </p:nvSpPr>
        <p:spPr>
          <a:xfrm>
            <a:off x="914400" y="1627632"/>
            <a:ext cx="1234440" cy="530352"/>
          </a:xfrm>
          <a:prstGeom prst="roundRect">
            <a:avLst>
              <a:gd name="adj" fmla="val 10345"/>
            </a:avLst>
          </a:prstGeom>
          <a:solidFill>
            <a:srgbClr val="BE123C"/>
          </a:solidFill>
          <a:ln/>
          <a:effectLst>
            <a:outerShdw sx="100000" sy="100000" kx="0" ky="0" algn="bl" rotWithShape="0" blurRad="88900" dist="38100" dir="5400000">
              <a:srgbClr val="000000">
                <a:alpha val="12000"/>
              </a:srgbClr>
            </a:outerShdw>
          </a:effectLst>
        </p:spPr>
      </p:sp>
      <p:sp>
        <p:nvSpPr>
          <p:cNvPr id="8" name="Text 6"/>
          <p:cNvSpPr/>
          <p:nvPr/>
        </p:nvSpPr>
        <p:spPr>
          <a:xfrm>
            <a:off x="914400" y="1627632"/>
            <a:ext cx="1234440" cy="530352"/>
          </a:xfrm>
          <a:prstGeom prst="rect">
            <a:avLst/>
          </a:prstGeom>
          <a:noFill/>
          <a:ln/>
        </p:spPr>
        <p:txBody>
          <a:bodyPr wrap="square" rtlCol="0" anchor="ctr"/>
          <a:lstStyle/>
          <a:p>
            <a:pPr algn="ctr" indent="0" marL="0">
              <a:buNone/>
            </a:pPr>
            <a:r>
              <a:rPr lang="en-US" sz="1300" b="1" dirty="0">
                <a:solidFill>
                  <a:srgbClr val="FFFFFF"/>
                </a:solidFill>
              </a:rPr>
              <a:t>Healthy</a:t>
            </a:r>
            <a:endParaRPr lang="en-US" sz="1300" dirty="0"/>
          </a:p>
        </p:txBody>
      </p:sp>
      <p:sp>
        <p:nvSpPr>
          <p:cNvPr id="9" name="Shape 7"/>
          <p:cNvSpPr/>
          <p:nvPr/>
        </p:nvSpPr>
        <p:spPr>
          <a:xfrm>
            <a:off x="2468880" y="1627632"/>
            <a:ext cx="1005840" cy="530352"/>
          </a:xfrm>
          <a:prstGeom prst="roundRect">
            <a:avLst>
              <a:gd name="adj" fmla="val 10345"/>
            </a:avLst>
          </a:prstGeom>
          <a:solidFill>
            <a:srgbClr val="0D9488"/>
          </a:solidFill>
          <a:ln/>
          <a:effectLst>
            <a:outerShdw sx="100000" sy="100000" kx="0" ky="0" algn="bl" rotWithShape="0" blurRad="88900" dist="38100" dir="5400000">
              <a:srgbClr val="000000">
                <a:alpha val="12000"/>
              </a:srgbClr>
            </a:outerShdw>
          </a:effectLst>
        </p:spPr>
      </p:sp>
      <p:sp>
        <p:nvSpPr>
          <p:cNvPr id="10" name="Text 8"/>
          <p:cNvSpPr/>
          <p:nvPr/>
        </p:nvSpPr>
        <p:spPr>
          <a:xfrm>
            <a:off x="2468880" y="1627632"/>
            <a:ext cx="1005840" cy="530352"/>
          </a:xfrm>
          <a:prstGeom prst="rect">
            <a:avLst/>
          </a:prstGeom>
          <a:noFill/>
          <a:ln/>
        </p:spPr>
        <p:txBody>
          <a:bodyPr wrap="square" rtlCol="0" anchor="ctr"/>
          <a:lstStyle/>
          <a:p>
            <a:pPr algn="ctr" indent="0" marL="0">
              <a:buNone/>
            </a:pPr>
            <a:r>
              <a:rPr lang="en-US" sz="1300" b="1" dirty="0">
                <a:solidFill>
                  <a:srgbClr val="FFFFFF"/>
                </a:solidFill>
              </a:rPr>
              <a:t>F0</a:t>
            </a:r>
            <a:endParaRPr lang="en-US" sz="1300" dirty="0"/>
          </a:p>
        </p:txBody>
      </p:sp>
      <p:sp>
        <p:nvSpPr>
          <p:cNvPr id="11" name="Shape 9"/>
          <p:cNvSpPr/>
          <p:nvPr/>
        </p:nvSpPr>
        <p:spPr>
          <a:xfrm>
            <a:off x="3566160" y="1627632"/>
            <a:ext cx="1005840" cy="530352"/>
          </a:xfrm>
          <a:prstGeom prst="roundRect">
            <a:avLst>
              <a:gd name="adj" fmla="val 10345"/>
            </a:avLst>
          </a:prstGeom>
          <a:solidFill>
            <a:srgbClr val="0D9488"/>
          </a:solidFill>
          <a:ln/>
          <a:effectLst>
            <a:outerShdw sx="100000" sy="100000" kx="0" ky="0" algn="bl" rotWithShape="0" blurRad="88900" dist="38100" dir="5400000">
              <a:srgbClr val="000000">
                <a:alpha val="12000"/>
              </a:srgbClr>
            </a:outerShdw>
          </a:effectLst>
        </p:spPr>
      </p:sp>
      <p:sp>
        <p:nvSpPr>
          <p:cNvPr id="12" name="Text 10"/>
          <p:cNvSpPr/>
          <p:nvPr/>
        </p:nvSpPr>
        <p:spPr>
          <a:xfrm>
            <a:off x="3566160" y="1627632"/>
            <a:ext cx="1005840" cy="530352"/>
          </a:xfrm>
          <a:prstGeom prst="rect">
            <a:avLst/>
          </a:prstGeom>
          <a:noFill/>
          <a:ln/>
        </p:spPr>
        <p:txBody>
          <a:bodyPr wrap="square" rtlCol="0" anchor="ctr"/>
          <a:lstStyle/>
          <a:p>
            <a:pPr algn="ctr" indent="0" marL="0">
              <a:buNone/>
            </a:pPr>
            <a:r>
              <a:rPr lang="en-US" sz="1300" b="1" dirty="0">
                <a:solidFill>
                  <a:srgbClr val="FFFFFF"/>
                </a:solidFill>
              </a:rPr>
              <a:t>F1</a:t>
            </a:r>
            <a:endParaRPr lang="en-US" sz="1300" dirty="0"/>
          </a:p>
        </p:txBody>
      </p:sp>
      <p:sp>
        <p:nvSpPr>
          <p:cNvPr id="13" name="Shape 11"/>
          <p:cNvSpPr/>
          <p:nvPr/>
        </p:nvSpPr>
        <p:spPr>
          <a:xfrm>
            <a:off x="4663440" y="1627632"/>
            <a:ext cx="1005840" cy="530352"/>
          </a:xfrm>
          <a:prstGeom prst="roundRect">
            <a:avLst>
              <a:gd name="adj" fmla="val 10345"/>
            </a:avLst>
          </a:prstGeom>
          <a:solidFill>
            <a:srgbClr val="0D9488"/>
          </a:solidFill>
          <a:ln/>
          <a:effectLst>
            <a:outerShdw sx="100000" sy="100000" kx="0" ky="0" algn="bl" rotWithShape="0" blurRad="88900" dist="38100" dir="5400000">
              <a:srgbClr val="000000">
                <a:alpha val="12000"/>
              </a:srgbClr>
            </a:outerShdw>
          </a:effectLst>
        </p:spPr>
      </p:sp>
      <p:sp>
        <p:nvSpPr>
          <p:cNvPr id="14" name="Text 12"/>
          <p:cNvSpPr/>
          <p:nvPr/>
        </p:nvSpPr>
        <p:spPr>
          <a:xfrm>
            <a:off x="4663440" y="1627632"/>
            <a:ext cx="1005840" cy="530352"/>
          </a:xfrm>
          <a:prstGeom prst="rect">
            <a:avLst/>
          </a:prstGeom>
          <a:noFill/>
          <a:ln/>
        </p:spPr>
        <p:txBody>
          <a:bodyPr wrap="square" rtlCol="0" anchor="ctr"/>
          <a:lstStyle/>
          <a:p>
            <a:pPr algn="ctr" indent="0" marL="0">
              <a:buNone/>
            </a:pPr>
            <a:r>
              <a:rPr lang="en-US" sz="1300" b="1" dirty="0">
                <a:solidFill>
                  <a:srgbClr val="FFFFFF"/>
                </a:solidFill>
              </a:rPr>
              <a:t>F2</a:t>
            </a:r>
            <a:endParaRPr lang="en-US" sz="1300" dirty="0"/>
          </a:p>
        </p:txBody>
      </p:sp>
      <p:sp>
        <p:nvSpPr>
          <p:cNvPr id="15" name="Shape 13"/>
          <p:cNvSpPr/>
          <p:nvPr/>
        </p:nvSpPr>
        <p:spPr>
          <a:xfrm>
            <a:off x="5760720" y="1627632"/>
            <a:ext cx="1005840" cy="530352"/>
          </a:xfrm>
          <a:prstGeom prst="roundRect">
            <a:avLst>
              <a:gd name="adj" fmla="val 10345"/>
            </a:avLst>
          </a:prstGeom>
          <a:solidFill>
            <a:srgbClr val="0D9488"/>
          </a:solidFill>
          <a:ln/>
          <a:effectLst>
            <a:outerShdw sx="100000" sy="100000" kx="0" ky="0" algn="bl" rotWithShape="0" blurRad="88900" dist="38100" dir="5400000">
              <a:srgbClr val="000000">
                <a:alpha val="12000"/>
              </a:srgbClr>
            </a:outerShdw>
          </a:effectLst>
        </p:spPr>
      </p:sp>
      <p:sp>
        <p:nvSpPr>
          <p:cNvPr id="16" name="Text 14"/>
          <p:cNvSpPr/>
          <p:nvPr/>
        </p:nvSpPr>
        <p:spPr>
          <a:xfrm>
            <a:off x="5760720" y="1627632"/>
            <a:ext cx="1005840" cy="530352"/>
          </a:xfrm>
          <a:prstGeom prst="rect">
            <a:avLst/>
          </a:prstGeom>
          <a:noFill/>
          <a:ln/>
        </p:spPr>
        <p:txBody>
          <a:bodyPr wrap="square" rtlCol="0" anchor="ctr"/>
          <a:lstStyle/>
          <a:p>
            <a:pPr algn="ctr" indent="0" marL="0">
              <a:buNone/>
            </a:pPr>
            <a:r>
              <a:rPr lang="en-US" sz="1300" b="1" dirty="0">
                <a:solidFill>
                  <a:srgbClr val="FFFFFF"/>
                </a:solidFill>
              </a:rPr>
              <a:t>F3</a:t>
            </a:r>
            <a:endParaRPr lang="en-US" sz="1300" dirty="0"/>
          </a:p>
        </p:txBody>
      </p:sp>
      <p:sp>
        <p:nvSpPr>
          <p:cNvPr id="17" name="Shape 15"/>
          <p:cNvSpPr/>
          <p:nvPr/>
        </p:nvSpPr>
        <p:spPr>
          <a:xfrm>
            <a:off x="6858000" y="1627632"/>
            <a:ext cx="1005840" cy="530352"/>
          </a:xfrm>
          <a:prstGeom prst="roundRect">
            <a:avLst>
              <a:gd name="adj" fmla="val 10345"/>
            </a:avLst>
          </a:prstGeom>
          <a:solidFill>
            <a:srgbClr val="0D9488"/>
          </a:solidFill>
          <a:ln/>
          <a:effectLst>
            <a:outerShdw sx="100000" sy="100000" kx="0" ky="0" algn="bl" rotWithShape="0" blurRad="88900" dist="38100" dir="5400000">
              <a:srgbClr val="000000">
                <a:alpha val="12000"/>
              </a:srgbClr>
            </a:outerShdw>
          </a:effectLst>
        </p:spPr>
      </p:sp>
      <p:sp>
        <p:nvSpPr>
          <p:cNvPr id="18" name="Text 16"/>
          <p:cNvSpPr/>
          <p:nvPr/>
        </p:nvSpPr>
        <p:spPr>
          <a:xfrm>
            <a:off x="6858000" y="1627632"/>
            <a:ext cx="1005840" cy="530352"/>
          </a:xfrm>
          <a:prstGeom prst="rect">
            <a:avLst/>
          </a:prstGeom>
          <a:noFill/>
          <a:ln/>
        </p:spPr>
        <p:txBody>
          <a:bodyPr wrap="square" rtlCol="0" anchor="ctr"/>
          <a:lstStyle/>
          <a:p>
            <a:pPr algn="ctr" indent="0" marL="0">
              <a:buNone/>
            </a:pPr>
            <a:r>
              <a:rPr lang="en-US" sz="1300" b="1" dirty="0">
                <a:solidFill>
                  <a:srgbClr val="FFFFFF"/>
                </a:solidFill>
              </a:rPr>
              <a:t>F4</a:t>
            </a:r>
            <a:endParaRPr lang="en-US" sz="1300" dirty="0"/>
          </a:p>
        </p:txBody>
      </p:sp>
      <p:sp>
        <p:nvSpPr>
          <p:cNvPr id="19" name="Shape 17"/>
          <p:cNvSpPr/>
          <p:nvPr/>
        </p:nvSpPr>
        <p:spPr>
          <a:xfrm>
            <a:off x="8229600" y="1627632"/>
            <a:ext cx="1920240" cy="530352"/>
          </a:xfrm>
          <a:prstGeom prst="roundRect">
            <a:avLst>
              <a:gd name="adj" fmla="val 10345"/>
            </a:avLst>
          </a:prstGeom>
          <a:solidFill>
            <a:srgbClr val="86198F"/>
          </a:solidFill>
          <a:ln/>
          <a:effectLst>
            <a:outerShdw sx="100000" sy="100000" kx="0" ky="0" algn="bl" rotWithShape="0" blurRad="88900" dist="38100" dir="5400000">
              <a:srgbClr val="000000">
                <a:alpha val="12000"/>
              </a:srgbClr>
            </a:outerShdw>
          </a:effectLst>
        </p:spPr>
      </p:sp>
      <p:sp>
        <p:nvSpPr>
          <p:cNvPr id="20" name="Text 18"/>
          <p:cNvSpPr/>
          <p:nvPr/>
        </p:nvSpPr>
        <p:spPr>
          <a:xfrm>
            <a:off x="8229600" y="1627632"/>
            <a:ext cx="1920240" cy="530352"/>
          </a:xfrm>
          <a:prstGeom prst="rect">
            <a:avLst/>
          </a:prstGeom>
          <a:noFill/>
          <a:ln/>
        </p:spPr>
        <p:txBody>
          <a:bodyPr wrap="square" rtlCol="0" anchor="ctr"/>
          <a:lstStyle/>
          <a:p>
            <a:pPr algn="ctr" indent="0" marL="0">
              <a:buNone/>
            </a:pPr>
            <a:r>
              <a:rPr lang="en-US" sz="1300" b="1" dirty="0">
                <a:solidFill>
                  <a:srgbClr val="FFFFFF"/>
                </a:solidFill>
              </a:rPr>
              <a:t>End-stage</a:t>
            </a:r>
            <a:endParaRPr lang="en-US" sz="1300" dirty="0"/>
          </a:p>
        </p:txBody>
      </p:sp>
      <p:sp>
        <p:nvSpPr>
          <p:cNvPr id="21" name="Shape 19"/>
          <p:cNvSpPr/>
          <p:nvPr/>
        </p:nvSpPr>
        <p:spPr>
          <a:xfrm>
            <a:off x="850392" y="1572768"/>
            <a:ext cx="1362456" cy="896112"/>
          </a:xfrm>
          <a:prstGeom prst="rect">
            <a:avLst/>
          </a:prstGeom>
          <a:ln w="22860">
            <a:solidFill>
              <a:srgbClr val="BE123C"/>
            </a:solidFill>
            <a:prstDash val="dash"/>
          </a:ln>
        </p:spPr>
      </p:sp>
      <p:sp>
        <p:nvSpPr>
          <p:cNvPr id="22" name="Shape 20"/>
          <p:cNvSpPr/>
          <p:nvPr/>
        </p:nvSpPr>
        <p:spPr>
          <a:xfrm>
            <a:off x="8156448" y="1572768"/>
            <a:ext cx="2066544" cy="896112"/>
          </a:xfrm>
          <a:prstGeom prst="rect">
            <a:avLst/>
          </a:prstGeom>
          <a:ln w="22860">
            <a:solidFill>
              <a:srgbClr val="BE123C"/>
            </a:solidFill>
            <a:prstDash val="dash"/>
          </a:ln>
        </p:spPr>
      </p:sp>
      <p:sp>
        <p:nvSpPr>
          <p:cNvPr id="23" name="Text 21"/>
          <p:cNvSpPr/>
          <p:nvPr/>
        </p:nvSpPr>
        <p:spPr>
          <a:xfrm>
            <a:off x="502920" y="2212848"/>
            <a:ext cx="2103120" cy="228600"/>
          </a:xfrm>
          <a:prstGeom prst="rect">
            <a:avLst/>
          </a:prstGeom>
          <a:noFill/>
          <a:ln/>
        </p:spPr>
        <p:txBody>
          <a:bodyPr wrap="square" rtlCol="0" anchor="ctr"/>
          <a:lstStyle/>
          <a:p>
            <a:pPr algn="ctr" indent="0" marL="0">
              <a:buNone/>
            </a:pPr>
            <a:r>
              <a:rPr lang="en-US" sz="1100" dirty="0">
                <a:solidFill>
                  <a:srgbClr val="BE123C"/>
                </a:solidFill>
              </a:rPr>
              <a:t>deceased-donor ends</a:t>
            </a:r>
            <a:endParaRPr lang="en-US" sz="1100" dirty="0"/>
          </a:p>
        </p:txBody>
      </p:sp>
      <p:sp>
        <p:nvSpPr>
          <p:cNvPr id="24" name="Text 22"/>
          <p:cNvSpPr/>
          <p:nvPr/>
        </p:nvSpPr>
        <p:spPr>
          <a:xfrm>
            <a:off x="2468880" y="2212848"/>
            <a:ext cx="5029200" cy="228600"/>
          </a:xfrm>
          <a:prstGeom prst="rect">
            <a:avLst/>
          </a:prstGeom>
          <a:noFill/>
          <a:ln/>
        </p:spPr>
        <p:txBody>
          <a:bodyPr wrap="square" rtlCol="0" anchor="ctr"/>
          <a:lstStyle/>
          <a:p>
            <a:pPr algn="ctr" indent="0" marL="0">
              <a:buNone/>
            </a:pPr>
            <a:r>
              <a:rPr lang="en-US" sz="1200" b="1" dirty="0">
                <a:solidFill>
                  <a:srgbClr val="0D9488"/>
                </a:solidFill>
              </a:rPr>
              <a:t>16-gauge needle biopsies</a:t>
            </a:r>
            <a:endParaRPr lang="en-US" sz="1200" dirty="0"/>
          </a:p>
        </p:txBody>
      </p:sp>
      <p:sp>
        <p:nvSpPr>
          <p:cNvPr id="25" name="Text 23"/>
          <p:cNvSpPr/>
          <p:nvPr/>
        </p:nvSpPr>
        <p:spPr>
          <a:xfrm>
            <a:off x="8156448" y="2212848"/>
            <a:ext cx="2066544" cy="228600"/>
          </a:xfrm>
          <a:prstGeom prst="rect">
            <a:avLst/>
          </a:prstGeom>
          <a:noFill/>
          <a:ln/>
        </p:spPr>
        <p:txBody>
          <a:bodyPr wrap="square" rtlCol="0" anchor="ctr"/>
          <a:lstStyle/>
          <a:p>
            <a:pPr algn="ctr" indent="0" marL="0">
              <a:buNone/>
            </a:pPr>
            <a:r>
              <a:rPr lang="en-US" sz="1100" dirty="0">
                <a:solidFill>
                  <a:srgbClr val="86198F"/>
                </a:solidFill>
              </a:rPr>
              <a:t>explants</a:t>
            </a:r>
            <a:endParaRPr lang="en-US" sz="1100" dirty="0"/>
          </a:p>
        </p:txBody>
      </p:sp>
      <p:sp>
        <p:nvSpPr>
          <p:cNvPr id="26" name="Text 24"/>
          <p:cNvSpPr/>
          <p:nvPr/>
        </p:nvSpPr>
        <p:spPr>
          <a:xfrm>
            <a:off x="914400" y="2606040"/>
            <a:ext cx="10241280" cy="457200"/>
          </a:xfrm>
          <a:prstGeom prst="rect">
            <a:avLst/>
          </a:prstGeom>
          <a:noFill/>
          <a:ln/>
        </p:spPr>
        <p:txBody>
          <a:bodyPr wrap="square" rtlCol="0" anchor="ctr"/>
          <a:lstStyle/>
          <a:p>
            <a:pPr algn="l" indent="0" marL="0">
              <a:buNone/>
            </a:pPr>
            <a:r>
              <a:rPr lang="en-US" sz="1350" b="1" dirty="0">
                <a:solidFill>
                  <a:srgbClr val="BE123C"/>
                </a:solidFill>
              </a:rPr>
              <a:t>Stage ⟂ acquisition. </a:t>
            </a:r>
            <a:pPr algn="l" indent="0" marL="0">
              <a:buNone/>
            </a:pPr>
            <a:r>
              <a:rPr lang="en-US" sz="1350" dirty="0">
                <a:solidFill>
                  <a:srgbClr val="1B2B31"/>
                </a:solidFill>
              </a:rPr>
              <a:t>Healthy &amp; end-stage are deceased-donor cubes / explants; only F0–F4 are biopsies (2/8/12/12/4). The ends aren’t acquisition-matched → </a:t>
            </a:r>
            <a:pPr algn="l" indent="0" marL="0">
              <a:buNone/>
            </a:pPr>
            <a:r>
              <a:rPr lang="en-US" sz="1350" b="1" dirty="0">
                <a:solidFill>
                  <a:srgbClr val="0D9488"/>
                </a:solidFill>
              </a:rPr>
              <a:t>we use biopsy-only F1–F4.</a:t>
            </a:r>
            <a:endParaRPr lang="en-US" sz="1350" dirty="0"/>
          </a:p>
        </p:txBody>
      </p:sp>
      <p:pic>
        <p:nvPicPr>
          <p:cNvPr id="27" name="Image 0" descr="D:\CS\Genomics\Hackathon\presentation/assets/fig_stress.png">    </p:cNvPr>
          <p:cNvPicPr>
            <a:picLocks noChangeAspect="1"/>
          </p:cNvPicPr>
          <p:nvPr/>
        </p:nvPicPr>
        <p:blipFill>
          <a:blip r:embed="rId1"/>
          <a:stretch>
            <a:fillRect/>
          </a:stretch>
        </p:blipFill>
        <p:spPr>
          <a:xfrm>
            <a:off x="599154" y="3246120"/>
            <a:ext cx="7031292" cy="2697480"/>
          </a:xfrm>
          <a:prstGeom prst="rect">
            <a:avLst/>
          </a:prstGeom>
        </p:spPr>
      </p:pic>
      <p:sp>
        <p:nvSpPr>
          <p:cNvPr id="28" name="Text 25"/>
          <p:cNvSpPr/>
          <p:nvPr/>
        </p:nvSpPr>
        <p:spPr>
          <a:xfrm>
            <a:off x="274320" y="5989320"/>
            <a:ext cx="7680960" cy="365760"/>
          </a:xfrm>
          <a:prstGeom prst="rect">
            <a:avLst/>
          </a:prstGeom>
          <a:noFill/>
          <a:ln/>
        </p:spPr>
        <p:txBody>
          <a:bodyPr wrap="square" lIns="0" tIns="0" rIns="0" bIns="0" rtlCol="0" anchor="ctr"/>
          <a:lstStyle/>
          <a:p>
            <a:pPr algn="ctr" indent="0" marL="0">
              <a:buNone/>
            </a:pPr>
            <a:r>
              <a:rPr lang="en-US" sz="1200" i="1" dirty="0">
                <a:solidFill>
                  <a:srgbClr val="5C6E73"/>
                </a:solidFill>
              </a:rPr>
              <a:t>Figure 1.  Procurement-stress module by source; the same spike appears in non-zonated endothelium.</a:t>
            </a:r>
            <a:endParaRPr lang="en-US" sz="1200" dirty="0"/>
          </a:p>
        </p:txBody>
      </p:sp>
      <p:sp>
        <p:nvSpPr>
          <p:cNvPr id="29" name="Shape 26"/>
          <p:cNvSpPr/>
          <p:nvPr/>
        </p:nvSpPr>
        <p:spPr>
          <a:xfrm>
            <a:off x="8183880" y="3291840"/>
            <a:ext cx="3703320" cy="2606040"/>
          </a:xfrm>
          <a:prstGeom prst="roundRect">
            <a:avLst>
              <a:gd name="adj" fmla="val 2807"/>
            </a:avLst>
          </a:prstGeom>
          <a:solidFill>
            <a:srgbClr val="FEF2F2"/>
          </a:solidFill>
          <a:ln/>
          <a:effectLst>
            <a:outerShdw sx="100000" sy="100000" kx="0" ky="0" algn="bl" rotWithShape="0" blurRad="88900" dist="38100" dir="5400000">
              <a:srgbClr val="000000">
                <a:alpha val="12000"/>
              </a:srgbClr>
            </a:outerShdw>
          </a:effectLst>
        </p:spPr>
      </p:sp>
      <p:sp>
        <p:nvSpPr>
          <p:cNvPr id="30" name="Text 27"/>
          <p:cNvSpPr/>
          <p:nvPr/>
        </p:nvSpPr>
        <p:spPr>
          <a:xfrm>
            <a:off x="8366760" y="3401568"/>
            <a:ext cx="3337560" cy="2377440"/>
          </a:xfrm>
          <a:prstGeom prst="rect">
            <a:avLst/>
          </a:prstGeom>
          <a:noFill/>
          <a:ln/>
        </p:spPr>
        <p:txBody>
          <a:bodyPr wrap="square" rtlCol="0" anchor="t"/>
          <a:lstStyle/>
          <a:p>
            <a:pPr algn="l" indent="0" marL="0">
              <a:buNone/>
            </a:pPr>
            <a:r>
              <a:rPr lang="en-US" sz="1400" b="1" dirty="0">
                <a:solidFill>
                  <a:srgbClr val="DC2626"/>
                </a:solidFill>
              </a:rPr>
              <a:t>…and the ends are stressed.
</a:t>
            </a:r>
            <a:endParaRPr lang="en-US" sz="1250" dirty="0"/>
          </a:p>
          <a:p>
            <a:pPr algn="l" indent="0" marL="0">
              <a:buNone/>
            </a:pPr>
            <a:r>
              <a:rPr lang="en-US" sz="1250" dirty="0">
                <a:solidFill>
                  <a:srgbClr val="1B2B31"/>
                </a:solidFill>
              </a:rPr>
              <a:t>IEG / HSP (FOS, JUN, ATF3, HSPA¹) spike 18× — but </a:t>
            </a:r>
            <a:pPr algn="l" indent="0" marL="0">
              <a:buNone/>
            </a:pPr>
            <a:r>
              <a:rPr lang="en-US" sz="1250" b="1" dirty="0">
                <a:solidFill>
                  <a:srgbClr val="1B2B31"/>
                </a:solidFill>
              </a:rPr>
              <a:t>endothelium (no zonation program) spikes 18× too</a:t>
            </a:r>
            <a:pPr algn="l" indent="0" marL="0">
              <a:buNone/>
            </a:pPr>
            <a:r>
              <a:rPr lang="en-US" sz="1250" dirty="0">
                <a:solidFill>
                  <a:srgbClr val="1B2B31"/>
                </a:solidFill>
              </a:rPr>
              <a:t>. Acute handling, not hypoxia (HIF flat 1.7–2.6×) → organ-wide acquisition, not zonation.</a:t>
            </a:r>
            <a:endParaRPr lang="en-US" sz="1250" dirty="0"/>
          </a:p>
        </p:txBody>
      </p:sp>
      <p:sp>
        <p:nvSpPr>
          <p:cNvPr id="31" name="Shape 28"/>
          <p:cNvSpPr/>
          <p:nvPr/>
        </p:nvSpPr>
        <p:spPr>
          <a:xfrm>
            <a:off x="457200" y="6199632"/>
            <a:ext cx="2926080" cy="0"/>
          </a:xfrm>
          <a:prstGeom prst="line">
            <a:avLst/>
          </a:prstGeom>
          <a:noFill/>
          <a:ln w="9525">
            <a:solidFill>
              <a:srgbClr val="C9C0B2"/>
            </a:solidFill>
            <a:prstDash val="solid"/>
          </a:ln>
        </p:spPr>
      </p:sp>
      <p:sp>
        <p:nvSpPr>
          <p:cNvPr id="32" name="Text 29"/>
          <p:cNvSpPr/>
          <p:nvPr/>
        </p:nvSpPr>
        <p:spPr>
          <a:xfrm>
            <a:off x="457200" y="6254496"/>
            <a:ext cx="10607040" cy="237744"/>
          </a:xfrm>
          <a:prstGeom prst="rect">
            <a:avLst/>
          </a:prstGeom>
          <a:noFill/>
          <a:ln/>
        </p:spPr>
        <p:txBody>
          <a:bodyPr wrap="square" lIns="0" tIns="0" rIns="0" bIns="0" rtlCol="0" anchor="ctr"/>
          <a:lstStyle/>
          <a:p>
            <a:pPr algn="l" indent="0" marL="0">
              <a:buNone/>
            </a:pPr>
            <a:r>
              <a:rPr lang="en-US" sz="1000" i="1" dirty="0">
                <a:solidFill>
                  <a:srgbClr val="6B6256"/>
                </a:solidFill>
              </a:rPr>
              <a:t>¹ Dissociation / handling artifact: van den Brink et al. 2017; O’Flanagan et al. 2019; Denisenko et al. 2020.   Provenance: paper Methods + GSE202379 metadata.</a:t>
            </a:r>
            <a:endParaRPr lang="en-US" sz="1000" dirty="0"/>
          </a:p>
        </p:txBody>
      </p:sp>
      <p:sp>
        <p:nvSpPr>
          <p:cNvPr id="33" name="Text 30"/>
          <p:cNvSpPr/>
          <p:nvPr/>
        </p:nvSpPr>
        <p:spPr>
          <a:xfrm>
            <a:off x="457200" y="6510528"/>
            <a:ext cx="9601200" cy="274320"/>
          </a:xfrm>
          <a:prstGeom prst="rect">
            <a:avLst/>
          </a:prstGeom>
          <a:noFill/>
          <a:ln/>
        </p:spPr>
        <p:txBody>
          <a:bodyPr wrap="square" lIns="0" tIns="0" rIns="0" bIns="0" rtlCol="0" anchor="ctr"/>
          <a:lstStyle/>
          <a:p>
            <a:pPr algn="l" indent="0" marL="0">
              <a:buNone/>
            </a:pPr>
            <a:r>
              <a:rPr lang="en-US" sz="1050" dirty="0">
                <a:solidFill>
                  <a:srgbClr val="5C6E73"/>
                </a:solidFill>
              </a:rPr>
              <a:t>Computational Genomics 76553  ·  HUJI  ·  MASLD snRNA-seq hackathon</a:t>
            </a:r>
            <a:endParaRPr lang="en-US" sz="1050" dirty="0"/>
          </a:p>
        </p:txBody>
      </p:sp>
      <p:sp>
        <p:nvSpPr>
          <p:cNvPr id="34" name="Text 31"/>
          <p:cNvSpPr/>
          <p:nvPr/>
        </p:nvSpPr>
        <p:spPr>
          <a:xfrm>
            <a:off x="11155680" y="6510528"/>
            <a:ext cx="548640" cy="274320"/>
          </a:xfrm>
          <a:prstGeom prst="rect">
            <a:avLst/>
          </a:prstGeom>
          <a:noFill/>
          <a:ln/>
        </p:spPr>
        <p:txBody>
          <a:bodyPr wrap="square" lIns="0" tIns="0" rIns="0" bIns="0" rtlCol="0" anchor="ctr"/>
          <a:lstStyle/>
          <a:p>
            <a:pPr algn="r" indent="0" marL="0">
              <a:buNone/>
            </a:pPr>
            <a:r>
              <a:rPr lang="en-US" sz="1050" dirty="0">
                <a:solidFill>
                  <a:srgbClr val="5C6E73"/>
                </a:solidFill>
              </a:rPr>
              <a:t>4</a:t>
            </a:r>
            <a:endParaRPr lang="en-US" sz="10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6242B"/>
        </a:solidFill>
      </p:bgPr>
    </p:bg>
    <p:spTree>
      <p:nvGrpSpPr>
        <p:cNvPr id="1" name=""/>
        <p:cNvGrpSpPr/>
        <p:nvPr/>
      </p:nvGrpSpPr>
      <p:grpSpPr>
        <a:xfrm>
          <a:off x="0" y="0"/>
          <a:ext cx="0" cy="0"/>
          <a:chOff x="0" y="0"/>
          <a:chExt cx="0" cy="0"/>
        </a:xfrm>
      </p:grpSpPr>
      <p:sp>
        <p:nvSpPr>
          <p:cNvPr id="2" name="Shape 0"/>
          <p:cNvSpPr/>
          <p:nvPr/>
        </p:nvSpPr>
        <p:spPr>
          <a:xfrm>
            <a:off x="0" y="0"/>
            <a:ext cx="256032" cy="6858000"/>
          </a:xfrm>
          <a:prstGeom prst="rect">
            <a:avLst/>
          </a:prstGeom>
          <a:solidFill>
            <a:srgbClr val="1B6E78"/>
          </a:solidFill>
          <a:ln/>
        </p:spPr>
      </p:sp>
      <p:sp>
        <p:nvSpPr>
          <p:cNvPr id="3" name="Shape 1"/>
          <p:cNvSpPr/>
          <p:nvPr/>
        </p:nvSpPr>
        <p:spPr>
          <a:xfrm>
            <a:off x="256032" y="0"/>
            <a:ext cx="109728" cy="6858000"/>
          </a:xfrm>
          <a:prstGeom prst="rect">
            <a:avLst/>
          </a:prstGeom>
          <a:solidFill>
            <a:srgbClr val="C0561B"/>
          </a:solidFill>
          <a:ln/>
        </p:spPr>
      </p:sp>
      <p:sp>
        <p:nvSpPr>
          <p:cNvPr id="4" name="Text 2"/>
          <p:cNvSpPr/>
          <p:nvPr/>
        </p:nvSpPr>
        <p:spPr>
          <a:xfrm>
            <a:off x="868680" y="2651760"/>
            <a:ext cx="10515600" cy="1005840"/>
          </a:xfrm>
          <a:prstGeom prst="rect">
            <a:avLst/>
          </a:prstGeom>
          <a:noFill/>
          <a:ln/>
        </p:spPr>
        <p:txBody>
          <a:bodyPr wrap="square" rtlCol="0" anchor="ctr"/>
          <a:lstStyle/>
          <a:p>
            <a:pPr algn="l" indent="0" marL="0">
              <a:buNone/>
            </a:pPr>
            <a:r>
              <a:rPr lang="en-US" sz="4400" b="1" dirty="0">
                <a:solidFill>
                  <a:srgbClr val="FFFFFF"/>
                </a:solidFill>
                <a:latin typeface="Georgia" pitchFamily="34" charset="0"/>
                <a:ea typeface="Georgia" pitchFamily="34" charset="-122"/>
                <a:cs typeface="Georgia" pitchFamily="34" charset="-120"/>
              </a:rPr>
              <a:t>Method</a:t>
            </a:r>
            <a:endParaRPr lang="en-US" sz="4400" dirty="0"/>
          </a:p>
        </p:txBody>
      </p:sp>
      <p:sp>
        <p:nvSpPr>
          <p:cNvPr id="5" name="Text 3"/>
          <p:cNvSpPr/>
          <p:nvPr/>
        </p:nvSpPr>
        <p:spPr>
          <a:xfrm>
            <a:off x="896112" y="3794760"/>
            <a:ext cx="10515600" cy="457200"/>
          </a:xfrm>
          <a:prstGeom prst="rect">
            <a:avLst/>
          </a:prstGeom>
          <a:noFill/>
          <a:ln/>
        </p:spPr>
        <p:txBody>
          <a:bodyPr wrap="square" rtlCol="0" anchor="ctr"/>
          <a:lstStyle/>
          <a:p>
            <a:pPr algn="l" indent="0" marL="0">
              <a:buNone/>
            </a:pPr>
            <a:r>
              <a:rPr lang="en-US" sz="1700" i="1" dirty="0">
                <a:solidFill>
                  <a:srgbClr val="9FC0C4"/>
                </a:solidFill>
              </a:rPr>
              <a:t>how we re-test it, in counts</a:t>
            </a:r>
            <a:endParaRPr lang="en-US" sz="17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5F1"/>
        </a:solidFill>
      </p:bgPr>
    </p:bg>
    <p:spTree>
      <p:nvGrpSpPr>
        <p:cNvPr id="1" name=""/>
        <p:cNvGrpSpPr/>
        <p:nvPr/>
      </p:nvGrpSpPr>
      <p:grpSpPr>
        <a:xfrm>
          <a:off x="0" y="0"/>
          <a:ext cx="0" cy="0"/>
          <a:chOff x="0" y="0"/>
          <a:chExt cx="0" cy="0"/>
        </a:xfrm>
      </p:grpSpPr>
      <p:sp>
        <p:nvSpPr>
          <p:cNvPr id="2" name="Shape 0"/>
          <p:cNvSpPr/>
          <p:nvPr/>
        </p:nvSpPr>
        <p:spPr>
          <a:xfrm>
            <a:off x="457200" y="310896"/>
            <a:ext cx="146304" cy="237744"/>
          </a:xfrm>
          <a:prstGeom prst="rect">
            <a:avLst/>
          </a:prstGeom>
          <a:solidFill>
            <a:srgbClr val="C0561B"/>
          </a:solidFill>
          <a:ln/>
        </p:spPr>
      </p:sp>
      <p:sp>
        <p:nvSpPr>
          <p:cNvPr id="3" name="Text 1"/>
          <p:cNvSpPr/>
          <p:nvPr/>
        </p:nvSpPr>
        <p:spPr>
          <a:xfrm>
            <a:off x="676656" y="274320"/>
            <a:ext cx="7863840" cy="320040"/>
          </a:xfrm>
          <a:prstGeom prst="rect">
            <a:avLst/>
          </a:prstGeom>
          <a:noFill/>
          <a:ln/>
        </p:spPr>
        <p:txBody>
          <a:bodyPr wrap="square" lIns="0" tIns="0" rIns="0" bIns="0" rtlCol="0" anchor="ctr"/>
          <a:lstStyle/>
          <a:p>
            <a:pPr algn="l" indent="0" marL="0">
              <a:buNone/>
            </a:pPr>
            <a:r>
              <a:rPr lang="en-US" sz="1300" b="1" spc="300" kern="0" dirty="0">
                <a:solidFill>
                  <a:srgbClr val="C0561B"/>
                </a:solidFill>
              </a:rPr>
              <a:t>THE VOCABULARY</a:t>
            </a:r>
            <a:endParaRPr lang="en-US" sz="1300" dirty="0"/>
          </a:p>
        </p:txBody>
      </p:sp>
      <p:sp>
        <p:nvSpPr>
          <p:cNvPr id="4" name="Text 2"/>
          <p:cNvSpPr/>
          <p:nvPr/>
        </p:nvSpPr>
        <p:spPr>
          <a:xfrm>
            <a:off x="8595360" y="292608"/>
            <a:ext cx="3154680" cy="274320"/>
          </a:xfrm>
          <a:prstGeom prst="rect">
            <a:avLst/>
          </a:prstGeom>
          <a:noFill/>
          <a:ln/>
        </p:spPr>
        <p:txBody>
          <a:bodyPr wrap="square" lIns="0" tIns="0" rIns="0" bIns="0" rtlCol="0" anchor="ctr"/>
          <a:lstStyle/>
          <a:p>
            <a:pPr algn="r" indent="0" marL="0">
              <a:buNone/>
            </a:pPr>
            <a:r>
              <a:rPr lang="en-US" sz="1100" b="1" spc="200" kern="0" dirty="0">
                <a:solidFill>
                  <a:srgbClr val="1B6E78"/>
                </a:solidFill>
              </a:rPr>
              <a:t>METHOD</a:t>
            </a:r>
            <a:endParaRPr lang="en-US" sz="1100" dirty="0"/>
          </a:p>
        </p:txBody>
      </p:sp>
      <p:sp>
        <p:nvSpPr>
          <p:cNvPr id="5" name="Text 3"/>
          <p:cNvSpPr/>
          <p:nvPr/>
        </p:nvSpPr>
        <p:spPr>
          <a:xfrm>
            <a:off x="438912" y="585216"/>
            <a:ext cx="11338560" cy="777240"/>
          </a:xfrm>
          <a:prstGeom prst="rect">
            <a:avLst/>
          </a:prstGeom>
          <a:noFill/>
          <a:ln/>
        </p:spPr>
        <p:txBody>
          <a:bodyPr wrap="square" lIns="0" tIns="0" rIns="0" bIns="0" rtlCol="0" anchor="t"/>
          <a:lstStyle/>
          <a:p>
            <a:pPr algn="l" indent="0" marL="0">
              <a:buNone/>
            </a:pPr>
            <a:r>
              <a:rPr lang="en-US" sz="2800" b="1" dirty="0">
                <a:solidFill>
                  <a:srgbClr val="1B2B31"/>
                </a:solidFill>
                <a:latin typeface="Georgia" pitchFamily="34" charset="0"/>
                <a:ea typeface="Georgia" pitchFamily="34" charset="-122"/>
                <a:cs typeface="Georgia" pitchFamily="34" charset="-120"/>
              </a:rPr>
              <a:t>Every hepatocyte falls in one of four classes</a:t>
            </a:r>
            <a:endParaRPr lang="en-US" sz="2800" dirty="0"/>
          </a:p>
        </p:txBody>
      </p:sp>
      <p:sp>
        <p:nvSpPr>
          <p:cNvPr id="6" name="Text 4"/>
          <p:cNvSpPr/>
          <p:nvPr/>
        </p:nvSpPr>
        <p:spPr>
          <a:xfrm>
            <a:off x="640080" y="1371600"/>
            <a:ext cx="11247120" cy="457200"/>
          </a:xfrm>
          <a:prstGeom prst="rect">
            <a:avLst/>
          </a:prstGeom>
          <a:noFill/>
          <a:ln/>
        </p:spPr>
        <p:txBody>
          <a:bodyPr wrap="square" rtlCol="0" anchor="ctr"/>
          <a:lstStyle/>
          <a:p>
            <a:pPr algn="l" indent="0" marL="0">
              <a:buNone/>
            </a:pPr>
            <a:r>
              <a:rPr lang="en-US" sz="1600" dirty="0">
                <a:solidFill>
                  <a:srgbClr val="1B2B31"/>
                </a:solidFill>
              </a:rPr>
              <a:t>Before asking how zonation could break down, we fix the words. Each hepatocyte falls into one of four mutually exclusive classes:</a:t>
            </a:r>
            <a:endParaRPr lang="en-US" sz="1600" dirty="0"/>
          </a:p>
        </p:txBody>
      </p:sp>
      <p:sp>
        <p:nvSpPr>
          <p:cNvPr id="7" name="Text 5"/>
          <p:cNvSpPr/>
          <p:nvPr/>
        </p:nvSpPr>
        <p:spPr>
          <a:xfrm>
            <a:off x="2697480" y="1993392"/>
            <a:ext cx="8366760" cy="274320"/>
          </a:xfrm>
          <a:prstGeom prst="rect">
            <a:avLst/>
          </a:prstGeom>
          <a:noFill/>
          <a:ln/>
        </p:spPr>
        <p:txBody>
          <a:bodyPr wrap="square" lIns="0" tIns="0" rIns="0" bIns="0" rtlCol="0" anchor="ctr"/>
          <a:lstStyle/>
          <a:p>
            <a:pPr algn="ctr" indent="0" marL="0">
              <a:buNone/>
            </a:pPr>
            <a:r>
              <a:rPr lang="en-US" sz="1200" b="1" spc="100" kern="0" dirty="0">
                <a:solidFill>
                  <a:srgbClr val="EA580C"/>
                </a:solidFill>
              </a:rPr>
              <a:t>PERIPORTAL PROGRAM  (varies across columns →)   ASS1, CPS1, PCK1 …</a:t>
            </a:r>
            <a:endParaRPr lang="en-US" sz="1200" dirty="0"/>
          </a:p>
        </p:txBody>
      </p:sp>
      <p:sp>
        <p:nvSpPr>
          <p:cNvPr id="8" name="Text 6"/>
          <p:cNvSpPr/>
          <p:nvPr/>
        </p:nvSpPr>
        <p:spPr>
          <a:xfrm>
            <a:off x="2697480" y="2286000"/>
            <a:ext cx="4069080" cy="274320"/>
          </a:xfrm>
          <a:prstGeom prst="rect">
            <a:avLst/>
          </a:prstGeom>
          <a:noFill/>
          <a:ln/>
        </p:spPr>
        <p:txBody>
          <a:bodyPr wrap="square" lIns="0" tIns="0" rIns="0" bIns="0" rtlCol="0" anchor="ctr"/>
          <a:lstStyle/>
          <a:p>
            <a:pPr algn="ctr" indent="0" marL="0">
              <a:buNone/>
            </a:pPr>
            <a:r>
              <a:rPr lang="en-US" sz="1250" b="1" dirty="0">
                <a:solidFill>
                  <a:srgbClr val="5C6E73"/>
                </a:solidFill>
              </a:rPr>
              <a:t>not detected</a:t>
            </a:r>
            <a:endParaRPr lang="en-US" sz="1250" dirty="0"/>
          </a:p>
        </p:txBody>
      </p:sp>
      <p:sp>
        <p:nvSpPr>
          <p:cNvPr id="9" name="Text 7"/>
          <p:cNvSpPr/>
          <p:nvPr/>
        </p:nvSpPr>
        <p:spPr>
          <a:xfrm>
            <a:off x="6995160" y="2286000"/>
            <a:ext cx="4069080" cy="274320"/>
          </a:xfrm>
          <a:prstGeom prst="rect">
            <a:avLst/>
          </a:prstGeom>
          <a:noFill/>
          <a:ln/>
        </p:spPr>
        <p:txBody>
          <a:bodyPr wrap="square" lIns="0" tIns="0" rIns="0" bIns="0" rtlCol="0" anchor="ctr"/>
          <a:lstStyle/>
          <a:p>
            <a:pPr algn="ctr" indent="0" marL="0">
              <a:buNone/>
            </a:pPr>
            <a:r>
              <a:rPr lang="en-US" sz="1250" b="1" dirty="0">
                <a:solidFill>
                  <a:srgbClr val="5C6E73"/>
                </a:solidFill>
              </a:rPr>
              <a:t>detected</a:t>
            </a:r>
            <a:endParaRPr lang="en-US" sz="1250" dirty="0"/>
          </a:p>
        </p:txBody>
      </p:sp>
      <p:sp>
        <p:nvSpPr>
          <p:cNvPr id="10" name="Text 8"/>
          <p:cNvSpPr/>
          <p:nvPr/>
        </p:nvSpPr>
        <p:spPr>
          <a:xfrm>
            <a:off x="320040" y="2194560"/>
            <a:ext cx="2286000" cy="960120"/>
          </a:xfrm>
          <a:prstGeom prst="rect">
            <a:avLst/>
          </a:prstGeom>
          <a:noFill/>
          <a:ln/>
        </p:spPr>
        <p:txBody>
          <a:bodyPr wrap="square" lIns="0" tIns="0" rIns="0" bIns="0" rtlCol="0" anchor="ctr"/>
          <a:lstStyle/>
          <a:p>
            <a:pPr algn="ctr" indent="0" marL="0">
              <a:buNone/>
            </a:pPr>
            <a:r>
              <a:rPr lang="en-US" sz="1200" b="1" dirty="0">
                <a:solidFill>
                  <a:srgbClr val="1D4ED8"/>
                </a:solidFill>
              </a:rPr>
              <a:t>PERICENTRAL</a:t>
            </a:r>
            <a:endParaRPr lang="en-US" sz="1200" dirty="0"/>
          </a:p>
          <a:p>
            <a:pPr algn="ctr" indent="0" marL="0">
              <a:buNone/>
            </a:pPr>
            <a:r>
              <a:rPr lang="en-US" sz="1200" b="1" dirty="0">
                <a:solidFill>
                  <a:srgbClr val="1D4ED8"/>
                </a:solidFill>
              </a:rPr>
              <a:t>PROGRAM</a:t>
            </a:r>
            <a:endParaRPr lang="en-US" sz="1200" dirty="0"/>
          </a:p>
          <a:p>
            <a:pPr algn="ctr" indent="0" marL="0">
              <a:buNone/>
            </a:pPr>
            <a:r>
              <a:rPr lang="en-US" sz="1200" b="1" dirty="0">
                <a:solidFill>
                  <a:srgbClr val="1D4ED8"/>
                </a:solidFill>
              </a:rPr>
              <a:t>(varies down rows ↓)</a:t>
            </a:r>
            <a:endParaRPr lang="en-US" sz="1200" dirty="0"/>
          </a:p>
          <a:p>
            <a:pPr algn="ctr" indent="0" marL="0">
              <a:buNone/>
            </a:pPr>
            <a:r>
              <a:rPr lang="en-US" sz="1200" b="1" dirty="0">
                <a:solidFill>
                  <a:srgbClr val="1D4ED8"/>
                </a:solidFill>
              </a:rPr>
              <a:t>GLUL, CYP …</a:t>
            </a:r>
            <a:endParaRPr lang="en-US" sz="1200" dirty="0"/>
          </a:p>
        </p:txBody>
      </p:sp>
      <p:sp>
        <p:nvSpPr>
          <p:cNvPr id="11" name="Text 9"/>
          <p:cNvSpPr/>
          <p:nvPr/>
        </p:nvSpPr>
        <p:spPr>
          <a:xfrm>
            <a:off x="365760" y="3200400"/>
            <a:ext cx="2194560" cy="274320"/>
          </a:xfrm>
          <a:prstGeom prst="rect">
            <a:avLst/>
          </a:prstGeom>
          <a:noFill/>
          <a:ln/>
        </p:spPr>
        <p:txBody>
          <a:bodyPr wrap="square" lIns="0" tIns="0" rIns="0" bIns="0" rtlCol="0" anchor="ctr"/>
          <a:lstStyle/>
          <a:p>
            <a:pPr algn="ctr" indent="0" marL="0">
              <a:buNone/>
            </a:pPr>
            <a:r>
              <a:rPr lang="en-US" sz="1250" b="1" dirty="0">
                <a:solidFill>
                  <a:srgbClr val="5C6E73"/>
                </a:solidFill>
              </a:rPr>
              <a:t>detected</a:t>
            </a:r>
            <a:endParaRPr lang="en-US" sz="1250" dirty="0"/>
          </a:p>
        </p:txBody>
      </p:sp>
      <p:sp>
        <p:nvSpPr>
          <p:cNvPr id="12" name="Text 10"/>
          <p:cNvSpPr/>
          <p:nvPr/>
        </p:nvSpPr>
        <p:spPr>
          <a:xfrm>
            <a:off x="365760" y="4754880"/>
            <a:ext cx="2194560" cy="274320"/>
          </a:xfrm>
          <a:prstGeom prst="rect">
            <a:avLst/>
          </a:prstGeom>
          <a:noFill/>
          <a:ln/>
        </p:spPr>
        <p:txBody>
          <a:bodyPr wrap="square" lIns="0" tIns="0" rIns="0" bIns="0" rtlCol="0" anchor="ctr"/>
          <a:lstStyle/>
          <a:p>
            <a:pPr algn="ctr" indent="0" marL="0">
              <a:buNone/>
            </a:pPr>
            <a:r>
              <a:rPr lang="en-US" sz="1250" b="1" dirty="0">
                <a:solidFill>
                  <a:srgbClr val="5C6E73"/>
                </a:solidFill>
              </a:rPr>
              <a:t>not detected</a:t>
            </a:r>
            <a:endParaRPr lang="en-US" sz="1250" dirty="0"/>
          </a:p>
        </p:txBody>
      </p:sp>
      <p:sp>
        <p:nvSpPr>
          <p:cNvPr id="13" name="Shape 11"/>
          <p:cNvSpPr/>
          <p:nvPr/>
        </p:nvSpPr>
        <p:spPr>
          <a:xfrm>
            <a:off x="2697480" y="2651760"/>
            <a:ext cx="4069080" cy="1417320"/>
          </a:xfrm>
          <a:prstGeom prst="roundRect">
            <a:avLst>
              <a:gd name="adj" fmla="val 4516"/>
            </a:avLst>
          </a:prstGeom>
          <a:solidFill>
            <a:srgbClr val="1D4ED8"/>
          </a:solidFill>
          <a:ln/>
          <a:effectLst>
            <a:outerShdw sx="100000" sy="100000" kx="0" ky="0" algn="bl" rotWithShape="0" blurRad="88900" dist="38100" dir="5400000">
              <a:srgbClr val="000000">
                <a:alpha val="12000"/>
              </a:srgbClr>
            </a:outerShdw>
          </a:effectLst>
        </p:spPr>
      </p:sp>
      <p:sp>
        <p:nvSpPr>
          <p:cNvPr id="14" name="Text 12"/>
          <p:cNvSpPr/>
          <p:nvPr/>
        </p:nvSpPr>
        <p:spPr>
          <a:xfrm>
            <a:off x="2862072" y="2770632"/>
            <a:ext cx="3739896" cy="457200"/>
          </a:xfrm>
          <a:prstGeom prst="rect">
            <a:avLst/>
          </a:prstGeom>
          <a:noFill/>
          <a:ln/>
        </p:spPr>
        <p:txBody>
          <a:bodyPr wrap="square" lIns="0" tIns="0" rIns="0" bIns="0" rtlCol="0" anchor="t"/>
          <a:lstStyle/>
          <a:p>
            <a:pPr algn="l" indent="0" marL="0">
              <a:buNone/>
            </a:pPr>
            <a:r>
              <a:rPr lang="en-US" sz="2000" b="1" dirty="0">
                <a:solidFill>
                  <a:srgbClr val="FFFFFF"/>
                </a:solidFill>
                <a:latin typeface="Georgia" pitchFamily="34" charset="0"/>
                <a:ea typeface="Georgia" pitchFamily="34" charset="-122"/>
                <a:cs typeface="Georgia" pitchFamily="34" charset="-120"/>
              </a:rPr>
              <a:t>PC-anchor</a:t>
            </a:r>
            <a:endParaRPr lang="en-US" sz="2000" dirty="0"/>
          </a:p>
        </p:txBody>
      </p:sp>
      <p:sp>
        <p:nvSpPr>
          <p:cNvPr id="15" name="Text 13"/>
          <p:cNvSpPr/>
          <p:nvPr/>
        </p:nvSpPr>
        <p:spPr>
          <a:xfrm>
            <a:off x="2862072" y="3273552"/>
            <a:ext cx="3739896" cy="685800"/>
          </a:xfrm>
          <a:prstGeom prst="rect">
            <a:avLst/>
          </a:prstGeom>
          <a:noFill/>
          <a:ln/>
        </p:spPr>
        <p:txBody>
          <a:bodyPr wrap="square" lIns="0" tIns="0" rIns="0" bIns="0" rtlCol="0" anchor="t"/>
          <a:lstStyle/>
          <a:p>
            <a:pPr algn="l" indent="0" marL="0">
              <a:buNone/>
            </a:pPr>
            <a:r>
              <a:rPr lang="en-US" sz="1350" dirty="0">
                <a:solidFill>
                  <a:srgbClr val="FFFFFF"/>
                </a:solidFill>
              </a:rPr>
              <a:t>Pericentral identity — pericentral genes detected, periportal genes silent.</a:t>
            </a:r>
            <a:endParaRPr lang="en-US" sz="1350" dirty="0"/>
          </a:p>
        </p:txBody>
      </p:sp>
      <p:sp>
        <p:nvSpPr>
          <p:cNvPr id="16" name="Shape 14"/>
          <p:cNvSpPr/>
          <p:nvPr/>
        </p:nvSpPr>
        <p:spPr>
          <a:xfrm>
            <a:off x="6995160" y="2651760"/>
            <a:ext cx="4069080" cy="1417320"/>
          </a:xfrm>
          <a:prstGeom prst="roundRect">
            <a:avLst>
              <a:gd name="adj" fmla="val 4516"/>
            </a:avLst>
          </a:prstGeom>
          <a:solidFill>
            <a:srgbClr val="7C3AED"/>
          </a:solidFill>
          <a:ln/>
          <a:effectLst>
            <a:outerShdw sx="100000" sy="100000" kx="0" ky="0" algn="bl" rotWithShape="0" blurRad="88900" dist="38100" dir="5400000">
              <a:srgbClr val="000000">
                <a:alpha val="12000"/>
              </a:srgbClr>
            </a:outerShdw>
          </a:effectLst>
        </p:spPr>
      </p:sp>
      <p:sp>
        <p:nvSpPr>
          <p:cNvPr id="17" name="Text 15"/>
          <p:cNvSpPr/>
          <p:nvPr/>
        </p:nvSpPr>
        <p:spPr>
          <a:xfrm>
            <a:off x="7159752" y="2770632"/>
            <a:ext cx="3739896" cy="457200"/>
          </a:xfrm>
          <a:prstGeom prst="rect">
            <a:avLst/>
          </a:prstGeom>
          <a:noFill/>
          <a:ln/>
        </p:spPr>
        <p:txBody>
          <a:bodyPr wrap="square" lIns="0" tIns="0" rIns="0" bIns="0" rtlCol="0" anchor="t"/>
          <a:lstStyle/>
          <a:p>
            <a:pPr algn="l" indent="0" marL="0">
              <a:buNone/>
            </a:pPr>
            <a:r>
              <a:rPr lang="en-US" sz="2000" b="1" dirty="0">
                <a:solidFill>
                  <a:srgbClr val="FFFFFF"/>
                </a:solidFill>
                <a:latin typeface="Georgia" pitchFamily="34" charset="0"/>
                <a:ea typeface="Georgia" pitchFamily="34" charset="-122"/>
                <a:cs typeface="Georgia" pitchFamily="34" charset="-120"/>
              </a:rPr>
              <a:t>Dual</a:t>
            </a:r>
            <a:endParaRPr lang="en-US" sz="2000" dirty="0"/>
          </a:p>
        </p:txBody>
      </p:sp>
      <p:sp>
        <p:nvSpPr>
          <p:cNvPr id="18" name="Text 16"/>
          <p:cNvSpPr/>
          <p:nvPr/>
        </p:nvSpPr>
        <p:spPr>
          <a:xfrm>
            <a:off x="7159752" y="3273552"/>
            <a:ext cx="3739896" cy="685800"/>
          </a:xfrm>
          <a:prstGeom prst="rect">
            <a:avLst/>
          </a:prstGeom>
          <a:noFill/>
          <a:ln/>
        </p:spPr>
        <p:txBody>
          <a:bodyPr wrap="square" lIns="0" tIns="0" rIns="0" bIns="0" rtlCol="0" anchor="t"/>
          <a:lstStyle/>
          <a:p>
            <a:pPr algn="l" indent="0" marL="0">
              <a:buNone/>
            </a:pPr>
            <a:r>
              <a:rPr lang="en-US" sz="1350" dirty="0">
                <a:solidFill>
                  <a:srgbClr val="FFFFFF"/>
                </a:solidFill>
              </a:rPr>
              <a:t>Co-expression — both programs detectable in the same nucleus.</a:t>
            </a:r>
            <a:endParaRPr lang="en-US" sz="1350" dirty="0"/>
          </a:p>
        </p:txBody>
      </p:sp>
      <p:sp>
        <p:nvSpPr>
          <p:cNvPr id="19" name="Shape 17"/>
          <p:cNvSpPr/>
          <p:nvPr/>
        </p:nvSpPr>
        <p:spPr>
          <a:xfrm>
            <a:off x="2697480" y="4206240"/>
            <a:ext cx="4069080" cy="1417320"/>
          </a:xfrm>
          <a:prstGeom prst="roundRect">
            <a:avLst>
              <a:gd name="adj" fmla="val 4516"/>
            </a:avLst>
          </a:prstGeom>
          <a:solidFill>
            <a:srgbClr val="9CA3AF"/>
          </a:solidFill>
          <a:ln/>
          <a:effectLst>
            <a:outerShdw sx="100000" sy="100000" kx="0" ky="0" algn="bl" rotWithShape="0" blurRad="88900" dist="38100" dir="5400000">
              <a:srgbClr val="000000">
                <a:alpha val="12000"/>
              </a:srgbClr>
            </a:outerShdw>
          </a:effectLst>
        </p:spPr>
      </p:sp>
      <p:sp>
        <p:nvSpPr>
          <p:cNvPr id="20" name="Text 18"/>
          <p:cNvSpPr/>
          <p:nvPr/>
        </p:nvSpPr>
        <p:spPr>
          <a:xfrm>
            <a:off x="2862072" y="4325112"/>
            <a:ext cx="3739896" cy="457200"/>
          </a:xfrm>
          <a:prstGeom prst="rect">
            <a:avLst/>
          </a:prstGeom>
          <a:noFill/>
          <a:ln/>
        </p:spPr>
        <p:txBody>
          <a:bodyPr wrap="square" lIns="0" tIns="0" rIns="0" bIns="0" rtlCol="0" anchor="t"/>
          <a:lstStyle/>
          <a:p>
            <a:pPr algn="l" indent="0" marL="0">
              <a:buNone/>
            </a:pPr>
            <a:r>
              <a:rPr lang="en-US" sz="2000" b="1" dirty="0">
                <a:solidFill>
                  <a:srgbClr val="1B2B31"/>
                </a:solidFill>
                <a:latin typeface="Georgia" pitchFamily="34" charset="0"/>
                <a:ea typeface="Georgia" pitchFamily="34" charset="-122"/>
                <a:cs typeface="Georgia" pitchFamily="34" charset="-120"/>
              </a:rPr>
              <a:t>Null</a:t>
            </a:r>
            <a:endParaRPr lang="en-US" sz="2000" dirty="0"/>
          </a:p>
        </p:txBody>
      </p:sp>
      <p:sp>
        <p:nvSpPr>
          <p:cNvPr id="21" name="Text 19"/>
          <p:cNvSpPr/>
          <p:nvPr/>
        </p:nvSpPr>
        <p:spPr>
          <a:xfrm>
            <a:off x="2862072" y="4828032"/>
            <a:ext cx="3739896" cy="685800"/>
          </a:xfrm>
          <a:prstGeom prst="rect">
            <a:avLst/>
          </a:prstGeom>
          <a:noFill/>
          <a:ln/>
        </p:spPr>
        <p:txBody>
          <a:bodyPr wrap="square" lIns="0" tIns="0" rIns="0" bIns="0" rtlCol="0" anchor="t"/>
          <a:lstStyle/>
          <a:p>
            <a:pPr algn="l" indent="0" marL="0">
              <a:buNone/>
            </a:pPr>
            <a:r>
              <a:rPr lang="en-US" sz="1350" dirty="0">
                <a:solidFill>
                  <a:srgbClr val="1B2B31"/>
                </a:solidFill>
              </a:rPr>
              <a:t>Double-negative — neither program detectable.</a:t>
            </a:r>
            <a:endParaRPr lang="en-US" sz="1350" dirty="0"/>
          </a:p>
        </p:txBody>
      </p:sp>
      <p:sp>
        <p:nvSpPr>
          <p:cNvPr id="22" name="Shape 20"/>
          <p:cNvSpPr/>
          <p:nvPr/>
        </p:nvSpPr>
        <p:spPr>
          <a:xfrm>
            <a:off x="6995160" y="4206240"/>
            <a:ext cx="4069080" cy="1417320"/>
          </a:xfrm>
          <a:prstGeom prst="roundRect">
            <a:avLst>
              <a:gd name="adj" fmla="val 4516"/>
            </a:avLst>
          </a:prstGeom>
          <a:solidFill>
            <a:srgbClr val="EA580C"/>
          </a:solidFill>
          <a:ln/>
          <a:effectLst>
            <a:outerShdw sx="100000" sy="100000" kx="0" ky="0" algn="bl" rotWithShape="0" blurRad="88900" dist="38100" dir="5400000">
              <a:srgbClr val="000000">
                <a:alpha val="12000"/>
              </a:srgbClr>
            </a:outerShdw>
          </a:effectLst>
        </p:spPr>
      </p:sp>
      <p:sp>
        <p:nvSpPr>
          <p:cNvPr id="23" name="Text 21"/>
          <p:cNvSpPr/>
          <p:nvPr/>
        </p:nvSpPr>
        <p:spPr>
          <a:xfrm>
            <a:off x="7159752" y="4325112"/>
            <a:ext cx="3739896" cy="457200"/>
          </a:xfrm>
          <a:prstGeom prst="rect">
            <a:avLst/>
          </a:prstGeom>
          <a:noFill/>
          <a:ln/>
        </p:spPr>
        <p:txBody>
          <a:bodyPr wrap="square" lIns="0" tIns="0" rIns="0" bIns="0" rtlCol="0" anchor="t"/>
          <a:lstStyle/>
          <a:p>
            <a:pPr algn="l" indent="0" marL="0">
              <a:buNone/>
            </a:pPr>
            <a:r>
              <a:rPr lang="en-US" sz="2000" b="1" dirty="0">
                <a:solidFill>
                  <a:srgbClr val="FFFFFF"/>
                </a:solidFill>
                <a:latin typeface="Georgia" pitchFamily="34" charset="0"/>
                <a:ea typeface="Georgia" pitchFamily="34" charset="-122"/>
                <a:cs typeface="Georgia" pitchFamily="34" charset="-120"/>
              </a:rPr>
              <a:t>PP-anchor</a:t>
            </a:r>
            <a:endParaRPr lang="en-US" sz="2000" dirty="0"/>
          </a:p>
        </p:txBody>
      </p:sp>
      <p:sp>
        <p:nvSpPr>
          <p:cNvPr id="24" name="Text 22"/>
          <p:cNvSpPr/>
          <p:nvPr/>
        </p:nvSpPr>
        <p:spPr>
          <a:xfrm>
            <a:off x="7159752" y="4828032"/>
            <a:ext cx="3739896" cy="685800"/>
          </a:xfrm>
          <a:prstGeom prst="rect">
            <a:avLst/>
          </a:prstGeom>
          <a:noFill/>
          <a:ln/>
        </p:spPr>
        <p:txBody>
          <a:bodyPr wrap="square" lIns="0" tIns="0" rIns="0" bIns="0" rtlCol="0" anchor="t"/>
          <a:lstStyle/>
          <a:p>
            <a:pPr algn="l" indent="0" marL="0">
              <a:buNone/>
            </a:pPr>
            <a:r>
              <a:rPr lang="en-US" sz="1350" dirty="0">
                <a:solidFill>
                  <a:srgbClr val="FFFFFF"/>
                </a:solidFill>
              </a:rPr>
              <a:t>Periportal identity — periportal genes detected, pericentral genes silent.</a:t>
            </a:r>
            <a:endParaRPr lang="en-US" sz="1350" dirty="0"/>
          </a:p>
        </p:txBody>
      </p:sp>
      <p:sp>
        <p:nvSpPr>
          <p:cNvPr id="25" name="Text 23"/>
          <p:cNvSpPr/>
          <p:nvPr/>
        </p:nvSpPr>
        <p:spPr>
          <a:xfrm>
            <a:off x="640080" y="5806440"/>
            <a:ext cx="11247120" cy="457200"/>
          </a:xfrm>
          <a:prstGeom prst="rect">
            <a:avLst/>
          </a:prstGeom>
          <a:noFill/>
          <a:ln/>
        </p:spPr>
        <p:txBody>
          <a:bodyPr wrap="square" rtlCol="0" anchor="ctr"/>
          <a:lstStyle/>
          <a:p>
            <a:pPr algn="l" indent="0" marL="0">
              <a:buNone/>
            </a:pPr>
            <a:r>
              <a:rPr lang="en-US" sz="1350" b="1" i="1" dirty="0">
                <a:solidFill>
                  <a:srgbClr val="5C6E73"/>
                </a:solidFill>
              </a:rPr>
              <a:t>These four classes are the vocabulary. </a:t>
            </a:r>
            <a:pPr algn="l" indent="0" marL="0">
              <a:buNone/>
            </a:pPr>
            <a:r>
              <a:rPr lang="en-US" sz="1350" i="1" dirty="0">
                <a:solidFill>
                  <a:srgbClr val="5C6E73"/>
                </a:solidFill>
              </a:rPr>
              <a:t>“Losing zonation” means cells </a:t>
            </a:r>
            <a:pPr algn="l" indent="0" marL="0">
              <a:buNone/>
            </a:pPr>
            <a:r>
              <a:rPr lang="en-US" sz="1350" i="1" dirty="0">
                <a:solidFill>
                  <a:srgbClr val="5C6E73"/>
                </a:solidFill>
              </a:rPr>
              <a:t>redistribute</a:t>
            </a:r>
            <a:pPr algn="l" indent="0" marL="0">
              <a:buNone/>
            </a:pPr>
            <a:r>
              <a:rPr lang="en-US" sz="1350" i="1" dirty="0">
                <a:solidFill>
                  <a:srgbClr val="5C6E73"/>
                </a:solidFill>
              </a:rPr>
              <a:t> across them — the next slide is the four ways that can happen, in these same colours.</a:t>
            </a:r>
            <a:endParaRPr lang="en-US" sz="1350" dirty="0"/>
          </a:p>
        </p:txBody>
      </p:sp>
      <p:sp>
        <p:nvSpPr>
          <p:cNvPr id="26" name="Text 24"/>
          <p:cNvSpPr/>
          <p:nvPr/>
        </p:nvSpPr>
        <p:spPr>
          <a:xfrm>
            <a:off x="457200" y="6510528"/>
            <a:ext cx="9601200" cy="274320"/>
          </a:xfrm>
          <a:prstGeom prst="rect">
            <a:avLst/>
          </a:prstGeom>
          <a:noFill/>
          <a:ln/>
        </p:spPr>
        <p:txBody>
          <a:bodyPr wrap="square" lIns="0" tIns="0" rIns="0" bIns="0" rtlCol="0" anchor="ctr"/>
          <a:lstStyle/>
          <a:p>
            <a:pPr algn="l" indent="0" marL="0">
              <a:buNone/>
            </a:pPr>
            <a:r>
              <a:rPr lang="en-US" sz="1050" dirty="0">
                <a:solidFill>
                  <a:srgbClr val="5C6E73"/>
                </a:solidFill>
              </a:rPr>
              <a:t>Computational Genomics 76553  ·  HUJI  ·  MASLD snRNA-seq hackathon</a:t>
            </a:r>
            <a:endParaRPr lang="en-US" sz="1050" dirty="0"/>
          </a:p>
        </p:txBody>
      </p:sp>
      <p:sp>
        <p:nvSpPr>
          <p:cNvPr id="27" name="Text 25"/>
          <p:cNvSpPr/>
          <p:nvPr/>
        </p:nvSpPr>
        <p:spPr>
          <a:xfrm>
            <a:off x="11155680" y="6510528"/>
            <a:ext cx="548640" cy="274320"/>
          </a:xfrm>
          <a:prstGeom prst="rect">
            <a:avLst/>
          </a:prstGeom>
          <a:noFill/>
          <a:ln/>
        </p:spPr>
        <p:txBody>
          <a:bodyPr wrap="square" lIns="0" tIns="0" rIns="0" bIns="0" rtlCol="0" anchor="ctr"/>
          <a:lstStyle/>
          <a:p>
            <a:pPr algn="r" indent="0" marL="0">
              <a:buNone/>
            </a:pPr>
            <a:r>
              <a:rPr lang="en-US" sz="1050" dirty="0">
                <a:solidFill>
                  <a:srgbClr val="5C6E73"/>
                </a:solidFill>
              </a:rPr>
              <a:t>5</a:t>
            </a:r>
            <a:endParaRPr lang="en-US" sz="10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5F1"/>
        </a:solidFill>
      </p:bgPr>
    </p:bg>
    <p:spTree>
      <p:nvGrpSpPr>
        <p:cNvPr id="1" name=""/>
        <p:cNvGrpSpPr/>
        <p:nvPr/>
      </p:nvGrpSpPr>
      <p:grpSpPr>
        <a:xfrm>
          <a:off x="0" y="0"/>
          <a:ext cx="0" cy="0"/>
          <a:chOff x="0" y="0"/>
          <a:chExt cx="0" cy="0"/>
        </a:xfrm>
      </p:grpSpPr>
      <p:sp>
        <p:nvSpPr>
          <p:cNvPr id="2" name="Shape 0"/>
          <p:cNvSpPr/>
          <p:nvPr/>
        </p:nvSpPr>
        <p:spPr>
          <a:xfrm>
            <a:off x="457200" y="310896"/>
            <a:ext cx="146304" cy="237744"/>
          </a:xfrm>
          <a:prstGeom prst="rect">
            <a:avLst/>
          </a:prstGeom>
          <a:solidFill>
            <a:srgbClr val="C0561B"/>
          </a:solidFill>
          <a:ln/>
        </p:spPr>
      </p:sp>
      <p:sp>
        <p:nvSpPr>
          <p:cNvPr id="3" name="Text 1"/>
          <p:cNvSpPr/>
          <p:nvPr/>
        </p:nvSpPr>
        <p:spPr>
          <a:xfrm>
            <a:off x="676656" y="274320"/>
            <a:ext cx="7863840" cy="320040"/>
          </a:xfrm>
          <a:prstGeom prst="rect">
            <a:avLst/>
          </a:prstGeom>
          <a:noFill/>
          <a:ln/>
        </p:spPr>
        <p:txBody>
          <a:bodyPr wrap="square" lIns="0" tIns="0" rIns="0" bIns="0" rtlCol="0" anchor="ctr"/>
          <a:lstStyle/>
          <a:p>
            <a:pPr algn="l" indent="0" marL="0">
              <a:buNone/>
            </a:pPr>
            <a:r>
              <a:rPr lang="en-US" sz="1300" b="1" spc="300" kern="0" dirty="0">
                <a:solidFill>
                  <a:srgbClr val="C0561B"/>
                </a:solidFill>
              </a:rPr>
              <a:t>WHAT WE TEST</a:t>
            </a:r>
            <a:endParaRPr lang="en-US" sz="1300" dirty="0"/>
          </a:p>
        </p:txBody>
      </p:sp>
      <p:sp>
        <p:nvSpPr>
          <p:cNvPr id="4" name="Text 2"/>
          <p:cNvSpPr/>
          <p:nvPr/>
        </p:nvSpPr>
        <p:spPr>
          <a:xfrm>
            <a:off x="8595360" y="292608"/>
            <a:ext cx="3154680" cy="274320"/>
          </a:xfrm>
          <a:prstGeom prst="rect">
            <a:avLst/>
          </a:prstGeom>
          <a:noFill/>
          <a:ln/>
        </p:spPr>
        <p:txBody>
          <a:bodyPr wrap="square" lIns="0" tIns="0" rIns="0" bIns="0" rtlCol="0" anchor="ctr"/>
          <a:lstStyle/>
          <a:p>
            <a:pPr algn="r" indent="0" marL="0">
              <a:buNone/>
            </a:pPr>
            <a:r>
              <a:rPr lang="en-US" sz="1100" b="1" spc="200" kern="0" dirty="0">
                <a:solidFill>
                  <a:srgbClr val="1B6E78"/>
                </a:solidFill>
              </a:rPr>
              <a:t>METHOD</a:t>
            </a:r>
            <a:endParaRPr lang="en-US" sz="1100" dirty="0"/>
          </a:p>
        </p:txBody>
      </p:sp>
      <p:sp>
        <p:nvSpPr>
          <p:cNvPr id="5" name="Text 3"/>
          <p:cNvSpPr/>
          <p:nvPr/>
        </p:nvSpPr>
        <p:spPr>
          <a:xfrm>
            <a:off x="438912" y="585216"/>
            <a:ext cx="11338560" cy="777240"/>
          </a:xfrm>
          <a:prstGeom prst="rect">
            <a:avLst/>
          </a:prstGeom>
          <a:noFill/>
          <a:ln/>
        </p:spPr>
        <p:txBody>
          <a:bodyPr wrap="square" lIns="0" tIns="0" rIns="0" bIns="0" rtlCol="0" anchor="t"/>
          <a:lstStyle/>
          <a:p>
            <a:pPr algn="l" indent="0" marL="0">
              <a:buNone/>
            </a:pPr>
            <a:r>
              <a:rPr lang="en-US" sz="2800" b="1" dirty="0">
                <a:solidFill>
                  <a:srgbClr val="1B2B31"/>
                </a:solidFill>
                <a:latin typeface="Georgia" pitchFamily="34" charset="0"/>
                <a:ea typeface="Georgia" pitchFamily="34" charset="-122"/>
                <a:cs typeface="Georgia" pitchFamily="34" charset="-120"/>
              </a:rPr>
              <a:t>Zonation loss is not one mechanism</a:t>
            </a:r>
            <a:endParaRPr lang="en-US" sz="2800" dirty="0"/>
          </a:p>
        </p:txBody>
      </p:sp>
      <p:sp>
        <p:nvSpPr>
          <p:cNvPr id="6" name="Text 4"/>
          <p:cNvSpPr/>
          <p:nvPr/>
        </p:nvSpPr>
        <p:spPr>
          <a:xfrm>
            <a:off x="640080" y="1463040"/>
            <a:ext cx="10972800" cy="640080"/>
          </a:xfrm>
          <a:prstGeom prst="rect">
            <a:avLst/>
          </a:prstGeom>
          <a:noFill/>
          <a:ln/>
        </p:spPr>
        <p:txBody>
          <a:bodyPr wrap="square" rtlCol="0" anchor="ctr"/>
          <a:lstStyle/>
          <a:p>
            <a:pPr algn="l" indent="0" marL="0">
              <a:buNone/>
            </a:pPr>
            <a:r>
              <a:rPr lang="en-US" sz="1700" dirty="0">
                <a:solidFill>
                  <a:srgbClr val="1B2B31"/>
                </a:solidFill>
              </a:rPr>
              <a:t>If the zonation expression signal breaks down, it can do so in distinct ways — each with its own count signature:</a:t>
            </a:r>
            <a:endParaRPr lang="en-US" sz="1700" dirty="0"/>
          </a:p>
        </p:txBody>
      </p:sp>
      <p:sp>
        <p:nvSpPr>
          <p:cNvPr id="7" name="Shape 5"/>
          <p:cNvSpPr/>
          <p:nvPr/>
        </p:nvSpPr>
        <p:spPr>
          <a:xfrm>
            <a:off x="914400" y="2377440"/>
            <a:ext cx="2377440" cy="1097280"/>
          </a:xfrm>
          <a:prstGeom prst="roundRect">
            <a:avLst>
              <a:gd name="adj" fmla="val 6667"/>
            </a:avLst>
          </a:prstGeom>
          <a:solidFill>
            <a:srgbClr val="1D4ED8"/>
          </a:solidFill>
          <a:ln/>
          <a:effectLst>
            <a:outerShdw sx="100000" sy="100000" kx="0" ky="0" algn="bl" rotWithShape="0" blurRad="88900" dist="38100" dir="5400000">
              <a:srgbClr val="000000">
                <a:alpha val="12000"/>
              </a:srgbClr>
            </a:outerShdw>
          </a:effectLst>
        </p:spPr>
      </p:sp>
      <p:sp>
        <p:nvSpPr>
          <p:cNvPr id="8" name="Text 6"/>
          <p:cNvSpPr/>
          <p:nvPr/>
        </p:nvSpPr>
        <p:spPr>
          <a:xfrm>
            <a:off x="914400" y="2377440"/>
            <a:ext cx="2377440" cy="1097280"/>
          </a:xfrm>
          <a:prstGeom prst="rect">
            <a:avLst/>
          </a:prstGeom>
          <a:noFill/>
          <a:ln/>
        </p:spPr>
        <p:txBody>
          <a:bodyPr wrap="square" lIns="25400" tIns="25400" rIns="25400" bIns="25400" rtlCol="0" anchor="ctr"/>
          <a:lstStyle/>
          <a:p>
            <a:pPr algn="ctr" indent="0" marL="0">
              <a:buNone/>
            </a:pPr>
            <a:r>
              <a:rPr lang="en-US" sz="1450" b="1" dirty="0">
                <a:solidFill>
                  <a:srgbClr val="FFFFFF"/>
                </a:solidFill>
              </a:rPr>
              <a:t>Depletion</a:t>
            </a:r>
            <a:endParaRPr lang="en-US" sz="1450" dirty="0"/>
          </a:p>
          <a:p>
            <a:pPr algn="ctr" indent="0" marL="0">
              <a:buNone/>
            </a:pPr>
            <a:r>
              <a:rPr lang="en-US" sz="1450" b="1" dirty="0">
                <a:solidFill>
                  <a:srgbClr val="FFFFFF"/>
                </a:solidFill>
              </a:rPr>
              <a:t>(an anchor box ↓)</a:t>
            </a:r>
            <a:endParaRPr lang="en-US" sz="1450" dirty="0"/>
          </a:p>
        </p:txBody>
      </p:sp>
      <p:sp>
        <p:nvSpPr>
          <p:cNvPr id="9" name="Shape 7"/>
          <p:cNvSpPr/>
          <p:nvPr/>
        </p:nvSpPr>
        <p:spPr>
          <a:xfrm>
            <a:off x="3520440" y="2377440"/>
            <a:ext cx="2377440" cy="1097280"/>
          </a:xfrm>
          <a:prstGeom prst="roundRect">
            <a:avLst>
              <a:gd name="adj" fmla="val 6667"/>
            </a:avLst>
          </a:prstGeom>
          <a:solidFill>
            <a:srgbClr val="7C3AED"/>
          </a:solidFill>
          <a:ln/>
          <a:effectLst>
            <a:outerShdw sx="100000" sy="100000" kx="0" ky="0" algn="bl" rotWithShape="0" blurRad="88900" dist="38100" dir="5400000">
              <a:srgbClr val="000000">
                <a:alpha val="12000"/>
              </a:srgbClr>
            </a:outerShdw>
          </a:effectLst>
        </p:spPr>
      </p:sp>
      <p:sp>
        <p:nvSpPr>
          <p:cNvPr id="10" name="Text 8"/>
          <p:cNvSpPr/>
          <p:nvPr/>
        </p:nvSpPr>
        <p:spPr>
          <a:xfrm>
            <a:off x="3520440" y="2377440"/>
            <a:ext cx="2377440" cy="1097280"/>
          </a:xfrm>
          <a:prstGeom prst="rect">
            <a:avLst/>
          </a:prstGeom>
          <a:noFill/>
          <a:ln/>
        </p:spPr>
        <p:txBody>
          <a:bodyPr wrap="square" lIns="25400" tIns="25400" rIns="25400" bIns="25400" rtlCol="0" anchor="ctr"/>
          <a:lstStyle/>
          <a:p>
            <a:pPr algn="ctr" indent="0" marL="0">
              <a:buNone/>
            </a:pPr>
            <a:r>
              <a:rPr lang="en-US" sz="1450" b="1" dirty="0">
                <a:solidFill>
                  <a:srgbClr val="FFFFFF"/>
                </a:solidFill>
              </a:rPr>
              <a:t>Co-expression</a:t>
            </a:r>
            <a:endParaRPr lang="en-US" sz="1450" dirty="0"/>
          </a:p>
          <a:p>
            <a:pPr algn="ctr" indent="0" marL="0">
              <a:buNone/>
            </a:pPr>
            <a:r>
              <a:rPr lang="en-US" sz="1450" b="1" dirty="0">
                <a:solidFill>
                  <a:srgbClr val="FFFFFF"/>
                </a:solidFill>
              </a:rPr>
              <a:t>(the dual box ↑)</a:t>
            </a:r>
            <a:endParaRPr lang="en-US" sz="1450" dirty="0"/>
          </a:p>
        </p:txBody>
      </p:sp>
      <p:sp>
        <p:nvSpPr>
          <p:cNvPr id="11" name="Shape 9"/>
          <p:cNvSpPr/>
          <p:nvPr/>
        </p:nvSpPr>
        <p:spPr>
          <a:xfrm>
            <a:off x="6126480" y="2377440"/>
            <a:ext cx="2377440" cy="1097280"/>
          </a:xfrm>
          <a:prstGeom prst="roundRect">
            <a:avLst>
              <a:gd name="adj" fmla="val 6667"/>
            </a:avLst>
          </a:prstGeom>
          <a:solidFill>
            <a:srgbClr val="9CA3AF"/>
          </a:solidFill>
          <a:ln/>
          <a:effectLst>
            <a:outerShdw sx="100000" sy="100000" kx="0" ky="0" algn="bl" rotWithShape="0" blurRad="88900" dist="38100" dir="5400000">
              <a:srgbClr val="000000">
                <a:alpha val="12000"/>
              </a:srgbClr>
            </a:outerShdw>
          </a:effectLst>
        </p:spPr>
      </p:sp>
      <p:sp>
        <p:nvSpPr>
          <p:cNvPr id="12" name="Text 10"/>
          <p:cNvSpPr/>
          <p:nvPr/>
        </p:nvSpPr>
        <p:spPr>
          <a:xfrm>
            <a:off x="6126480" y="2377440"/>
            <a:ext cx="2377440" cy="1097280"/>
          </a:xfrm>
          <a:prstGeom prst="rect">
            <a:avLst/>
          </a:prstGeom>
          <a:noFill/>
          <a:ln/>
        </p:spPr>
        <p:txBody>
          <a:bodyPr wrap="square" lIns="25400" tIns="25400" rIns="25400" bIns="25400" rtlCol="0" anchor="ctr"/>
          <a:lstStyle/>
          <a:p>
            <a:pPr algn="ctr" indent="0" marL="0">
              <a:buNone/>
            </a:pPr>
            <a:r>
              <a:rPr lang="en-US" sz="1450" b="1" dirty="0">
                <a:solidFill>
                  <a:srgbClr val="1B2B31"/>
                </a:solidFill>
              </a:rPr>
              <a:t>Turn-off</a:t>
            </a:r>
            <a:endParaRPr lang="en-US" sz="1450" dirty="0"/>
          </a:p>
          <a:p>
            <a:pPr algn="ctr" indent="0" marL="0">
              <a:buNone/>
            </a:pPr>
            <a:r>
              <a:rPr lang="en-US" sz="1450" b="1" dirty="0">
                <a:solidFill>
                  <a:srgbClr val="1B2B31"/>
                </a:solidFill>
              </a:rPr>
              <a:t>(the null box ↑)</a:t>
            </a:r>
            <a:endParaRPr lang="en-US" sz="1450" dirty="0"/>
          </a:p>
        </p:txBody>
      </p:sp>
      <p:sp>
        <p:nvSpPr>
          <p:cNvPr id="13" name="Shape 11"/>
          <p:cNvSpPr/>
          <p:nvPr/>
        </p:nvSpPr>
        <p:spPr>
          <a:xfrm>
            <a:off x="8732520" y="2377440"/>
            <a:ext cx="2606040" cy="1097280"/>
          </a:xfrm>
          <a:prstGeom prst="roundRect">
            <a:avLst>
              <a:gd name="adj" fmla="val 6667"/>
            </a:avLst>
          </a:prstGeom>
          <a:solidFill>
            <a:srgbClr val="EA580C"/>
          </a:solidFill>
          <a:ln/>
          <a:effectLst>
            <a:outerShdw sx="100000" sy="100000" kx="0" ky="0" algn="bl" rotWithShape="0" blurRad="88900" dist="38100" dir="5400000">
              <a:srgbClr val="000000">
                <a:alpha val="12000"/>
              </a:srgbClr>
            </a:outerShdw>
          </a:effectLst>
        </p:spPr>
      </p:sp>
      <p:sp>
        <p:nvSpPr>
          <p:cNvPr id="14" name="Text 12"/>
          <p:cNvSpPr/>
          <p:nvPr/>
        </p:nvSpPr>
        <p:spPr>
          <a:xfrm>
            <a:off x="8732520" y="2377440"/>
            <a:ext cx="2606040" cy="1097280"/>
          </a:xfrm>
          <a:prstGeom prst="rect">
            <a:avLst/>
          </a:prstGeom>
          <a:noFill/>
          <a:ln/>
        </p:spPr>
        <p:txBody>
          <a:bodyPr wrap="square" lIns="25400" tIns="25400" rIns="25400" bIns="25400" rtlCol="0" anchor="ctr"/>
          <a:lstStyle/>
          <a:p>
            <a:pPr algn="ctr" indent="0" marL="0">
              <a:buNone/>
            </a:pPr>
            <a:r>
              <a:rPr lang="en-US" sz="1450" b="1" dirty="0">
                <a:solidFill>
                  <a:srgbClr val="FFFFFF"/>
                </a:solidFill>
              </a:rPr>
              <a:t>Composition shift</a:t>
            </a:r>
            <a:endParaRPr lang="en-US" sz="1450" dirty="0"/>
          </a:p>
          <a:p>
            <a:pPr algn="ctr" indent="0" marL="0">
              <a:buNone/>
            </a:pPr>
            <a:r>
              <a:rPr lang="en-US" sz="1450" b="1" dirty="0">
                <a:solidFill>
                  <a:srgbClr val="FFFFFF"/>
                </a:solidFill>
              </a:rPr>
              <a:t>(PP : PC ratio moves)</a:t>
            </a:r>
            <a:endParaRPr lang="en-US" sz="1450" dirty="0"/>
          </a:p>
        </p:txBody>
      </p:sp>
      <p:sp>
        <p:nvSpPr>
          <p:cNvPr id="15" name="Text 13"/>
          <p:cNvSpPr/>
          <p:nvPr/>
        </p:nvSpPr>
        <p:spPr>
          <a:xfrm>
            <a:off x="914400" y="3886200"/>
            <a:ext cx="10881360" cy="640080"/>
          </a:xfrm>
          <a:prstGeom prst="rect">
            <a:avLst/>
          </a:prstGeom>
          <a:noFill/>
          <a:ln/>
        </p:spPr>
        <p:txBody>
          <a:bodyPr wrap="square" rtlCol="0" anchor="t"/>
          <a:lstStyle/>
          <a:p>
            <a:pPr algn="l" indent="0" marL="0">
              <a:buNone/>
            </a:pPr>
            <a:r>
              <a:rPr lang="en-US" sz="1500" dirty="0">
                <a:solidFill>
                  <a:srgbClr val="334155"/>
                </a:solidFill>
              </a:rPr>
              <a:t>We expected pericentral depletion — but an </a:t>
            </a:r>
            <a:pPr algn="l" indent="0" marL="0">
              <a:buNone/>
            </a:pPr>
            <a:r>
              <a:rPr lang="en-US" sz="1500" b="1" dirty="0">
                <a:solidFill>
                  <a:srgbClr val="1D4ED8"/>
                </a:solidFill>
              </a:rPr>
              <a:t>emptying anchor box</a:t>
            </a:r>
            <a:pPr algn="l" indent="0" marL="0">
              <a:buNone/>
            </a:pPr>
            <a:r>
              <a:rPr lang="en-US" sz="1500" dirty="0">
                <a:solidFill>
                  <a:srgbClr val="334155"/>
                </a:solidFill>
              </a:rPr>
              <a:t> (depletion) and a </a:t>
            </a:r>
            <a:pPr algn="l" indent="0" marL="0">
              <a:buNone/>
            </a:pPr>
            <a:r>
              <a:rPr lang="en-US" sz="1500" b="1" dirty="0">
                <a:solidFill>
                  <a:srgbClr val="6B7280"/>
                </a:solidFill>
              </a:rPr>
              <a:t>filling null box</a:t>
            </a:r>
            <a:pPr algn="l" indent="0" marL="0">
              <a:buNone/>
            </a:pPr>
            <a:r>
              <a:rPr lang="en-US" sz="1500" dirty="0">
                <a:solidFill>
                  <a:srgbClr val="334155"/>
                </a:solidFill>
              </a:rPr>
              <a:t> (turn-off) are different boxes, opposite directions — neither implies the other. We track all four, not just the pericentral depletion we expected.</a:t>
            </a:r>
            <a:endParaRPr lang="en-US" sz="1500" dirty="0"/>
          </a:p>
        </p:txBody>
      </p:sp>
      <p:sp>
        <p:nvSpPr>
          <p:cNvPr id="16" name="Text 14"/>
          <p:cNvSpPr/>
          <p:nvPr/>
        </p:nvSpPr>
        <p:spPr>
          <a:xfrm>
            <a:off x="914400" y="4892040"/>
            <a:ext cx="10881360" cy="1188720"/>
          </a:xfrm>
          <a:prstGeom prst="rect">
            <a:avLst/>
          </a:prstGeom>
          <a:noFill/>
          <a:ln/>
        </p:spPr>
        <p:txBody>
          <a:bodyPr wrap="square" rtlCol="0" anchor="t"/>
          <a:lstStyle/>
          <a:p>
            <a:pPr algn="l" indent="0" marL="0">
              <a:buNone/>
            </a:pPr>
            <a:r>
              <a:rPr lang="en-US" sz="1500" i="1" dirty="0">
                <a:solidFill>
                  <a:srgbClr val="5C6E73"/>
                </a:solidFill>
              </a:rPr>
              <a:t>Any relative summary — a z-score, a marker correlation, a UMAP axis — is scale-free by construction: it divides out the absolute level, so it reads the gradient’s shape, not how many cells sit where. The four box-counts above collapse into one number; only counting molecules tells them apart.</a:t>
            </a:r>
            <a:endParaRPr lang="en-US" sz="1500" dirty="0"/>
          </a:p>
        </p:txBody>
      </p:sp>
      <p:sp>
        <p:nvSpPr>
          <p:cNvPr id="17" name="Text 15"/>
          <p:cNvSpPr/>
          <p:nvPr/>
        </p:nvSpPr>
        <p:spPr>
          <a:xfrm>
            <a:off x="457200" y="6510528"/>
            <a:ext cx="9601200" cy="274320"/>
          </a:xfrm>
          <a:prstGeom prst="rect">
            <a:avLst/>
          </a:prstGeom>
          <a:noFill/>
          <a:ln/>
        </p:spPr>
        <p:txBody>
          <a:bodyPr wrap="square" lIns="0" tIns="0" rIns="0" bIns="0" rtlCol="0" anchor="ctr"/>
          <a:lstStyle/>
          <a:p>
            <a:pPr algn="l" indent="0" marL="0">
              <a:buNone/>
            </a:pPr>
            <a:r>
              <a:rPr lang="en-US" sz="1050" dirty="0">
                <a:solidFill>
                  <a:srgbClr val="5C6E73"/>
                </a:solidFill>
              </a:rPr>
              <a:t>Computational Genomics 76553  ·  HUJI  ·  MASLD snRNA-seq hackathon</a:t>
            </a:r>
            <a:endParaRPr lang="en-US" sz="1050" dirty="0"/>
          </a:p>
        </p:txBody>
      </p:sp>
      <p:sp>
        <p:nvSpPr>
          <p:cNvPr id="18" name="Text 16"/>
          <p:cNvSpPr/>
          <p:nvPr/>
        </p:nvSpPr>
        <p:spPr>
          <a:xfrm>
            <a:off x="11155680" y="6510528"/>
            <a:ext cx="548640" cy="274320"/>
          </a:xfrm>
          <a:prstGeom prst="rect">
            <a:avLst/>
          </a:prstGeom>
          <a:noFill/>
          <a:ln/>
        </p:spPr>
        <p:txBody>
          <a:bodyPr wrap="square" lIns="0" tIns="0" rIns="0" bIns="0" rtlCol="0" anchor="ctr"/>
          <a:lstStyle/>
          <a:p>
            <a:pPr algn="r" indent="0" marL="0">
              <a:buNone/>
            </a:pPr>
            <a:r>
              <a:rPr lang="en-US" sz="1050" dirty="0">
                <a:solidFill>
                  <a:srgbClr val="5C6E73"/>
                </a:solidFill>
              </a:rPr>
              <a:t>6</a:t>
            </a:r>
            <a:endParaRPr lang="en-US" sz="10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5F1"/>
        </a:solidFill>
      </p:bgPr>
    </p:bg>
    <p:spTree>
      <p:nvGrpSpPr>
        <p:cNvPr id="1" name=""/>
        <p:cNvGrpSpPr/>
        <p:nvPr/>
      </p:nvGrpSpPr>
      <p:grpSpPr>
        <a:xfrm>
          <a:off x="0" y="0"/>
          <a:ext cx="0" cy="0"/>
          <a:chOff x="0" y="0"/>
          <a:chExt cx="0" cy="0"/>
        </a:xfrm>
      </p:grpSpPr>
      <p:sp>
        <p:nvSpPr>
          <p:cNvPr id="2" name="Shape 0"/>
          <p:cNvSpPr/>
          <p:nvPr/>
        </p:nvSpPr>
        <p:spPr>
          <a:xfrm>
            <a:off x="457200" y="310896"/>
            <a:ext cx="146304" cy="237744"/>
          </a:xfrm>
          <a:prstGeom prst="rect">
            <a:avLst/>
          </a:prstGeom>
          <a:solidFill>
            <a:srgbClr val="C0561B"/>
          </a:solidFill>
          <a:ln/>
        </p:spPr>
      </p:sp>
      <p:sp>
        <p:nvSpPr>
          <p:cNvPr id="3" name="Text 1"/>
          <p:cNvSpPr/>
          <p:nvPr/>
        </p:nvSpPr>
        <p:spPr>
          <a:xfrm>
            <a:off x="676656" y="274320"/>
            <a:ext cx="7863840" cy="320040"/>
          </a:xfrm>
          <a:prstGeom prst="rect">
            <a:avLst/>
          </a:prstGeom>
          <a:noFill/>
          <a:ln/>
        </p:spPr>
        <p:txBody>
          <a:bodyPr wrap="square" lIns="0" tIns="0" rIns="0" bIns="0" rtlCol="0" anchor="ctr"/>
          <a:lstStyle/>
          <a:p>
            <a:pPr algn="l" indent="0" marL="0">
              <a:buNone/>
            </a:pPr>
            <a:r>
              <a:rPr lang="en-US" sz="1300" b="1" spc="300" kern="0" dirty="0">
                <a:solidFill>
                  <a:srgbClr val="C0561B"/>
                </a:solidFill>
              </a:rPr>
              <a:t>THE GRADIENT AXIS</a:t>
            </a:r>
            <a:endParaRPr lang="en-US" sz="1300" dirty="0"/>
          </a:p>
        </p:txBody>
      </p:sp>
      <p:sp>
        <p:nvSpPr>
          <p:cNvPr id="4" name="Text 2"/>
          <p:cNvSpPr/>
          <p:nvPr/>
        </p:nvSpPr>
        <p:spPr>
          <a:xfrm>
            <a:off x="8595360" y="292608"/>
            <a:ext cx="3154680" cy="274320"/>
          </a:xfrm>
          <a:prstGeom prst="rect">
            <a:avLst/>
          </a:prstGeom>
          <a:noFill/>
          <a:ln/>
        </p:spPr>
        <p:txBody>
          <a:bodyPr wrap="square" lIns="0" tIns="0" rIns="0" bIns="0" rtlCol="0" anchor="ctr"/>
          <a:lstStyle/>
          <a:p>
            <a:pPr algn="r" indent="0" marL="0">
              <a:buNone/>
            </a:pPr>
            <a:r>
              <a:rPr lang="en-US" sz="1100" b="1" spc="200" kern="0" dirty="0">
                <a:solidFill>
                  <a:srgbClr val="1B6E78"/>
                </a:solidFill>
              </a:rPr>
              <a:t>METHOD</a:t>
            </a:r>
            <a:endParaRPr lang="en-US" sz="1100" dirty="0"/>
          </a:p>
        </p:txBody>
      </p:sp>
      <p:sp>
        <p:nvSpPr>
          <p:cNvPr id="5" name="Text 3"/>
          <p:cNvSpPr/>
          <p:nvPr/>
        </p:nvSpPr>
        <p:spPr>
          <a:xfrm>
            <a:off x="438912" y="585216"/>
            <a:ext cx="11338560" cy="777240"/>
          </a:xfrm>
          <a:prstGeom prst="rect">
            <a:avLst/>
          </a:prstGeom>
          <a:noFill/>
          <a:ln/>
        </p:spPr>
        <p:txBody>
          <a:bodyPr wrap="square" lIns="0" tIns="0" rIns="0" bIns="0" rtlCol="0" anchor="t"/>
          <a:lstStyle/>
          <a:p>
            <a:pPr algn="l" indent="0" marL="0">
              <a:buNone/>
            </a:pPr>
            <a:r>
              <a:rPr lang="en-US" sz="2800" b="1" dirty="0">
                <a:solidFill>
                  <a:srgbClr val="1B2B31"/>
                </a:solidFill>
                <a:latin typeface="Georgia" pitchFamily="34" charset="0"/>
                <a:ea typeface="Georgia" pitchFamily="34" charset="-122"/>
                <a:cs typeface="Georgia" pitchFamily="34" charset="-120"/>
              </a:rPr>
              <a:t>Beyond the boxes — zonation is a gradient</a:t>
            </a:r>
            <a:endParaRPr lang="en-US" sz="2800" dirty="0"/>
          </a:p>
        </p:txBody>
      </p:sp>
      <p:sp>
        <p:nvSpPr>
          <p:cNvPr id="6" name="Text 4"/>
          <p:cNvSpPr/>
          <p:nvPr/>
        </p:nvSpPr>
        <p:spPr>
          <a:xfrm>
            <a:off x="640080" y="1371600"/>
            <a:ext cx="11247120" cy="411480"/>
          </a:xfrm>
          <a:prstGeom prst="rect">
            <a:avLst/>
          </a:prstGeom>
          <a:noFill/>
          <a:ln/>
        </p:spPr>
        <p:txBody>
          <a:bodyPr wrap="square" rtlCol="0" anchor="ctr"/>
          <a:lstStyle/>
          <a:p>
            <a:pPr algn="l" indent="0" marL="0">
              <a:buNone/>
            </a:pPr>
            <a:r>
              <a:rPr lang="en-US" sz="1550" dirty="0">
                <a:solidFill>
                  <a:srgbClr val="1B2B31"/>
                </a:solidFill>
              </a:rPr>
              <a:t>Zonation is a continuous gradient — cells strung on an anti-diagonal. It can weaken two ways </a:t>
            </a:r>
            <a:pPr algn="l" indent="0" marL="0">
              <a:buNone/>
            </a:pPr>
            <a:r>
              <a:rPr lang="en-US" sz="1550" b="1" dirty="0">
                <a:solidFill>
                  <a:srgbClr val="1B2B31"/>
                </a:solidFill>
              </a:rPr>
              <a:t>without any cell changing class:</a:t>
            </a:r>
            <a:endParaRPr lang="en-US" sz="1550" dirty="0"/>
          </a:p>
        </p:txBody>
      </p:sp>
      <p:pic>
        <p:nvPicPr>
          <p:cNvPr id="7" name="Image 0" descr="D:\CS\Genomics\Hackathon\presentation/assets/fig_gradient_schematic.png">    </p:cNvPr>
          <p:cNvPicPr>
            <a:picLocks noChangeAspect="1"/>
          </p:cNvPicPr>
          <p:nvPr/>
        </p:nvPicPr>
        <p:blipFill>
          <a:blip r:embed="rId1"/>
          <a:stretch>
            <a:fillRect/>
          </a:stretch>
        </p:blipFill>
        <p:spPr>
          <a:xfrm>
            <a:off x="602144" y="1874520"/>
            <a:ext cx="6568113" cy="3703320"/>
          </a:xfrm>
          <a:prstGeom prst="rect">
            <a:avLst/>
          </a:prstGeom>
        </p:spPr>
      </p:pic>
      <p:sp>
        <p:nvSpPr>
          <p:cNvPr id="8" name="Shape 5"/>
          <p:cNvSpPr/>
          <p:nvPr/>
        </p:nvSpPr>
        <p:spPr>
          <a:xfrm>
            <a:off x="7543800" y="1920240"/>
            <a:ext cx="4251960" cy="1691640"/>
          </a:xfrm>
          <a:prstGeom prst="roundRect">
            <a:avLst>
              <a:gd name="adj" fmla="val 3243"/>
            </a:avLst>
          </a:prstGeom>
          <a:solidFill>
            <a:srgbClr val="FFFFFF"/>
          </a:solidFill>
          <a:ln w="12700">
            <a:solidFill>
              <a:srgbClr val="E2DCCF"/>
            </a:solidFill>
            <a:prstDash val="solid"/>
          </a:ln>
          <a:effectLst>
            <a:outerShdw sx="100000" sy="100000" kx="0" ky="0" algn="bl" rotWithShape="0" blurRad="88900" dist="38100" dir="5400000">
              <a:srgbClr val="000000">
                <a:alpha val="12000"/>
              </a:srgbClr>
            </a:outerShdw>
          </a:effectLst>
        </p:spPr>
      </p:sp>
      <p:sp>
        <p:nvSpPr>
          <p:cNvPr id="9" name="Text 6"/>
          <p:cNvSpPr/>
          <p:nvPr/>
        </p:nvSpPr>
        <p:spPr>
          <a:xfrm>
            <a:off x="7726680" y="2048256"/>
            <a:ext cx="3886200" cy="320040"/>
          </a:xfrm>
          <a:prstGeom prst="rect">
            <a:avLst/>
          </a:prstGeom>
          <a:noFill/>
          <a:ln/>
        </p:spPr>
        <p:txBody>
          <a:bodyPr wrap="square" lIns="0" tIns="0" rIns="0" bIns="0" rtlCol="0" anchor="ctr"/>
          <a:lstStyle/>
          <a:p>
            <a:pPr algn="l" indent="0" marL="0">
              <a:buNone/>
            </a:pPr>
            <a:r>
              <a:rPr lang="en-US" sz="1700" b="1" dirty="0">
                <a:solidFill>
                  <a:srgbClr val="1B6E78"/>
                </a:solidFill>
                <a:latin typeface="Georgia" pitchFamily="34" charset="0"/>
                <a:ea typeface="Georgia" pitchFamily="34" charset="-122"/>
                <a:cs typeface="Georgia" pitchFamily="34" charset="-120"/>
              </a:rPr>
              <a:t>Compression  </a:t>
            </a:r>
            <a:pPr algn="l" indent="0" marL="0">
              <a:buNone/>
            </a:pPr>
            <a:r>
              <a:rPr lang="en-US" sz="1300" i="1" dirty="0">
                <a:solidFill>
                  <a:srgbClr val="5C6E73"/>
                </a:solidFill>
              </a:rPr>
              <a:t>— shape</a:t>
            </a:r>
            <a:endParaRPr lang="en-US" sz="1700" dirty="0"/>
          </a:p>
        </p:txBody>
      </p:sp>
      <p:sp>
        <p:nvSpPr>
          <p:cNvPr id="10" name="Text 7"/>
          <p:cNvSpPr/>
          <p:nvPr/>
        </p:nvSpPr>
        <p:spPr>
          <a:xfrm>
            <a:off x="7726680" y="2432304"/>
            <a:ext cx="3886200" cy="502920"/>
          </a:xfrm>
          <a:prstGeom prst="rect">
            <a:avLst/>
          </a:prstGeom>
          <a:noFill/>
          <a:ln/>
        </p:spPr>
        <p:txBody>
          <a:bodyPr wrap="square" rtlCol="0" anchor="t"/>
          <a:lstStyle/>
          <a:p>
            <a:pPr algn="l" indent="0" marL="0">
              <a:buNone/>
            </a:pPr>
            <a:r>
              <a:rPr lang="en-US" sz="1300" dirty="0">
                <a:solidFill>
                  <a:srgbClr val="1B2B31"/>
                </a:solidFill>
              </a:rPr>
              <a:t>Balance drifts to the middle; the poles’ contrast shrinks.</a:t>
            </a:r>
            <a:endParaRPr lang="en-US" sz="1300" dirty="0"/>
          </a:p>
        </p:txBody>
      </p:sp>
      <p:sp>
        <p:nvSpPr>
          <p:cNvPr id="11" name="Text 8"/>
          <p:cNvSpPr/>
          <p:nvPr/>
        </p:nvSpPr>
        <p:spPr>
          <a:xfrm>
            <a:off x="7726680" y="3108960"/>
            <a:ext cx="3886200" cy="365760"/>
          </a:xfrm>
          <a:prstGeom prst="rect">
            <a:avLst/>
          </a:prstGeom>
          <a:noFill/>
          <a:ln/>
        </p:spPr>
        <p:txBody>
          <a:bodyPr wrap="square" rtlCol="0" anchor="t"/>
          <a:lstStyle/>
          <a:p>
            <a:pPr algn="l" indent="0" marL="0">
              <a:buNone/>
            </a:pPr>
            <a:r>
              <a:rPr lang="en-US" sz="1200" i="1" dirty="0">
                <a:solidFill>
                  <a:srgbClr val="14532D"/>
                </a:solidFill>
              </a:rPr>
              <a:t>Mild, non-monotone → </a:t>
            </a:r>
            <a:pPr algn="l" indent="0" marL="0">
              <a:buNone/>
            </a:pPr>
            <a:r>
              <a:rPr lang="en-US" sz="1200" b="1" i="1" dirty="0">
                <a:solidFill>
                  <a:srgbClr val="14532D"/>
                </a:solidFill>
              </a:rPr>
              <a:t>gradient present.</a:t>
            </a:r>
            <a:endParaRPr lang="en-US" sz="1200" dirty="0"/>
          </a:p>
        </p:txBody>
      </p:sp>
      <p:sp>
        <p:nvSpPr>
          <p:cNvPr id="12" name="Shape 9"/>
          <p:cNvSpPr/>
          <p:nvPr/>
        </p:nvSpPr>
        <p:spPr>
          <a:xfrm>
            <a:off x="7543800" y="3794760"/>
            <a:ext cx="4251960" cy="1737360"/>
          </a:xfrm>
          <a:prstGeom prst="roundRect">
            <a:avLst>
              <a:gd name="adj" fmla="val 3158"/>
            </a:avLst>
          </a:prstGeom>
          <a:solidFill>
            <a:srgbClr val="FFFFFF"/>
          </a:solidFill>
          <a:ln w="12700">
            <a:solidFill>
              <a:srgbClr val="E2DCCF"/>
            </a:solidFill>
            <a:prstDash val="solid"/>
          </a:ln>
          <a:effectLst>
            <a:outerShdw sx="100000" sy="100000" kx="0" ky="0" algn="bl" rotWithShape="0" blurRad="88900" dist="38100" dir="5400000">
              <a:srgbClr val="000000">
                <a:alpha val="12000"/>
              </a:srgbClr>
            </a:outerShdw>
          </a:effectLst>
        </p:spPr>
      </p:sp>
      <p:sp>
        <p:nvSpPr>
          <p:cNvPr id="13" name="Text 10"/>
          <p:cNvSpPr/>
          <p:nvPr/>
        </p:nvSpPr>
        <p:spPr>
          <a:xfrm>
            <a:off x="7726680" y="3922776"/>
            <a:ext cx="3886200" cy="320040"/>
          </a:xfrm>
          <a:prstGeom prst="rect">
            <a:avLst/>
          </a:prstGeom>
          <a:noFill/>
          <a:ln/>
        </p:spPr>
        <p:txBody>
          <a:bodyPr wrap="square" lIns="0" tIns="0" rIns="0" bIns="0" rtlCol="0" anchor="ctr"/>
          <a:lstStyle/>
          <a:p>
            <a:pPr algn="l" indent="0" marL="0">
              <a:buNone/>
            </a:pPr>
            <a:r>
              <a:rPr lang="en-US" sz="1700" b="1" dirty="0">
                <a:solidFill>
                  <a:srgbClr val="C0561B"/>
                </a:solidFill>
                <a:latin typeface="Georgia" pitchFamily="34" charset="0"/>
                <a:ea typeface="Georgia" pitchFamily="34" charset="-122"/>
                <a:cs typeface="Georgia" pitchFamily="34" charset="-120"/>
              </a:rPr>
              <a:t>Dimming  </a:t>
            </a:r>
            <a:pPr algn="l" indent="0" marL="0">
              <a:buNone/>
            </a:pPr>
            <a:r>
              <a:rPr lang="en-US" sz="1300" i="1" dirty="0">
                <a:solidFill>
                  <a:srgbClr val="5C6E73"/>
                </a:solidFill>
              </a:rPr>
              <a:t>— level</a:t>
            </a:r>
            <a:endParaRPr lang="en-US" sz="1700" dirty="0"/>
          </a:p>
        </p:txBody>
      </p:sp>
      <p:sp>
        <p:nvSpPr>
          <p:cNvPr id="14" name="Text 11"/>
          <p:cNvSpPr/>
          <p:nvPr/>
        </p:nvSpPr>
        <p:spPr>
          <a:xfrm>
            <a:off x="7726680" y="4306824"/>
            <a:ext cx="3886200" cy="548640"/>
          </a:xfrm>
          <a:prstGeom prst="rect">
            <a:avLst/>
          </a:prstGeom>
          <a:noFill/>
          <a:ln/>
        </p:spPr>
        <p:txBody>
          <a:bodyPr wrap="square" rtlCol="0" anchor="t"/>
          <a:lstStyle/>
          <a:p>
            <a:pPr algn="l" indent="0" marL="0">
              <a:buNone/>
            </a:pPr>
            <a:r>
              <a:rPr lang="en-US" sz="1300" dirty="0">
                <a:solidFill>
                  <a:srgbClr val="1B2B31"/>
                </a:solidFill>
              </a:rPr>
              <a:t>The pericentral detox program declines in level — same balance, lower volume.</a:t>
            </a:r>
            <a:endParaRPr lang="en-US" sz="1300" dirty="0"/>
          </a:p>
        </p:txBody>
      </p:sp>
      <p:sp>
        <p:nvSpPr>
          <p:cNvPr id="15" name="Text 12"/>
          <p:cNvSpPr/>
          <p:nvPr/>
        </p:nvSpPr>
        <p:spPr>
          <a:xfrm>
            <a:off x="7726680" y="5029200"/>
            <a:ext cx="3886200" cy="365760"/>
          </a:xfrm>
          <a:prstGeom prst="rect">
            <a:avLst/>
          </a:prstGeom>
          <a:noFill/>
          <a:ln/>
        </p:spPr>
        <p:txBody>
          <a:bodyPr wrap="square" rtlCol="0" anchor="t"/>
          <a:lstStyle/>
          <a:p>
            <a:pPr algn="l" indent="0" marL="0">
              <a:buNone/>
            </a:pPr>
            <a:r>
              <a:rPr lang="en-US" sz="1200" i="1" dirty="0">
                <a:solidFill>
                  <a:srgbClr val="7C2D12"/>
                </a:solidFill>
              </a:rPr>
              <a:t>Real coordinated decline → </a:t>
            </a:r>
            <a:pPr algn="l" indent="0" marL="0">
              <a:buNone/>
            </a:pPr>
            <a:r>
              <a:rPr lang="en-US" sz="1200" b="1" i="1" dirty="0">
                <a:solidFill>
                  <a:srgbClr val="7C2D12"/>
                </a:solidFill>
              </a:rPr>
              <a:t>a finding (Results).</a:t>
            </a:r>
            <a:endParaRPr lang="en-US" sz="1200" dirty="0"/>
          </a:p>
        </p:txBody>
      </p:sp>
      <p:sp>
        <p:nvSpPr>
          <p:cNvPr id="16" name="Text 13"/>
          <p:cNvSpPr/>
          <p:nvPr/>
        </p:nvSpPr>
        <p:spPr>
          <a:xfrm>
            <a:off x="411480" y="5760720"/>
            <a:ext cx="7040880" cy="548640"/>
          </a:xfrm>
          <a:prstGeom prst="rect">
            <a:avLst/>
          </a:prstGeom>
          <a:noFill/>
          <a:ln/>
        </p:spPr>
        <p:txBody>
          <a:bodyPr wrap="square" rtlCol="0" anchor="t"/>
          <a:lstStyle/>
          <a:p>
            <a:pPr algn="l" indent="0" marL="0">
              <a:buNone/>
            </a:pPr>
            <a:r>
              <a:rPr lang="en-US" sz="1250" b="1" dirty="0">
                <a:solidFill>
                  <a:srgbClr val="334155"/>
                </a:solidFill>
              </a:rPr>
              <a:t>Matched biopsies: shape holds (no compression); level dims (detox — confirmed next). </a:t>
            </a:r>
            <a:pPr algn="l" indent="0" marL="0">
              <a:buNone/>
            </a:pPr>
            <a:r>
              <a:rPr lang="en-US" sz="1250" i="1" dirty="0">
                <a:solidFill>
                  <a:srgbClr val="5C6E73"/>
                </a:solidFill>
              </a:rPr>
              <a:t>Only the explant collapses to one pole.</a:t>
            </a:r>
            <a:endParaRPr lang="en-US" sz="1250" dirty="0"/>
          </a:p>
        </p:txBody>
      </p:sp>
      <p:sp>
        <p:nvSpPr>
          <p:cNvPr id="17" name="Text 14"/>
          <p:cNvSpPr/>
          <p:nvPr/>
        </p:nvSpPr>
        <p:spPr>
          <a:xfrm>
            <a:off x="457200" y="6510528"/>
            <a:ext cx="9601200" cy="274320"/>
          </a:xfrm>
          <a:prstGeom prst="rect">
            <a:avLst/>
          </a:prstGeom>
          <a:noFill/>
          <a:ln/>
        </p:spPr>
        <p:txBody>
          <a:bodyPr wrap="square" lIns="0" tIns="0" rIns="0" bIns="0" rtlCol="0" anchor="ctr"/>
          <a:lstStyle/>
          <a:p>
            <a:pPr algn="l" indent="0" marL="0">
              <a:buNone/>
            </a:pPr>
            <a:r>
              <a:rPr lang="en-US" sz="1050" dirty="0">
                <a:solidFill>
                  <a:srgbClr val="5C6E73"/>
                </a:solidFill>
              </a:rPr>
              <a:t>Computational Genomics 76553  ·  HUJI  ·  MASLD snRNA-seq hackathon</a:t>
            </a:r>
            <a:endParaRPr lang="en-US" sz="1050" dirty="0"/>
          </a:p>
        </p:txBody>
      </p:sp>
      <p:sp>
        <p:nvSpPr>
          <p:cNvPr id="18" name="Text 15"/>
          <p:cNvSpPr/>
          <p:nvPr/>
        </p:nvSpPr>
        <p:spPr>
          <a:xfrm>
            <a:off x="11155680" y="6510528"/>
            <a:ext cx="548640" cy="274320"/>
          </a:xfrm>
          <a:prstGeom prst="rect">
            <a:avLst/>
          </a:prstGeom>
          <a:noFill/>
          <a:ln/>
        </p:spPr>
        <p:txBody>
          <a:bodyPr wrap="square" lIns="0" tIns="0" rIns="0" bIns="0" rtlCol="0" anchor="ctr"/>
          <a:lstStyle/>
          <a:p>
            <a:pPr algn="r" indent="0" marL="0">
              <a:buNone/>
            </a:pPr>
            <a:r>
              <a:rPr lang="en-US" sz="1050" dirty="0">
                <a:solidFill>
                  <a:srgbClr val="5C6E73"/>
                </a:solidFill>
              </a:rPr>
              <a:t>7</a:t>
            </a:r>
            <a:endParaRPr lang="en-US" sz="10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5F1"/>
        </a:solidFill>
      </p:bgPr>
    </p:bg>
    <p:spTree>
      <p:nvGrpSpPr>
        <p:cNvPr id="1" name=""/>
        <p:cNvGrpSpPr/>
        <p:nvPr/>
      </p:nvGrpSpPr>
      <p:grpSpPr>
        <a:xfrm>
          <a:off x="0" y="0"/>
          <a:ext cx="0" cy="0"/>
          <a:chOff x="0" y="0"/>
          <a:chExt cx="0" cy="0"/>
        </a:xfrm>
      </p:grpSpPr>
      <p:sp>
        <p:nvSpPr>
          <p:cNvPr id="2" name="Shape 0"/>
          <p:cNvSpPr/>
          <p:nvPr/>
        </p:nvSpPr>
        <p:spPr>
          <a:xfrm>
            <a:off x="457200" y="310896"/>
            <a:ext cx="146304" cy="237744"/>
          </a:xfrm>
          <a:prstGeom prst="rect">
            <a:avLst/>
          </a:prstGeom>
          <a:solidFill>
            <a:srgbClr val="C0561B"/>
          </a:solidFill>
          <a:ln/>
        </p:spPr>
      </p:sp>
      <p:sp>
        <p:nvSpPr>
          <p:cNvPr id="3" name="Text 1"/>
          <p:cNvSpPr/>
          <p:nvPr/>
        </p:nvSpPr>
        <p:spPr>
          <a:xfrm>
            <a:off x="676656" y="274320"/>
            <a:ext cx="7863840" cy="320040"/>
          </a:xfrm>
          <a:prstGeom prst="rect">
            <a:avLst/>
          </a:prstGeom>
          <a:noFill/>
          <a:ln/>
        </p:spPr>
        <p:txBody>
          <a:bodyPr wrap="square" lIns="0" tIns="0" rIns="0" bIns="0" rtlCol="0" anchor="ctr"/>
          <a:lstStyle/>
          <a:p>
            <a:pPr algn="l" indent="0" marL="0">
              <a:buNone/>
            </a:pPr>
            <a:r>
              <a:rPr lang="en-US" sz="1300" b="1" spc="300" kern="0" dirty="0">
                <a:solidFill>
                  <a:srgbClr val="C0561B"/>
                </a:solidFill>
              </a:rPr>
              <a:t>HOW WE MEASURE</a:t>
            </a:r>
            <a:endParaRPr lang="en-US" sz="1300" dirty="0"/>
          </a:p>
        </p:txBody>
      </p:sp>
      <p:sp>
        <p:nvSpPr>
          <p:cNvPr id="4" name="Text 2"/>
          <p:cNvSpPr/>
          <p:nvPr/>
        </p:nvSpPr>
        <p:spPr>
          <a:xfrm>
            <a:off x="8595360" y="292608"/>
            <a:ext cx="3154680" cy="274320"/>
          </a:xfrm>
          <a:prstGeom prst="rect">
            <a:avLst/>
          </a:prstGeom>
          <a:noFill/>
          <a:ln/>
        </p:spPr>
        <p:txBody>
          <a:bodyPr wrap="square" lIns="0" tIns="0" rIns="0" bIns="0" rtlCol="0" anchor="ctr"/>
          <a:lstStyle/>
          <a:p>
            <a:pPr algn="r" indent="0" marL="0">
              <a:buNone/>
            </a:pPr>
            <a:r>
              <a:rPr lang="en-US" sz="1100" b="1" spc="200" kern="0" dirty="0">
                <a:solidFill>
                  <a:srgbClr val="1B6E78"/>
                </a:solidFill>
              </a:rPr>
              <a:t>METHOD</a:t>
            </a:r>
            <a:endParaRPr lang="en-US" sz="1100" dirty="0"/>
          </a:p>
        </p:txBody>
      </p:sp>
      <p:sp>
        <p:nvSpPr>
          <p:cNvPr id="5" name="Text 3"/>
          <p:cNvSpPr/>
          <p:nvPr/>
        </p:nvSpPr>
        <p:spPr>
          <a:xfrm>
            <a:off x="438912" y="585216"/>
            <a:ext cx="11338560" cy="777240"/>
          </a:xfrm>
          <a:prstGeom prst="rect">
            <a:avLst/>
          </a:prstGeom>
          <a:noFill/>
          <a:ln/>
        </p:spPr>
        <p:txBody>
          <a:bodyPr wrap="square" lIns="0" tIns="0" rIns="0" bIns="0" rtlCol="0" anchor="t"/>
          <a:lstStyle/>
          <a:p>
            <a:pPr algn="l" indent="0" marL="0">
              <a:buNone/>
            </a:pPr>
            <a:r>
              <a:rPr lang="en-US" sz="2800" b="1" dirty="0">
                <a:solidFill>
                  <a:srgbClr val="1B2B31"/>
                </a:solidFill>
                <a:latin typeface="Georgia" pitchFamily="34" charset="0"/>
                <a:ea typeface="Georgia" pitchFamily="34" charset="-122"/>
                <a:cs typeface="Georgia" pitchFamily="34" charset="-120"/>
              </a:rPr>
              <a:t>Raw-count anchor classification</a:t>
            </a:r>
            <a:endParaRPr lang="en-US" sz="2800" dirty="0"/>
          </a:p>
        </p:txBody>
      </p:sp>
      <p:sp>
        <p:nvSpPr>
          <p:cNvPr id="6" name="Shape 4"/>
          <p:cNvSpPr/>
          <p:nvPr/>
        </p:nvSpPr>
        <p:spPr>
          <a:xfrm>
            <a:off x="548640" y="1554480"/>
            <a:ext cx="2148840" cy="731520"/>
          </a:xfrm>
          <a:prstGeom prst="roundRect">
            <a:avLst>
              <a:gd name="adj" fmla="val 8750"/>
            </a:avLst>
          </a:prstGeom>
          <a:solidFill>
            <a:srgbClr val="ECF1F1"/>
          </a:solidFill>
          <a:ln w="15240">
            <a:solidFill>
              <a:srgbClr val="CBD5E1"/>
            </a:solidFill>
            <a:prstDash val="solid"/>
          </a:ln>
        </p:spPr>
      </p:sp>
      <p:sp>
        <p:nvSpPr>
          <p:cNvPr id="7" name="Text 5"/>
          <p:cNvSpPr/>
          <p:nvPr/>
        </p:nvSpPr>
        <p:spPr>
          <a:xfrm>
            <a:off x="548640" y="1554480"/>
            <a:ext cx="2148840" cy="731520"/>
          </a:xfrm>
          <a:prstGeom prst="rect">
            <a:avLst/>
          </a:prstGeom>
          <a:noFill/>
          <a:ln/>
        </p:spPr>
        <p:txBody>
          <a:bodyPr wrap="square" lIns="38100" tIns="38100" rIns="38100" bIns="38100" rtlCol="0" anchor="ctr"/>
          <a:lstStyle/>
          <a:p>
            <a:pPr algn="ctr" indent="0" marL="0">
              <a:buNone/>
            </a:pPr>
            <a:r>
              <a:rPr lang="en-US" sz="1400" dirty="0">
                <a:solidFill>
                  <a:srgbClr val="1B2B31"/>
                </a:solidFill>
              </a:rPr>
              <a:t>raw UMI counts</a:t>
            </a:r>
            <a:endParaRPr lang="en-US" sz="1400" dirty="0"/>
          </a:p>
        </p:txBody>
      </p:sp>
      <p:sp>
        <p:nvSpPr>
          <p:cNvPr id="8" name="Shape 6"/>
          <p:cNvSpPr/>
          <p:nvPr/>
        </p:nvSpPr>
        <p:spPr>
          <a:xfrm>
            <a:off x="2697480" y="1920240"/>
            <a:ext cx="201168" cy="0"/>
          </a:xfrm>
          <a:prstGeom prst="line">
            <a:avLst/>
          </a:prstGeom>
          <a:noFill/>
          <a:ln w="20320">
            <a:solidFill>
              <a:srgbClr val="5C6E73"/>
            </a:solidFill>
            <a:prstDash val="solid"/>
            <a:tailEnd type="triangle"/>
          </a:ln>
        </p:spPr>
      </p:sp>
      <p:sp>
        <p:nvSpPr>
          <p:cNvPr id="9" name="Shape 7"/>
          <p:cNvSpPr/>
          <p:nvPr/>
        </p:nvSpPr>
        <p:spPr>
          <a:xfrm>
            <a:off x="2898648" y="1554480"/>
            <a:ext cx="2148840" cy="731520"/>
          </a:xfrm>
          <a:prstGeom prst="roundRect">
            <a:avLst>
              <a:gd name="adj" fmla="val 8750"/>
            </a:avLst>
          </a:prstGeom>
          <a:solidFill>
            <a:srgbClr val="ECF1F1"/>
          </a:solidFill>
          <a:ln w="15240">
            <a:solidFill>
              <a:srgbClr val="CBD5E1"/>
            </a:solidFill>
            <a:prstDash val="solid"/>
          </a:ln>
        </p:spPr>
      </p:sp>
      <p:sp>
        <p:nvSpPr>
          <p:cNvPr id="10" name="Text 8"/>
          <p:cNvSpPr/>
          <p:nvPr/>
        </p:nvSpPr>
        <p:spPr>
          <a:xfrm>
            <a:off x="2898648" y="1554480"/>
            <a:ext cx="2148840" cy="731520"/>
          </a:xfrm>
          <a:prstGeom prst="rect">
            <a:avLst/>
          </a:prstGeom>
          <a:noFill/>
          <a:ln/>
        </p:spPr>
        <p:txBody>
          <a:bodyPr wrap="square" lIns="38100" tIns="38100" rIns="38100" bIns="38100" rtlCol="0" anchor="ctr"/>
          <a:lstStyle/>
          <a:p>
            <a:pPr algn="ctr" indent="0" marL="0">
              <a:buNone/>
            </a:pPr>
            <a:r>
              <a:rPr lang="en-US" sz="1400" dirty="0">
                <a:solidFill>
                  <a:srgbClr val="1B2B31"/>
                </a:solidFill>
              </a:rPr>
              <a:t>down-thin to 1,500</a:t>
            </a:r>
            <a:endParaRPr lang="en-US" sz="1400" dirty="0"/>
          </a:p>
        </p:txBody>
      </p:sp>
      <p:sp>
        <p:nvSpPr>
          <p:cNvPr id="11" name="Shape 9"/>
          <p:cNvSpPr/>
          <p:nvPr/>
        </p:nvSpPr>
        <p:spPr>
          <a:xfrm>
            <a:off x="5047488" y="1920240"/>
            <a:ext cx="201168" cy="0"/>
          </a:xfrm>
          <a:prstGeom prst="line">
            <a:avLst/>
          </a:prstGeom>
          <a:noFill/>
          <a:ln w="20320">
            <a:solidFill>
              <a:srgbClr val="5C6E73"/>
            </a:solidFill>
            <a:prstDash val="solid"/>
            <a:tailEnd type="triangle"/>
          </a:ln>
        </p:spPr>
      </p:sp>
      <p:sp>
        <p:nvSpPr>
          <p:cNvPr id="12" name="Shape 10"/>
          <p:cNvSpPr/>
          <p:nvPr/>
        </p:nvSpPr>
        <p:spPr>
          <a:xfrm>
            <a:off x="5248656" y="1554480"/>
            <a:ext cx="2148840" cy="731520"/>
          </a:xfrm>
          <a:prstGeom prst="roundRect">
            <a:avLst>
              <a:gd name="adj" fmla="val 8750"/>
            </a:avLst>
          </a:prstGeom>
          <a:solidFill>
            <a:srgbClr val="EDE9FE"/>
          </a:solidFill>
          <a:ln w="15240">
            <a:solidFill>
              <a:srgbClr val="7C3AED"/>
            </a:solidFill>
            <a:prstDash val="solid"/>
          </a:ln>
        </p:spPr>
      </p:sp>
      <p:sp>
        <p:nvSpPr>
          <p:cNvPr id="13" name="Text 11"/>
          <p:cNvSpPr/>
          <p:nvPr/>
        </p:nvSpPr>
        <p:spPr>
          <a:xfrm>
            <a:off x="5248656" y="1554480"/>
            <a:ext cx="2148840" cy="731520"/>
          </a:xfrm>
          <a:prstGeom prst="rect">
            <a:avLst/>
          </a:prstGeom>
          <a:noFill/>
          <a:ln/>
        </p:spPr>
        <p:txBody>
          <a:bodyPr wrap="square" lIns="38100" tIns="38100" rIns="38100" bIns="38100" rtlCol="0" anchor="ctr"/>
          <a:lstStyle/>
          <a:p>
            <a:pPr algn="ctr" indent="0" marL="0">
              <a:buNone/>
            </a:pPr>
            <a:r>
              <a:rPr lang="en-US" sz="1400" b="1" dirty="0">
                <a:solidFill>
                  <a:srgbClr val="7C3AED"/>
                </a:solidFill>
              </a:rPr>
              <a:t>marker ON if ≥ 2 UMI</a:t>
            </a:r>
            <a:endParaRPr lang="en-US" sz="1400" dirty="0"/>
          </a:p>
        </p:txBody>
      </p:sp>
      <p:sp>
        <p:nvSpPr>
          <p:cNvPr id="14" name="Shape 12"/>
          <p:cNvSpPr/>
          <p:nvPr/>
        </p:nvSpPr>
        <p:spPr>
          <a:xfrm>
            <a:off x="7397496" y="1920240"/>
            <a:ext cx="201168" cy="0"/>
          </a:xfrm>
          <a:prstGeom prst="line">
            <a:avLst/>
          </a:prstGeom>
          <a:noFill/>
          <a:ln w="20320">
            <a:solidFill>
              <a:srgbClr val="5C6E73"/>
            </a:solidFill>
            <a:prstDash val="solid"/>
            <a:tailEnd type="triangle"/>
          </a:ln>
        </p:spPr>
      </p:sp>
      <p:sp>
        <p:nvSpPr>
          <p:cNvPr id="15" name="Shape 13"/>
          <p:cNvSpPr/>
          <p:nvPr/>
        </p:nvSpPr>
        <p:spPr>
          <a:xfrm>
            <a:off x="7598664" y="1554480"/>
            <a:ext cx="2148840" cy="731520"/>
          </a:xfrm>
          <a:prstGeom prst="roundRect">
            <a:avLst>
              <a:gd name="adj" fmla="val 8750"/>
            </a:avLst>
          </a:prstGeom>
          <a:solidFill>
            <a:srgbClr val="ECF1F1"/>
          </a:solidFill>
          <a:ln w="15240">
            <a:solidFill>
              <a:srgbClr val="CBD5E1"/>
            </a:solidFill>
            <a:prstDash val="solid"/>
          </a:ln>
        </p:spPr>
      </p:sp>
      <p:sp>
        <p:nvSpPr>
          <p:cNvPr id="16" name="Text 14"/>
          <p:cNvSpPr/>
          <p:nvPr/>
        </p:nvSpPr>
        <p:spPr>
          <a:xfrm>
            <a:off x="7598664" y="1554480"/>
            <a:ext cx="2148840" cy="731520"/>
          </a:xfrm>
          <a:prstGeom prst="rect">
            <a:avLst/>
          </a:prstGeom>
          <a:noFill/>
          <a:ln/>
        </p:spPr>
        <p:txBody>
          <a:bodyPr wrap="square" lIns="38100" tIns="38100" rIns="38100" bIns="38100" rtlCol="0" anchor="ctr"/>
          <a:lstStyle/>
          <a:p>
            <a:pPr algn="ctr" indent="0" marL="0">
              <a:buNone/>
            </a:pPr>
            <a:r>
              <a:rPr lang="en-US" sz="1400" dirty="0">
                <a:solidFill>
                  <a:srgbClr val="1B2B31"/>
                </a:solidFill>
              </a:rPr>
              <a:t>classify nucleus (e.g. PC)</a:t>
            </a:r>
            <a:endParaRPr lang="en-US" sz="1400" dirty="0"/>
          </a:p>
        </p:txBody>
      </p:sp>
      <p:sp>
        <p:nvSpPr>
          <p:cNvPr id="17" name="Shape 15"/>
          <p:cNvSpPr/>
          <p:nvPr/>
        </p:nvSpPr>
        <p:spPr>
          <a:xfrm>
            <a:off x="9747504" y="1920240"/>
            <a:ext cx="201168" cy="0"/>
          </a:xfrm>
          <a:prstGeom prst="line">
            <a:avLst/>
          </a:prstGeom>
          <a:noFill/>
          <a:ln w="20320">
            <a:solidFill>
              <a:srgbClr val="5C6E73"/>
            </a:solidFill>
            <a:prstDash val="solid"/>
            <a:tailEnd type="triangle"/>
          </a:ln>
        </p:spPr>
      </p:sp>
      <p:sp>
        <p:nvSpPr>
          <p:cNvPr id="18" name="Shape 16"/>
          <p:cNvSpPr/>
          <p:nvPr/>
        </p:nvSpPr>
        <p:spPr>
          <a:xfrm>
            <a:off x="9948672" y="1554480"/>
            <a:ext cx="2148840" cy="731520"/>
          </a:xfrm>
          <a:prstGeom prst="roundRect">
            <a:avLst>
              <a:gd name="adj" fmla="val 8750"/>
            </a:avLst>
          </a:prstGeom>
          <a:solidFill>
            <a:srgbClr val="ECF1F1"/>
          </a:solidFill>
          <a:ln w="15240">
            <a:solidFill>
              <a:srgbClr val="CBD5E1"/>
            </a:solidFill>
            <a:prstDash val="solid"/>
          </a:ln>
        </p:spPr>
      </p:sp>
      <p:sp>
        <p:nvSpPr>
          <p:cNvPr id="19" name="Text 17"/>
          <p:cNvSpPr/>
          <p:nvPr/>
        </p:nvSpPr>
        <p:spPr>
          <a:xfrm>
            <a:off x="9948672" y="1554480"/>
            <a:ext cx="2148840" cy="731520"/>
          </a:xfrm>
          <a:prstGeom prst="rect">
            <a:avLst/>
          </a:prstGeom>
          <a:noFill/>
          <a:ln/>
        </p:spPr>
        <p:txBody>
          <a:bodyPr wrap="square" lIns="38100" tIns="38100" rIns="38100" bIns="38100" rtlCol="0" anchor="ctr"/>
          <a:lstStyle/>
          <a:p>
            <a:pPr algn="ctr" indent="0" marL="0">
              <a:buNone/>
            </a:pPr>
            <a:r>
              <a:rPr lang="en-US" sz="1400" dirty="0">
                <a:solidFill>
                  <a:srgbClr val="1B2B31"/>
                </a:solidFill>
              </a:rPr>
              <a:t>fraction per donor</a:t>
            </a:r>
            <a:endParaRPr lang="en-US" sz="1400" dirty="0"/>
          </a:p>
        </p:txBody>
      </p:sp>
      <p:sp>
        <p:nvSpPr>
          <p:cNvPr id="20" name="Shape 18"/>
          <p:cNvSpPr/>
          <p:nvPr/>
        </p:nvSpPr>
        <p:spPr>
          <a:xfrm>
            <a:off x="640080" y="2788920"/>
            <a:ext cx="5394960" cy="1207008"/>
          </a:xfrm>
          <a:prstGeom prst="roundRect">
            <a:avLst>
              <a:gd name="adj" fmla="val 4545"/>
            </a:avLst>
          </a:prstGeom>
          <a:solidFill>
            <a:srgbClr val="FFFFFF"/>
          </a:solidFill>
          <a:ln w="12700">
            <a:solidFill>
              <a:srgbClr val="E2DCCF"/>
            </a:solidFill>
            <a:prstDash val="solid"/>
          </a:ln>
          <a:effectLst>
            <a:outerShdw sx="100000" sy="100000" kx="0" ky="0" algn="bl" rotWithShape="0" blurRad="88900" dist="38100" dir="5400000">
              <a:srgbClr val="000000">
                <a:alpha val="12000"/>
              </a:srgbClr>
            </a:outerShdw>
          </a:effectLst>
        </p:spPr>
      </p:sp>
      <p:sp>
        <p:nvSpPr>
          <p:cNvPr id="21" name="Shape 19"/>
          <p:cNvSpPr/>
          <p:nvPr/>
        </p:nvSpPr>
        <p:spPr>
          <a:xfrm>
            <a:off x="640080" y="2788920"/>
            <a:ext cx="91440" cy="1207008"/>
          </a:xfrm>
          <a:prstGeom prst="rect">
            <a:avLst/>
          </a:prstGeom>
          <a:solidFill>
            <a:srgbClr val="1B2B31"/>
          </a:solidFill>
          <a:ln/>
        </p:spPr>
      </p:sp>
      <p:sp>
        <p:nvSpPr>
          <p:cNvPr id="22" name="Text 20"/>
          <p:cNvSpPr/>
          <p:nvPr/>
        </p:nvSpPr>
        <p:spPr>
          <a:xfrm>
            <a:off x="914400" y="2926080"/>
            <a:ext cx="4937760" cy="365760"/>
          </a:xfrm>
          <a:prstGeom prst="rect">
            <a:avLst/>
          </a:prstGeom>
          <a:noFill/>
          <a:ln/>
        </p:spPr>
        <p:txBody>
          <a:bodyPr wrap="square" lIns="0" tIns="0" rIns="0" bIns="0" rtlCol="0" anchor="t"/>
          <a:lstStyle/>
          <a:p>
            <a:pPr algn="l" indent="0" marL="0">
              <a:buNone/>
            </a:pPr>
            <a:r>
              <a:rPr lang="en-US" sz="1600" b="1" dirty="0">
                <a:solidFill>
                  <a:srgbClr val="1B2B31"/>
                </a:solidFill>
              </a:rPr>
              <a:t>Raw counts, not SCT</a:t>
            </a:r>
            <a:endParaRPr lang="en-US" sz="1600" dirty="0"/>
          </a:p>
        </p:txBody>
      </p:sp>
      <p:sp>
        <p:nvSpPr>
          <p:cNvPr id="23" name="Text 21"/>
          <p:cNvSpPr/>
          <p:nvPr/>
        </p:nvSpPr>
        <p:spPr>
          <a:xfrm>
            <a:off x="914400" y="3337560"/>
            <a:ext cx="4937760" cy="566928"/>
          </a:xfrm>
          <a:prstGeom prst="rect">
            <a:avLst/>
          </a:prstGeom>
          <a:noFill/>
          <a:ln/>
        </p:spPr>
        <p:txBody>
          <a:bodyPr wrap="square" lIns="0" tIns="0" rIns="0" bIns="0" rtlCol="0" anchor="t"/>
          <a:lstStyle/>
          <a:p>
            <a:pPr algn="l" indent="0" marL="0">
              <a:buNone/>
            </a:pPr>
            <a:r>
              <a:rPr lang="en-US" sz="1300" dirty="0">
                <a:solidFill>
                  <a:srgbClr val="1B2B31"/>
                </a:solidFill>
              </a:rPr>
              <a:t>A single molecule may be ambient — absolute detection is what matters.</a:t>
            </a:r>
            <a:endParaRPr lang="en-US" sz="1300" dirty="0"/>
          </a:p>
        </p:txBody>
      </p:sp>
      <p:sp>
        <p:nvSpPr>
          <p:cNvPr id="24" name="Shape 22"/>
          <p:cNvSpPr/>
          <p:nvPr/>
        </p:nvSpPr>
        <p:spPr>
          <a:xfrm>
            <a:off x="6172200" y="2788920"/>
            <a:ext cx="5394960" cy="1207008"/>
          </a:xfrm>
          <a:prstGeom prst="roundRect">
            <a:avLst>
              <a:gd name="adj" fmla="val 4545"/>
            </a:avLst>
          </a:prstGeom>
          <a:solidFill>
            <a:srgbClr val="FFFFFF"/>
          </a:solidFill>
          <a:ln w="12700">
            <a:solidFill>
              <a:srgbClr val="E2DCCF"/>
            </a:solidFill>
            <a:prstDash val="solid"/>
          </a:ln>
          <a:effectLst>
            <a:outerShdw sx="100000" sy="100000" kx="0" ky="0" algn="bl" rotWithShape="0" blurRad="88900" dist="38100" dir="5400000">
              <a:srgbClr val="000000">
                <a:alpha val="12000"/>
              </a:srgbClr>
            </a:outerShdw>
          </a:effectLst>
        </p:spPr>
      </p:sp>
      <p:sp>
        <p:nvSpPr>
          <p:cNvPr id="25" name="Shape 23"/>
          <p:cNvSpPr/>
          <p:nvPr/>
        </p:nvSpPr>
        <p:spPr>
          <a:xfrm>
            <a:off x="6172200" y="2788920"/>
            <a:ext cx="91440" cy="1207008"/>
          </a:xfrm>
          <a:prstGeom prst="rect">
            <a:avLst/>
          </a:prstGeom>
          <a:solidFill>
            <a:srgbClr val="0D9488"/>
          </a:solidFill>
          <a:ln/>
        </p:spPr>
      </p:sp>
      <p:sp>
        <p:nvSpPr>
          <p:cNvPr id="26" name="Text 24"/>
          <p:cNvSpPr/>
          <p:nvPr/>
        </p:nvSpPr>
        <p:spPr>
          <a:xfrm>
            <a:off x="6446520" y="2926080"/>
            <a:ext cx="4937760" cy="365760"/>
          </a:xfrm>
          <a:prstGeom prst="rect">
            <a:avLst/>
          </a:prstGeom>
          <a:noFill/>
          <a:ln/>
        </p:spPr>
        <p:txBody>
          <a:bodyPr wrap="square" lIns="0" tIns="0" rIns="0" bIns="0" rtlCol="0" anchor="t"/>
          <a:lstStyle/>
          <a:p>
            <a:pPr algn="l" indent="0" marL="0">
              <a:buNone/>
            </a:pPr>
            <a:r>
              <a:rPr lang="en-US" sz="1600" b="1" dirty="0">
                <a:solidFill>
                  <a:srgbClr val="0D9488"/>
                </a:solidFill>
              </a:rPr>
              <a:t>Depth-matched¹</a:t>
            </a:r>
            <a:endParaRPr lang="en-US" sz="1600" dirty="0"/>
          </a:p>
        </p:txBody>
      </p:sp>
      <p:sp>
        <p:nvSpPr>
          <p:cNvPr id="27" name="Text 25"/>
          <p:cNvSpPr/>
          <p:nvPr/>
        </p:nvSpPr>
        <p:spPr>
          <a:xfrm>
            <a:off x="6446520" y="3337560"/>
            <a:ext cx="4937760" cy="566928"/>
          </a:xfrm>
          <a:prstGeom prst="rect">
            <a:avLst/>
          </a:prstGeom>
          <a:noFill/>
          <a:ln/>
        </p:spPr>
        <p:txBody>
          <a:bodyPr wrap="square" lIns="0" tIns="0" rIns="0" bIns="0" rtlCol="0" anchor="t"/>
          <a:lstStyle/>
          <a:p>
            <a:pPr algn="l" indent="0" marL="0">
              <a:buNone/>
            </a:pPr>
            <a:r>
              <a:rPr lang="en-US" sz="1300" dirty="0">
                <a:solidFill>
                  <a:srgbClr val="1B2B31"/>
                </a:solidFill>
              </a:rPr>
              <a:t>Down-thin every nucleus to 1,500 UMIs so depth can’t drive detection (stable at 1k / 1.5k / 3k).</a:t>
            </a:r>
            <a:endParaRPr lang="en-US" sz="1300" dirty="0"/>
          </a:p>
        </p:txBody>
      </p:sp>
      <p:sp>
        <p:nvSpPr>
          <p:cNvPr id="28" name="Shape 26"/>
          <p:cNvSpPr/>
          <p:nvPr/>
        </p:nvSpPr>
        <p:spPr>
          <a:xfrm>
            <a:off x="640080" y="4160520"/>
            <a:ext cx="5394960" cy="1207008"/>
          </a:xfrm>
          <a:prstGeom prst="roundRect">
            <a:avLst>
              <a:gd name="adj" fmla="val 4545"/>
            </a:avLst>
          </a:prstGeom>
          <a:solidFill>
            <a:srgbClr val="FFFFFF"/>
          </a:solidFill>
          <a:ln w="12700">
            <a:solidFill>
              <a:srgbClr val="E2DCCF"/>
            </a:solidFill>
            <a:prstDash val="solid"/>
          </a:ln>
          <a:effectLst>
            <a:outerShdw sx="100000" sy="100000" kx="0" ky="0" algn="bl" rotWithShape="0" blurRad="88900" dist="38100" dir="5400000">
              <a:srgbClr val="000000">
                <a:alpha val="12000"/>
              </a:srgbClr>
            </a:outerShdw>
          </a:effectLst>
        </p:spPr>
      </p:sp>
      <p:sp>
        <p:nvSpPr>
          <p:cNvPr id="29" name="Shape 27"/>
          <p:cNvSpPr/>
          <p:nvPr/>
        </p:nvSpPr>
        <p:spPr>
          <a:xfrm>
            <a:off x="640080" y="4160520"/>
            <a:ext cx="91440" cy="1207008"/>
          </a:xfrm>
          <a:prstGeom prst="rect">
            <a:avLst/>
          </a:prstGeom>
          <a:solidFill>
            <a:srgbClr val="7C3AED"/>
          </a:solidFill>
          <a:ln/>
        </p:spPr>
      </p:sp>
      <p:sp>
        <p:nvSpPr>
          <p:cNvPr id="30" name="Text 28"/>
          <p:cNvSpPr/>
          <p:nvPr/>
        </p:nvSpPr>
        <p:spPr>
          <a:xfrm>
            <a:off x="914400" y="4297680"/>
            <a:ext cx="4937760" cy="365760"/>
          </a:xfrm>
          <a:prstGeom prst="rect">
            <a:avLst/>
          </a:prstGeom>
          <a:noFill/>
          <a:ln/>
        </p:spPr>
        <p:txBody>
          <a:bodyPr wrap="square" lIns="0" tIns="0" rIns="0" bIns="0" rtlCol="0" anchor="t"/>
          <a:lstStyle/>
          <a:p>
            <a:pPr algn="l" indent="0" marL="0">
              <a:buNone/>
            </a:pPr>
            <a:r>
              <a:rPr lang="en-US" sz="1600" b="1" dirty="0">
                <a:solidFill>
                  <a:srgbClr val="7C3AED"/>
                </a:solidFill>
              </a:rPr>
              <a:t>≥2 UMI, not ≥1</a:t>
            </a:r>
            <a:endParaRPr lang="en-US" sz="1600" dirty="0"/>
          </a:p>
        </p:txBody>
      </p:sp>
      <p:sp>
        <p:nvSpPr>
          <p:cNvPr id="31" name="Text 29"/>
          <p:cNvSpPr/>
          <p:nvPr/>
        </p:nvSpPr>
        <p:spPr>
          <a:xfrm>
            <a:off x="914400" y="4709160"/>
            <a:ext cx="4937760" cy="566928"/>
          </a:xfrm>
          <a:prstGeom prst="rect">
            <a:avLst/>
          </a:prstGeom>
          <a:noFill/>
          <a:ln/>
        </p:spPr>
        <p:txBody>
          <a:bodyPr wrap="square" lIns="0" tIns="0" rIns="0" bIns="0" rtlCol="0" anchor="t"/>
          <a:lstStyle/>
          <a:p>
            <a:pPr algn="l" indent="0" marL="0">
              <a:buNone/>
            </a:pPr>
            <a:r>
              <a:rPr lang="en-US" sz="1300" dirty="0">
                <a:solidFill>
                  <a:srgbClr val="1B2B31"/>
                </a:solidFill>
              </a:rPr>
              <a:t>Kills ambient soup — apparent co-expression 7–10% → 0.2–0.5%.</a:t>
            </a:r>
            <a:endParaRPr lang="en-US" sz="1300" dirty="0"/>
          </a:p>
        </p:txBody>
      </p:sp>
      <p:sp>
        <p:nvSpPr>
          <p:cNvPr id="32" name="Shape 30"/>
          <p:cNvSpPr/>
          <p:nvPr/>
        </p:nvSpPr>
        <p:spPr>
          <a:xfrm>
            <a:off x="6172200" y="4160520"/>
            <a:ext cx="5394960" cy="1207008"/>
          </a:xfrm>
          <a:prstGeom prst="roundRect">
            <a:avLst>
              <a:gd name="adj" fmla="val 4545"/>
            </a:avLst>
          </a:prstGeom>
          <a:solidFill>
            <a:srgbClr val="FFFFFF"/>
          </a:solidFill>
          <a:ln w="12700">
            <a:solidFill>
              <a:srgbClr val="E2DCCF"/>
            </a:solidFill>
            <a:prstDash val="solid"/>
          </a:ln>
          <a:effectLst>
            <a:outerShdw sx="100000" sy="100000" kx="0" ky="0" algn="bl" rotWithShape="0" blurRad="88900" dist="38100" dir="5400000">
              <a:srgbClr val="000000">
                <a:alpha val="12000"/>
              </a:srgbClr>
            </a:outerShdw>
          </a:effectLst>
        </p:spPr>
      </p:sp>
      <p:sp>
        <p:nvSpPr>
          <p:cNvPr id="33" name="Shape 31"/>
          <p:cNvSpPr/>
          <p:nvPr/>
        </p:nvSpPr>
        <p:spPr>
          <a:xfrm>
            <a:off x="6172200" y="4160520"/>
            <a:ext cx="91440" cy="1207008"/>
          </a:xfrm>
          <a:prstGeom prst="rect">
            <a:avLst/>
          </a:prstGeom>
          <a:solidFill>
            <a:srgbClr val="0D9488"/>
          </a:solidFill>
          <a:ln/>
        </p:spPr>
      </p:sp>
      <p:sp>
        <p:nvSpPr>
          <p:cNvPr id="34" name="Text 32"/>
          <p:cNvSpPr/>
          <p:nvPr/>
        </p:nvSpPr>
        <p:spPr>
          <a:xfrm>
            <a:off x="6446520" y="4297680"/>
            <a:ext cx="4937760" cy="365760"/>
          </a:xfrm>
          <a:prstGeom prst="rect">
            <a:avLst/>
          </a:prstGeom>
          <a:noFill/>
          <a:ln/>
        </p:spPr>
        <p:txBody>
          <a:bodyPr wrap="square" lIns="0" tIns="0" rIns="0" bIns="0" rtlCol="0" anchor="t"/>
          <a:lstStyle/>
          <a:p>
            <a:pPr algn="l" indent="0" marL="0">
              <a:buNone/>
            </a:pPr>
            <a:r>
              <a:rPr lang="en-US" sz="1600" b="1" dirty="0">
                <a:solidFill>
                  <a:srgbClr val="0D9488"/>
                </a:solidFill>
              </a:rPr>
              <a:t>Donor is the unit (~47)</a:t>
            </a:r>
            <a:endParaRPr lang="en-US" sz="1600" dirty="0"/>
          </a:p>
        </p:txBody>
      </p:sp>
      <p:sp>
        <p:nvSpPr>
          <p:cNvPr id="35" name="Text 33"/>
          <p:cNvSpPr/>
          <p:nvPr/>
        </p:nvSpPr>
        <p:spPr>
          <a:xfrm>
            <a:off x="6446520" y="4709160"/>
            <a:ext cx="4937760" cy="566928"/>
          </a:xfrm>
          <a:prstGeom prst="rect">
            <a:avLst/>
          </a:prstGeom>
          <a:noFill/>
          <a:ln/>
        </p:spPr>
        <p:txBody>
          <a:bodyPr wrap="square" lIns="0" tIns="0" rIns="0" bIns="0" rtlCol="0" anchor="t"/>
          <a:lstStyle/>
          <a:p>
            <a:pPr algn="l" indent="0" marL="0">
              <a:buNone/>
            </a:pPr>
            <a:r>
              <a:rPr lang="en-US" sz="1300" dirty="0">
                <a:solidFill>
                  <a:srgbClr val="1B2B31"/>
                </a:solidFill>
              </a:rPr>
              <a:t>No pseudoreplication. Robust on 6 marker sets (2–1,637 genes, incl. Paper 2’s own).</a:t>
            </a:r>
            <a:endParaRPr lang="en-US" sz="1300" dirty="0"/>
          </a:p>
        </p:txBody>
      </p:sp>
      <p:sp>
        <p:nvSpPr>
          <p:cNvPr id="36" name="Shape 34"/>
          <p:cNvSpPr/>
          <p:nvPr/>
        </p:nvSpPr>
        <p:spPr>
          <a:xfrm>
            <a:off x="457200" y="6199632"/>
            <a:ext cx="2926080" cy="0"/>
          </a:xfrm>
          <a:prstGeom prst="line">
            <a:avLst/>
          </a:prstGeom>
          <a:noFill/>
          <a:ln w="9525">
            <a:solidFill>
              <a:srgbClr val="C9C0B2"/>
            </a:solidFill>
            <a:prstDash val="solid"/>
          </a:ln>
        </p:spPr>
      </p:sp>
      <p:sp>
        <p:nvSpPr>
          <p:cNvPr id="37" name="Text 35"/>
          <p:cNvSpPr/>
          <p:nvPr/>
        </p:nvSpPr>
        <p:spPr>
          <a:xfrm>
            <a:off x="457200" y="6254496"/>
            <a:ext cx="10607040" cy="237744"/>
          </a:xfrm>
          <a:prstGeom prst="rect">
            <a:avLst/>
          </a:prstGeom>
          <a:noFill/>
          <a:ln/>
        </p:spPr>
        <p:txBody>
          <a:bodyPr wrap="square" lIns="0" tIns="0" rIns="0" bIns="0" rtlCol="0" anchor="ctr"/>
          <a:lstStyle/>
          <a:p>
            <a:pPr algn="l" indent="0" marL="0">
              <a:buNone/>
            </a:pPr>
            <a:r>
              <a:rPr lang="en-US" sz="1000" i="1" dirty="0">
                <a:solidFill>
                  <a:srgbClr val="6B6256"/>
                </a:solidFill>
              </a:rPr>
              <a:t>¹ Depth-matched down-sampling: Amezquita et al., Nat. Methods 2020.   ·   Raw-extraction integrity: 9/9 sanity checks pass (integer UMIs; 69,426 hepatocytes match the paper).</a:t>
            </a:r>
            <a:endParaRPr lang="en-US" sz="1000" dirty="0"/>
          </a:p>
        </p:txBody>
      </p:sp>
      <p:sp>
        <p:nvSpPr>
          <p:cNvPr id="38" name="Text 36"/>
          <p:cNvSpPr/>
          <p:nvPr/>
        </p:nvSpPr>
        <p:spPr>
          <a:xfrm>
            <a:off x="457200" y="6510528"/>
            <a:ext cx="9601200" cy="274320"/>
          </a:xfrm>
          <a:prstGeom prst="rect">
            <a:avLst/>
          </a:prstGeom>
          <a:noFill/>
          <a:ln/>
        </p:spPr>
        <p:txBody>
          <a:bodyPr wrap="square" lIns="0" tIns="0" rIns="0" bIns="0" rtlCol="0" anchor="ctr"/>
          <a:lstStyle/>
          <a:p>
            <a:pPr algn="l" indent="0" marL="0">
              <a:buNone/>
            </a:pPr>
            <a:r>
              <a:rPr lang="en-US" sz="1050" dirty="0">
                <a:solidFill>
                  <a:srgbClr val="5C6E73"/>
                </a:solidFill>
              </a:rPr>
              <a:t>Computational Genomics 76553  ·  HUJI  ·  MASLD snRNA-seq hackathon</a:t>
            </a:r>
            <a:endParaRPr lang="en-US" sz="1050" dirty="0"/>
          </a:p>
        </p:txBody>
      </p:sp>
      <p:sp>
        <p:nvSpPr>
          <p:cNvPr id="39" name="Text 37"/>
          <p:cNvSpPr/>
          <p:nvPr/>
        </p:nvSpPr>
        <p:spPr>
          <a:xfrm>
            <a:off x="11155680" y="6510528"/>
            <a:ext cx="548640" cy="274320"/>
          </a:xfrm>
          <a:prstGeom prst="rect">
            <a:avLst/>
          </a:prstGeom>
          <a:noFill/>
          <a:ln/>
        </p:spPr>
        <p:txBody>
          <a:bodyPr wrap="square" lIns="0" tIns="0" rIns="0" bIns="0" rtlCol="0" anchor="ctr"/>
          <a:lstStyle/>
          <a:p>
            <a:pPr algn="r" indent="0" marL="0">
              <a:buNone/>
            </a:pPr>
            <a:r>
              <a:rPr lang="en-US" sz="1050" dirty="0">
                <a:solidFill>
                  <a:srgbClr val="5C6E73"/>
                </a:solidFill>
              </a:rPr>
              <a:t>8</a:t>
            </a:r>
            <a:endParaRPr lang="en-US" sz="10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6242B"/>
        </a:solidFill>
      </p:bgPr>
    </p:bg>
    <p:spTree>
      <p:nvGrpSpPr>
        <p:cNvPr id="1" name=""/>
        <p:cNvGrpSpPr/>
        <p:nvPr/>
      </p:nvGrpSpPr>
      <p:grpSpPr>
        <a:xfrm>
          <a:off x="0" y="0"/>
          <a:ext cx="0" cy="0"/>
          <a:chOff x="0" y="0"/>
          <a:chExt cx="0" cy="0"/>
        </a:xfrm>
      </p:grpSpPr>
      <p:sp>
        <p:nvSpPr>
          <p:cNvPr id="2" name="Shape 0"/>
          <p:cNvSpPr/>
          <p:nvPr/>
        </p:nvSpPr>
        <p:spPr>
          <a:xfrm>
            <a:off x="0" y="0"/>
            <a:ext cx="256032" cy="6858000"/>
          </a:xfrm>
          <a:prstGeom prst="rect">
            <a:avLst/>
          </a:prstGeom>
          <a:solidFill>
            <a:srgbClr val="1B6E78"/>
          </a:solidFill>
          <a:ln/>
        </p:spPr>
      </p:sp>
      <p:sp>
        <p:nvSpPr>
          <p:cNvPr id="3" name="Shape 1"/>
          <p:cNvSpPr/>
          <p:nvPr/>
        </p:nvSpPr>
        <p:spPr>
          <a:xfrm>
            <a:off x="256032" y="0"/>
            <a:ext cx="109728" cy="6858000"/>
          </a:xfrm>
          <a:prstGeom prst="rect">
            <a:avLst/>
          </a:prstGeom>
          <a:solidFill>
            <a:srgbClr val="C0561B"/>
          </a:solidFill>
          <a:ln/>
        </p:spPr>
      </p:sp>
      <p:sp>
        <p:nvSpPr>
          <p:cNvPr id="4" name="Text 2"/>
          <p:cNvSpPr/>
          <p:nvPr/>
        </p:nvSpPr>
        <p:spPr>
          <a:xfrm>
            <a:off x="868680" y="2651760"/>
            <a:ext cx="10515600" cy="1005840"/>
          </a:xfrm>
          <a:prstGeom prst="rect">
            <a:avLst/>
          </a:prstGeom>
          <a:noFill/>
          <a:ln/>
        </p:spPr>
        <p:txBody>
          <a:bodyPr wrap="square" rtlCol="0" anchor="ctr"/>
          <a:lstStyle/>
          <a:p>
            <a:pPr algn="l" indent="0" marL="0">
              <a:buNone/>
            </a:pPr>
            <a:r>
              <a:rPr lang="en-US" sz="4400" b="1" dirty="0">
                <a:solidFill>
                  <a:srgbClr val="FFFFFF"/>
                </a:solidFill>
                <a:latin typeface="Georgia" pitchFamily="34" charset="0"/>
                <a:ea typeface="Georgia" pitchFamily="34" charset="-122"/>
                <a:cs typeface="Georgia" pitchFamily="34" charset="-120"/>
              </a:rPr>
              <a:t>Results</a:t>
            </a:r>
            <a:endParaRPr lang="en-US" sz="4400" dirty="0"/>
          </a:p>
        </p:txBody>
      </p:sp>
      <p:sp>
        <p:nvSpPr>
          <p:cNvPr id="5" name="Text 3"/>
          <p:cNvSpPr/>
          <p:nvPr/>
        </p:nvSpPr>
        <p:spPr>
          <a:xfrm>
            <a:off x="896112" y="3794760"/>
            <a:ext cx="10515600" cy="457200"/>
          </a:xfrm>
          <a:prstGeom prst="rect">
            <a:avLst/>
          </a:prstGeom>
          <a:noFill/>
          <a:ln/>
        </p:spPr>
        <p:txBody>
          <a:bodyPr wrap="square" rtlCol="0" anchor="ctr"/>
          <a:lstStyle/>
          <a:p>
            <a:pPr algn="l" indent="0" marL="0">
              <a:buNone/>
            </a:pPr>
            <a:r>
              <a:rPr lang="en-US" sz="1700" i="1" dirty="0">
                <a:solidFill>
                  <a:srgbClr val="9FC0C4"/>
                </a:solidFill>
              </a:rPr>
              <a:t>what the counts actually say</a:t>
            </a:r>
            <a:endParaRPr lang="en-US" sz="17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5F1"/>
        </a:solidFill>
      </p:bgPr>
    </p:bg>
    <p:spTree>
      <p:nvGrpSpPr>
        <p:cNvPr id="1" name=""/>
        <p:cNvGrpSpPr/>
        <p:nvPr/>
      </p:nvGrpSpPr>
      <p:grpSpPr>
        <a:xfrm>
          <a:off x="0" y="0"/>
          <a:ext cx="0" cy="0"/>
          <a:chOff x="0" y="0"/>
          <a:chExt cx="0" cy="0"/>
        </a:xfrm>
      </p:grpSpPr>
      <p:sp>
        <p:nvSpPr>
          <p:cNvPr id="2" name="Shape 0"/>
          <p:cNvSpPr/>
          <p:nvPr/>
        </p:nvSpPr>
        <p:spPr>
          <a:xfrm>
            <a:off x="457200" y="310896"/>
            <a:ext cx="146304" cy="237744"/>
          </a:xfrm>
          <a:prstGeom prst="rect">
            <a:avLst/>
          </a:prstGeom>
          <a:solidFill>
            <a:srgbClr val="C0561B"/>
          </a:solidFill>
          <a:ln/>
        </p:spPr>
      </p:sp>
      <p:sp>
        <p:nvSpPr>
          <p:cNvPr id="3" name="Text 1"/>
          <p:cNvSpPr/>
          <p:nvPr/>
        </p:nvSpPr>
        <p:spPr>
          <a:xfrm>
            <a:off x="676656" y="274320"/>
            <a:ext cx="7863840" cy="320040"/>
          </a:xfrm>
          <a:prstGeom prst="rect">
            <a:avLst/>
          </a:prstGeom>
          <a:noFill/>
          <a:ln/>
        </p:spPr>
        <p:txBody>
          <a:bodyPr wrap="square" lIns="0" tIns="0" rIns="0" bIns="0" rtlCol="0" anchor="ctr"/>
          <a:lstStyle/>
          <a:p>
            <a:pPr algn="l" indent="0" marL="0">
              <a:buNone/>
            </a:pPr>
            <a:r>
              <a:rPr lang="en-US" sz="1300" b="1" spc="300" kern="0" dirty="0">
                <a:solidFill>
                  <a:srgbClr val="C0561B"/>
                </a:solidFill>
              </a:rPr>
              <a:t>THE RESULT</a:t>
            </a:r>
            <a:endParaRPr lang="en-US" sz="1300" dirty="0"/>
          </a:p>
        </p:txBody>
      </p:sp>
      <p:sp>
        <p:nvSpPr>
          <p:cNvPr id="4" name="Text 2"/>
          <p:cNvSpPr/>
          <p:nvPr/>
        </p:nvSpPr>
        <p:spPr>
          <a:xfrm>
            <a:off x="8595360" y="292608"/>
            <a:ext cx="3154680" cy="274320"/>
          </a:xfrm>
          <a:prstGeom prst="rect">
            <a:avLst/>
          </a:prstGeom>
          <a:noFill/>
          <a:ln/>
        </p:spPr>
        <p:txBody>
          <a:bodyPr wrap="square" lIns="0" tIns="0" rIns="0" bIns="0" rtlCol="0" anchor="ctr"/>
          <a:lstStyle/>
          <a:p>
            <a:pPr algn="r" indent="0" marL="0">
              <a:buNone/>
            </a:pPr>
            <a:r>
              <a:rPr lang="en-US" sz="1100" b="1" spc="200" kern="0" dirty="0">
                <a:solidFill>
                  <a:srgbClr val="1B6E78"/>
                </a:solidFill>
              </a:rPr>
              <a:t>RESULTS</a:t>
            </a:r>
            <a:endParaRPr lang="en-US" sz="1100" dirty="0"/>
          </a:p>
        </p:txBody>
      </p:sp>
      <p:sp>
        <p:nvSpPr>
          <p:cNvPr id="5" name="Text 3"/>
          <p:cNvSpPr/>
          <p:nvPr/>
        </p:nvSpPr>
        <p:spPr>
          <a:xfrm>
            <a:off x="438912" y="585216"/>
            <a:ext cx="11338560" cy="777240"/>
          </a:xfrm>
          <a:prstGeom prst="rect">
            <a:avLst/>
          </a:prstGeom>
          <a:noFill/>
          <a:ln/>
        </p:spPr>
        <p:txBody>
          <a:bodyPr wrap="square" lIns="0" tIns="0" rIns="0" bIns="0" rtlCol="0" anchor="t"/>
          <a:lstStyle/>
          <a:p>
            <a:pPr algn="l" indent="0" marL="0">
              <a:buNone/>
            </a:pPr>
            <a:r>
              <a:rPr lang="en-US" sz="2800" b="1" dirty="0">
                <a:solidFill>
                  <a:srgbClr val="1B2B31"/>
                </a:solidFill>
                <a:latin typeface="Georgia" pitchFamily="34" charset="0"/>
                <a:ea typeface="Georgia" pitchFamily="34" charset="-122"/>
                <a:cs typeface="Georgia" pitchFamily="34" charset="-120"/>
              </a:rPr>
              <a:t>No depletion signal across matched biopsies</a:t>
            </a:r>
            <a:endParaRPr lang="en-US" sz="2800" dirty="0"/>
          </a:p>
        </p:txBody>
      </p:sp>
      <p:pic>
        <p:nvPicPr>
          <p:cNvPr id="6" name="Image 0" descr="D:\CS\Genomics\Hackathon\presentation/assets/fig_result3.png">    </p:cNvPr>
          <p:cNvPicPr>
            <a:picLocks noChangeAspect="1"/>
          </p:cNvPicPr>
          <p:nvPr/>
        </p:nvPicPr>
        <p:blipFill>
          <a:blip r:embed="rId1"/>
          <a:stretch>
            <a:fillRect/>
          </a:stretch>
        </p:blipFill>
        <p:spPr>
          <a:xfrm>
            <a:off x="521664" y="1417320"/>
            <a:ext cx="7643472" cy="3749040"/>
          </a:xfrm>
          <a:prstGeom prst="rect">
            <a:avLst/>
          </a:prstGeom>
        </p:spPr>
      </p:pic>
      <p:sp>
        <p:nvSpPr>
          <p:cNvPr id="7" name="Text 4"/>
          <p:cNvSpPr/>
          <p:nvPr/>
        </p:nvSpPr>
        <p:spPr>
          <a:xfrm>
            <a:off x="182880" y="5212080"/>
            <a:ext cx="8321040" cy="365760"/>
          </a:xfrm>
          <a:prstGeom prst="rect">
            <a:avLst/>
          </a:prstGeom>
          <a:noFill/>
          <a:ln/>
        </p:spPr>
        <p:txBody>
          <a:bodyPr wrap="square" lIns="0" tIns="0" rIns="0" bIns="0" rtlCol="0" anchor="ctr"/>
          <a:lstStyle/>
          <a:p>
            <a:pPr algn="ctr" indent="0" marL="0">
              <a:buNone/>
            </a:pPr>
            <a:r>
              <a:rPr lang="en-US" sz="1200" i="1" dirty="0">
                <a:solidFill>
                  <a:srgbClr val="5C6E73"/>
                </a:solidFill>
              </a:rPr>
              <a:t>Figure 2.  Pericentral / periportal anchor and dual co-expression across matched biopsy F1–F4 (box = per-donor spread; each point = one donor).</a:t>
            </a:r>
            <a:endParaRPr lang="en-US" sz="1200" dirty="0"/>
          </a:p>
        </p:txBody>
      </p:sp>
      <p:sp>
        <p:nvSpPr>
          <p:cNvPr id="8" name="Text 5"/>
          <p:cNvSpPr/>
          <p:nvPr/>
        </p:nvSpPr>
        <p:spPr>
          <a:xfrm>
            <a:off x="182880" y="5596128"/>
            <a:ext cx="8321040" cy="640080"/>
          </a:xfrm>
          <a:prstGeom prst="rect">
            <a:avLst/>
          </a:prstGeom>
          <a:noFill/>
          <a:ln/>
        </p:spPr>
        <p:txBody>
          <a:bodyPr wrap="square" rtlCol="0" anchor="t"/>
          <a:lstStyle/>
          <a:p>
            <a:pPr algn="l" indent="0" marL="0">
              <a:buNone/>
            </a:pPr>
            <a:r>
              <a:rPr lang="en-US" sz="1150" b="1" i="1" dirty="0">
                <a:solidFill>
                  <a:srgbClr val="BE123C"/>
                </a:solidFill>
              </a:rPr>
              <a:t>F0 omitted: </a:t>
            </a:r>
            <a:pPr algn="l" indent="0" marL="0">
              <a:buNone/>
            </a:pPr>
            <a:r>
              <a:rPr lang="en-US" sz="1150" i="1" dirty="0">
                <a:solidFill>
                  <a:srgbClr val="5C6E73"/>
                </a:solidFill>
              </a:rPr>
              <a:t>its 2 donors disagree by 16.6 pp on the pericentral anchor (44% vs 28%) — too unstable to anchor a trend; F0 carries the highest PC fraction of any stage, so dropping it doesn’t flatter the result. Full F0–F4 in backup.</a:t>
            </a:r>
            <a:endParaRPr lang="en-US" sz="1150" dirty="0"/>
          </a:p>
        </p:txBody>
      </p:sp>
      <p:sp>
        <p:nvSpPr>
          <p:cNvPr id="9" name="Text 6"/>
          <p:cNvSpPr/>
          <p:nvPr/>
        </p:nvSpPr>
        <p:spPr>
          <a:xfrm>
            <a:off x="8641080" y="1463040"/>
            <a:ext cx="3337560" cy="2468880"/>
          </a:xfrm>
          <a:prstGeom prst="rect">
            <a:avLst/>
          </a:prstGeom>
          <a:noFill/>
          <a:ln/>
        </p:spPr>
        <p:txBody>
          <a:bodyPr wrap="square" rtlCol="0" anchor="t"/>
          <a:lstStyle/>
          <a:p>
            <a:pPr algn="l" indent="0" marL="0">
              <a:buNone/>
            </a:pPr>
            <a:r>
              <a:rPr lang="en-US" sz="1200" b="1" dirty="0">
                <a:solidFill>
                  <a:srgbClr val="123F47"/>
                </a:solidFill>
              </a:rPr>
              <a:t>Why we can still read it. </a:t>
            </a:r>
            <a:pPr algn="l" indent="0" marL="0">
              <a:buNone/>
            </a:pPr>
            <a:r>
              <a:rPr lang="en-US" sz="1200" dirty="0">
                <a:solidFill>
                  <a:srgbClr val="1B2B31"/>
                </a:solidFill>
              </a:rPr>
              <a:t>Donors scatter ~25–35 pp within each stage (SD ≈ 12), but the donor is the replicate — each stage average has SE ≈ SD/√n ≈ 4 pp. The spread is the same at every stage: noise around a flat line, not a hidden trend.</a:t>
            </a:r>
            <a:endParaRPr lang="en-US" sz="1200" dirty="0"/>
          </a:p>
        </p:txBody>
      </p:sp>
      <p:sp>
        <p:nvSpPr>
          <p:cNvPr id="10" name="Text 7"/>
          <p:cNvSpPr/>
          <p:nvPr/>
        </p:nvSpPr>
        <p:spPr>
          <a:xfrm>
            <a:off x="8641080" y="3246120"/>
            <a:ext cx="3337560" cy="320040"/>
          </a:xfrm>
          <a:prstGeom prst="rect">
            <a:avLst/>
          </a:prstGeom>
          <a:noFill/>
          <a:ln/>
        </p:spPr>
        <p:txBody>
          <a:bodyPr wrap="square" rtlCol="0" anchor="t"/>
          <a:lstStyle/>
          <a:p>
            <a:pPr algn="l" indent="0" marL="0">
              <a:buNone/>
            </a:pPr>
            <a:r>
              <a:rPr lang="en-US" sz="1300" b="1" dirty="0">
                <a:solidFill>
                  <a:srgbClr val="475569"/>
                </a:solidFill>
              </a:rPr>
              <a:t>Null (turn-off):  </a:t>
            </a:r>
            <a:pPr algn="l" indent="0" marL="0">
              <a:buNone/>
            </a:pPr>
            <a:r>
              <a:rPr lang="en-US" sz="1300" b="1" dirty="0">
                <a:solidFill>
                  <a:srgbClr val="1B2B31"/>
                </a:solidFill>
              </a:rPr>
              <a:t>44 / 36 / 39 / 39% — flat.</a:t>
            </a:r>
            <a:endParaRPr lang="en-US" sz="1300" dirty="0"/>
          </a:p>
        </p:txBody>
      </p:sp>
      <p:sp>
        <p:nvSpPr>
          <p:cNvPr id="11" name="Text 8"/>
          <p:cNvSpPr/>
          <p:nvPr/>
        </p:nvSpPr>
        <p:spPr>
          <a:xfrm>
            <a:off x="8641080" y="3657600"/>
            <a:ext cx="3337560" cy="320040"/>
          </a:xfrm>
          <a:prstGeom prst="rect">
            <a:avLst/>
          </a:prstGeom>
          <a:noFill/>
          <a:ln/>
        </p:spPr>
        <p:txBody>
          <a:bodyPr wrap="square" rtlCol="0" anchor="t"/>
          <a:lstStyle/>
          <a:p>
            <a:pPr algn="l" indent="0" marL="0">
              <a:buNone/>
            </a:pPr>
            <a:r>
              <a:rPr lang="en-US" sz="1300" b="1" dirty="0">
                <a:solidFill>
                  <a:srgbClr val="7C3AED"/>
                </a:solidFill>
              </a:rPr>
              <a:t>PP : PC ratio:  </a:t>
            </a:r>
            <a:pPr algn="l" indent="0" marL="0">
              <a:buNone/>
            </a:pPr>
            <a:r>
              <a:rPr lang="en-US" sz="1300" b="1" dirty="0">
                <a:solidFill>
                  <a:srgbClr val="1B2B31"/>
                </a:solidFill>
              </a:rPr>
              <a:t>1.16 / 1.01 / 1.10 / 1.18 — flat.</a:t>
            </a:r>
            <a:endParaRPr lang="en-US" sz="1300" dirty="0"/>
          </a:p>
        </p:txBody>
      </p:sp>
      <p:sp>
        <p:nvSpPr>
          <p:cNvPr id="12" name="Shape 9"/>
          <p:cNvSpPr/>
          <p:nvPr/>
        </p:nvSpPr>
        <p:spPr>
          <a:xfrm>
            <a:off x="8641080" y="4434840"/>
            <a:ext cx="3337560" cy="914400"/>
          </a:xfrm>
          <a:prstGeom prst="roundRect">
            <a:avLst>
              <a:gd name="adj" fmla="val 7000"/>
            </a:avLst>
          </a:prstGeom>
          <a:solidFill>
            <a:srgbClr val="E7F0EE"/>
          </a:solidFill>
          <a:ln w="12700">
            <a:solidFill>
              <a:srgbClr val="1B6E78"/>
            </a:solidFill>
            <a:prstDash val="solid"/>
          </a:ln>
        </p:spPr>
      </p:sp>
      <p:sp>
        <p:nvSpPr>
          <p:cNvPr id="13" name="Text 10"/>
          <p:cNvSpPr/>
          <p:nvPr/>
        </p:nvSpPr>
        <p:spPr>
          <a:xfrm>
            <a:off x="8778240" y="4489704"/>
            <a:ext cx="3108960" cy="822960"/>
          </a:xfrm>
          <a:prstGeom prst="rect">
            <a:avLst/>
          </a:prstGeom>
          <a:noFill/>
          <a:ln/>
        </p:spPr>
        <p:txBody>
          <a:bodyPr wrap="square" rtlCol="0" anchor="ctr"/>
          <a:lstStyle/>
          <a:p>
            <a:pPr algn="l" indent="0" marL="0">
              <a:buNone/>
            </a:pPr>
            <a:r>
              <a:rPr lang="en-US" sz="1200" b="1" dirty="0">
                <a:solidFill>
                  <a:srgbClr val="123F47"/>
                </a:solidFill>
              </a:rPr>
              <a:t>Equivalence (TOST).  </a:t>
            </a:r>
            <a:pPr algn="l" indent="0" marL="0">
              <a:buNone/>
            </a:pPr>
            <a:r>
              <a:rPr lang="en-US" sz="1200" dirty="0">
                <a:solidFill>
                  <a:srgbClr val="1B2B31"/>
                </a:solidFill>
              </a:rPr>
              <a:t>A shift &gt; ±19 pp is excluded; a ≤10-pp drift is not (F4 n=4; robustness backup).</a:t>
            </a:r>
            <a:endParaRPr lang="en-US" sz="1200" dirty="0"/>
          </a:p>
        </p:txBody>
      </p:sp>
      <p:sp>
        <p:nvSpPr>
          <p:cNvPr id="14" name="Text 11"/>
          <p:cNvSpPr/>
          <p:nvPr/>
        </p:nvSpPr>
        <p:spPr>
          <a:xfrm>
            <a:off x="8641080" y="5486400"/>
            <a:ext cx="3337560" cy="777240"/>
          </a:xfrm>
          <a:prstGeom prst="rect">
            <a:avLst/>
          </a:prstGeom>
          <a:noFill/>
          <a:ln/>
        </p:spPr>
        <p:txBody>
          <a:bodyPr wrap="square" rtlCol="0" anchor="t"/>
          <a:lstStyle/>
          <a:p>
            <a:pPr algn="l" indent="0" marL="0">
              <a:buNone/>
            </a:pPr>
            <a:r>
              <a:rPr lang="en-US" sz="1150" b="1" dirty="0">
                <a:solidFill>
                  <a:srgbClr val="0D9488"/>
                </a:solidFill>
              </a:rPr>
              <a:t>QA: </a:t>
            </a:r>
            <a:pPr algn="l" indent="0" marL="0">
              <a:buNone/>
            </a:pPr>
            <a:r>
              <a:rPr lang="en-US" sz="1150" i="1" dirty="0">
                <a:solidFill>
                  <a:srgbClr val="5C6E73"/>
                </a:solidFill>
              </a:rPr>
              <a:t>we audited 10 confounders (source, stress, batch, depth, ambient, ploidy…) — none manufactures the result (backup).</a:t>
            </a:r>
            <a:endParaRPr lang="en-US" sz="1150" dirty="0"/>
          </a:p>
        </p:txBody>
      </p:sp>
      <p:sp>
        <p:nvSpPr>
          <p:cNvPr id="15" name="Text 12"/>
          <p:cNvSpPr/>
          <p:nvPr/>
        </p:nvSpPr>
        <p:spPr>
          <a:xfrm>
            <a:off x="457200" y="6510528"/>
            <a:ext cx="9601200" cy="274320"/>
          </a:xfrm>
          <a:prstGeom prst="rect">
            <a:avLst/>
          </a:prstGeom>
          <a:noFill/>
          <a:ln/>
        </p:spPr>
        <p:txBody>
          <a:bodyPr wrap="square" lIns="0" tIns="0" rIns="0" bIns="0" rtlCol="0" anchor="ctr"/>
          <a:lstStyle/>
          <a:p>
            <a:pPr algn="l" indent="0" marL="0">
              <a:buNone/>
            </a:pPr>
            <a:r>
              <a:rPr lang="en-US" sz="1050" dirty="0">
                <a:solidFill>
                  <a:srgbClr val="5C6E73"/>
                </a:solidFill>
              </a:rPr>
              <a:t>Computational Genomics 76553  ·  HUJI  ·  MASLD snRNA-seq hackathon</a:t>
            </a:r>
            <a:endParaRPr lang="en-US" sz="1050" dirty="0"/>
          </a:p>
        </p:txBody>
      </p:sp>
      <p:sp>
        <p:nvSpPr>
          <p:cNvPr id="16" name="Text 13"/>
          <p:cNvSpPr/>
          <p:nvPr/>
        </p:nvSpPr>
        <p:spPr>
          <a:xfrm>
            <a:off x="11155680" y="6510528"/>
            <a:ext cx="548640" cy="274320"/>
          </a:xfrm>
          <a:prstGeom prst="rect">
            <a:avLst/>
          </a:prstGeom>
          <a:noFill/>
          <a:ln/>
        </p:spPr>
        <p:txBody>
          <a:bodyPr wrap="square" lIns="0" tIns="0" rIns="0" bIns="0" rtlCol="0" anchor="ctr"/>
          <a:lstStyle/>
          <a:p>
            <a:pPr algn="r" indent="0" marL="0">
              <a:buNone/>
            </a:pPr>
            <a:r>
              <a:rPr lang="en-US" sz="1050" dirty="0">
                <a:solidFill>
                  <a:srgbClr val="5C6E73"/>
                </a:solidFill>
              </a:rPr>
              <a:t>9</a:t>
            </a:r>
            <a:endParaRPr lang="en-US" sz="10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5F1"/>
        </a:solidFill>
      </p:bgPr>
    </p:bg>
    <p:spTree>
      <p:nvGrpSpPr>
        <p:cNvPr id="1" name=""/>
        <p:cNvGrpSpPr/>
        <p:nvPr/>
      </p:nvGrpSpPr>
      <p:grpSpPr>
        <a:xfrm>
          <a:off x="0" y="0"/>
          <a:ext cx="0" cy="0"/>
          <a:chOff x="0" y="0"/>
          <a:chExt cx="0" cy="0"/>
        </a:xfrm>
      </p:grpSpPr>
      <p:sp>
        <p:nvSpPr>
          <p:cNvPr id="2" name="Shape 0"/>
          <p:cNvSpPr/>
          <p:nvPr/>
        </p:nvSpPr>
        <p:spPr>
          <a:xfrm>
            <a:off x="457200" y="310896"/>
            <a:ext cx="146304" cy="237744"/>
          </a:xfrm>
          <a:prstGeom prst="rect">
            <a:avLst/>
          </a:prstGeom>
          <a:solidFill>
            <a:srgbClr val="C0561B"/>
          </a:solidFill>
          <a:ln/>
        </p:spPr>
      </p:sp>
      <p:sp>
        <p:nvSpPr>
          <p:cNvPr id="3" name="Text 1"/>
          <p:cNvSpPr/>
          <p:nvPr/>
        </p:nvSpPr>
        <p:spPr>
          <a:xfrm>
            <a:off x="676656" y="274320"/>
            <a:ext cx="7863840" cy="320040"/>
          </a:xfrm>
          <a:prstGeom prst="rect">
            <a:avLst/>
          </a:prstGeom>
          <a:noFill/>
          <a:ln/>
        </p:spPr>
        <p:txBody>
          <a:bodyPr wrap="square" lIns="0" tIns="0" rIns="0" bIns="0" rtlCol="0" anchor="ctr"/>
          <a:lstStyle/>
          <a:p>
            <a:pPr algn="l" indent="0" marL="0">
              <a:buNone/>
            </a:pPr>
            <a:r>
              <a:rPr lang="en-US" sz="1300" b="1" spc="300" kern="0" dirty="0">
                <a:solidFill>
                  <a:srgbClr val="C0561B"/>
                </a:solidFill>
              </a:rPr>
              <a:t>THE GRADIENT, IN DATA</a:t>
            </a:r>
            <a:endParaRPr lang="en-US" sz="1300" dirty="0"/>
          </a:p>
        </p:txBody>
      </p:sp>
      <p:sp>
        <p:nvSpPr>
          <p:cNvPr id="4" name="Text 2"/>
          <p:cNvSpPr/>
          <p:nvPr/>
        </p:nvSpPr>
        <p:spPr>
          <a:xfrm>
            <a:off x="8595360" y="292608"/>
            <a:ext cx="3154680" cy="274320"/>
          </a:xfrm>
          <a:prstGeom prst="rect">
            <a:avLst/>
          </a:prstGeom>
          <a:noFill/>
          <a:ln/>
        </p:spPr>
        <p:txBody>
          <a:bodyPr wrap="square" lIns="0" tIns="0" rIns="0" bIns="0" rtlCol="0" anchor="ctr"/>
          <a:lstStyle/>
          <a:p>
            <a:pPr algn="r" indent="0" marL="0">
              <a:buNone/>
            </a:pPr>
            <a:r>
              <a:rPr lang="en-US" sz="1100" b="1" spc="200" kern="0" dirty="0">
                <a:solidFill>
                  <a:srgbClr val="1B6E78"/>
                </a:solidFill>
              </a:rPr>
              <a:t>RESULTS</a:t>
            </a:r>
            <a:endParaRPr lang="en-US" sz="1100" dirty="0"/>
          </a:p>
        </p:txBody>
      </p:sp>
      <p:sp>
        <p:nvSpPr>
          <p:cNvPr id="5" name="Text 3"/>
          <p:cNvSpPr/>
          <p:nvPr/>
        </p:nvSpPr>
        <p:spPr>
          <a:xfrm>
            <a:off x="438912" y="585216"/>
            <a:ext cx="11338560" cy="777240"/>
          </a:xfrm>
          <a:prstGeom prst="rect">
            <a:avLst/>
          </a:prstGeom>
          <a:noFill/>
          <a:ln/>
        </p:spPr>
        <p:txBody>
          <a:bodyPr wrap="square" lIns="0" tIns="0" rIns="0" bIns="0" rtlCol="0" anchor="t"/>
          <a:lstStyle/>
          <a:p>
            <a:pPr algn="l" indent="0" marL="0">
              <a:buNone/>
            </a:pPr>
            <a:r>
              <a:rPr lang="en-US" sz="2800" b="1" dirty="0">
                <a:solidFill>
                  <a:srgbClr val="1B2B31"/>
                </a:solidFill>
                <a:latin typeface="Georgia" pitchFamily="34" charset="0"/>
                <a:ea typeface="Georgia" pitchFamily="34" charset="-122"/>
                <a:cs typeface="Georgia" pitchFamily="34" charset="-120"/>
              </a:rPr>
              <a:t>Cells stay spread across the zones — no collapse</a:t>
            </a:r>
            <a:endParaRPr lang="en-US" sz="2800" dirty="0"/>
          </a:p>
        </p:txBody>
      </p:sp>
      <p:sp>
        <p:nvSpPr>
          <p:cNvPr id="6" name="Text 4"/>
          <p:cNvSpPr/>
          <p:nvPr/>
        </p:nvSpPr>
        <p:spPr>
          <a:xfrm>
            <a:off x="640080" y="1353312"/>
            <a:ext cx="11247120" cy="320040"/>
          </a:xfrm>
          <a:prstGeom prst="rect">
            <a:avLst/>
          </a:prstGeom>
          <a:noFill/>
          <a:ln/>
        </p:spPr>
        <p:txBody>
          <a:bodyPr wrap="square" lIns="0" tIns="0" rIns="0" bIns="0" rtlCol="0" anchor="ctr"/>
          <a:lstStyle/>
          <a:p>
            <a:pPr algn="l" indent="0" marL="0">
              <a:buNone/>
            </a:pPr>
            <a:r>
              <a:rPr lang="en-US" sz="1450" b="1" dirty="0">
                <a:solidFill>
                  <a:srgbClr val="1B2B31"/>
                </a:solidFill>
              </a:rPr>
              <a:t>Each panel: where hepatocytes fall on the pericentral ↔ periportal axis.  </a:t>
            </a:r>
            <a:pPr algn="l" indent="0" marL="0">
              <a:buNone/>
            </a:pPr>
            <a:r>
              <a:rPr lang="en-US" sz="1450" dirty="0">
                <a:solidFill>
                  <a:srgbClr val="5C6E73"/>
                </a:solidFill>
              </a:rPr>
              <a:t>A spread of positions = zonation present;  cells bunched into one pile = collapse.</a:t>
            </a:r>
            <a:endParaRPr lang="en-US" sz="1450" dirty="0"/>
          </a:p>
        </p:txBody>
      </p:sp>
      <p:pic>
        <p:nvPicPr>
          <p:cNvPr id="7" name="Image 0" descr="D:\CS\Genomics\Hackathon\presentation/assets/fig_gradient.png">    </p:cNvPr>
          <p:cNvPicPr>
            <a:picLocks noChangeAspect="1"/>
          </p:cNvPicPr>
          <p:nvPr/>
        </p:nvPicPr>
        <p:blipFill>
          <a:blip r:embed="rId1"/>
          <a:stretch>
            <a:fillRect/>
          </a:stretch>
        </p:blipFill>
        <p:spPr>
          <a:xfrm>
            <a:off x="995729" y="1810512"/>
            <a:ext cx="10170062" cy="2971800"/>
          </a:xfrm>
          <a:prstGeom prst="rect">
            <a:avLst/>
          </a:prstGeom>
        </p:spPr>
      </p:pic>
      <p:sp>
        <p:nvSpPr>
          <p:cNvPr id="8" name="Text 5"/>
          <p:cNvSpPr/>
          <p:nvPr/>
        </p:nvSpPr>
        <p:spPr>
          <a:xfrm>
            <a:off x="365760" y="4892040"/>
            <a:ext cx="11430000" cy="365760"/>
          </a:xfrm>
          <a:prstGeom prst="rect">
            <a:avLst/>
          </a:prstGeom>
          <a:noFill/>
          <a:ln/>
        </p:spPr>
        <p:txBody>
          <a:bodyPr wrap="square" lIns="0" tIns="0" rIns="0" bIns="0" rtlCol="0" anchor="ctr"/>
          <a:lstStyle/>
          <a:p>
            <a:pPr algn="ctr" indent="0" marL="0">
              <a:buNone/>
            </a:pPr>
            <a:r>
              <a:rPr lang="en-US" sz="1200" i="1" dirty="0">
                <a:solidFill>
                  <a:srgbClr val="5C6E73"/>
                </a:solidFill>
              </a:rPr>
              <a:t>Figure 3.  Per-cell zonal balance by stage (down-thinned to 1,500 UMIs, ≤300 nuclei/donor). Dashed outline = the F1 distribution, repeated on each panel: biopsy F1–F4 barely move; only the explant collapses to the periportal pole.</a:t>
            </a:r>
            <a:endParaRPr lang="en-US" sz="1200" dirty="0"/>
          </a:p>
        </p:txBody>
      </p:sp>
      <p:sp>
        <p:nvSpPr>
          <p:cNvPr id="9" name="Text 6"/>
          <p:cNvSpPr/>
          <p:nvPr/>
        </p:nvSpPr>
        <p:spPr>
          <a:xfrm>
            <a:off x="640080" y="5394960"/>
            <a:ext cx="11155680" cy="868680"/>
          </a:xfrm>
          <a:prstGeom prst="rect">
            <a:avLst/>
          </a:prstGeom>
          <a:noFill/>
          <a:ln/>
        </p:spPr>
        <p:txBody>
          <a:bodyPr wrap="square" rtlCol="0" anchor="t"/>
          <a:lstStyle/>
          <a:p>
            <a:pPr algn="l" indent="0" marL="0">
              <a:buNone/>
            </a:pPr>
            <a:r>
              <a:rPr lang="en-US" sz="1450" dirty="0">
                <a:solidFill>
                  <a:srgbClr val="1B2B31"/>
                </a:solidFill>
              </a:rPr>
              <a:t>Across biopsy F1–F4 the mass stays spread — the middle [0.4–0.6) drifts only 22 → 24 → 28 → 26% (peak F3, then reverts), non-monotone and mild. </a:t>
            </a:r>
            <a:pPr algn="l" indent="0" marL="0">
              <a:buNone/>
            </a:pPr>
            <a:r>
              <a:rPr lang="en-US" sz="1450" b="1" dirty="0">
                <a:solidFill>
                  <a:srgbClr val="BE123C"/>
                </a:solidFill>
              </a:rPr>
              <a:t>Only the confounded explant collapses to a single (periportal) pole.</a:t>
            </a:r>
            <a:endParaRPr lang="en-US" sz="1450" dirty="0"/>
          </a:p>
        </p:txBody>
      </p:sp>
      <p:sp>
        <p:nvSpPr>
          <p:cNvPr id="10" name="Text 7"/>
          <p:cNvSpPr/>
          <p:nvPr/>
        </p:nvSpPr>
        <p:spPr>
          <a:xfrm>
            <a:off x="457200" y="6510528"/>
            <a:ext cx="9601200" cy="274320"/>
          </a:xfrm>
          <a:prstGeom prst="rect">
            <a:avLst/>
          </a:prstGeom>
          <a:noFill/>
          <a:ln/>
        </p:spPr>
        <p:txBody>
          <a:bodyPr wrap="square" lIns="0" tIns="0" rIns="0" bIns="0" rtlCol="0" anchor="ctr"/>
          <a:lstStyle/>
          <a:p>
            <a:pPr algn="l" indent="0" marL="0">
              <a:buNone/>
            </a:pPr>
            <a:r>
              <a:rPr lang="en-US" sz="1050" dirty="0">
                <a:solidFill>
                  <a:srgbClr val="5C6E73"/>
                </a:solidFill>
              </a:rPr>
              <a:t>Computational Genomics 76553  ·  HUJI  ·  MASLD snRNA-seq hackathon</a:t>
            </a:r>
            <a:endParaRPr lang="en-US" sz="1050" dirty="0"/>
          </a:p>
        </p:txBody>
      </p:sp>
      <p:sp>
        <p:nvSpPr>
          <p:cNvPr id="11" name="Text 8"/>
          <p:cNvSpPr/>
          <p:nvPr/>
        </p:nvSpPr>
        <p:spPr>
          <a:xfrm>
            <a:off x="11155680" y="6510528"/>
            <a:ext cx="548640" cy="274320"/>
          </a:xfrm>
          <a:prstGeom prst="rect">
            <a:avLst/>
          </a:prstGeom>
          <a:noFill/>
          <a:ln/>
        </p:spPr>
        <p:txBody>
          <a:bodyPr wrap="square" lIns="0" tIns="0" rIns="0" bIns="0" rtlCol="0" anchor="ctr"/>
          <a:lstStyle/>
          <a:p>
            <a:pPr algn="r" indent="0" marL="0">
              <a:buNone/>
            </a:pPr>
            <a:r>
              <a:rPr lang="en-US" sz="1050" dirty="0">
                <a:solidFill>
                  <a:srgbClr val="5C6E73"/>
                </a:solidFill>
              </a:rPr>
              <a:t>10</a:t>
            </a:r>
            <a:endParaRPr lang="en-US" sz="10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5F1"/>
        </a:solidFill>
      </p:bgPr>
    </p:bg>
    <p:spTree>
      <p:nvGrpSpPr>
        <p:cNvPr id="1" name=""/>
        <p:cNvGrpSpPr/>
        <p:nvPr/>
      </p:nvGrpSpPr>
      <p:grpSpPr>
        <a:xfrm>
          <a:off x="0" y="0"/>
          <a:ext cx="0" cy="0"/>
          <a:chOff x="0" y="0"/>
          <a:chExt cx="0" cy="0"/>
        </a:xfrm>
      </p:grpSpPr>
      <p:sp>
        <p:nvSpPr>
          <p:cNvPr id="2" name="Shape 0"/>
          <p:cNvSpPr/>
          <p:nvPr/>
        </p:nvSpPr>
        <p:spPr>
          <a:xfrm>
            <a:off x="457200" y="310896"/>
            <a:ext cx="146304" cy="237744"/>
          </a:xfrm>
          <a:prstGeom prst="rect">
            <a:avLst/>
          </a:prstGeom>
          <a:solidFill>
            <a:srgbClr val="C0561B"/>
          </a:solidFill>
          <a:ln/>
        </p:spPr>
      </p:sp>
      <p:sp>
        <p:nvSpPr>
          <p:cNvPr id="3" name="Text 1"/>
          <p:cNvSpPr/>
          <p:nvPr/>
        </p:nvSpPr>
        <p:spPr>
          <a:xfrm>
            <a:off x="676656" y="274320"/>
            <a:ext cx="7863840" cy="320040"/>
          </a:xfrm>
          <a:prstGeom prst="rect">
            <a:avLst/>
          </a:prstGeom>
          <a:noFill/>
          <a:ln/>
        </p:spPr>
        <p:txBody>
          <a:bodyPr wrap="square" lIns="0" tIns="0" rIns="0" bIns="0" rtlCol="0" anchor="ctr"/>
          <a:lstStyle/>
          <a:p>
            <a:pPr algn="l" indent="0" marL="0">
              <a:buNone/>
            </a:pPr>
            <a:r>
              <a:rPr lang="en-US" sz="1300" b="1" spc="300" kern="0" dirty="0">
                <a:solidFill>
                  <a:srgbClr val="C0561B"/>
                </a:solidFill>
              </a:rPr>
              <a:t>GENOME-WIDE</a:t>
            </a:r>
            <a:endParaRPr lang="en-US" sz="1300" dirty="0"/>
          </a:p>
        </p:txBody>
      </p:sp>
      <p:sp>
        <p:nvSpPr>
          <p:cNvPr id="4" name="Text 2"/>
          <p:cNvSpPr/>
          <p:nvPr/>
        </p:nvSpPr>
        <p:spPr>
          <a:xfrm>
            <a:off x="8595360" y="292608"/>
            <a:ext cx="3154680" cy="274320"/>
          </a:xfrm>
          <a:prstGeom prst="rect">
            <a:avLst/>
          </a:prstGeom>
          <a:noFill/>
          <a:ln/>
        </p:spPr>
        <p:txBody>
          <a:bodyPr wrap="square" lIns="0" tIns="0" rIns="0" bIns="0" rtlCol="0" anchor="ctr"/>
          <a:lstStyle/>
          <a:p>
            <a:pPr algn="r" indent="0" marL="0">
              <a:buNone/>
            </a:pPr>
            <a:r>
              <a:rPr lang="en-US" sz="1100" b="1" spc="200" kern="0" dirty="0">
                <a:solidFill>
                  <a:srgbClr val="1B6E78"/>
                </a:solidFill>
              </a:rPr>
              <a:t>RESULTS</a:t>
            </a:r>
            <a:endParaRPr lang="en-US" sz="1100" dirty="0"/>
          </a:p>
        </p:txBody>
      </p:sp>
      <p:sp>
        <p:nvSpPr>
          <p:cNvPr id="5" name="Text 3"/>
          <p:cNvSpPr/>
          <p:nvPr/>
        </p:nvSpPr>
        <p:spPr>
          <a:xfrm>
            <a:off x="438912" y="585216"/>
            <a:ext cx="11338560" cy="777240"/>
          </a:xfrm>
          <a:prstGeom prst="rect">
            <a:avLst/>
          </a:prstGeom>
          <a:noFill/>
          <a:ln/>
        </p:spPr>
        <p:txBody>
          <a:bodyPr wrap="square" lIns="0" tIns="0" rIns="0" bIns="0" rtlCol="0" anchor="t"/>
          <a:lstStyle/>
          <a:p>
            <a:pPr algn="l" indent="0" marL="0">
              <a:buNone/>
            </a:pPr>
            <a:r>
              <a:rPr lang="en-US" sz="2800" b="1" dirty="0">
                <a:solidFill>
                  <a:srgbClr val="1B2B31"/>
                </a:solidFill>
                <a:latin typeface="Georgia" pitchFamily="34" charset="0"/>
                <a:ea typeface="Georgia" pitchFamily="34" charset="-122"/>
                <a:cs typeface="Georgia" pitchFamily="34" charset="-120"/>
              </a:rPr>
              <a:t>Per gene, nothing usable moves</a:t>
            </a:r>
            <a:endParaRPr lang="en-US" sz="2800" dirty="0"/>
          </a:p>
        </p:txBody>
      </p:sp>
      <p:pic>
        <p:nvPicPr>
          <p:cNvPr id="6" name="Image 0" descr="D:\CS\Genomics\Hackathon\presentation/assets/fig_volcano.png">    </p:cNvPr>
          <p:cNvPicPr>
            <a:picLocks noChangeAspect="1"/>
          </p:cNvPicPr>
          <p:nvPr/>
        </p:nvPicPr>
        <p:blipFill>
          <a:blip r:embed="rId1"/>
          <a:stretch>
            <a:fillRect/>
          </a:stretch>
        </p:blipFill>
        <p:spPr>
          <a:xfrm>
            <a:off x="1065542" y="1417320"/>
            <a:ext cx="6372835" cy="4114800"/>
          </a:xfrm>
          <a:prstGeom prst="rect">
            <a:avLst/>
          </a:prstGeom>
        </p:spPr>
      </p:pic>
      <p:sp>
        <p:nvSpPr>
          <p:cNvPr id="7" name="Text 4"/>
          <p:cNvSpPr/>
          <p:nvPr/>
        </p:nvSpPr>
        <p:spPr>
          <a:xfrm>
            <a:off x="274320" y="5532120"/>
            <a:ext cx="7955280" cy="365760"/>
          </a:xfrm>
          <a:prstGeom prst="rect">
            <a:avLst/>
          </a:prstGeom>
          <a:noFill/>
          <a:ln/>
        </p:spPr>
        <p:txBody>
          <a:bodyPr wrap="square" lIns="0" tIns="0" rIns="0" bIns="0" rtlCol="0" anchor="ctr"/>
          <a:lstStyle/>
          <a:p>
            <a:pPr algn="ctr" indent="0" marL="0">
              <a:buNone/>
            </a:pPr>
            <a:r>
              <a:rPr lang="en-US" sz="1200" i="1" dirty="0">
                <a:solidFill>
                  <a:srgbClr val="5C6E73"/>
                </a:solidFill>
              </a:rPr>
              <a:t>Figure 4.  Genome-wide pseudobulk differential expression, cirrhotic F4 vs F1 (edgeR).</a:t>
            </a:r>
            <a:endParaRPr lang="en-US" sz="1200" dirty="0"/>
          </a:p>
        </p:txBody>
      </p:sp>
      <p:sp>
        <p:nvSpPr>
          <p:cNvPr id="8" name="Text 5"/>
          <p:cNvSpPr/>
          <p:nvPr/>
        </p:nvSpPr>
        <p:spPr>
          <a:xfrm>
            <a:off x="8412480" y="1645920"/>
            <a:ext cx="3520440" cy="3840480"/>
          </a:xfrm>
          <a:prstGeom prst="rect">
            <a:avLst/>
          </a:prstGeom>
          <a:noFill/>
          <a:ln/>
        </p:spPr>
        <p:txBody>
          <a:bodyPr wrap="square" rtlCol="0" anchor="t"/>
          <a:lstStyle/>
          <a:p>
            <a:pPr algn="l" indent="0" marL="0">
              <a:spcAft>
                <a:spcPts val="600"/>
              </a:spcAft>
              <a:buNone/>
            </a:pPr>
            <a:r>
              <a:rPr lang="en-US" sz="1400" b="1" dirty="0">
                <a:solidFill>
                  <a:srgbClr val="1B2B31"/>
                </a:solidFill>
              </a:rPr>
              <a:t>64 of ~21,000 genes pass FDR¹ — </a:t>
            </a:r>
            <a:pPr algn="l" indent="0" marL="0">
              <a:spcAft>
                <a:spcPts val="600"/>
              </a:spcAft>
              <a:buNone/>
            </a:pPr>
            <a:r>
              <a:rPr lang="en-US" sz="1400" dirty="0">
                <a:solidFill>
                  <a:srgbClr val="1B2B31"/>
                </a:solidFill>
              </a:rPr>
              <a:t>mostly biliary / ductular.
</a:t>
            </a:r>
            <a:pPr algn="l" indent="0" marL="0">
              <a:spcAft>
                <a:spcPts val="600"/>
              </a:spcAft>
              <a:buNone/>
            </a:pPr>
            <a:r>
              <a:rPr lang="en-US" sz="1400" b="1" dirty="0">
                <a:solidFill>
                  <a:srgbClr val="1D4ED8"/>
                </a:solidFill>
              </a:rPr>
              <a:t>Zonation genes flat </a:t>
            </a:r>
            <a:pPr algn="l" indent="0" marL="0">
              <a:spcAft>
                <a:spcPts val="600"/>
              </a:spcAft>
              <a:buNone/>
            </a:pPr>
            <a:r>
              <a:rPr lang="en-US" sz="1400" dirty="0">
                <a:solidFill>
                  <a:srgbClr val="1B2B31"/>
                </a:solidFill>
              </a:rPr>
              <a:t>(GLUL FDR 0.80). No large single-gene program.
</a:t>
            </a:r>
            <a:pPr algn="l" indent="0" marL="0">
              <a:spcAft>
                <a:spcPts val="600"/>
              </a:spcAft>
              <a:buNone/>
            </a:pPr>
            <a:r>
              <a:rPr lang="en-US" sz="1400" dirty="0">
                <a:solidFill>
                  <a:srgbClr val="1B2B31"/>
                </a:solidFill>
              </a:rPr>
              <a:t>But a weak program, spread thinly across many genes, hides from per-gene FDR — </a:t>
            </a:r>
            <a:pPr algn="l" indent="0" marL="0">
              <a:spcAft>
                <a:spcPts val="600"/>
              </a:spcAft>
              <a:buNone/>
            </a:pPr>
            <a:r>
              <a:rPr lang="en-US" sz="1400" b="1" dirty="0">
                <a:solidFill>
                  <a:srgbClr val="C0561B"/>
                </a:solidFill>
              </a:rPr>
              <a:t>the coordinated pericentral-detox decline is exactly that (next slide).</a:t>
            </a:r>
            <a:endParaRPr lang="en-US" sz="1400" dirty="0"/>
          </a:p>
        </p:txBody>
      </p:sp>
      <p:sp>
        <p:nvSpPr>
          <p:cNvPr id="9" name="Shape 6"/>
          <p:cNvSpPr/>
          <p:nvPr/>
        </p:nvSpPr>
        <p:spPr>
          <a:xfrm>
            <a:off x="457200" y="6199632"/>
            <a:ext cx="2926080" cy="0"/>
          </a:xfrm>
          <a:prstGeom prst="line">
            <a:avLst/>
          </a:prstGeom>
          <a:noFill/>
          <a:ln w="9525">
            <a:solidFill>
              <a:srgbClr val="C9C0B2"/>
            </a:solidFill>
            <a:prstDash val="solid"/>
          </a:ln>
        </p:spPr>
      </p:sp>
      <p:sp>
        <p:nvSpPr>
          <p:cNvPr id="10" name="Text 7"/>
          <p:cNvSpPr/>
          <p:nvPr/>
        </p:nvSpPr>
        <p:spPr>
          <a:xfrm>
            <a:off x="457200" y="6254496"/>
            <a:ext cx="10607040" cy="237744"/>
          </a:xfrm>
          <a:prstGeom prst="rect">
            <a:avLst/>
          </a:prstGeom>
          <a:noFill/>
          <a:ln/>
        </p:spPr>
        <p:txBody>
          <a:bodyPr wrap="square" lIns="0" tIns="0" rIns="0" bIns="0" rtlCol="0" anchor="ctr"/>
          <a:lstStyle/>
          <a:p>
            <a:pPr algn="l" indent="0" marL="0">
              <a:buNone/>
            </a:pPr>
            <a:r>
              <a:rPr lang="en-US" sz="1000" i="1" dirty="0">
                <a:solidFill>
                  <a:srgbClr val="6B6256"/>
                </a:solidFill>
              </a:rPr>
              <a:t>¹ Pseudobulk: Squair et al. 2021; edgeR / TMM: Robinson, McCarthy &amp; Smyth 2010; Robinson &amp; Oshlack 2010.</a:t>
            </a:r>
            <a:endParaRPr lang="en-US" sz="1000" dirty="0"/>
          </a:p>
        </p:txBody>
      </p:sp>
      <p:sp>
        <p:nvSpPr>
          <p:cNvPr id="11" name="Text 8"/>
          <p:cNvSpPr/>
          <p:nvPr/>
        </p:nvSpPr>
        <p:spPr>
          <a:xfrm>
            <a:off x="457200" y="6510528"/>
            <a:ext cx="9601200" cy="274320"/>
          </a:xfrm>
          <a:prstGeom prst="rect">
            <a:avLst/>
          </a:prstGeom>
          <a:noFill/>
          <a:ln/>
        </p:spPr>
        <p:txBody>
          <a:bodyPr wrap="square" lIns="0" tIns="0" rIns="0" bIns="0" rtlCol="0" anchor="ctr"/>
          <a:lstStyle/>
          <a:p>
            <a:pPr algn="l" indent="0" marL="0">
              <a:buNone/>
            </a:pPr>
            <a:r>
              <a:rPr lang="en-US" sz="1050" dirty="0">
                <a:solidFill>
                  <a:srgbClr val="5C6E73"/>
                </a:solidFill>
              </a:rPr>
              <a:t>Computational Genomics 76553  ·  HUJI  ·  MASLD snRNA-seq hackathon</a:t>
            </a:r>
            <a:endParaRPr lang="en-US" sz="1050" dirty="0"/>
          </a:p>
        </p:txBody>
      </p:sp>
      <p:sp>
        <p:nvSpPr>
          <p:cNvPr id="12" name="Text 9"/>
          <p:cNvSpPr/>
          <p:nvPr/>
        </p:nvSpPr>
        <p:spPr>
          <a:xfrm>
            <a:off x="11155680" y="6510528"/>
            <a:ext cx="548640" cy="274320"/>
          </a:xfrm>
          <a:prstGeom prst="rect">
            <a:avLst/>
          </a:prstGeom>
          <a:noFill/>
          <a:ln/>
        </p:spPr>
        <p:txBody>
          <a:bodyPr wrap="square" lIns="0" tIns="0" rIns="0" bIns="0" rtlCol="0" anchor="ctr"/>
          <a:lstStyle/>
          <a:p>
            <a:pPr algn="r" indent="0" marL="0">
              <a:buNone/>
            </a:pPr>
            <a:r>
              <a:rPr lang="en-US" sz="1050" dirty="0">
                <a:solidFill>
                  <a:srgbClr val="5C6E73"/>
                </a:solidFill>
              </a:rPr>
              <a:t>11</a:t>
            </a:r>
            <a:endParaRPr lang="en-US" sz="10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5F1"/>
        </a:solidFill>
      </p:bgPr>
    </p:bg>
    <p:spTree>
      <p:nvGrpSpPr>
        <p:cNvPr id="1" name=""/>
        <p:cNvGrpSpPr/>
        <p:nvPr/>
      </p:nvGrpSpPr>
      <p:grpSpPr>
        <a:xfrm>
          <a:off x="0" y="0"/>
          <a:ext cx="0" cy="0"/>
          <a:chOff x="0" y="0"/>
          <a:chExt cx="0" cy="0"/>
        </a:xfrm>
      </p:grpSpPr>
      <p:sp>
        <p:nvSpPr>
          <p:cNvPr id="2" name="Shape 0"/>
          <p:cNvSpPr/>
          <p:nvPr/>
        </p:nvSpPr>
        <p:spPr>
          <a:xfrm>
            <a:off x="457200" y="310896"/>
            <a:ext cx="146304" cy="237744"/>
          </a:xfrm>
          <a:prstGeom prst="rect">
            <a:avLst/>
          </a:prstGeom>
          <a:solidFill>
            <a:srgbClr val="C0561B"/>
          </a:solidFill>
          <a:ln/>
        </p:spPr>
      </p:sp>
      <p:sp>
        <p:nvSpPr>
          <p:cNvPr id="3" name="Text 1"/>
          <p:cNvSpPr/>
          <p:nvPr/>
        </p:nvSpPr>
        <p:spPr>
          <a:xfrm>
            <a:off x="676656" y="274320"/>
            <a:ext cx="7863840" cy="320040"/>
          </a:xfrm>
          <a:prstGeom prst="rect">
            <a:avLst/>
          </a:prstGeom>
          <a:noFill/>
          <a:ln/>
        </p:spPr>
        <p:txBody>
          <a:bodyPr wrap="square" lIns="0" tIns="0" rIns="0" bIns="0" rtlCol="0" anchor="ctr"/>
          <a:lstStyle/>
          <a:p>
            <a:pPr algn="l" indent="0" marL="0">
              <a:buNone/>
            </a:pPr>
            <a:r>
              <a:rPr lang="en-US" sz="1300" b="1" spc="300" kern="0" dirty="0">
                <a:solidFill>
                  <a:srgbClr val="C0561B"/>
                </a:solidFill>
              </a:rPr>
              <a:t>THE ONE REAL CHANGE</a:t>
            </a:r>
            <a:endParaRPr lang="en-US" sz="1300" dirty="0"/>
          </a:p>
        </p:txBody>
      </p:sp>
      <p:sp>
        <p:nvSpPr>
          <p:cNvPr id="4" name="Text 2"/>
          <p:cNvSpPr/>
          <p:nvPr/>
        </p:nvSpPr>
        <p:spPr>
          <a:xfrm>
            <a:off x="8595360" y="292608"/>
            <a:ext cx="3154680" cy="274320"/>
          </a:xfrm>
          <a:prstGeom prst="rect">
            <a:avLst/>
          </a:prstGeom>
          <a:noFill/>
          <a:ln/>
        </p:spPr>
        <p:txBody>
          <a:bodyPr wrap="square" lIns="0" tIns="0" rIns="0" bIns="0" rtlCol="0" anchor="ctr"/>
          <a:lstStyle/>
          <a:p>
            <a:pPr algn="r" indent="0" marL="0">
              <a:buNone/>
            </a:pPr>
            <a:r>
              <a:rPr lang="en-US" sz="1100" b="1" spc="200" kern="0" dirty="0">
                <a:solidFill>
                  <a:srgbClr val="1B6E78"/>
                </a:solidFill>
              </a:rPr>
              <a:t>RESULTS</a:t>
            </a:r>
            <a:endParaRPr lang="en-US" sz="1100" dirty="0"/>
          </a:p>
        </p:txBody>
      </p:sp>
      <p:sp>
        <p:nvSpPr>
          <p:cNvPr id="5" name="Text 3"/>
          <p:cNvSpPr/>
          <p:nvPr/>
        </p:nvSpPr>
        <p:spPr>
          <a:xfrm>
            <a:off x="438912" y="585216"/>
            <a:ext cx="11338560" cy="777240"/>
          </a:xfrm>
          <a:prstGeom prst="rect">
            <a:avLst/>
          </a:prstGeom>
          <a:noFill/>
          <a:ln/>
        </p:spPr>
        <p:txBody>
          <a:bodyPr wrap="square" lIns="0" tIns="0" rIns="0" bIns="0" rtlCol="0" anchor="t"/>
          <a:lstStyle/>
          <a:p>
            <a:pPr algn="l" indent="0" marL="0">
              <a:buNone/>
            </a:pPr>
            <a:r>
              <a:rPr lang="en-US" sz="2800" b="1" dirty="0">
                <a:solidFill>
                  <a:srgbClr val="1B2B31"/>
                </a:solidFill>
                <a:latin typeface="Georgia" pitchFamily="34" charset="0"/>
                <a:ea typeface="Georgia" pitchFamily="34" charset="-122"/>
                <a:cs typeface="Georgia" pitchFamily="34" charset="-120"/>
              </a:rPr>
              <a:t>Pericentral detox dims — identity stays</a:t>
            </a:r>
            <a:endParaRPr lang="en-US" sz="2800" dirty="0"/>
          </a:p>
        </p:txBody>
      </p:sp>
      <p:sp>
        <p:nvSpPr>
          <p:cNvPr id="6" name="Text 4"/>
          <p:cNvSpPr/>
          <p:nvPr/>
        </p:nvSpPr>
        <p:spPr>
          <a:xfrm>
            <a:off x="640080" y="1371600"/>
            <a:ext cx="11247120" cy="457200"/>
          </a:xfrm>
          <a:prstGeom prst="rect">
            <a:avLst/>
          </a:prstGeom>
          <a:noFill/>
          <a:ln/>
        </p:spPr>
        <p:txBody>
          <a:bodyPr wrap="square" rtlCol="0" anchor="ctr"/>
          <a:lstStyle/>
          <a:p>
            <a:pPr algn="l" indent="0" marL="0">
              <a:buNone/>
            </a:pPr>
            <a:r>
              <a:rPr lang="en-US" sz="1550" b="1" dirty="0">
                <a:solidFill>
                  <a:srgbClr val="1B2B31"/>
                </a:solidFill>
              </a:rPr>
              <a:t>Cells keep their class — </a:t>
            </a:r>
            <a:pPr algn="l" indent="0" marL="0">
              <a:buNone/>
            </a:pPr>
            <a:r>
              <a:rPr lang="en-US" sz="1550" dirty="0">
                <a:solidFill>
                  <a:srgbClr val="1B2B31"/>
                </a:solidFill>
              </a:rPr>
              <a:t>but within pericentral nuclei the detox program’s level falls with fibrosis (the one hint our counts gave, now confirmed).</a:t>
            </a:r>
            <a:endParaRPr lang="en-US" sz="1550" dirty="0"/>
          </a:p>
        </p:txBody>
      </p:sp>
      <p:pic>
        <p:nvPicPr>
          <p:cNvPr id="7" name="Image 0" descr="D:\CS\Genomics\Hackathon\presentation/assets/fig_dimming.png">    </p:cNvPr>
          <p:cNvPicPr>
            <a:picLocks noChangeAspect="1"/>
          </p:cNvPicPr>
          <p:nvPr/>
        </p:nvPicPr>
        <p:blipFill>
          <a:blip r:embed="rId1"/>
          <a:stretch>
            <a:fillRect/>
          </a:stretch>
        </p:blipFill>
        <p:spPr>
          <a:xfrm>
            <a:off x="1679538" y="1828800"/>
            <a:ext cx="8848165" cy="3200400"/>
          </a:xfrm>
          <a:prstGeom prst="rect">
            <a:avLst/>
          </a:prstGeom>
        </p:spPr>
      </p:pic>
      <p:sp>
        <p:nvSpPr>
          <p:cNvPr id="8" name="Text 5"/>
          <p:cNvSpPr/>
          <p:nvPr/>
        </p:nvSpPr>
        <p:spPr>
          <a:xfrm>
            <a:off x="411480" y="5074920"/>
            <a:ext cx="11384280" cy="365760"/>
          </a:xfrm>
          <a:prstGeom prst="rect">
            <a:avLst/>
          </a:prstGeom>
          <a:noFill/>
          <a:ln/>
        </p:spPr>
        <p:txBody>
          <a:bodyPr wrap="square" lIns="0" tIns="0" rIns="0" bIns="0" rtlCol="0" anchor="ctr"/>
          <a:lstStyle/>
          <a:p>
            <a:pPr algn="ctr" indent="0" marL="0">
              <a:buNone/>
            </a:pPr>
            <a:r>
              <a:rPr lang="en-US" sz="1200" i="1" dirty="0">
                <a:solidFill>
                  <a:srgbClr val="5C6E73"/>
                </a:solidFill>
              </a:rPr>
              <a:t>Figure 5.  Left — within-PC detox output¹ (depth-matched transcripts per PC nucleus) across fibrosis. Right — gene-set programs²: PC detox / identity down, biliary + fibrogenesis up, validating controls behaved.</a:t>
            </a:r>
            <a:endParaRPr lang="en-US" sz="1200" dirty="0"/>
          </a:p>
        </p:txBody>
      </p:sp>
      <p:sp>
        <p:nvSpPr>
          <p:cNvPr id="9" name="Text 6"/>
          <p:cNvSpPr/>
          <p:nvPr/>
        </p:nvSpPr>
        <p:spPr>
          <a:xfrm>
            <a:off x="640080" y="5486400"/>
            <a:ext cx="11247120" cy="777240"/>
          </a:xfrm>
          <a:prstGeom prst="rect">
            <a:avLst/>
          </a:prstGeom>
          <a:noFill/>
          <a:ln/>
        </p:spPr>
        <p:txBody>
          <a:bodyPr wrap="square" rtlCol="0" anchor="t"/>
          <a:lstStyle/>
          <a:p>
            <a:pPr algn="l" indent="0" marL="0">
              <a:buNone/>
            </a:pPr>
            <a:r>
              <a:rPr lang="en-US" sz="1250" b="1" dirty="0">
                <a:solidFill>
                  <a:srgbClr val="1B6E78"/>
                </a:solidFill>
              </a:rPr>
              <a:t>Like a radio: </a:t>
            </a:r>
            <a:pPr algn="l" indent="0" marL="0">
              <a:buNone/>
            </a:pPr>
            <a:r>
              <a:rPr lang="en-US" sz="1250" i="1" dirty="0">
                <a:solidFill>
                  <a:srgbClr val="334155"/>
                </a:solidFill>
              </a:rPr>
              <a:t>the genre held (cells keep identity); the volume dropped (the program dims).   </a:t>
            </a:r>
            <a:pPr algn="l" indent="0" marL="0">
              <a:buNone/>
            </a:pPr>
            <a:r>
              <a:rPr lang="en-US" sz="1250" dirty="0">
                <a:solidFill>
                  <a:srgbClr val="5C6E73"/>
                </a:solidFill>
              </a:rPr>
              <a:t>A relative decline (transcripts within a fixed budget), not proven absolute molecule loss; a donor-level trend; could partly reflect a shift among PC subzones. No single gene clears per-gene FDR — only the coordinated set + the per-cell trend.</a:t>
            </a:r>
            <a:endParaRPr lang="en-US" sz="1250" dirty="0"/>
          </a:p>
        </p:txBody>
      </p:sp>
      <p:sp>
        <p:nvSpPr>
          <p:cNvPr id="10" name="Shape 7"/>
          <p:cNvSpPr/>
          <p:nvPr/>
        </p:nvSpPr>
        <p:spPr>
          <a:xfrm>
            <a:off x="457200" y="6199632"/>
            <a:ext cx="2926080" cy="0"/>
          </a:xfrm>
          <a:prstGeom prst="line">
            <a:avLst/>
          </a:prstGeom>
          <a:noFill/>
          <a:ln w="9525">
            <a:solidFill>
              <a:srgbClr val="C9C0B2"/>
            </a:solidFill>
            <a:prstDash val="solid"/>
          </a:ln>
        </p:spPr>
      </p:sp>
      <p:sp>
        <p:nvSpPr>
          <p:cNvPr id="11" name="Text 8"/>
          <p:cNvSpPr/>
          <p:nvPr/>
        </p:nvSpPr>
        <p:spPr>
          <a:xfrm>
            <a:off x="457200" y="6254496"/>
            <a:ext cx="10607040" cy="237744"/>
          </a:xfrm>
          <a:prstGeom prst="rect">
            <a:avLst/>
          </a:prstGeom>
          <a:noFill/>
          <a:ln/>
        </p:spPr>
        <p:txBody>
          <a:bodyPr wrap="square" lIns="0" tIns="0" rIns="0" bIns="0" rtlCol="0" anchor="ctr"/>
          <a:lstStyle/>
          <a:p>
            <a:pPr algn="l" indent="0" marL="0">
              <a:buNone/>
            </a:pPr>
            <a:r>
              <a:rPr lang="en-US" sz="1000" i="1" dirty="0">
                <a:solidFill>
                  <a:srgbClr val="6B6256"/>
                </a:solidFill>
              </a:rPr>
              <a:t>¹ Within-PC detox output: depth-matched to 1,500 UMIs, donor-level Spearman (ρ=−0.48, p=0.003).   ² Gene-set: camera — Wu &amp; Smyth 2012; ROAST — Wu et al. 2010; GSEA — gseapy.</a:t>
            </a:r>
            <a:endParaRPr lang="en-US" sz="1000" dirty="0"/>
          </a:p>
        </p:txBody>
      </p:sp>
      <p:sp>
        <p:nvSpPr>
          <p:cNvPr id="12" name="Text 9"/>
          <p:cNvSpPr/>
          <p:nvPr/>
        </p:nvSpPr>
        <p:spPr>
          <a:xfrm>
            <a:off x="457200" y="6510528"/>
            <a:ext cx="9601200" cy="274320"/>
          </a:xfrm>
          <a:prstGeom prst="rect">
            <a:avLst/>
          </a:prstGeom>
          <a:noFill/>
          <a:ln/>
        </p:spPr>
        <p:txBody>
          <a:bodyPr wrap="square" lIns="0" tIns="0" rIns="0" bIns="0" rtlCol="0" anchor="ctr"/>
          <a:lstStyle/>
          <a:p>
            <a:pPr algn="l" indent="0" marL="0">
              <a:buNone/>
            </a:pPr>
            <a:r>
              <a:rPr lang="en-US" sz="1050" dirty="0">
                <a:solidFill>
                  <a:srgbClr val="5C6E73"/>
                </a:solidFill>
              </a:rPr>
              <a:t>Computational Genomics 76553  ·  HUJI  ·  MASLD snRNA-seq hackathon</a:t>
            </a:r>
            <a:endParaRPr lang="en-US" sz="1050" dirty="0"/>
          </a:p>
        </p:txBody>
      </p:sp>
      <p:sp>
        <p:nvSpPr>
          <p:cNvPr id="13" name="Text 10"/>
          <p:cNvSpPr/>
          <p:nvPr/>
        </p:nvSpPr>
        <p:spPr>
          <a:xfrm>
            <a:off x="11155680" y="6510528"/>
            <a:ext cx="548640" cy="274320"/>
          </a:xfrm>
          <a:prstGeom prst="rect">
            <a:avLst/>
          </a:prstGeom>
          <a:noFill/>
          <a:ln/>
        </p:spPr>
        <p:txBody>
          <a:bodyPr wrap="square" lIns="0" tIns="0" rIns="0" bIns="0" rtlCol="0" anchor="ctr"/>
          <a:lstStyle/>
          <a:p>
            <a:pPr algn="r" indent="0" marL="0">
              <a:buNone/>
            </a:pPr>
            <a:r>
              <a:rPr lang="en-US" sz="1050" dirty="0">
                <a:solidFill>
                  <a:srgbClr val="5C6E73"/>
                </a:solidFill>
              </a:rPr>
              <a:t>12</a:t>
            </a:r>
            <a:endParaRPr lang="en-US" sz="10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5F1"/>
        </a:solidFill>
      </p:bgPr>
    </p:bg>
    <p:spTree>
      <p:nvGrpSpPr>
        <p:cNvPr id="1" name=""/>
        <p:cNvGrpSpPr/>
        <p:nvPr/>
      </p:nvGrpSpPr>
      <p:grpSpPr>
        <a:xfrm>
          <a:off x="0" y="0"/>
          <a:ext cx="0" cy="0"/>
          <a:chOff x="0" y="0"/>
          <a:chExt cx="0" cy="0"/>
        </a:xfrm>
      </p:grpSpPr>
      <p:sp>
        <p:nvSpPr>
          <p:cNvPr id="2" name="Shape 0"/>
          <p:cNvSpPr/>
          <p:nvPr/>
        </p:nvSpPr>
        <p:spPr>
          <a:xfrm>
            <a:off x="457200" y="310896"/>
            <a:ext cx="146304" cy="237744"/>
          </a:xfrm>
          <a:prstGeom prst="rect">
            <a:avLst/>
          </a:prstGeom>
          <a:solidFill>
            <a:srgbClr val="C0561B"/>
          </a:solidFill>
          <a:ln/>
        </p:spPr>
      </p:sp>
      <p:sp>
        <p:nvSpPr>
          <p:cNvPr id="3" name="Text 1"/>
          <p:cNvSpPr/>
          <p:nvPr/>
        </p:nvSpPr>
        <p:spPr>
          <a:xfrm>
            <a:off x="676656" y="274320"/>
            <a:ext cx="7863840" cy="320040"/>
          </a:xfrm>
          <a:prstGeom prst="rect">
            <a:avLst/>
          </a:prstGeom>
          <a:noFill/>
          <a:ln/>
        </p:spPr>
        <p:txBody>
          <a:bodyPr wrap="square" lIns="0" tIns="0" rIns="0" bIns="0" rtlCol="0" anchor="ctr"/>
          <a:lstStyle/>
          <a:p>
            <a:pPr algn="l" indent="0" marL="0">
              <a:buNone/>
            </a:pPr>
            <a:r>
              <a:rPr lang="en-US" sz="1300" b="1" spc="300" kern="0" dirty="0">
                <a:solidFill>
                  <a:srgbClr val="C0561B"/>
                </a:solidFill>
              </a:rPr>
              <a:t>SOURCE</a:t>
            </a:r>
            <a:endParaRPr lang="en-US" sz="1300" dirty="0"/>
          </a:p>
        </p:txBody>
      </p:sp>
      <p:sp>
        <p:nvSpPr>
          <p:cNvPr id="4" name="Text 2"/>
          <p:cNvSpPr/>
          <p:nvPr/>
        </p:nvSpPr>
        <p:spPr>
          <a:xfrm>
            <a:off x="8595360" y="292608"/>
            <a:ext cx="3154680" cy="274320"/>
          </a:xfrm>
          <a:prstGeom prst="rect">
            <a:avLst/>
          </a:prstGeom>
          <a:noFill/>
          <a:ln/>
        </p:spPr>
        <p:txBody>
          <a:bodyPr wrap="square" lIns="0" tIns="0" rIns="0" bIns="0" rtlCol="0" anchor="ctr"/>
          <a:lstStyle/>
          <a:p>
            <a:pPr algn="r" indent="0" marL="0">
              <a:buNone/>
            </a:pPr>
            <a:r>
              <a:rPr lang="en-US" sz="1100" b="1" spc="200" kern="0" dirty="0">
                <a:solidFill>
                  <a:srgbClr val="1B6E78"/>
                </a:solidFill>
              </a:rPr>
              <a:t>RESULTS</a:t>
            </a:r>
            <a:endParaRPr lang="en-US" sz="1100" dirty="0"/>
          </a:p>
        </p:txBody>
      </p:sp>
      <p:sp>
        <p:nvSpPr>
          <p:cNvPr id="5" name="Text 3"/>
          <p:cNvSpPr/>
          <p:nvPr/>
        </p:nvSpPr>
        <p:spPr>
          <a:xfrm>
            <a:off x="438912" y="585216"/>
            <a:ext cx="11338560" cy="777240"/>
          </a:xfrm>
          <a:prstGeom prst="rect">
            <a:avLst/>
          </a:prstGeom>
          <a:noFill/>
          <a:ln/>
        </p:spPr>
        <p:txBody>
          <a:bodyPr wrap="square" lIns="0" tIns="0" rIns="0" bIns="0" rtlCol="0" anchor="t"/>
          <a:lstStyle/>
          <a:p>
            <a:pPr algn="l" indent="0" marL="0">
              <a:buNone/>
            </a:pPr>
            <a:r>
              <a:rPr lang="en-US" sz="2800" b="1" dirty="0">
                <a:solidFill>
                  <a:srgbClr val="1B2B31"/>
                </a:solidFill>
                <a:latin typeface="Georgia" pitchFamily="34" charset="0"/>
                <a:ea typeface="Georgia" pitchFamily="34" charset="-122"/>
                <a:cs typeface="Georgia" pitchFamily="34" charset="-120"/>
              </a:rPr>
              <a:t>The biliary burden looks compositional</a:t>
            </a:r>
            <a:endParaRPr lang="en-US" sz="2800" dirty="0"/>
          </a:p>
        </p:txBody>
      </p:sp>
      <p:pic>
        <p:nvPicPr>
          <p:cNvPr id="6" name="Image 0" descr="D:\CS\Genomics\Hackathon\presentation/assets/fig_compositional.png">    </p:cNvPr>
          <p:cNvPicPr>
            <a:picLocks noChangeAspect="1"/>
          </p:cNvPicPr>
          <p:nvPr/>
        </p:nvPicPr>
        <p:blipFill>
          <a:blip r:embed="rId1"/>
          <a:stretch>
            <a:fillRect/>
          </a:stretch>
        </p:blipFill>
        <p:spPr>
          <a:xfrm>
            <a:off x="2208441" y="1371600"/>
            <a:ext cx="7744638" cy="3063240"/>
          </a:xfrm>
          <a:prstGeom prst="rect">
            <a:avLst/>
          </a:prstGeom>
        </p:spPr>
      </p:pic>
      <p:sp>
        <p:nvSpPr>
          <p:cNvPr id="7" name="Text 4"/>
          <p:cNvSpPr/>
          <p:nvPr/>
        </p:nvSpPr>
        <p:spPr>
          <a:xfrm>
            <a:off x="274320" y="4498848"/>
            <a:ext cx="11612880" cy="365760"/>
          </a:xfrm>
          <a:prstGeom prst="rect">
            <a:avLst/>
          </a:prstGeom>
          <a:noFill/>
          <a:ln/>
        </p:spPr>
        <p:txBody>
          <a:bodyPr wrap="square" lIns="0" tIns="0" rIns="0" bIns="0" rtlCol="0" anchor="ctr"/>
          <a:lstStyle/>
          <a:p>
            <a:pPr algn="ctr" indent="0" marL="0">
              <a:buNone/>
            </a:pPr>
            <a:r>
              <a:rPr lang="en-US" sz="1200" i="1" dirty="0">
                <a:solidFill>
                  <a:srgbClr val="5C6E73"/>
                </a:solidFill>
              </a:rPr>
              <a:t>Figure 6.  Source attribution — cross-lineage abundance, decontX ambient-RNA removal, and the F4 ductular reaction.</a:t>
            </a:r>
            <a:endParaRPr lang="en-US" sz="1200" dirty="0"/>
          </a:p>
        </p:txBody>
      </p:sp>
      <p:sp>
        <p:nvSpPr>
          <p:cNvPr id="8" name="Shape 5"/>
          <p:cNvSpPr/>
          <p:nvPr/>
        </p:nvSpPr>
        <p:spPr>
          <a:xfrm>
            <a:off x="548640" y="4828032"/>
            <a:ext cx="11155680" cy="384048"/>
          </a:xfrm>
          <a:prstGeom prst="roundRect">
            <a:avLst>
              <a:gd name="adj" fmla="val 11905"/>
            </a:avLst>
          </a:prstGeom>
          <a:solidFill>
            <a:srgbClr val="E7F2ED"/>
          </a:solidFill>
          <a:ln/>
        </p:spPr>
      </p:sp>
      <p:sp>
        <p:nvSpPr>
          <p:cNvPr id="9" name="Text 6"/>
          <p:cNvSpPr/>
          <p:nvPr/>
        </p:nvSpPr>
        <p:spPr>
          <a:xfrm>
            <a:off x="713232" y="4828032"/>
            <a:ext cx="1737360" cy="384048"/>
          </a:xfrm>
          <a:prstGeom prst="rect">
            <a:avLst/>
          </a:prstGeom>
          <a:noFill/>
          <a:ln/>
        </p:spPr>
        <p:txBody>
          <a:bodyPr wrap="square" lIns="0" tIns="0" rIns="0" bIns="0" rtlCol="0" anchor="ctr"/>
          <a:lstStyle/>
          <a:p>
            <a:pPr indent="0" marL="0">
              <a:buNone/>
            </a:pPr>
            <a:r>
              <a:rPr lang="en-US" sz="1200" b="1" spc="100" kern="0" dirty="0">
                <a:solidFill>
                  <a:srgbClr val="065F46"/>
                </a:solidFill>
              </a:rPr>
              <a:t>STRONG</a:t>
            </a:r>
            <a:endParaRPr lang="en-US" sz="1200" dirty="0"/>
          </a:p>
        </p:txBody>
      </p:sp>
      <p:sp>
        <p:nvSpPr>
          <p:cNvPr id="10" name="Text 7"/>
          <p:cNvSpPr/>
          <p:nvPr/>
        </p:nvSpPr>
        <p:spPr>
          <a:xfrm>
            <a:off x="2468880" y="4828032"/>
            <a:ext cx="9052560" cy="384048"/>
          </a:xfrm>
          <a:prstGeom prst="rect">
            <a:avLst/>
          </a:prstGeom>
          <a:noFill/>
          <a:ln/>
        </p:spPr>
        <p:txBody>
          <a:bodyPr wrap="square" lIns="0" tIns="0" rIns="0" bIns="0" rtlCol="0" anchor="ctr"/>
          <a:lstStyle/>
          <a:p>
            <a:pPr indent="0" marL="0">
              <a:buNone/>
            </a:pPr>
            <a:r>
              <a:rPr lang="en-US" sz="1300" dirty="0">
                <a:solidFill>
                  <a:srgbClr val="1B2B31"/>
                </a:solidFill>
              </a:rPr>
              <a:t>Biliary genes are cholangiocyte genes; hepatocyte co-expression ~0.4%</a:t>
            </a:r>
            <a:endParaRPr lang="en-US" sz="1300" dirty="0"/>
          </a:p>
        </p:txBody>
      </p:sp>
      <p:sp>
        <p:nvSpPr>
          <p:cNvPr id="11" name="Shape 8"/>
          <p:cNvSpPr/>
          <p:nvPr/>
        </p:nvSpPr>
        <p:spPr>
          <a:xfrm>
            <a:off x="548640" y="5257800"/>
            <a:ext cx="11155680" cy="384048"/>
          </a:xfrm>
          <a:prstGeom prst="roundRect">
            <a:avLst>
              <a:gd name="adj" fmla="val 11905"/>
            </a:avLst>
          </a:prstGeom>
          <a:solidFill>
            <a:srgbClr val="FBF0E2"/>
          </a:solidFill>
          <a:ln/>
        </p:spPr>
      </p:sp>
      <p:sp>
        <p:nvSpPr>
          <p:cNvPr id="12" name="Text 9"/>
          <p:cNvSpPr/>
          <p:nvPr/>
        </p:nvSpPr>
        <p:spPr>
          <a:xfrm>
            <a:off x="713232" y="5257800"/>
            <a:ext cx="1737360" cy="384048"/>
          </a:xfrm>
          <a:prstGeom prst="rect">
            <a:avLst/>
          </a:prstGeom>
          <a:noFill/>
          <a:ln/>
        </p:spPr>
        <p:txBody>
          <a:bodyPr wrap="square" lIns="0" tIns="0" rIns="0" bIns="0" rtlCol="0" anchor="ctr"/>
          <a:lstStyle/>
          <a:p>
            <a:pPr indent="0" marL="0">
              <a:buNone/>
            </a:pPr>
            <a:r>
              <a:rPr lang="en-US" sz="1200" b="1" spc="100" kern="0" dirty="0">
                <a:solidFill>
                  <a:srgbClr val="B45309"/>
                </a:solidFill>
              </a:rPr>
              <a:t>SUGGESTIVE</a:t>
            </a:r>
            <a:endParaRPr lang="en-US" sz="1200" dirty="0"/>
          </a:p>
        </p:txBody>
      </p:sp>
      <p:sp>
        <p:nvSpPr>
          <p:cNvPr id="13" name="Text 10"/>
          <p:cNvSpPr/>
          <p:nvPr/>
        </p:nvSpPr>
        <p:spPr>
          <a:xfrm>
            <a:off x="2468880" y="5257800"/>
            <a:ext cx="9052560" cy="384048"/>
          </a:xfrm>
          <a:prstGeom prst="rect">
            <a:avLst/>
          </a:prstGeom>
          <a:noFill/>
          <a:ln/>
        </p:spPr>
        <p:txBody>
          <a:bodyPr wrap="square" lIns="0" tIns="0" rIns="0" bIns="0" rtlCol="0" anchor="ctr"/>
          <a:lstStyle/>
          <a:p>
            <a:pPr indent="0" marL="0">
              <a:buNone/>
            </a:pPr>
            <a:r>
              <a:rPr lang="en-US" sz="1300" dirty="0">
                <a:solidFill>
                  <a:srgbClr val="1B2B31"/>
                </a:solidFill>
              </a:rPr>
              <a:t>decontX¹ halves the hits — an ambient contribution, not proof</a:t>
            </a:r>
            <a:endParaRPr lang="en-US" sz="1300" dirty="0"/>
          </a:p>
        </p:txBody>
      </p:sp>
      <p:sp>
        <p:nvSpPr>
          <p:cNvPr id="14" name="Shape 11"/>
          <p:cNvSpPr/>
          <p:nvPr/>
        </p:nvSpPr>
        <p:spPr>
          <a:xfrm>
            <a:off x="548640" y="5687568"/>
            <a:ext cx="11155680" cy="384048"/>
          </a:xfrm>
          <a:prstGeom prst="roundRect">
            <a:avLst>
              <a:gd name="adj" fmla="val 11905"/>
            </a:avLst>
          </a:prstGeom>
          <a:solidFill>
            <a:srgbClr val="FBEEE9"/>
          </a:solidFill>
          <a:ln/>
        </p:spPr>
      </p:sp>
      <p:sp>
        <p:nvSpPr>
          <p:cNvPr id="15" name="Text 12"/>
          <p:cNvSpPr/>
          <p:nvPr/>
        </p:nvSpPr>
        <p:spPr>
          <a:xfrm>
            <a:off x="713232" y="5687568"/>
            <a:ext cx="1737360" cy="384048"/>
          </a:xfrm>
          <a:prstGeom prst="rect">
            <a:avLst/>
          </a:prstGeom>
          <a:noFill/>
          <a:ln/>
        </p:spPr>
        <p:txBody>
          <a:bodyPr wrap="square" lIns="0" tIns="0" rIns="0" bIns="0" rtlCol="0" anchor="ctr"/>
          <a:lstStyle/>
          <a:p>
            <a:pPr indent="0" marL="0">
              <a:buNone/>
            </a:pPr>
            <a:r>
              <a:rPr lang="en-US" sz="1200" b="1" spc="100" kern="0" dirty="0">
                <a:solidFill>
                  <a:srgbClr val="BE123C"/>
                </a:solidFill>
              </a:rPr>
              <a:t>OPEN</a:t>
            </a:r>
            <a:endParaRPr lang="en-US" sz="1200" dirty="0"/>
          </a:p>
        </p:txBody>
      </p:sp>
      <p:sp>
        <p:nvSpPr>
          <p:cNvPr id="16" name="Text 13"/>
          <p:cNvSpPr/>
          <p:nvPr/>
        </p:nvSpPr>
        <p:spPr>
          <a:xfrm>
            <a:off x="2468880" y="5687568"/>
            <a:ext cx="9052560" cy="384048"/>
          </a:xfrm>
          <a:prstGeom prst="rect">
            <a:avLst/>
          </a:prstGeom>
          <a:noFill/>
          <a:ln/>
        </p:spPr>
        <p:txBody>
          <a:bodyPr wrap="square" lIns="0" tIns="0" rIns="0" bIns="0" rtlCol="0" anchor="ctr"/>
          <a:lstStyle/>
          <a:p>
            <a:pPr indent="0" marL="0">
              <a:buNone/>
            </a:pPr>
            <a:r>
              <a:rPr lang="en-US" sz="1300" dirty="0">
                <a:solidFill>
                  <a:srgbClr val="1B2B31"/>
                </a:solidFill>
              </a:rPr>
              <a:t>EPCAM / SPINT2 / B3GNT3 survive — a rare intrinsic state not excluded; CXCL10 a separate inflammatory lead</a:t>
            </a:r>
            <a:endParaRPr lang="en-US" sz="1300" dirty="0"/>
          </a:p>
        </p:txBody>
      </p:sp>
      <p:sp>
        <p:nvSpPr>
          <p:cNvPr id="17" name="Shape 14"/>
          <p:cNvSpPr/>
          <p:nvPr/>
        </p:nvSpPr>
        <p:spPr>
          <a:xfrm>
            <a:off x="457200" y="6199632"/>
            <a:ext cx="2926080" cy="0"/>
          </a:xfrm>
          <a:prstGeom prst="line">
            <a:avLst/>
          </a:prstGeom>
          <a:noFill/>
          <a:ln w="9525">
            <a:solidFill>
              <a:srgbClr val="C9C0B2"/>
            </a:solidFill>
            <a:prstDash val="solid"/>
          </a:ln>
        </p:spPr>
      </p:sp>
      <p:sp>
        <p:nvSpPr>
          <p:cNvPr id="18" name="Text 15"/>
          <p:cNvSpPr/>
          <p:nvPr/>
        </p:nvSpPr>
        <p:spPr>
          <a:xfrm>
            <a:off x="457200" y="6254496"/>
            <a:ext cx="10607040" cy="237744"/>
          </a:xfrm>
          <a:prstGeom prst="rect">
            <a:avLst/>
          </a:prstGeom>
          <a:noFill/>
          <a:ln/>
        </p:spPr>
        <p:txBody>
          <a:bodyPr wrap="square" lIns="0" tIns="0" rIns="0" bIns="0" rtlCol="0" anchor="ctr"/>
          <a:lstStyle/>
          <a:p>
            <a:pPr algn="l" indent="0" marL="0">
              <a:buNone/>
            </a:pPr>
            <a:r>
              <a:rPr lang="en-US" sz="1000" i="1" dirty="0">
                <a:solidFill>
                  <a:srgbClr val="6B6256"/>
                </a:solidFill>
              </a:rPr>
              <a:t>¹ Ambient-RNA removal: decontX — Yang et al., Genome Biol. 2020.    Source attribution is a lead, not a closed verdict.</a:t>
            </a:r>
            <a:endParaRPr lang="en-US" sz="1000" dirty="0"/>
          </a:p>
        </p:txBody>
      </p:sp>
      <p:sp>
        <p:nvSpPr>
          <p:cNvPr id="19" name="Text 16"/>
          <p:cNvSpPr/>
          <p:nvPr/>
        </p:nvSpPr>
        <p:spPr>
          <a:xfrm>
            <a:off x="457200" y="6510528"/>
            <a:ext cx="9601200" cy="274320"/>
          </a:xfrm>
          <a:prstGeom prst="rect">
            <a:avLst/>
          </a:prstGeom>
          <a:noFill/>
          <a:ln/>
        </p:spPr>
        <p:txBody>
          <a:bodyPr wrap="square" lIns="0" tIns="0" rIns="0" bIns="0" rtlCol="0" anchor="ctr"/>
          <a:lstStyle/>
          <a:p>
            <a:pPr algn="l" indent="0" marL="0">
              <a:buNone/>
            </a:pPr>
            <a:r>
              <a:rPr lang="en-US" sz="1050" dirty="0">
                <a:solidFill>
                  <a:srgbClr val="5C6E73"/>
                </a:solidFill>
              </a:rPr>
              <a:t>Computational Genomics 76553  ·  HUJI  ·  MASLD snRNA-seq hackathon</a:t>
            </a:r>
            <a:endParaRPr lang="en-US" sz="1050" dirty="0"/>
          </a:p>
        </p:txBody>
      </p:sp>
      <p:sp>
        <p:nvSpPr>
          <p:cNvPr id="20" name="Text 17"/>
          <p:cNvSpPr/>
          <p:nvPr/>
        </p:nvSpPr>
        <p:spPr>
          <a:xfrm>
            <a:off x="11155680" y="6510528"/>
            <a:ext cx="548640" cy="274320"/>
          </a:xfrm>
          <a:prstGeom prst="rect">
            <a:avLst/>
          </a:prstGeom>
          <a:noFill/>
          <a:ln/>
        </p:spPr>
        <p:txBody>
          <a:bodyPr wrap="square" lIns="0" tIns="0" rIns="0" bIns="0" rtlCol="0" anchor="ctr"/>
          <a:lstStyle/>
          <a:p>
            <a:pPr algn="r" indent="0" marL="0">
              <a:buNone/>
            </a:pPr>
            <a:r>
              <a:rPr lang="en-US" sz="1050" dirty="0">
                <a:solidFill>
                  <a:srgbClr val="5C6E73"/>
                </a:solidFill>
              </a:rPr>
              <a:t>13</a:t>
            </a:r>
            <a:endParaRPr lang="en-US" sz="10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16242B"/>
        </a:solidFill>
      </p:bgPr>
    </p:bg>
    <p:spTree>
      <p:nvGrpSpPr>
        <p:cNvPr id="1" name=""/>
        <p:cNvGrpSpPr/>
        <p:nvPr/>
      </p:nvGrpSpPr>
      <p:grpSpPr>
        <a:xfrm>
          <a:off x="0" y="0"/>
          <a:ext cx="0" cy="0"/>
          <a:chOff x="0" y="0"/>
          <a:chExt cx="0" cy="0"/>
        </a:xfrm>
      </p:grpSpPr>
      <p:sp>
        <p:nvSpPr>
          <p:cNvPr id="2" name="Shape 0"/>
          <p:cNvSpPr/>
          <p:nvPr/>
        </p:nvSpPr>
        <p:spPr>
          <a:xfrm>
            <a:off x="0" y="0"/>
            <a:ext cx="256032" cy="6858000"/>
          </a:xfrm>
          <a:prstGeom prst="rect">
            <a:avLst/>
          </a:prstGeom>
          <a:solidFill>
            <a:srgbClr val="1B6E78"/>
          </a:solidFill>
          <a:ln/>
        </p:spPr>
      </p:sp>
      <p:sp>
        <p:nvSpPr>
          <p:cNvPr id="3" name="Shape 1"/>
          <p:cNvSpPr/>
          <p:nvPr/>
        </p:nvSpPr>
        <p:spPr>
          <a:xfrm>
            <a:off x="256032" y="0"/>
            <a:ext cx="109728" cy="6858000"/>
          </a:xfrm>
          <a:prstGeom prst="rect">
            <a:avLst/>
          </a:prstGeom>
          <a:solidFill>
            <a:srgbClr val="C0561B"/>
          </a:solidFill>
          <a:ln/>
        </p:spPr>
      </p:sp>
      <p:sp>
        <p:nvSpPr>
          <p:cNvPr id="4" name="Shape 2"/>
          <p:cNvSpPr/>
          <p:nvPr/>
        </p:nvSpPr>
        <p:spPr>
          <a:xfrm>
            <a:off x="777240" y="457200"/>
            <a:ext cx="146304" cy="237744"/>
          </a:xfrm>
          <a:prstGeom prst="rect">
            <a:avLst/>
          </a:prstGeom>
          <a:solidFill>
            <a:srgbClr val="C0561B"/>
          </a:solidFill>
          <a:ln/>
        </p:spPr>
      </p:sp>
      <p:sp>
        <p:nvSpPr>
          <p:cNvPr id="5" name="Text 3"/>
          <p:cNvSpPr/>
          <p:nvPr/>
        </p:nvSpPr>
        <p:spPr>
          <a:xfrm>
            <a:off x="987552" y="420624"/>
            <a:ext cx="10515600" cy="365760"/>
          </a:xfrm>
          <a:prstGeom prst="rect">
            <a:avLst/>
          </a:prstGeom>
          <a:noFill/>
          <a:ln/>
        </p:spPr>
        <p:txBody>
          <a:bodyPr wrap="square" rtlCol="0" anchor="ctr"/>
          <a:lstStyle/>
          <a:p>
            <a:pPr algn="l" indent="0" marL="0">
              <a:buNone/>
            </a:pPr>
            <a:r>
              <a:rPr lang="en-US" sz="1400" b="1" spc="300" kern="0" dirty="0">
                <a:solidFill>
                  <a:srgbClr val="C0561B"/>
                </a:solidFill>
              </a:rPr>
              <a:t>CONCLUSION</a:t>
            </a:r>
            <a:endParaRPr lang="en-US" sz="1400" dirty="0"/>
          </a:p>
        </p:txBody>
      </p:sp>
      <p:sp>
        <p:nvSpPr>
          <p:cNvPr id="6" name="Text 4"/>
          <p:cNvSpPr/>
          <p:nvPr/>
        </p:nvSpPr>
        <p:spPr>
          <a:xfrm>
            <a:off x="777240" y="777240"/>
            <a:ext cx="10789920" cy="731520"/>
          </a:xfrm>
          <a:prstGeom prst="rect">
            <a:avLst/>
          </a:prstGeom>
          <a:noFill/>
          <a:ln/>
        </p:spPr>
        <p:txBody>
          <a:bodyPr wrap="square" rtlCol="0" anchor="ctr"/>
          <a:lstStyle/>
          <a:p>
            <a:pPr algn="l" indent="0" marL="0">
              <a:buNone/>
            </a:pPr>
            <a:r>
              <a:rPr lang="en-US" sz="2900" b="1" dirty="0">
                <a:solidFill>
                  <a:srgbClr val="FFFFFF"/>
                </a:solidFill>
                <a:latin typeface="Georgia" pitchFamily="34" charset="0"/>
                <a:ea typeface="Georgia" pitchFamily="34" charset="-122"/>
                <a:cs typeface="Georgia" pitchFamily="34" charset="-120"/>
              </a:rPr>
              <a:t>Zonal identity holds — the pericentral detox program dims</a:t>
            </a:r>
            <a:endParaRPr lang="en-US" sz="2900" dirty="0"/>
          </a:p>
        </p:txBody>
      </p:sp>
      <p:sp>
        <p:nvSpPr>
          <p:cNvPr id="7" name="Text 5"/>
          <p:cNvSpPr/>
          <p:nvPr/>
        </p:nvSpPr>
        <p:spPr>
          <a:xfrm>
            <a:off x="841248" y="1783080"/>
            <a:ext cx="1051560" cy="640080"/>
          </a:xfrm>
          <a:prstGeom prst="rect">
            <a:avLst/>
          </a:prstGeom>
          <a:noFill/>
          <a:ln/>
        </p:spPr>
        <p:txBody>
          <a:bodyPr wrap="square" lIns="0" tIns="0" rIns="0" bIns="0" rtlCol="0" anchor="t"/>
          <a:lstStyle/>
          <a:p>
            <a:pPr algn="l" indent="0" marL="0">
              <a:buNone/>
            </a:pPr>
            <a:r>
              <a:rPr lang="en-US" sz="3400" b="1" dirty="0">
                <a:solidFill>
                  <a:srgbClr val="C0561B"/>
                </a:solidFill>
                <a:latin typeface="Georgia" pitchFamily="34" charset="0"/>
                <a:ea typeface="Georgia" pitchFamily="34" charset="-122"/>
                <a:cs typeface="Georgia" pitchFamily="34" charset="-120"/>
              </a:rPr>
              <a:t>01</a:t>
            </a:r>
            <a:endParaRPr lang="en-US" sz="3400" dirty="0"/>
          </a:p>
        </p:txBody>
      </p:sp>
      <p:sp>
        <p:nvSpPr>
          <p:cNvPr id="8" name="Text 6"/>
          <p:cNvSpPr/>
          <p:nvPr/>
        </p:nvSpPr>
        <p:spPr>
          <a:xfrm>
            <a:off x="2011680" y="1801368"/>
            <a:ext cx="9601200" cy="411480"/>
          </a:xfrm>
          <a:prstGeom prst="rect">
            <a:avLst/>
          </a:prstGeom>
          <a:noFill/>
          <a:ln/>
        </p:spPr>
        <p:txBody>
          <a:bodyPr wrap="square" lIns="0" tIns="0" rIns="0" bIns="0" rtlCol="0" anchor="t"/>
          <a:lstStyle/>
          <a:p>
            <a:pPr algn="l" indent="0" marL="0">
              <a:buNone/>
            </a:pPr>
            <a:r>
              <a:rPr lang="en-US" sz="2100" b="1" dirty="0">
                <a:solidFill>
                  <a:srgbClr val="FFFFFF"/>
                </a:solidFill>
                <a:latin typeface="Georgia" pitchFamily="34" charset="0"/>
                <a:ea typeface="Georgia" pitchFamily="34" charset="-122"/>
                <a:cs typeface="Georgia" pitchFamily="34" charset="-120"/>
              </a:rPr>
              <a:t>Cells keep their zonal identity</a:t>
            </a:r>
            <a:endParaRPr lang="en-US" sz="2100" dirty="0"/>
          </a:p>
        </p:txBody>
      </p:sp>
      <p:sp>
        <p:nvSpPr>
          <p:cNvPr id="9" name="Text 7"/>
          <p:cNvSpPr/>
          <p:nvPr/>
        </p:nvSpPr>
        <p:spPr>
          <a:xfrm>
            <a:off x="2029968" y="2240280"/>
            <a:ext cx="9509760" cy="457200"/>
          </a:xfrm>
          <a:prstGeom prst="rect">
            <a:avLst/>
          </a:prstGeom>
          <a:noFill/>
          <a:ln/>
        </p:spPr>
        <p:txBody>
          <a:bodyPr wrap="square" lIns="0" tIns="0" rIns="0" bIns="0" rtlCol="0" anchor="t"/>
          <a:lstStyle/>
          <a:p>
            <a:pPr algn="l" indent="0" marL="0">
              <a:buNone/>
            </a:pPr>
            <a:r>
              <a:rPr lang="en-US" sz="1450" dirty="0">
                <a:solidFill>
                  <a:srgbClr val="C9D6D3"/>
                </a:solidFill>
              </a:rPr>
              <a:t>No transcriptional de-zonation signal: every count route — depletion, co-expression, turn-off, composition — is flat, and the gradient holds its shape.</a:t>
            </a:r>
            <a:endParaRPr lang="en-US" sz="1450" dirty="0"/>
          </a:p>
        </p:txBody>
      </p:sp>
      <p:sp>
        <p:nvSpPr>
          <p:cNvPr id="10" name="Text 8"/>
          <p:cNvSpPr/>
          <p:nvPr/>
        </p:nvSpPr>
        <p:spPr>
          <a:xfrm>
            <a:off x="841248" y="2697480"/>
            <a:ext cx="1051560" cy="640080"/>
          </a:xfrm>
          <a:prstGeom prst="rect">
            <a:avLst/>
          </a:prstGeom>
          <a:noFill/>
          <a:ln/>
        </p:spPr>
        <p:txBody>
          <a:bodyPr wrap="square" lIns="0" tIns="0" rIns="0" bIns="0" rtlCol="0" anchor="t"/>
          <a:lstStyle/>
          <a:p>
            <a:pPr algn="l" indent="0" marL="0">
              <a:buNone/>
            </a:pPr>
            <a:r>
              <a:rPr lang="en-US" sz="3400" b="1" dirty="0">
                <a:solidFill>
                  <a:srgbClr val="C0561B"/>
                </a:solidFill>
                <a:latin typeface="Georgia" pitchFamily="34" charset="0"/>
                <a:ea typeface="Georgia" pitchFamily="34" charset="-122"/>
                <a:cs typeface="Georgia" pitchFamily="34" charset="-120"/>
              </a:rPr>
              <a:t>02</a:t>
            </a:r>
            <a:endParaRPr lang="en-US" sz="3400" dirty="0"/>
          </a:p>
        </p:txBody>
      </p:sp>
      <p:sp>
        <p:nvSpPr>
          <p:cNvPr id="11" name="Text 9"/>
          <p:cNvSpPr/>
          <p:nvPr/>
        </p:nvSpPr>
        <p:spPr>
          <a:xfrm>
            <a:off x="2011680" y="2715768"/>
            <a:ext cx="9601200" cy="411480"/>
          </a:xfrm>
          <a:prstGeom prst="rect">
            <a:avLst/>
          </a:prstGeom>
          <a:noFill/>
          <a:ln/>
        </p:spPr>
        <p:txBody>
          <a:bodyPr wrap="square" lIns="0" tIns="0" rIns="0" bIns="0" rtlCol="0" anchor="t"/>
          <a:lstStyle/>
          <a:p>
            <a:pPr algn="l" indent="0" marL="0">
              <a:buNone/>
            </a:pPr>
            <a:r>
              <a:rPr lang="en-US" sz="2100" b="1" dirty="0">
                <a:solidFill>
                  <a:srgbClr val="FFFFFF"/>
                </a:solidFill>
                <a:latin typeface="Georgia" pitchFamily="34" charset="0"/>
                <a:ea typeface="Georgia" pitchFamily="34" charset="-122"/>
                <a:cs typeface="Georgia" pitchFamily="34" charset="-120"/>
              </a:rPr>
              <a:t>The dramatic trajectory is confounded by acquisition</a:t>
            </a:r>
            <a:endParaRPr lang="en-US" sz="2100" dirty="0"/>
          </a:p>
        </p:txBody>
      </p:sp>
      <p:sp>
        <p:nvSpPr>
          <p:cNvPr id="12" name="Text 10"/>
          <p:cNvSpPr/>
          <p:nvPr/>
        </p:nvSpPr>
        <p:spPr>
          <a:xfrm>
            <a:off x="2029968" y="3154680"/>
            <a:ext cx="9509760" cy="457200"/>
          </a:xfrm>
          <a:prstGeom prst="rect">
            <a:avLst/>
          </a:prstGeom>
          <a:noFill/>
          <a:ln/>
        </p:spPr>
        <p:txBody>
          <a:bodyPr wrap="square" lIns="0" tIns="0" rIns="0" bIns="0" rtlCol="0" anchor="t"/>
          <a:lstStyle/>
          <a:p>
            <a:pPr algn="l" indent="0" marL="0">
              <a:buNone/>
            </a:pPr>
            <a:r>
              <a:rPr lang="en-US" sz="1450" dirty="0">
                <a:solidFill>
                  <a:srgbClr val="C9D6D3"/>
                </a:solidFill>
              </a:rPr>
              <a:t>Healthy and end-stage are deceased-donor cubes and explants; the “progression” tracks how the tissue was taken.</a:t>
            </a:r>
            <a:endParaRPr lang="en-US" sz="1450" dirty="0"/>
          </a:p>
        </p:txBody>
      </p:sp>
      <p:sp>
        <p:nvSpPr>
          <p:cNvPr id="13" name="Text 11"/>
          <p:cNvSpPr/>
          <p:nvPr/>
        </p:nvSpPr>
        <p:spPr>
          <a:xfrm>
            <a:off x="841248" y="3611880"/>
            <a:ext cx="1051560" cy="640080"/>
          </a:xfrm>
          <a:prstGeom prst="rect">
            <a:avLst/>
          </a:prstGeom>
          <a:noFill/>
          <a:ln/>
        </p:spPr>
        <p:txBody>
          <a:bodyPr wrap="square" lIns="0" tIns="0" rIns="0" bIns="0" rtlCol="0" anchor="t"/>
          <a:lstStyle/>
          <a:p>
            <a:pPr algn="l" indent="0" marL="0">
              <a:buNone/>
            </a:pPr>
            <a:r>
              <a:rPr lang="en-US" sz="3400" b="1" dirty="0">
                <a:solidFill>
                  <a:srgbClr val="C0561B"/>
                </a:solidFill>
                <a:latin typeface="Georgia" pitchFamily="34" charset="0"/>
                <a:ea typeface="Georgia" pitchFamily="34" charset="-122"/>
                <a:cs typeface="Georgia" pitchFamily="34" charset="-120"/>
              </a:rPr>
              <a:t>03</a:t>
            </a:r>
            <a:endParaRPr lang="en-US" sz="3400" dirty="0"/>
          </a:p>
        </p:txBody>
      </p:sp>
      <p:sp>
        <p:nvSpPr>
          <p:cNvPr id="14" name="Text 12"/>
          <p:cNvSpPr/>
          <p:nvPr/>
        </p:nvSpPr>
        <p:spPr>
          <a:xfrm>
            <a:off x="2011680" y="3630168"/>
            <a:ext cx="9601200" cy="411480"/>
          </a:xfrm>
          <a:prstGeom prst="rect">
            <a:avLst/>
          </a:prstGeom>
          <a:noFill/>
          <a:ln/>
        </p:spPr>
        <p:txBody>
          <a:bodyPr wrap="square" lIns="0" tIns="0" rIns="0" bIns="0" rtlCol="0" anchor="t"/>
          <a:lstStyle/>
          <a:p>
            <a:pPr algn="l" indent="0" marL="0">
              <a:buNone/>
            </a:pPr>
            <a:r>
              <a:rPr lang="en-US" sz="2100" b="1" dirty="0">
                <a:solidFill>
                  <a:srgbClr val="FFFFFF"/>
                </a:solidFill>
                <a:latin typeface="Georgia" pitchFamily="34" charset="0"/>
                <a:ea typeface="Georgia" pitchFamily="34" charset="-122"/>
                <a:cs typeface="Georgia" pitchFamily="34" charset="-120"/>
              </a:rPr>
              <a:t>One real change: the pericentral detox program dims</a:t>
            </a:r>
            <a:endParaRPr lang="en-US" sz="2100" dirty="0"/>
          </a:p>
        </p:txBody>
      </p:sp>
      <p:sp>
        <p:nvSpPr>
          <p:cNvPr id="15" name="Text 13"/>
          <p:cNvSpPr/>
          <p:nvPr/>
        </p:nvSpPr>
        <p:spPr>
          <a:xfrm>
            <a:off x="2029968" y="4069080"/>
            <a:ext cx="9509760" cy="457200"/>
          </a:xfrm>
          <a:prstGeom prst="rect">
            <a:avLst/>
          </a:prstGeom>
          <a:noFill/>
          <a:ln/>
        </p:spPr>
        <p:txBody>
          <a:bodyPr wrap="square" lIns="0" tIns="0" rIns="0" bIns="0" rtlCol="0" anchor="t"/>
          <a:lstStyle/>
          <a:p>
            <a:pPr algn="l" indent="0" marL="0">
              <a:buNone/>
            </a:pPr>
            <a:r>
              <a:rPr lang="en-US" sz="1450" dirty="0">
                <a:solidFill>
                  <a:srgbClr val="C9D6D3"/>
                </a:solidFill>
              </a:rPr>
              <a:t>Cells keep their identity, but the detox program’s relative transcript level declines with fibrosis — caught only by gene-set + per-cell tests. The biliary signal is a separate compositional lead.</a:t>
            </a:r>
            <a:endParaRPr lang="en-US" sz="1450" dirty="0"/>
          </a:p>
        </p:txBody>
      </p:sp>
      <p:sp>
        <p:nvSpPr>
          <p:cNvPr id="16" name="Shape 14"/>
          <p:cNvSpPr/>
          <p:nvPr/>
        </p:nvSpPr>
        <p:spPr>
          <a:xfrm>
            <a:off x="2029968" y="4572000"/>
            <a:ext cx="9418320" cy="0"/>
          </a:xfrm>
          <a:prstGeom prst="line">
            <a:avLst/>
          </a:prstGeom>
          <a:noFill/>
          <a:ln w="12700">
            <a:solidFill>
              <a:srgbClr val="2E4A4D"/>
            </a:solidFill>
            <a:prstDash val="solid"/>
          </a:ln>
        </p:spPr>
      </p:sp>
      <p:sp>
        <p:nvSpPr>
          <p:cNvPr id="17" name="Text 15"/>
          <p:cNvSpPr/>
          <p:nvPr/>
        </p:nvSpPr>
        <p:spPr>
          <a:xfrm>
            <a:off x="841248" y="4754880"/>
            <a:ext cx="10881360" cy="457200"/>
          </a:xfrm>
          <a:prstGeom prst="rect">
            <a:avLst/>
          </a:prstGeom>
          <a:noFill/>
          <a:ln/>
        </p:spPr>
        <p:txBody>
          <a:bodyPr wrap="square" rtlCol="0" anchor="t"/>
          <a:lstStyle/>
          <a:p>
            <a:pPr algn="l" indent="0" marL="0">
              <a:buNone/>
            </a:pPr>
            <a:r>
              <a:rPr lang="en-US" sz="1600" b="1" i="1" dirty="0">
                <a:solidFill>
                  <a:srgbClr val="FFFFFF"/>
                </a:solidFill>
              </a:rPr>
              <a:t>We correct one evidence leg</a:t>
            </a:r>
            <a:pPr algn="l" indent="0" marL="0">
              <a:buNone/>
            </a:pPr>
            <a:r>
              <a:rPr lang="en-US" sz="1600" i="1" dirty="0">
                <a:solidFill>
                  <a:srgbClr val="C9D6D3"/>
                </a:solidFill>
              </a:rPr>
              <a:t> — the snRNA marker-correlation. The paper’s imaging and protein staining are untouched.</a:t>
            </a:r>
            <a:endParaRPr lang="en-US" sz="1600" dirty="0"/>
          </a:p>
        </p:txBody>
      </p:sp>
      <p:sp>
        <p:nvSpPr>
          <p:cNvPr id="18" name="Text 16"/>
          <p:cNvSpPr/>
          <p:nvPr/>
        </p:nvSpPr>
        <p:spPr>
          <a:xfrm>
            <a:off x="841248" y="5897880"/>
            <a:ext cx="10881360" cy="365760"/>
          </a:xfrm>
          <a:prstGeom prst="rect">
            <a:avLst/>
          </a:prstGeom>
          <a:noFill/>
          <a:ln/>
        </p:spPr>
        <p:txBody>
          <a:bodyPr wrap="square" rtlCol="0" anchor="t"/>
          <a:lstStyle/>
          <a:p>
            <a:pPr algn="l" indent="0" marL="0">
              <a:buNone/>
            </a:pPr>
            <a:r>
              <a:rPr lang="en-US" sz="1250" dirty="0">
                <a:solidFill>
                  <a:srgbClr val="8FA3A0"/>
                </a:solidFill>
              </a:rPr>
              <a:t>Scope — a “PC-like program,” not lobular location; a weak coordinated gene-set program is not excluded; F4 is only 4 donors.</a:t>
            </a:r>
            <a:endParaRPr lang="en-US" sz="1250" dirty="0"/>
          </a:p>
        </p:txBody>
      </p:sp>
      <p:sp>
        <p:nvSpPr>
          <p:cNvPr id="19" name="Text 17"/>
          <p:cNvSpPr/>
          <p:nvPr/>
        </p:nvSpPr>
        <p:spPr>
          <a:xfrm>
            <a:off x="457200" y="6510528"/>
            <a:ext cx="9601200" cy="274320"/>
          </a:xfrm>
          <a:prstGeom prst="rect">
            <a:avLst/>
          </a:prstGeom>
          <a:noFill/>
          <a:ln/>
        </p:spPr>
        <p:txBody>
          <a:bodyPr wrap="square" lIns="0" tIns="0" rIns="0" bIns="0" rtlCol="0" anchor="ctr"/>
          <a:lstStyle/>
          <a:p>
            <a:pPr algn="l" indent="0" marL="0">
              <a:buNone/>
            </a:pPr>
            <a:r>
              <a:rPr lang="en-US" sz="1050" dirty="0">
                <a:solidFill>
                  <a:srgbClr val="5C6E73"/>
                </a:solidFill>
              </a:rPr>
              <a:t>Computational Genomics 76553  ·  HUJI  ·  MASLD snRNA-seq hackathon</a:t>
            </a:r>
            <a:endParaRPr lang="en-US" sz="1050" dirty="0"/>
          </a:p>
        </p:txBody>
      </p:sp>
      <p:sp>
        <p:nvSpPr>
          <p:cNvPr id="20" name="Text 18"/>
          <p:cNvSpPr/>
          <p:nvPr/>
        </p:nvSpPr>
        <p:spPr>
          <a:xfrm>
            <a:off x="11155680" y="6510528"/>
            <a:ext cx="548640" cy="274320"/>
          </a:xfrm>
          <a:prstGeom prst="rect">
            <a:avLst/>
          </a:prstGeom>
          <a:noFill/>
          <a:ln/>
        </p:spPr>
        <p:txBody>
          <a:bodyPr wrap="square" lIns="0" tIns="0" rIns="0" bIns="0" rtlCol="0" anchor="ctr"/>
          <a:lstStyle/>
          <a:p>
            <a:pPr algn="r" indent="0" marL="0">
              <a:buNone/>
            </a:pPr>
            <a:r>
              <a:rPr lang="en-US" sz="1050" dirty="0">
                <a:solidFill>
                  <a:srgbClr val="5C6E73"/>
                </a:solidFill>
              </a:rPr>
              <a:t>14</a:t>
            </a:r>
            <a:endParaRPr lang="en-US" sz="10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5F1"/>
        </a:solidFill>
      </p:bgPr>
    </p:bg>
    <p:spTree>
      <p:nvGrpSpPr>
        <p:cNvPr id="1" name=""/>
        <p:cNvGrpSpPr/>
        <p:nvPr/>
      </p:nvGrpSpPr>
      <p:grpSpPr>
        <a:xfrm>
          <a:off x="0" y="0"/>
          <a:ext cx="0" cy="0"/>
          <a:chOff x="0" y="0"/>
          <a:chExt cx="0" cy="0"/>
        </a:xfrm>
      </p:grpSpPr>
      <p:sp>
        <p:nvSpPr>
          <p:cNvPr id="2" name="Shape 0"/>
          <p:cNvSpPr/>
          <p:nvPr/>
        </p:nvSpPr>
        <p:spPr>
          <a:xfrm>
            <a:off x="457200" y="310896"/>
            <a:ext cx="146304" cy="237744"/>
          </a:xfrm>
          <a:prstGeom prst="rect">
            <a:avLst/>
          </a:prstGeom>
          <a:solidFill>
            <a:srgbClr val="C0561B"/>
          </a:solidFill>
          <a:ln/>
        </p:spPr>
      </p:sp>
      <p:sp>
        <p:nvSpPr>
          <p:cNvPr id="3" name="Text 1"/>
          <p:cNvSpPr/>
          <p:nvPr/>
        </p:nvSpPr>
        <p:spPr>
          <a:xfrm>
            <a:off x="676656" y="274320"/>
            <a:ext cx="10972800" cy="320040"/>
          </a:xfrm>
          <a:prstGeom prst="rect">
            <a:avLst/>
          </a:prstGeom>
          <a:noFill/>
          <a:ln/>
        </p:spPr>
        <p:txBody>
          <a:bodyPr wrap="square" rtlCol="0" anchor="ctr"/>
          <a:lstStyle/>
          <a:p>
            <a:pPr indent="0" marL="0">
              <a:buNone/>
            </a:pPr>
            <a:r>
              <a:rPr lang="en-US" sz="1300" b="1" spc="300" kern="0" dirty="0">
                <a:solidFill>
                  <a:srgbClr val="C0561B"/>
                </a:solidFill>
              </a:rPr>
              <a:t>BACKUP  ·  SCOPE</a:t>
            </a:r>
            <a:endParaRPr lang="en-US" sz="1300" dirty="0"/>
          </a:p>
        </p:txBody>
      </p:sp>
      <p:sp>
        <p:nvSpPr>
          <p:cNvPr id="4" name="Text 2"/>
          <p:cNvSpPr/>
          <p:nvPr/>
        </p:nvSpPr>
        <p:spPr>
          <a:xfrm>
            <a:off x="438912" y="585216"/>
            <a:ext cx="11338560" cy="731520"/>
          </a:xfrm>
          <a:prstGeom prst="rect">
            <a:avLst/>
          </a:prstGeom>
          <a:noFill/>
          <a:ln/>
        </p:spPr>
        <p:txBody>
          <a:bodyPr wrap="square" rtlCol="0" anchor="ctr"/>
          <a:lstStyle/>
          <a:p>
            <a:pPr algn="l" indent="0" marL="0">
              <a:buNone/>
            </a:pPr>
            <a:r>
              <a:rPr lang="en-US" sz="2600" b="1" dirty="0">
                <a:solidFill>
                  <a:srgbClr val="123F47"/>
                </a:solidFill>
                <a:latin typeface="Georgia" pitchFamily="34" charset="0"/>
                <a:ea typeface="Georgia" pitchFamily="34" charset="-122"/>
                <a:cs typeface="Georgia" pitchFamily="34" charset="-120"/>
              </a:rPr>
              <a:t>Are you overturning the paper? No</a:t>
            </a:r>
            <a:endParaRPr lang="en-US" sz="2600" dirty="0"/>
          </a:p>
        </p:txBody>
      </p:sp>
      <p:sp>
        <p:nvSpPr>
          <p:cNvPr id="5" name="Text 3"/>
          <p:cNvSpPr/>
          <p:nvPr/>
        </p:nvSpPr>
        <p:spPr>
          <a:xfrm>
            <a:off x="731520" y="1463040"/>
            <a:ext cx="10607040" cy="4572000"/>
          </a:xfrm>
          <a:prstGeom prst="rect">
            <a:avLst/>
          </a:prstGeom>
          <a:noFill/>
          <a:ln/>
        </p:spPr>
        <p:txBody>
          <a:bodyPr wrap="square" rtlCol="0" anchor="t"/>
          <a:lstStyle/>
          <a:p>
            <a:pPr algn="l" marL="342900" indent="-342900">
              <a:spcAft>
                <a:spcPts val="900"/>
              </a:spcAft>
              <a:buSzPct val="100000"/>
              <a:buChar char="•"/>
            </a:pPr>
            <a:r>
              <a:rPr lang="en-US" sz="2000" dirty="0">
                <a:solidFill>
                  <a:srgbClr val="1B2B31"/>
                </a:solidFill>
              </a:rPr>
              <a:t>We re-tested only the snRNA-seq transcriptional zonation/plasticity evidence.</a:t>
            </a:r>
            <a:endParaRPr lang="en-US" sz="2000" dirty="0"/>
          </a:p>
          <a:p>
            <a:pPr algn="l" marL="342900" indent="-342900">
              <a:spcAft>
                <a:spcPts val="900"/>
              </a:spcAft>
              <a:buSzPct val="100000"/>
              <a:buChar char="•"/>
            </a:pPr>
            <a:r>
              <a:rPr lang="en-US" sz="2000" dirty="0">
                <a:solidFill>
                  <a:srgbClr val="1B2B31"/>
                </a:solidFill>
              </a:rPr>
              <a:t>We did NOT test imaging, protein staining, organoids, or 3D architecture.</a:t>
            </a:r>
            <a:endParaRPr lang="en-US" sz="2000" dirty="0"/>
          </a:p>
          <a:p>
            <a:pPr algn="l" marL="342900" indent="-342900">
              <a:spcAft>
                <a:spcPts val="900"/>
              </a:spcAft>
              <a:buSzPct val="100000"/>
              <a:buChar char="•"/>
            </a:pPr>
            <a:r>
              <a:rPr lang="en-US" sz="2000" dirty="0">
                <a:solidFill>
                  <a:srgbClr val="1B2B31"/>
                </a:solidFill>
              </a:rPr>
              <a:t>Claim: matched biopsy transcriptomes do not show progressive zonation loss.</a:t>
            </a:r>
            <a:endParaRPr lang="en-US" sz="2000" dirty="0"/>
          </a:p>
          <a:p>
            <a:pPr algn="l" marL="342900" indent="-342900">
              <a:spcAft>
                <a:spcPts val="900"/>
              </a:spcAft>
              <a:buSzPct val="100000"/>
              <a:buChar char="•"/>
            </a:pPr>
            <a:r>
              <a:rPr lang="en-US" sz="2000" dirty="0">
                <a:solidFill>
                  <a:srgbClr val="1B2B31"/>
                </a:solidFill>
              </a:rPr>
              <a:t>We agree the strong signal is an end-stage phenomenon.</a:t>
            </a:r>
            <a:endParaRPr lang="en-US" sz="20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5F1"/>
        </a:solidFill>
      </p:bgPr>
    </p:bg>
    <p:spTree>
      <p:nvGrpSpPr>
        <p:cNvPr id="1" name=""/>
        <p:cNvGrpSpPr/>
        <p:nvPr/>
      </p:nvGrpSpPr>
      <p:grpSpPr>
        <a:xfrm>
          <a:off x="0" y="0"/>
          <a:ext cx="0" cy="0"/>
          <a:chOff x="0" y="0"/>
          <a:chExt cx="0" cy="0"/>
        </a:xfrm>
      </p:grpSpPr>
      <p:sp>
        <p:nvSpPr>
          <p:cNvPr id="2" name="Shape 0"/>
          <p:cNvSpPr/>
          <p:nvPr/>
        </p:nvSpPr>
        <p:spPr>
          <a:xfrm>
            <a:off x="457200" y="310896"/>
            <a:ext cx="146304" cy="237744"/>
          </a:xfrm>
          <a:prstGeom prst="rect">
            <a:avLst/>
          </a:prstGeom>
          <a:solidFill>
            <a:srgbClr val="C0561B"/>
          </a:solidFill>
          <a:ln/>
        </p:spPr>
      </p:sp>
      <p:sp>
        <p:nvSpPr>
          <p:cNvPr id="3" name="Text 1"/>
          <p:cNvSpPr/>
          <p:nvPr/>
        </p:nvSpPr>
        <p:spPr>
          <a:xfrm>
            <a:off x="676656" y="274320"/>
            <a:ext cx="10972800" cy="320040"/>
          </a:xfrm>
          <a:prstGeom prst="rect">
            <a:avLst/>
          </a:prstGeom>
          <a:noFill/>
          <a:ln/>
        </p:spPr>
        <p:txBody>
          <a:bodyPr wrap="square" rtlCol="0" anchor="ctr"/>
          <a:lstStyle/>
          <a:p>
            <a:pPr indent="0" marL="0">
              <a:buNone/>
            </a:pPr>
            <a:r>
              <a:rPr lang="en-US" sz="1300" b="1" spc="300" kern="0" dirty="0">
                <a:solidFill>
                  <a:srgbClr val="C0561B"/>
                </a:solidFill>
              </a:rPr>
              <a:t>BACKUP  ·  SECONDARY ENDPOINTS</a:t>
            </a:r>
            <a:endParaRPr lang="en-US" sz="1300" dirty="0"/>
          </a:p>
        </p:txBody>
      </p:sp>
      <p:sp>
        <p:nvSpPr>
          <p:cNvPr id="4" name="Text 2"/>
          <p:cNvSpPr/>
          <p:nvPr/>
        </p:nvSpPr>
        <p:spPr>
          <a:xfrm>
            <a:off x="438912" y="585216"/>
            <a:ext cx="11338560" cy="731520"/>
          </a:xfrm>
          <a:prstGeom prst="rect">
            <a:avLst/>
          </a:prstGeom>
          <a:noFill/>
          <a:ln/>
        </p:spPr>
        <p:txBody>
          <a:bodyPr wrap="square" rtlCol="0" anchor="ctr"/>
          <a:lstStyle/>
          <a:p>
            <a:pPr algn="l" indent="0" marL="0">
              <a:buNone/>
            </a:pPr>
            <a:r>
              <a:rPr lang="en-US" sz="2600" b="1" dirty="0">
                <a:solidFill>
                  <a:srgbClr val="123F47"/>
                </a:solidFill>
                <a:latin typeface="Georgia" pitchFamily="34" charset="0"/>
                <a:ea typeface="Georgia" pitchFamily="34" charset="-122"/>
                <a:cs typeface="Georgia" pitchFamily="34" charset="-120"/>
              </a:rPr>
              <a:t>Null and the PP : PC ratio are flat too</a:t>
            </a:r>
            <a:endParaRPr lang="en-US" sz="2600" dirty="0"/>
          </a:p>
        </p:txBody>
      </p:sp>
      <p:pic>
        <p:nvPicPr>
          <p:cNvPr id="5" name="Image 0" descr="D:\CS\Genomics\Hackathon\presentation/assets/fig_secondary.png">    </p:cNvPr>
          <p:cNvPicPr>
            <a:picLocks noChangeAspect="1"/>
          </p:cNvPicPr>
          <p:nvPr/>
        </p:nvPicPr>
        <p:blipFill>
          <a:blip r:embed="rId1"/>
          <a:stretch>
            <a:fillRect/>
          </a:stretch>
        </p:blipFill>
        <p:spPr>
          <a:xfrm>
            <a:off x="1032322" y="1508760"/>
            <a:ext cx="6713595" cy="3977640"/>
          </a:xfrm>
          <a:prstGeom prst="rect">
            <a:avLst/>
          </a:prstGeom>
        </p:spPr>
      </p:pic>
      <p:sp>
        <p:nvSpPr>
          <p:cNvPr id="6" name="Text 3"/>
          <p:cNvSpPr/>
          <p:nvPr/>
        </p:nvSpPr>
        <p:spPr>
          <a:xfrm>
            <a:off x="274320" y="5532120"/>
            <a:ext cx="8229600" cy="365760"/>
          </a:xfrm>
          <a:prstGeom prst="rect">
            <a:avLst/>
          </a:prstGeom>
          <a:noFill/>
          <a:ln/>
        </p:spPr>
        <p:txBody>
          <a:bodyPr wrap="square" lIns="0" tIns="0" rIns="0" bIns="0" rtlCol="0" anchor="ctr"/>
          <a:lstStyle/>
          <a:p>
            <a:pPr algn="ctr" indent="0" marL="0">
              <a:buNone/>
            </a:pPr>
            <a:r>
              <a:rPr lang="en-US" sz="1200" i="1" dirty="0">
                <a:solidFill>
                  <a:srgbClr val="5C6E73"/>
                </a:solidFill>
              </a:rPr>
              <a:t>Figure 7.  Null (double-negative) fraction and the periportal : pericentral anchor ratio across biopsy F1–F4 (box = per-donor spread; each point = one donor).</a:t>
            </a:r>
            <a:endParaRPr lang="en-US" sz="1200" dirty="0"/>
          </a:p>
        </p:txBody>
      </p:sp>
      <p:sp>
        <p:nvSpPr>
          <p:cNvPr id="7" name="Text 4"/>
          <p:cNvSpPr/>
          <p:nvPr/>
        </p:nvSpPr>
        <p:spPr>
          <a:xfrm>
            <a:off x="8686800" y="1600200"/>
            <a:ext cx="3291840" cy="3931920"/>
          </a:xfrm>
          <a:prstGeom prst="rect">
            <a:avLst/>
          </a:prstGeom>
          <a:noFill/>
          <a:ln/>
        </p:spPr>
        <p:txBody>
          <a:bodyPr wrap="square" rtlCol="0" anchor="t"/>
          <a:lstStyle/>
          <a:p>
            <a:pPr algn="l" indent="0" marL="0">
              <a:buNone/>
            </a:pPr>
            <a:r>
              <a:rPr lang="en-US" sz="1350" b="1" dirty="0">
                <a:solidFill>
                  <a:srgbClr val="475569"/>
                </a:solidFill>
              </a:rPr>
              <a:t>Null (double-negative): </a:t>
            </a:r>
            <a:pPr algn="l" indent="0" marL="0">
              <a:buNone/>
            </a:pPr>
            <a:r>
              <a:rPr lang="en-US" sz="1350" dirty="0">
                <a:solidFill>
                  <a:srgbClr val="1B2B31"/>
                </a:solidFill>
              </a:rPr>
              <a:t>≈ 44 / 36 / 39 / 39% — no rise across stages.
</a:t>
            </a:r>
            <a:endParaRPr lang="en-US" sz="1350" dirty="0"/>
          </a:p>
          <a:p>
            <a:pPr algn="l" indent="0" marL="0">
              <a:buNone/>
            </a:pPr>
            <a:r>
              <a:rPr lang="en-US" sz="1350" b="1" dirty="0">
                <a:solidFill>
                  <a:srgbClr val="7C3AED"/>
                </a:solidFill>
              </a:rPr>
              <a:t>PP : PC ratio: </a:t>
            </a:r>
            <a:pPr algn="l" indent="0" marL="0">
              <a:buNone/>
            </a:pPr>
            <a:r>
              <a:rPr lang="en-US" sz="1350" dirty="0">
                <a:solidFill>
                  <a:srgbClr val="1B2B31"/>
                </a:solidFill>
              </a:rPr>
              <a:t>≈ 1.16 / 1.01 / 1.10 / 1.18 — hovers around the balanced 1 : 1 line.
</a:t>
            </a:r>
            <a:endParaRPr lang="en-US" sz="1350" dirty="0"/>
          </a:p>
          <a:p>
            <a:pPr algn="l" indent="0" marL="0">
              <a:buNone/>
            </a:pPr>
            <a:r>
              <a:rPr lang="en-US" sz="1350" i="1" dirty="0">
                <a:solidFill>
                  <a:srgbClr val="5C6E73"/>
                </a:solidFill>
              </a:rPr>
              <a:t>Same large person-to-person spread as the anchors, same absence of a stage trend.</a:t>
            </a:r>
            <a:endParaRPr lang="en-US" sz="13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5F1"/>
        </a:solidFill>
      </p:bgPr>
    </p:bg>
    <p:spTree>
      <p:nvGrpSpPr>
        <p:cNvPr id="1" name=""/>
        <p:cNvGrpSpPr/>
        <p:nvPr/>
      </p:nvGrpSpPr>
      <p:grpSpPr>
        <a:xfrm>
          <a:off x="0" y="0"/>
          <a:ext cx="0" cy="0"/>
          <a:chOff x="0" y="0"/>
          <a:chExt cx="0" cy="0"/>
        </a:xfrm>
      </p:grpSpPr>
      <p:sp>
        <p:nvSpPr>
          <p:cNvPr id="2" name="Shape 0"/>
          <p:cNvSpPr/>
          <p:nvPr/>
        </p:nvSpPr>
        <p:spPr>
          <a:xfrm>
            <a:off x="457200" y="310896"/>
            <a:ext cx="146304" cy="237744"/>
          </a:xfrm>
          <a:prstGeom prst="rect">
            <a:avLst/>
          </a:prstGeom>
          <a:solidFill>
            <a:srgbClr val="C0561B"/>
          </a:solidFill>
          <a:ln/>
        </p:spPr>
      </p:sp>
      <p:sp>
        <p:nvSpPr>
          <p:cNvPr id="3" name="Text 1"/>
          <p:cNvSpPr/>
          <p:nvPr/>
        </p:nvSpPr>
        <p:spPr>
          <a:xfrm>
            <a:off x="676656" y="274320"/>
            <a:ext cx="10972800" cy="320040"/>
          </a:xfrm>
          <a:prstGeom prst="rect">
            <a:avLst/>
          </a:prstGeom>
          <a:noFill/>
          <a:ln/>
        </p:spPr>
        <p:txBody>
          <a:bodyPr wrap="square" rtlCol="0" anchor="ctr"/>
          <a:lstStyle/>
          <a:p>
            <a:pPr indent="0" marL="0">
              <a:buNone/>
            </a:pPr>
            <a:r>
              <a:rPr lang="en-US" sz="1300" b="1" spc="300" kern="0" dirty="0">
                <a:solidFill>
                  <a:srgbClr val="C0561B"/>
                </a:solidFill>
              </a:rPr>
              <a:t>BACKUP  ·  LOBE</a:t>
            </a:r>
            <a:endParaRPr lang="en-US" sz="1300" dirty="0"/>
          </a:p>
        </p:txBody>
      </p:sp>
      <p:sp>
        <p:nvSpPr>
          <p:cNvPr id="4" name="Text 2"/>
          <p:cNvSpPr/>
          <p:nvPr/>
        </p:nvSpPr>
        <p:spPr>
          <a:xfrm>
            <a:off x="438912" y="585216"/>
            <a:ext cx="11338560" cy="731520"/>
          </a:xfrm>
          <a:prstGeom prst="rect">
            <a:avLst/>
          </a:prstGeom>
          <a:noFill/>
          <a:ln/>
        </p:spPr>
        <p:txBody>
          <a:bodyPr wrap="square" rtlCol="0" anchor="ctr"/>
          <a:lstStyle/>
          <a:p>
            <a:pPr algn="l" indent="0" marL="0">
              <a:buNone/>
            </a:pPr>
            <a:r>
              <a:rPr lang="en-US" sz="2600" b="1" dirty="0">
                <a:solidFill>
                  <a:srgbClr val="123F47"/>
                </a:solidFill>
                <a:latin typeface="Georgia" pitchFamily="34" charset="0"/>
                <a:ea typeface="Georgia" pitchFamily="34" charset="-122"/>
                <a:cs typeface="Georgia" pitchFamily="34" charset="-120"/>
              </a:rPr>
              <a:t>Right, caudate and left lobes all agree</a:t>
            </a:r>
            <a:endParaRPr lang="en-US" sz="2600" dirty="0"/>
          </a:p>
        </p:txBody>
      </p:sp>
      <p:pic>
        <p:nvPicPr>
          <p:cNvPr id="5" name="Image 0" descr="D:\CS\Genomics\Hackathon\presentation/assets/fig_lobe.png">    </p:cNvPr>
          <p:cNvPicPr>
            <a:picLocks noChangeAspect="1"/>
          </p:cNvPicPr>
          <p:nvPr/>
        </p:nvPicPr>
        <p:blipFill>
          <a:blip r:embed="rId1"/>
          <a:stretch>
            <a:fillRect/>
          </a:stretch>
        </p:blipFill>
        <p:spPr>
          <a:xfrm>
            <a:off x="731520" y="1371600"/>
            <a:ext cx="6949440" cy="3990200"/>
          </a:xfrm>
          <a:prstGeom prst="rect">
            <a:avLst/>
          </a:prstGeom>
        </p:spPr>
      </p:pic>
      <p:sp>
        <p:nvSpPr>
          <p:cNvPr id="6" name="Text 3"/>
          <p:cNvSpPr/>
          <p:nvPr/>
        </p:nvSpPr>
        <p:spPr>
          <a:xfrm>
            <a:off x="731520" y="5943600"/>
            <a:ext cx="6949440" cy="365760"/>
          </a:xfrm>
          <a:prstGeom prst="rect">
            <a:avLst/>
          </a:prstGeom>
          <a:noFill/>
          <a:ln/>
        </p:spPr>
        <p:txBody>
          <a:bodyPr wrap="square" lIns="0" tIns="0" rIns="0" bIns="0" rtlCol="0" anchor="ctr"/>
          <a:lstStyle/>
          <a:p>
            <a:pPr algn="ctr" indent="0" marL="0">
              <a:buNone/>
            </a:pPr>
            <a:r>
              <a:rPr lang="en-US" sz="1200" i="1" dirty="0">
                <a:solidFill>
                  <a:srgbClr val="5C6E73"/>
                </a:solidFill>
              </a:rPr>
              <a:t>Figure 8.  Zonation-marker detection across Right / Caudate / Left lobes in end-stage explants.</a:t>
            </a:r>
            <a:endParaRPr lang="en-US" sz="1200" dirty="0"/>
          </a:p>
        </p:txBody>
      </p:sp>
      <p:sp>
        <p:nvSpPr>
          <p:cNvPr id="7" name="Text 4"/>
          <p:cNvSpPr/>
          <p:nvPr/>
        </p:nvSpPr>
        <p:spPr>
          <a:xfrm>
            <a:off x="7955280" y="2377440"/>
            <a:ext cx="3657600" cy="2286000"/>
          </a:xfrm>
          <a:prstGeom prst="rect">
            <a:avLst/>
          </a:prstGeom>
          <a:noFill/>
          <a:ln/>
        </p:spPr>
        <p:txBody>
          <a:bodyPr wrap="square" rtlCol="0" anchor="ctr"/>
          <a:lstStyle/>
          <a:p>
            <a:pPr algn="l" indent="0" marL="0">
              <a:buNone/>
            </a:pPr>
            <a:r>
              <a:rPr lang="en-US" sz="1800" b="1" dirty="0">
                <a:solidFill>
                  <a:srgbClr val="1B2B31"/>
                </a:solidFill>
              </a:rPr>
              <a:t>Detection matches across all three lobes.
</a:t>
            </a:r>
            <a:endParaRPr lang="en-US" sz="1800" dirty="0"/>
          </a:p>
          <a:p>
            <a:pPr algn="l" indent="0" marL="0">
              <a:buNone/>
            </a:pPr>
            <a:r>
              <a:rPr lang="en-US" sz="1800" dirty="0">
                <a:solidFill>
                  <a:srgbClr val="1B2B31"/>
                </a:solidFill>
              </a:rPr>
              <a:t>Lobe does not explain the signal; explant-vs-biopsy acquisition still does.</a:t>
            </a:r>
            <a:endParaRPr lang="en-US" sz="18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5F1"/>
        </a:solidFill>
      </p:bgPr>
    </p:bg>
    <p:spTree>
      <p:nvGrpSpPr>
        <p:cNvPr id="1" name=""/>
        <p:cNvGrpSpPr/>
        <p:nvPr/>
      </p:nvGrpSpPr>
      <p:grpSpPr>
        <a:xfrm>
          <a:off x="0" y="0"/>
          <a:ext cx="0" cy="0"/>
          <a:chOff x="0" y="0"/>
          <a:chExt cx="0" cy="0"/>
        </a:xfrm>
      </p:grpSpPr>
      <p:sp>
        <p:nvSpPr>
          <p:cNvPr id="2" name="Shape 0"/>
          <p:cNvSpPr/>
          <p:nvPr/>
        </p:nvSpPr>
        <p:spPr>
          <a:xfrm>
            <a:off x="457200" y="310896"/>
            <a:ext cx="146304" cy="237744"/>
          </a:xfrm>
          <a:prstGeom prst="rect">
            <a:avLst/>
          </a:prstGeom>
          <a:solidFill>
            <a:srgbClr val="C0561B"/>
          </a:solidFill>
          <a:ln/>
        </p:spPr>
      </p:sp>
      <p:sp>
        <p:nvSpPr>
          <p:cNvPr id="3" name="Text 1"/>
          <p:cNvSpPr/>
          <p:nvPr/>
        </p:nvSpPr>
        <p:spPr>
          <a:xfrm>
            <a:off x="676656" y="274320"/>
            <a:ext cx="10972800" cy="320040"/>
          </a:xfrm>
          <a:prstGeom prst="rect">
            <a:avLst/>
          </a:prstGeom>
          <a:noFill/>
          <a:ln/>
        </p:spPr>
        <p:txBody>
          <a:bodyPr wrap="square" rtlCol="0" anchor="ctr"/>
          <a:lstStyle/>
          <a:p>
            <a:pPr indent="0" marL="0">
              <a:buNone/>
            </a:pPr>
            <a:r>
              <a:rPr lang="en-US" sz="1300" b="1" spc="300" kern="0" dirty="0">
                <a:solidFill>
                  <a:srgbClr val="C0561B"/>
                </a:solidFill>
              </a:rPr>
              <a:t>BACKUP  ·  END-STAGE</a:t>
            </a:r>
            <a:endParaRPr lang="en-US" sz="1300" dirty="0"/>
          </a:p>
        </p:txBody>
      </p:sp>
      <p:sp>
        <p:nvSpPr>
          <p:cNvPr id="4" name="Text 2"/>
          <p:cNvSpPr/>
          <p:nvPr/>
        </p:nvSpPr>
        <p:spPr>
          <a:xfrm>
            <a:off x="438912" y="585216"/>
            <a:ext cx="11338560" cy="731520"/>
          </a:xfrm>
          <a:prstGeom prst="rect">
            <a:avLst/>
          </a:prstGeom>
          <a:noFill/>
          <a:ln/>
        </p:spPr>
        <p:txBody>
          <a:bodyPr wrap="square" rtlCol="0" anchor="ctr"/>
          <a:lstStyle/>
          <a:p>
            <a:pPr algn="l" indent="0" marL="0">
              <a:buNone/>
            </a:pPr>
            <a:r>
              <a:rPr lang="en-US" sz="2600" b="1" dirty="0">
                <a:solidFill>
                  <a:srgbClr val="123F47"/>
                </a:solidFill>
                <a:latin typeface="Georgia" pitchFamily="34" charset="0"/>
                <a:ea typeface="Georgia" pitchFamily="34" charset="-122"/>
                <a:cs typeface="Georgia" pitchFamily="34" charset="-120"/>
              </a:rPr>
              <a:t>Five organs, five phenotypes</a:t>
            </a:r>
            <a:endParaRPr lang="en-US" sz="2600" dirty="0"/>
          </a:p>
        </p:txBody>
      </p:sp>
      <p:pic>
        <p:nvPicPr>
          <p:cNvPr id="5" name="Image 0" descr="D:\CS\Genomics\Hackathon\presentation/assets/fig_explant.png">    </p:cNvPr>
          <p:cNvPicPr>
            <a:picLocks noChangeAspect="1"/>
          </p:cNvPicPr>
          <p:nvPr/>
        </p:nvPicPr>
        <p:blipFill>
          <a:blip r:embed="rId1"/>
          <a:stretch>
            <a:fillRect/>
          </a:stretch>
        </p:blipFill>
        <p:spPr>
          <a:xfrm>
            <a:off x="731520" y="1371600"/>
            <a:ext cx="7498080" cy="3916062"/>
          </a:xfrm>
          <a:prstGeom prst="rect">
            <a:avLst/>
          </a:prstGeom>
        </p:spPr>
      </p:pic>
      <p:sp>
        <p:nvSpPr>
          <p:cNvPr id="6" name="Text 3"/>
          <p:cNvSpPr/>
          <p:nvPr/>
        </p:nvSpPr>
        <p:spPr>
          <a:xfrm>
            <a:off x="731520" y="5943600"/>
            <a:ext cx="7498080" cy="365760"/>
          </a:xfrm>
          <a:prstGeom prst="rect">
            <a:avLst/>
          </a:prstGeom>
          <a:noFill/>
          <a:ln/>
        </p:spPr>
        <p:txBody>
          <a:bodyPr wrap="square" lIns="0" tIns="0" rIns="0" bIns="0" rtlCol="0" anchor="ctr"/>
          <a:lstStyle/>
          <a:p>
            <a:pPr algn="ctr" indent="0" marL="0">
              <a:buNone/>
            </a:pPr>
            <a:r>
              <a:rPr lang="en-US" sz="1200" i="1" dirty="0">
                <a:solidFill>
                  <a:srgbClr val="5C6E73"/>
                </a:solidFill>
              </a:rPr>
              <a:t>Figure 9.  Per-explant anchor fractions — end-stage is heterogeneous, not one coherent program.</a:t>
            </a:r>
            <a:endParaRPr lang="en-US" sz="1200" dirty="0"/>
          </a:p>
        </p:txBody>
      </p:sp>
      <p:sp>
        <p:nvSpPr>
          <p:cNvPr id="7" name="Text 4"/>
          <p:cNvSpPr/>
          <p:nvPr/>
        </p:nvSpPr>
        <p:spPr>
          <a:xfrm>
            <a:off x="8412480" y="2377440"/>
            <a:ext cx="3291840" cy="2377440"/>
          </a:xfrm>
          <a:prstGeom prst="rect">
            <a:avLst/>
          </a:prstGeom>
          <a:noFill/>
          <a:ln/>
        </p:spPr>
        <p:txBody>
          <a:bodyPr wrap="square" rtlCol="0" anchor="ctr"/>
          <a:lstStyle/>
          <a:p>
            <a:pPr algn="l" indent="0" marL="0">
              <a:buNone/>
            </a:pPr>
            <a:r>
              <a:rPr lang="en-US" sz="1700" b="1" dirty="0">
                <a:solidFill>
                  <a:srgbClr val="1B2B31"/>
                </a:solidFill>
              </a:rPr>
              <a:t>PC-anchor 3% → 50%;  PP:PC 0.13 → 20.
</a:t>
            </a:r>
            <a:endParaRPr lang="en-US" sz="1700" dirty="0"/>
          </a:p>
          <a:p>
            <a:pPr algn="l" indent="0" marL="0">
              <a:buNone/>
            </a:pPr>
            <a:r>
              <a:rPr lang="en-US" sz="1700" dirty="0">
                <a:solidFill>
                  <a:srgbClr val="1B2B31"/>
                </a:solidFill>
              </a:rPr>
              <a:t>Dramatic but NOT one program — pooling manufactures a uniform “collapse.”</a:t>
            </a:r>
            <a:endParaRPr lang="en-US" sz="17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7F5F1"/>
        </a:solidFill>
      </p:bgPr>
    </p:bg>
    <p:spTree>
      <p:nvGrpSpPr>
        <p:cNvPr id="1" name=""/>
        <p:cNvGrpSpPr/>
        <p:nvPr/>
      </p:nvGrpSpPr>
      <p:grpSpPr>
        <a:xfrm>
          <a:off x="0" y="0"/>
          <a:ext cx="0" cy="0"/>
          <a:chOff x="0" y="0"/>
          <a:chExt cx="0" cy="0"/>
        </a:xfrm>
      </p:grpSpPr>
      <p:sp>
        <p:nvSpPr>
          <p:cNvPr id="2" name="Shape 0"/>
          <p:cNvSpPr/>
          <p:nvPr/>
        </p:nvSpPr>
        <p:spPr>
          <a:xfrm>
            <a:off x="457200" y="310896"/>
            <a:ext cx="146304" cy="237744"/>
          </a:xfrm>
          <a:prstGeom prst="rect">
            <a:avLst/>
          </a:prstGeom>
          <a:solidFill>
            <a:srgbClr val="C0561B"/>
          </a:solidFill>
          <a:ln/>
        </p:spPr>
      </p:sp>
      <p:sp>
        <p:nvSpPr>
          <p:cNvPr id="3" name="Text 1"/>
          <p:cNvSpPr/>
          <p:nvPr/>
        </p:nvSpPr>
        <p:spPr>
          <a:xfrm>
            <a:off x="676656" y="274320"/>
            <a:ext cx="10972800" cy="320040"/>
          </a:xfrm>
          <a:prstGeom prst="rect">
            <a:avLst/>
          </a:prstGeom>
          <a:noFill/>
          <a:ln/>
        </p:spPr>
        <p:txBody>
          <a:bodyPr wrap="square" rtlCol="0" anchor="ctr"/>
          <a:lstStyle/>
          <a:p>
            <a:pPr indent="0" marL="0">
              <a:buNone/>
            </a:pPr>
            <a:r>
              <a:rPr lang="en-US" sz="1300" b="1" spc="300" kern="0" dirty="0">
                <a:solidFill>
                  <a:srgbClr val="C0561B"/>
                </a:solidFill>
              </a:rPr>
              <a:t>BACKUP  ·  ROBUSTNESS</a:t>
            </a:r>
            <a:endParaRPr lang="en-US" sz="1300" dirty="0"/>
          </a:p>
        </p:txBody>
      </p:sp>
      <p:sp>
        <p:nvSpPr>
          <p:cNvPr id="4" name="Text 2"/>
          <p:cNvSpPr/>
          <p:nvPr/>
        </p:nvSpPr>
        <p:spPr>
          <a:xfrm>
            <a:off x="438912" y="585216"/>
            <a:ext cx="11338560" cy="731520"/>
          </a:xfrm>
          <a:prstGeom prst="rect">
            <a:avLst/>
          </a:prstGeom>
          <a:noFill/>
          <a:ln/>
        </p:spPr>
        <p:txBody>
          <a:bodyPr wrap="square" rtlCol="0" anchor="ctr"/>
          <a:lstStyle/>
          <a:p>
            <a:pPr algn="l" indent="0" marL="0">
              <a:buNone/>
            </a:pPr>
            <a:r>
              <a:rPr lang="en-US" sz="2600" b="1" dirty="0">
                <a:solidFill>
                  <a:srgbClr val="123F47"/>
                </a:solidFill>
                <a:latin typeface="Georgia" pitchFamily="34" charset="0"/>
                <a:ea typeface="Georgia" pitchFamily="34" charset="-122"/>
                <a:cs typeface="Georgia" pitchFamily="34" charset="-120"/>
              </a:rPr>
              <a:t>Sensitivity grid + equivalence bound</a:t>
            </a:r>
            <a:endParaRPr lang="en-US" sz="2600" dirty="0"/>
          </a:p>
        </p:txBody>
      </p:sp>
      <p:pic>
        <p:nvPicPr>
          <p:cNvPr id="5" name="Image 0" descr="D:\CS\Genomics\Hackathon\presentation/assets/fig_tost.png">    </p:cNvPr>
          <p:cNvPicPr>
            <a:picLocks noChangeAspect="1"/>
          </p:cNvPicPr>
          <p:nvPr/>
        </p:nvPicPr>
        <p:blipFill>
          <a:blip r:embed="rId1"/>
          <a:stretch>
            <a:fillRect/>
          </a:stretch>
        </p:blipFill>
        <p:spPr>
          <a:xfrm>
            <a:off x="6035040" y="1463040"/>
            <a:ext cx="5852160" cy="2847383"/>
          </a:xfrm>
          <a:prstGeom prst="rect">
            <a:avLst/>
          </a:prstGeom>
        </p:spPr>
      </p:pic>
      <p:sp>
        <p:nvSpPr>
          <p:cNvPr id="6" name="Text 3"/>
          <p:cNvSpPr/>
          <p:nvPr/>
        </p:nvSpPr>
        <p:spPr>
          <a:xfrm>
            <a:off x="6035040" y="5166360"/>
            <a:ext cx="5852160" cy="365760"/>
          </a:xfrm>
          <a:prstGeom prst="rect">
            <a:avLst/>
          </a:prstGeom>
          <a:noFill/>
          <a:ln/>
        </p:spPr>
        <p:txBody>
          <a:bodyPr wrap="square" lIns="0" tIns="0" rIns="0" bIns="0" rtlCol="0" anchor="ctr"/>
          <a:lstStyle/>
          <a:p>
            <a:pPr algn="ctr" indent="0" marL="0">
              <a:buNone/>
            </a:pPr>
            <a:r>
              <a:rPr lang="en-US" sz="1200" i="1" dirty="0">
                <a:solidFill>
                  <a:srgbClr val="5C6E73"/>
                </a:solidFill>
              </a:rPr>
              <a:t>Figure 10.  Equivalence bound on the F4-vs-F1 pericentral-anchor change.</a:t>
            </a:r>
            <a:endParaRPr lang="en-US" sz="1200" dirty="0"/>
          </a:p>
        </p:txBody>
      </p:sp>
      <p:sp>
        <p:nvSpPr>
          <p:cNvPr id="7" name="Text 4"/>
          <p:cNvSpPr/>
          <p:nvPr/>
        </p:nvSpPr>
        <p:spPr>
          <a:xfrm>
            <a:off x="640080" y="1645920"/>
            <a:ext cx="5212080" cy="3840480"/>
          </a:xfrm>
          <a:prstGeom prst="rect">
            <a:avLst/>
          </a:prstGeom>
          <a:noFill/>
          <a:ln/>
        </p:spPr>
        <p:txBody>
          <a:bodyPr wrap="square" rtlCol="0" anchor="t"/>
          <a:lstStyle/>
          <a:p>
            <a:pPr algn="l" indent="0" marL="0">
              <a:buNone/>
            </a:pPr>
            <a:r>
              <a:rPr lang="en-US" sz="1600" b="1" dirty="0">
                <a:solidFill>
                  <a:srgbClr val="1B2B31"/>
                </a:solidFill>
              </a:rPr>
              <a:t>Stable across every variant:
</a:t>
            </a:r>
            <a:endParaRPr lang="en-US" sz="1600" dirty="0"/>
          </a:p>
          <a:p>
            <a:pPr algn="l" indent="0" marL="0">
              <a:buNone/>
            </a:pPr>
            <a:r>
              <a:rPr lang="en-US" sz="1600" dirty="0">
                <a:solidFill>
                  <a:srgbClr val="1B2B31"/>
                </a:solidFill>
              </a:rPr>
              <a:t>anchor genes, periportal rule, ALDOB in/out, CPS1-based, 1 vs 2 UMI.
</a:t>
            </a:r>
            <a:endParaRPr lang="en-US" sz="1600" dirty="0"/>
          </a:p>
          <a:p>
            <a:pPr algn="l" indent="0" marL="0">
              <a:buNone/>
            </a:pPr>
            <a:r>
              <a:rPr lang="en-US" sz="1600" b="1" dirty="0">
                <a:solidFill>
                  <a:srgbClr val="0D9488"/>
                </a:solidFill>
              </a:rPr>
              <a:t>No depletion · no dual rise · no turn-off — in all.
</a:t>
            </a:r>
            <a:endParaRPr lang="en-US" sz="1600" dirty="0"/>
          </a:p>
          <a:p>
            <a:pPr algn="l" indent="0" marL="0">
              <a:buNone/>
            </a:pPr>
            <a:r>
              <a:rPr lang="en-US" sz="1600" i="1" dirty="0">
                <a:solidFill>
                  <a:srgbClr val="5C6E73"/>
                </a:solidFill>
              </a:rPr>
              <a:t>Bound (TOST): large shift (~19 pp) excluded; subtle drift ≤10 pp not (F4 n=4).</a:t>
            </a:r>
            <a:endParaRPr lang="en-US" sz="16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7F5F1"/>
        </a:solidFill>
      </p:bgPr>
    </p:bg>
    <p:spTree>
      <p:nvGrpSpPr>
        <p:cNvPr id="1" name=""/>
        <p:cNvGrpSpPr/>
        <p:nvPr/>
      </p:nvGrpSpPr>
      <p:grpSpPr>
        <a:xfrm>
          <a:off x="0" y="0"/>
          <a:ext cx="0" cy="0"/>
          <a:chOff x="0" y="0"/>
          <a:chExt cx="0" cy="0"/>
        </a:xfrm>
      </p:grpSpPr>
      <p:sp>
        <p:nvSpPr>
          <p:cNvPr id="2" name="Shape 0"/>
          <p:cNvSpPr/>
          <p:nvPr/>
        </p:nvSpPr>
        <p:spPr>
          <a:xfrm>
            <a:off x="457200" y="310896"/>
            <a:ext cx="146304" cy="237744"/>
          </a:xfrm>
          <a:prstGeom prst="rect">
            <a:avLst/>
          </a:prstGeom>
          <a:solidFill>
            <a:srgbClr val="C0561B"/>
          </a:solidFill>
          <a:ln/>
        </p:spPr>
      </p:sp>
      <p:sp>
        <p:nvSpPr>
          <p:cNvPr id="3" name="Text 1"/>
          <p:cNvSpPr/>
          <p:nvPr/>
        </p:nvSpPr>
        <p:spPr>
          <a:xfrm>
            <a:off x="676656" y="274320"/>
            <a:ext cx="10972800" cy="320040"/>
          </a:xfrm>
          <a:prstGeom prst="rect">
            <a:avLst/>
          </a:prstGeom>
          <a:noFill/>
          <a:ln/>
        </p:spPr>
        <p:txBody>
          <a:bodyPr wrap="square" rtlCol="0" anchor="ctr"/>
          <a:lstStyle/>
          <a:p>
            <a:pPr indent="0" marL="0">
              <a:buNone/>
            </a:pPr>
            <a:r>
              <a:rPr lang="en-US" sz="1300" b="1" spc="300" kern="0" dirty="0">
                <a:solidFill>
                  <a:srgbClr val="C0561B"/>
                </a:solidFill>
              </a:rPr>
              <a:t>BACKUP  ·  AUDIT DETAIL</a:t>
            </a:r>
            <a:endParaRPr lang="en-US" sz="1300" dirty="0"/>
          </a:p>
        </p:txBody>
      </p:sp>
      <p:sp>
        <p:nvSpPr>
          <p:cNvPr id="4" name="Text 2"/>
          <p:cNvSpPr/>
          <p:nvPr/>
        </p:nvSpPr>
        <p:spPr>
          <a:xfrm>
            <a:off x="438912" y="585216"/>
            <a:ext cx="11338560" cy="731520"/>
          </a:xfrm>
          <a:prstGeom prst="rect">
            <a:avLst/>
          </a:prstGeom>
          <a:noFill/>
          <a:ln/>
        </p:spPr>
        <p:txBody>
          <a:bodyPr wrap="square" rtlCol="0" anchor="ctr"/>
          <a:lstStyle/>
          <a:p>
            <a:pPr algn="l" indent="0" marL="0">
              <a:buNone/>
            </a:pPr>
            <a:r>
              <a:rPr lang="en-US" sz="2600" b="1" dirty="0">
                <a:solidFill>
                  <a:srgbClr val="123F47"/>
                </a:solidFill>
                <a:latin typeface="Georgia" pitchFamily="34" charset="0"/>
                <a:ea typeface="Georgia" pitchFamily="34" charset="-122"/>
                <a:cs typeface="Georgia" pitchFamily="34" charset="-120"/>
              </a:rPr>
              <a:t>Confounder battery — the numbers</a:t>
            </a:r>
            <a:endParaRPr lang="en-US" sz="2600" dirty="0"/>
          </a:p>
        </p:txBody>
      </p:sp>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640080" y="1554480"/>
          <a:ext cx="11155680" cy="914400"/>
        </p:xfrm>
        <a:graphic>
          <a:graphicData uri="http://schemas.openxmlformats.org/drawingml/2006/table">
            <a:tbl>
              <a:tblPr/>
              <a:tblGrid>
                <a:gridCol w="2468880"/>
                <a:gridCol w="6035040"/>
                <a:gridCol w="2651760"/>
              </a:tblGrid>
              <a:tr h="384048">
                <a:tc>
                  <a:txBody>
                    <a:bodyPr/>
                    <a:lstStyle/>
                    <a:p>
                      <a:pPr algn="l" indent="0" marL="0">
                        <a:buNone/>
                      </a:pPr>
                      <a:r>
                        <a:rPr lang="en-US" sz="1100" b="1" dirty="0">
                          <a:solidFill>
                            <a:srgbClr val="1B2B31"/>
                          </a:solidFill>
                        </a:rPr>
                        <a:t>Confounder</a:t>
                      </a:r>
                      <a:endParaRPr lang="en-US" sz="11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tc>
                  <a:txBody>
                    <a:bodyPr/>
                    <a:lstStyle/>
                    <a:p>
                      <a:pPr algn="l" indent="0" marL="0">
                        <a:buNone/>
                      </a:pPr>
                      <a:r>
                        <a:rPr lang="en-US" sz="1100" b="1" dirty="0">
                          <a:solidFill>
                            <a:srgbClr val="1B2B31"/>
                          </a:solidFill>
                        </a:rPr>
                        <a:t>What we did  (test · numbers)</a:t>
                      </a:r>
                      <a:endParaRPr lang="en-US" sz="11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tc>
                  <a:txBody>
                    <a:bodyPr/>
                    <a:lstStyle/>
                    <a:p>
                      <a:pPr algn="l" indent="0" marL="0">
                        <a:buNone/>
                      </a:pPr>
                      <a:r>
                        <a:rPr lang="en-US" sz="1100" b="1" dirty="0">
                          <a:solidFill>
                            <a:srgbClr val="1B2B31"/>
                          </a:solidFill>
                        </a:rPr>
                        <a:t>Verdict</a:t>
                      </a:r>
                      <a:endParaRPr lang="en-US" sz="11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tr>
              <a:tr h="384048">
                <a:tc>
                  <a:txBody>
                    <a:bodyPr/>
                    <a:lstStyle/>
                    <a:p>
                      <a:pPr algn="l" indent="0" marL="0">
                        <a:buNone/>
                      </a:pPr>
                      <a:r>
                        <a:rPr lang="en-US" sz="1100" dirty="0">
                          <a:solidFill>
                            <a:srgbClr val="1B2B31"/>
                          </a:solidFill>
                        </a:rPr>
                        <a:t>Tissue source</a:t>
                      </a:r>
                      <a:endParaRPr lang="en-US" sz="11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B2B31"/>
                          </a:solidFill>
                        </a:rPr>
                        <a:t>organ-cube / explant ends are not acquisition-matched to needle biopsy</a:t>
                      </a:r>
                      <a:endParaRPr lang="en-US" sz="11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B2B31"/>
                          </a:solidFill>
                        </a:rPr>
                        <a:t>excluded → biopsy-only F1–F4</a:t>
                      </a:r>
                      <a:endParaRPr lang="en-US" sz="11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tr>
              <a:tr h="384048">
                <a:tc>
                  <a:txBody>
                    <a:bodyPr/>
                    <a:lstStyle/>
                    <a:p>
                      <a:pPr algn="l" indent="0" marL="0">
                        <a:buNone/>
                      </a:pPr>
                      <a:r>
                        <a:rPr lang="en-US" sz="1100" dirty="0">
                          <a:solidFill>
                            <a:srgbClr val="1B2B31"/>
                          </a:solidFill>
                        </a:rPr>
                        <a:t>Procurement stress</a:t>
                      </a:r>
                      <a:endParaRPr lang="en-US" sz="11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B2B31"/>
                          </a:solidFill>
                        </a:rPr>
                        <a:t>IEG+HSP across 6 lineages; hep 18× ≈ endothelial 18× (no zonation)</a:t>
                      </a:r>
                      <a:endParaRPr lang="en-US" sz="11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B2B31"/>
                          </a:solidFill>
                        </a:rPr>
                        <a:t>organ-wide handling, not zonation</a:t>
                      </a:r>
                      <a:endParaRPr lang="en-US" sz="11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tr>
              <a:tr h="384048">
                <a:tc>
                  <a:txBody>
                    <a:bodyPr/>
                    <a:lstStyle/>
                    <a:p>
                      <a:pPr algn="l" indent="0" marL="0">
                        <a:buNone/>
                      </a:pPr>
                      <a:r>
                        <a:rPr lang="en-US" sz="1100" dirty="0">
                          <a:solidFill>
                            <a:srgbClr val="1B2B31"/>
                          </a:solidFill>
                        </a:rPr>
                        <a:t>Sequencing batch</a:t>
                      </a:r>
                      <a:endParaRPr lang="en-US" sz="11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B2B31"/>
                          </a:solidFill>
                        </a:rPr>
                        <a:t>run × source Cramér’s V = 0.84; run × F (biopsy) = 0.40</a:t>
                      </a:r>
                      <a:endParaRPr lang="en-US" sz="11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B2B31"/>
                          </a:solidFill>
                        </a:rPr>
                        <a:t>ends confounded; biopsy estimable</a:t>
                      </a:r>
                      <a:endParaRPr lang="en-US" sz="11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tr>
              <a:tr h="384048">
                <a:tc>
                  <a:txBody>
                    <a:bodyPr/>
                    <a:lstStyle/>
                    <a:p>
                      <a:pPr algn="l" indent="0" marL="0">
                        <a:buNone/>
                      </a:pPr>
                      <a:r>
                        <a:rPr lang="en-US" sz="1100" dirty="0">
                          <a:solidFill>
                            <a:srgbClr val="1B2B31"/>
                          </a:solidFill>
                        </a:rPr>
                        <a:t>Lobe (R / C / L)</a:t>
                      </a:r>
                      <a:endParaRPr lang="en-US" sz="11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B2B31"/>
                          </a:solidFill>
                        </a:rPr>
                        <a:t>marker detection across right / caudate / left lobes in explants</a:t>
                      </a:r>
                      <a:endParaRPr lang="en-US" sz="11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B2B31"/>
                          </a:solidFill>
                        </a:rPr>
                        <a:t>lobe-invariant</a:t>
                      </a:r>
                      <a:endParaRPr lang="en-US" sz="11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tr>
              <a:tr h="384048">
                <a:tc>
                  <a:txBody>
                    <a:bodyPr/>
                    <a:lstStyle/>
                    <a:p>
                      <a:pPr algn="l" indent="0" marL="0">
                        <a:buNone/>
                      </a:pPr>
                      <a:r>
                        <a:rPr lang="en-US" sz="1100" dirty="0">
                          <a:solidFill>
                            <a:srgbClr val="1B2B31"/>
                          </a:solidFill>
                        </a:rPr>
                        <a:t>Sequencing depth</a:t>
                      </a:r>
                      <a:endParaRPr lang="en-US" sz="11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B2B31"/>
                          </a:solidFill>
                        </a:rPr>
                        <a:t>binomial down-thin to B = 1,000 / 1,500 / 3,000 UMIs</a:t>
                      </a:r>
                      <a:endParaRPr lang="en-US" sz="11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B2B31"/>
                          </a:solidFill>
                        </a:rPr>
                        <a:t>PC-share flat at every B (SD 0.006–0.010)</a:t>
                      </a:r>
                      <a:endParaRPr lang="en-US" sz="11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tr>
              <a:tr h="384048">
                <a:tc>
                  <a:txBody>
                    <a:bodyPr/>
                    <a:lstStyle/>
                    <a:p>
                      <a:pPr algn="l" indent="0" marL="0">
                        <a:buNone/>
                      </a:pPr>
                      <a:r>
                        <a:rPr lang="en-US" sz="1100" dirty="0">
                          <a:solidFill>
                            <a:srgbClr val="1B2B31"/>
                          </a:solidFill>
                        </a:rPr>
                        <a:t>Ambient RNA (“soup”)</a:t>
                      </a:r>
                      <a:endParaRPr lang="en-US" sz="11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B2B31"/>
                          </a:solidFill>
                        </a:rPr>
                        <a:t>corr( ALB burden , dual fraction ) across 38 donors = +0.04</a:t>
                      </a:r>
                      <a:endParaRPr lang="en-US" sz="11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B2B31"/>
                          </a:solidFill>
                        </a:rPr>
                        <a:t>does not drive co-expression</a:t>
                      </a:r>
                      <a:endParaRPr lang="en-US" sz="11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tr>
              <a:tr h="384048">
                <a:tc>
                  <a:txBody>
                    <a:bodyPr/>
                    <a:lstStyle/>
                    <a:p>
                      <a:pPr algn="l" indent="0" marL="0">
                        <a:buNone/>
                      </a:pPr>
                      <a:r>
                        <a:rPr lang="en-US" sz="1100" dirty="0">
                          <a:solidFill>
                            <a:srgbClr val="1B2B31"/>
                          </a:solidFill>
                        </a:rPr>
                        <a:t>Cholangiocyte mis-annotation</a:t>
                      </a:r>
                      <a:endParaRPr lang="en-US" sz="11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B2B31"/>
                          </a:solidFill>
                        </a:rPr>
                        <a:t>KRT19⁺ ≤ 0.001, EPCAM⁺ ≤ 0.003 in every anchor class</a:t>
                      </a:r>
                      <a:endParaRPr lang="en-US" sz="11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B2B31"/>
                          </a:solidFill>
                        </a:rPr>
                        <a:t>not contaminating cholangiocytes</a:t>
                      </a:r>
                      <a:endParaRPr lang="en-US" sz="11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tr>
              <a:tr h="384048">
                <a:tc>
                  <a:txBody>
                    <a:bodyPr/>
                    <a:lstStyle/>
                    <a:p>
                      <a:pPr algn="l" indent="0" marL="0">
                        <a:buNone/>
                      </a:pPr>
                      <a:r>
                        <a:rPr lang="en-US" sz="1100" dirty="0">
                          <a:solidFill>
                            <a:srgbClr val="1B2B31"/>
                          </a:solidFill>
                        </a:rPr>
                        <a:t>Ploidy / complexity</a:t>
                      </a:r>
                      <a:endParaRPr lang="en-US" sz="11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B2B31"/>
                          </a:solidFill>
                        </a:rPr>
                        <a:t>nFeatures by stage: 2218 / 3063 / 3169 / 2641 / 1984</a:t>
                      </a:r>
                      <a:endParaRPr lang="en-US" sz="11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B2B31"/>
                          </a:solidFill>
                        </a:rPr>
                        <a:t>non-monotone — does not track stage</a:t>
                      </a:r>
                      <a:endParaRPr lang="en-US" sz="11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tr>
              <a:tr h="384048">
                <a:tc>
                  <a:txBody>
                    <a:bodyPr/>
                    <a:lstStyle/>
                    <a:p>
                      <a:pPr algn="l" indent="0" marL="0">
                        <a:buNone/>
                      </a:pPr>
                      <a:r>
                        <a:rPr lang="en-US" sz="1100" dirty="0">
                          <a:solidFill>
                            <a:srgbClr val="1B2B31"/>
                          </a:solidFill>
                        </a:rPr>
                        <a:t>Depth-match discard</a:t>
                      </a:r>
                      <a:endParaRPr lang="en-US" sz="11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B2B31"/>
                          </a:solidFill>
                        </a:rPr>
                        <a:t>3.5–7.8 % dropped below B, uniformly lower-detection</a:t>
                      </a:r>
                      <a:endParaRPr lang="en-US" sz="11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B2B31"/>
                          </a:solidFill>
                        </a:rPr>
                        <a:t>depth-driven, not PC-biased</a:t>
                      </a:r>
                      <a:endParaRPr lang="en-US" sz="11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tr>
              <a:tr h="384048">
                <a:tc>
                  <a:txBody>
                    <a:bodyPr/>
                    <a:lstStyle/>
                    <a:p>
                      <a:pPr algn="l" indent="0" marL="0">
                        <a:buNone/>
                      </a:pPr>
                      <a:r>
                        <a:rPr lang="en-US" sz="1100" dirty="0">
                          <a:solidFill>
                            <a:srgbClr val="1B2B31"/>
                          </a:solidFill>
                        </a:rPr>
                        <a:t>Clinical covariates</a:t>
                      </a:r>
                      <a:endParaRPr lang="en-US" sz="11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B2B31"/>
                          </a:solidFill>
                        </a:rPr>
                        <a:t>partial corr( detox , F | Age ) = −0.32; Age–F = +0.43</a:t>
                      </a:r>
                      <a:endParaRPr lang="en-US" sz="11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B2B31"/>
                          </a:solidFill>
                        </a:rPr>
                        <a:t>demographics do not explain trends</a:t>
                      </a:r>
                      <a:endParaRPr lang="en-US" sz="11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7F5F1"/>
        </a:solidFill>
      </p:bgPr>
    </p:bg>
    <p:spTree>
      <p:nvGrpSpPr>
        <p:cNvPr id="1" name=""/>
        <p:cNvGrpSpPr/>
        <p:nvPr/>
      </p:nvGrpSpPr>
      <p:grpSpPr>
        <a:xfrm>
          <a:off x="0" y="0"/>
          <a:ext cx="0" cy="0"/>
          <a:chOff x="0" y="0"/>
          <a:chExt cx="0" cy="0"/>
        </a:xfrm>
      </p:grpSpPr>
      <p:sp>
        <p:nvSpPr>
          <p:cNvPr id="2" name="Shape 0"/>
          <p:cNvSpPr/>
          <p:nvPr/>
        </p:nvSpPr>
        <p:spPr>
          <a:xfrm>
            <a:off x="457200" y="310896"/>
            <a:ext cx="146304" cy="237744"/>
          </a:xfrm>
          <a:prstGeom prst="rect">
            <a:avLst/>
          </a:prstGeom>
          <a:solidFill>
            <a:srgbClr val="C0561B"/>
          </a:solidFill>
          <a:ln/>
        </p:spPr>
      </p:sp>
      <p:sp>
        <p:nvSpPr>
          <p:cNvPr id="3" name="Text 1"/>
          <p:cNvSpPr/>
          <p:nvPr/>
        </p:nvSpPr>
        <p:spPr>
          <a:xfrm>
            <a:off x="676656" y="274320"/>
            <a:ext cx="10972800" cy="320040"/>
          </a:xfrm>
          <a:prstGeom prst="rect">
            <a:avLst/>
          </a:prstGeom>
          <a:noFill/>
          <a:ln/>
        </p:spPr>
        <p:txBody>
          <a:bodyPr wrap="square" rtlCol="0" anchor="ctr"/>
          <a:lstStyle/>
          <a:p>
            <a:pPr indent="0" marL="0">
              <a:buNone/>
            </a:pPr>
            <a:r>
              <a:rPr lang="en-US" sz="1300" b="1" spc="300" kern="0" dirty="0">
                <a:solidFill>
                  <a:srgbClr val="C0561B"/>
                </a:solidFill>
              </a:rPr>
              <a:t>BACKUP  ·  METHODS</a:t>
            </a:r>
            <a:endParaRPr lang="en-US" sz="1300" dirty="0"/>
          </a:p>
        </p:txBody>
      </p:sp>
      <p:sp>
        <p:nvSpPr>
          <p:cNvPr id="4" name="Text 2"/>
          <p:cNvSpPr/>
          <p:nvPr/>
        </p:nvSpPr>
        <p:spPr>
          <a:xfrm>
            <a:off x="438912" y="585216"/>
            <a:ext cx="11338560" cy="731520"/>
          </a:xfrm>
          <a:prstGeom prst="rect">
            <a:avLst/>
          </a:prstGeom>
          <a:noFill/>
          <a:ln/>
        </p:spPr>
        <p:txBody>
          <a:bodyPr wrap="square" rtlCol="0" anchor="ctr"/>
          <a:lstStyle/>
          <a:p>
            <a:pPr algn="l" indent="0" marL="0">
              <a:buNone/>
            </a:pPr>
            <a:r>
              <a:rPr lang="en-US" sz="2600" b="1" dirty="0">
                <a:solidFill>
                  <a:srgbClr val="123F47"/>
                </a:solidFill>
                <a:latin typeface="Georgia" pitchFamily="34" charset="0"/>
                <a:ea typeface="Georgia" pitchFamily="34" charset="-122"/>
                <a:cs typeface="Georgia" pitchFamily="34" charset="-120"/>
              </a:rPr>
              <a:t>Why raw counts, why pseudobulk</a:t>
            </a:r>
            <a:endParaRPr lang="en-US" sz="2600" dirty="0"/>
          </a:p>
        </p:txBody>
      </p:sp>
      <p:sp>
        <p:nvSpPr>
          <p:cNvPr id="5" name="Text 3"/>
          <p:cNvSpPr/>
          <p:nvPr/>
        </p:nvSpPr>
        <p:spPr>
          <a:xfrm>
            <a:off x="731520" y="1463040"/>
            <a:ext cx="10607040" cy="4572000"/>
          </a:xfrm>
          <a:prstGeom prst="rect">
            <a:avLst/>
          </a:prstGeom>
          <a:noFill/>
          <a:ln/>
        </p:spPr>
        <p:txBody>
          <a:bodyPr wrap="square" rtlCol="0" anchor="t"/>
          <a:lstStyle/>
          <a:p>
            <a:pPr algn="l" marL="342900" indent="-342900">
              <a:spcAft>
                <a:spcPts val="900"/>
              </a:spcAft>
              <a:buSzPct val="100000"/>
              <a:buChar char="•"/>
            </a:pPr>
            <a:r>
              <a:rPr lang="en-US" sz="2000" dirty="0">
                <a:solidFill>
                  <a:srgbClr val="1B2B31"/>
                </a:solidFill>
              </a:rPr>
              <a:t>Raw counts: marker co-detection + ambient sensitivity need molecules, not SCT residuals.</a:t>
            </a:r>
            <a:endParaRPr lang="en-US" sz="2000" dirty="0"/>
          </a:p>
          <a:p>
            <a:pPr algn="l" marL="342900" indent="-342900">
              <a:spcAft>
                <a:spcPts val="900"/>
              </a:spcAft>
              <a:buSzPct val="100000"/>
              <a:buChar char="•"/>
            </a:pPr>
            <a:r>
              <a:rPr lang="en-US" sz="2000" dirty="0">
                <a:solidFill>
                  <a:srgbClr val="1B2B31"/>
                </a:solidFill>
              </a:rPr>
              <a:t>Pseudobulk: cells from one donor are not independent — sum per donor, then edgeR (Squair 2021).</a:t>
            </a:r>
            <a:endParaRPr lang="en-US" sz="2000" dirty="0"/>
          </a:p>
          <a:p>
            <a:pPr algn="l" marL="342900" indent="-342900">
              <a:spcAft>
                <a:spcPts val="900"/>
              </a:spcAft>
              <a:buSzPct val="100000"/>
              <a:buChar char="•"/>
            </a:pPr>
            <a:r>
              <a:rPr lang="en-US" sz="2000" dirty="0">
                <a:solidFill>
                  <a:srgbClr val="1B2B31"/>
                </a:solidFill>
              </a:rPr>
              <a:t>edgeR: filterByExpr → 21,022 genes; TMM; NB quasi-likelihood GLM, robust dispersion; common BCV 0.405.</a:t>
            </a:r>
            <a:endParaRPr lang="en-US" sz="2000" dirty="0"/>
          </a:p>
          <a:p>
            <a:pPr algn="l" marL="342900" indent="-342900">
              <a:spcAft>
                <a:spcPts val="900"/>
              </a:spcAft>
              <a:buSzPct val="100000"/>
              <a:buChar char="•"/>
            </a:pPr>
            <a:r>
              <a:rPr lang="en-US" sz="2000" dirty="0">
                <a:solidFill>
                  <a:srgbClr val="1B2B31"/>
                </a:solidFill>
              </a:rPr>
              <a:t>Primary signal persists in DIRECTION with a run covariate and within a single run; significance attenuates with n (not a batch artifact).</a:t>
            </a:r>
            <a:endParaRPr lang="en-US" sz="20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7F5F1"/>
        </a:solidFill>
      </p:bgPr>
    </p:bg>
    <p:spTree>
      <p:nvGrpSpPr>
        <p:cNvPr id="1" name=""/>
        <p:cNvGrpSpPr/>
        <p:nvPr/>
      </p:nvGrpSpPr>
      <p:grpSpPr>
        <a:xfrm>
          <a:off x="0" y="0"/>
          <a:ext cx="0" cy="0"/>
          <a:chOff x="0" y="0"/>
          <a:chExt cx="0" cy="0"/>
        </a:xfrm>
      </p:grpSpPr>
      <p:sp>
        <p:nvSpPr>
          <p:cNvPr id="2" name="Shape 0"/>
          <p:cNvSpPr/>
          <p:nvPr/>
        </p:nvSpPr>
        <p:spPr>
          <a:xfrm>
            <a:off x="457200" y="310896"/>
            <a:ext cx="146304" cy="237744"/>
          </a:xfrm>
          <a:prstGeom prst="rect">
            <a:avLst/>
          </a:prstGeom>
          <a:solidFill>
            <a:srgbClr val="C0561B"/>
          </a:solidFill>
          <a:ln/>
        </p:spPr>
      </p:sp>
      <p:sp>
        <p:nvSpPr>
          <p:cNvPr id="3" name="Text 1"/>
          <p:cNvSpPr/>
          <p:nvPr/>
        </p:nvSpPr>
        <p:spPr>
          <a:xfrm>
            <a:off x="676656" y="274320"/>
            <a:ext cx="10972800" cy="320040"/>
          </a:xfrm>
          <a:prstGeom prst="rect">
            <a:avLst/>
          </a:prstGeom>
          <a:noFill/>
          <a:ln/>
        </p:spPr>
        <p:txBody>
          <a:bodyPr wrap="square" rtlCol="0" anchor="ctr"/>
          <a:lstStyle/>
          <a:p>
            <a:pPr indent="0" marL="0">
              <a:buNone/>
            </a:pPr>
            <a:r>
              <a:rPr lang="en-US" sz="1300" b="1" spc="300" kern="0" dirty="0">
                <a:solidFill>
                  <a:srgbClr val="C0561B"/>
                </a:solidFill>
              </a:rPr>
              <a:t>BACKUP  ·  AMBIENT</a:t>
            </a:r>
            <a:endParaRPr lang="en-US" sz="1300" dirty="0"/>
          </a:p>
        </p:txBody>
      </p:sp>
      <p:sp>
        <p:nvSpPr>
          <p:cNvPr id="4" name="Text 2"/>
          <p:cNvSpPr/>
          <p:nvPr/>
        </p:nvSpPr>
        <p:spPr>
          <a:xfrm>
            <a:off x="438912" y="585216"/>
            <a:ext cx="11338560" cy="731520"/>
          </a:xfrm>
          <a:prstGeom prst="rect">
            <a:avLst/>
          </a:prstGeom>
          <a:noFill/>
          <a:ln/>
        </p:spPr>
        <p:txBody>
          <a:bodyPr wrap="square" rtlCol="0" anchor="ctr"/>
          <a:lstStyle/>
          <a:p>
            <a:pPr algn="l" indent="0" marL="0">
              <a:buNone/>
            </a:pPr>
            <a:r>
              <a:rPr lang="en-US" sz="2600" b="1" dirty="0">
                <a:solidFill>
                  <a:srgbClr val="123F47"/>
                </a:solidFill>
                <a:latin typeface="Georgia" pitchFamily="34" charset="0"/>
                <a:ea typeface="Georgia" pitchFamily="34" charset="-122"/>
                <a:cs typeface="Georgia" pitchFamily="34" charset="-120"/>
              </a:rPr>
              <a:t>Does decontX prove contamination? No</a:t>
            </a:r>
            <a:endParaRPr lang="en-US" sz="2600" dirty="0"/>
          </a:p>
        </p:txBody>
      </p:sp>
      <p:sp>
        <p:nvSpPr>
          <p:cNvPr id="5" name="Text 3"/>
          <p:cNvSpPr/>
          <p:nvPr/>
        </p:nvSpPr>
        <p:spPr>
          <a:xfrm>
            <a:off x="731520" y="1463040"/>
            <a:ext cx="10607040" cy="4572000"/>
          </a:xfrm>
          <a:prstGeom prst="rect">
            <a:avLst/>
          </a:prstGeom>
          <a:noFill/>
          <a:ln/>
        </p:spPr>
        <p:txBody>
          <a:bodyPr wrap="square" rtlCol="0" anchor="t"/>
          <a:lstStyle/>
          <a:p>
            <a:pPr algn="l" marL="342900" indent="-342900">
              <a:spcAft>
                <a:spcPts val="900"/>
              </a:spcAft>
              <a:buSzPct val="100000"/>
              <a:buChar char="•"/>
            </a:pPr>
            <a:r>
              <a:rPr lang="en-US" sz="2000" dirty="0">
                <a:solidFill>
                  <a:srgbClr val="1B2B31"/>
                </a:solidFill>
              </a:rPr>
              <a:t>decontX models a native + ambient RNA mixture and subtracts the estimate.</a:t>
            </a:r>
            <a:endParaRPr lang="en-US" sz="2000" dirty="0"/>
          </a:p>
          <a:p>
            <a:pPr algn="l" marL="342900" indent="-342900">
              <a:spcAft>
                <a:spcPts val="900"/>
              </a:spcAft>
              <a:buSzPct val="100000"/>
              <a:buChar char="•"/>
            </a:pPr>
            <a:r>
              <a:rPr lang="en-US" sz="2000" dirty="0">
                <a:solidFill>
                  <a:srgbClr val="1B2B31"/>
                </a:solidFill>
              </a:rPr>
              <a:t>Hits 64 → 34; SOX4/SOX9 drop below significance → supports an ambient contribution.</a:t>
            </a:r>
            <a:endParaRPr lang="en-US" sz="2000" dirty="0"/>
          </a:p>
          <a:p>
            <a:pPr algn="l" marL="342900" indent="-342900">
              <a:spcAft>
                <a:spcPts val="900"/>
              </a:spcAft>
              <a:buSzPct val="100000"/>
              <a:buChar char="•"/>
            </a:pPr>
            <a:r>
              <a:rPr lang="en-US" sz="2000" dirty="0">
                <a:solidFill>
                  <a:srgbClr val="1B2B31"/>
                </a:solidFill>
              </a:rPr>
              <a:t>But it can remove true hybrid signal OR leave residual contamination.</a:t>
            </a:r>
            <a:endParaRPr lang="en-US" sz="2000" dirty="0"/>
          </a:p>
          <a:p>
            <a:pPr algn="l" marL="342900" indent="-342900">
              <a:spcAft>
                <a:spcPts val="900"/>
              </a:spcAft>
              <a:buSzPct val="100000"/>
              <a:buChar char="•"/>
            </a:pPr>
            <a:r>
              <a:rPr lang="en-US" sz="2000" dirty="0">
                <a:solidFill>
                  <a:srgbClr val="1B2B31"/>
                </a:solidFill>
              </a:rPr>
              <a:t>Source attribution is a lead, not a closed verdict; CXCL10 is a separate candidate inflammatory signal.</a:t>
            </a:r>
            <a:endParaRPr lang="en-US" sz="20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7F5F1"/>
        </a:solidFill>
      </p:bgPr>
    </p:bg>
    <p:spTree>
      <p:nvGrpSpPr>
        <p:cNvPr id="1" name=""/>
        <p:cNvGrpSpPr/>
        <p:nvPr/>
      </p:nvGrpSpPr>
      <p:grpSpPr>
        <a:xfrm>
          <a:off x="0" y="0"/>
          <a:ext cx="0" cy="0"/>
          <a:chOff x="0" y="0"/>
          <a:chExt cx="0" cy="0"/>
        </a:xfrm>
      </p:grpSpPr>
      <p:sp>
        <p:nvSpPr>
          <p:cNvPr id="2" name="Shape 0"/>
          <p:cNvSpPr/>
          <p:nvPr/>
        </p:nvSpPr>
        <p:spPr>
          <a:xfrm>
            <a:off x="457200" y="310896"/>
            <a:ext cx="146304" cy="237744"/>
          </a:xfrm>
          <a:prstGeom prst="rect">
            <a:avLst/>
          </a:prstGeom>
          <a:solidFill>
            <a:srgbClr val="C0561B"/>
          </a:solidFill>
          <a:ln/>
        </p:spPr>
      </p:sp>
      <p:sp>
        <p:nvSpPr>
          <p:cNvPr id="3" name="Text 1"/>
          <p:cNvSpPr/>
          <p:nvPr/>
        </p:nvSpPr>
        <p:spPr>
          <a:xfrm>
            <a:off x="676656" y="274320"/>
            <a:ext cx="10972800" cy="320040"/>
          </a:xfrm>
          <a:prstGeom prst="rect">
            <a:avLst/>
          </a:prstGeom>
          <a:noFill/>
          <a:ln/>
        </p:spPr>
        <p:txBody>
          <a:bodyPr wrap="square" rtlCol="0" anchor="ctr"/>
          <a:lstStyle/>
          <a:p>
            <a:pPr indent="0" marL="0">
              <a:buNone/>
            </a:pPr>
            <a:r>
              <a:rPr lang="en-US" sz="1300" b="1" spc="300" kern="0" dirty="0">
                <a:solidFill>
                  <a:srgbClr val="C0561B"/>
                </a:solidFill>
              </a:rPr>
              <a:t>BACKUP  ·  GENE-SET RESULT</a:t>
            </a:r>
            <a:endParaRPr lang="en-US" sz="1300" dirty="0"/>
          </a:p>
        </p:txBody>
      </p:sp>
      <p:sp>
        <p:nvSpPr>
          <p:cNvPr id="4" name="Text 2"/>
          <p:cNvSpPr/>
          <p:nvPr/>
        </p:nvSpPr>
        <p:spPr>
          <a:xfrm>
            <a:off x="438912" y="585216"/>
            <a:ext cx="11338560" cy="731520"/>
          </a:xfrm>
          <a:prstGeom prst="rect">
            <a:avLst/>
          </a:prstGeom>
          <a:noFill/>
          <a:ln/>
        </p:spPr>
        <p:txBody>
          <a:bodyPr wrap="square" rtlCol="0" anchor="ctr"/>
          <a:lstStyle/>
          <a:p>
            <a:pPr algn="l" indent="0" marL="0">
              <a:buNone/>
            </a:pPr>
            <a:r>
              <a:rPr lang="en-US" sz="2600" b="1" dirty="0">
                <a:solidFill>
                  <a:srgbClr val="123F47"/>
                </a:solidFill>
                <a:latin typeface="Georgia" pitchFamily="34" charset="0"/>
                <a:ea typeface="Georgia" pitchFamily="34" charset="-122"/>
                <a:cs typeface="Georgia" pitchFamily="34" charset="-120"/>
              </a:rPr>
              <a:t>Ten pre-specified sets — the detox program goes down</a:t>
            </a:r>
            <a:endParaRPr lang="en-US" sz="2600" dirty="0"/>
          </a:p>
        </p:txBody>
      </p:sp>
      <p:graphicFrame>
        <p:nvGraphicFramePr>
          <p:cNvPr id="27"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155680" cy="914400"/>
        </p:xfrm>
        <a:graphic>
          <a:graphicData uri="http://schemas.openxmlformats.org/drawingml/2006/table">
            <a:tbl>
              <a:tblPr/>
              <a:tblGrid>
                <a:gridCol w="2468880"/>
                <a:gridCol w="3931920"/>
                <a:gridCol w="640080"/>
                <a:gridCol w="731520"/>
                <a:gridCol w="3383280"/>
              </a:tblGrid>
              <a:tr h="365760">
                <a:tc>
                  <a:txBody>
                    <a:bodyPr/>
                    <a:lstStyle/>
                    <a:p>
                      <a:pPr algn="l" indent="0" marL="0">
                        <a:buNone/>
                      </a:pPr>
                      <a:r>
                        <a:rPr lang="en-US" sz="1200" b="1" dirty="0">
                          <a:solidFill>
                            <a:srgbClr val="1B2B31"/>
                          </a:solidFill>
                        </a:rPr>
                        <a:t>Gene set</a:t>
                      </a:r>
                      <a:endParaRPr lang="en-US" sz="12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1B2B31"/>
                          </a:solidFill>
                        </a:rPr>
                        <a:t>Zone / program (identity)</a:t>
                      </a:r>
                      <a:endParaRPr lang="en-US" sz="12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1B2B31"/>
                          </a:solidFill>
                        </a:rPr>
                        <a:t>n</a:t>
                      </a:r>
                      <a:endParaRPr lang="en-US" sz="12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1B2B31"/>
                          </a:solidFill>
                        </a:rPr>
                        <a:t>Dir</a:t>
                      </a:r>
                      <a:endParaRPr lang="en-US" sz="12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1B2B31"/>
                          </a:solidFill>
                        </a:rPr>
                        <a:t>camera FDR</a:t>
                      </a:r>
                      <a:endParaRPr lang="en-US" sz="12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tr>
              <a:tr h="365760">
                <a:tc>
                  <a:txBody>
                    <a:bodyPr/>
                    <a:lstStyle/>
                    <a:p>
                      <a:pPr algn="l" indent="0" marL="0">
                        <a:buNone/>
                      </a:pPr>
                      <a:r>
                        <a:rPr lang="en-US" sz="1200" dirty="0">
                          <a:solidFill>
                            <a:srgbClr val="1B2B31"/>
                          </a:solidFill>
                        </a:rPr>
                        <a:t>xenobiotic_CYP</a:t>
                      </a:r>
                      <a:endParaRPr lang="en-US" sz="12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B2B31"/>
                          </a:solidFill>
                        </a:rPr>
                        <a:t>PC detox — phase-I (CYP)</a:t>
                      </a:r>
                      <a:endParaRPr lang="en-US" sz="12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B2B31"/>
                          </a:solidFill>
                        </a:rPr>
                        <a:t>13</a:t>
                      </a:r>
                      <a:endParaRPr lang="en-US" sz="12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B2B31"/>
                          </a:solidFill>
                        </a:rPr>
                        <a:t>↓</a:t>
                      </a:r>
                      <a:endParaRPr lang="en-US" sz="12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B2B31"/>
                          </a:solidFill>
                        </a:rPr>
                        <a:t>2×10⁻⁶</a:t>
                      </a:r>
                      <a:endParaRPr lang="en-US" sz="12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tr>
              <a:tr h="365760">
                <a:tc>
                  <a:txBody>
                    <a:bodyPr/>
                    <a:lstStyle/>
                    <a:p>
                      <a:pPr algn="l" indent="0" marL="0">
                        <a:buNone/>
                      </a:pPr>
                      <a:r>
                        <a:rPr lang="en-US" sz="1200" dirty="0">
                          <a:solidFill>
                            <a:srgbClr val="1B2B31"/>
                          </a:solidFill>
                        </a:rPr>
                        <a:t>detox_phase2</a:t>
                      </a:r>
                      <a:endParaRPr lang="en-US" sz="12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B2B31"/>
                          </a:solidFill>
                        </a:rPr>
                        <a:t>PC detox — phase-II (UGT/GST/SULT)</a:t>
                      </a:r>
                      <a:endParaRPr lang="en-US" sz="12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B2B31"/>
                          </a:solidFill>
                        </a:rPr>
                        <a:t>16</a:t>
                      </a:r>
                      <a:endParaRPr lang="en-US" sz="12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B2B31"/>
                          </a:solidFill>
                        </a:rPr>
                        <a:t>↓</a:t>
                      </a:r>
                      <a:endParaRPr lang="en-US" sz="12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B2B31"/>
                          </a:solidFill>
                        </a:rPr>
                        <a:t>7×10⁻³</a:t>
                      </a:r>
                      <a:endParaRPr lang="en-US" sz="12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tr>
              <a:tr h="365760">
                <a:tc>
                  <a:txBody>
                    <a:bodyPr/>
                    <a:lstStyle/>
                    <a:p>
                      <a:pPr algn="l" indent="0" marL="0">
                        <a:buNone/>
                      </a:pPr>
                      <a:r>
                        <a:rPr lang="en-US" sz="1200" dirty="0">
                          <a:solidFill>
                            <a:srgbClr val="1B2B31"/>
                          </a:solidFill>
                        </a:rPr>
                        <a:t>pericentral_anchors</a:t>
                      </a:r>
                      <a:endParaRPr lang="en-US" sz="12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B2B31"/>
                          </a:solidFill>
                        </a:rPr>
                        <a:t>PC identity (Paper 2 landmarks)</a:t>
                      </a:r>
                      <a:endParaRPr lang="en-US" sz="12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B2B31"/>
                          </a:solidFill>
                        </a:rPr>
                        <a:t>20</a:t>
                      </a:r>
                      <a:endParaRPr lang="en-US" sz="12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B2B31"/>
                          </a:solidFill>
                        </a:rPr>
                        <a:t>↓</a:t>
                      </a:r>
                      <a:endParaRPr lang="en-US" sz="12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B2B31"/>
                          </a:solidFill>
                        </a:rPr>
                        <a:t>1.5×10⁻⁴</a:t>
                      </a:r>
                      <a:endParaRPr lang="en-US" sz="12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tr>
              <a:tr h="365760">
                <a:tc>
                  <a:txBody>
                    <a:bodyPr/>
                    <a:lstStyle/>
                    <a:p>
                      <a:pPr algn="l" indent="0" marL="0">
                        <a:buNone/>
                      </a:pPr>
                      <a:r>
                        <a:rPr lang="en-US" sz="1200" dirty="0">
                          <a:solidFill>
                            <a:srgbClr val="1B2B31"/>
                          </a:solidFill>
                        </a:rPr>
                        <a:t>periportal_anchors</a:t>
                      </a:r>
                      <a:endParaRPr lang="en-US" sz="12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B2B31"/>
                          </a:solidFill>
                        </a:rPr>
                        <a:t>PP identity (Paper 2 landmarks)</a:t>
                      </a:r>
                      <a:endParaRPr lang="en-US" sz="12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B2B31"/>
                          </a:solidFill>
                        </a:rPr>
                        <a:t>20</a:t>
                      </a:r>
                      <a:endParaRPr lang="en-US" sz="12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B2B31"/>
                          </a:solidFill>
                        </a:rPr>
                        <a:t>↑</a:t>
                      </a:r>
                      <a:endParaRPr lang="en-US" sz="12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B2B31"/>
                          </a:solidFill>
                        </a:rPr>
                        <a:t>1.5×10⁻²</a:t>
                      </a:r>
                      <a:endParaRPr lang="en-US" sz="12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tr>
              <a:tr h="365760">
                <a:tc>
                  <a:txBody>
                    <a:bodyPr/>
                    <a:lstStyle/>
                    <a:p>
                      <a:pPr algn="l" indent="0" marL="0">
                        <a:buNone/>
                      </a:pPr>
                      <a:r>
                        <a:rPr lang="en-US" sz="1200" dirty="0">
                          <a:solidFill>
                            <a:srgbClr val="1B2B31"/>
                          </a:solidFill>
                        </a:rPr>
                        <a:t>urea_cycle</a:t>
                      </a:r>
                      <a:endParaRPr lang="en-US" sz="12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B2B31"/>
                          </a:solidFill>
                        </a:rPr>
                        <a:t>PP program (nitrogen)</a:t>
                      </a:r>
                      <a:endParaRPr lang="en-US" sz="12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B2B31"/>
                          </a:solidFill>
                        </a:rPr>
                        <a:t>9</a:t>
                      </a:r>
                      <a:endParaRPr lang="en-US" sz="12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B2B31"/>
                          </a:solidFill>
                        </a:rPr>
                        <a:t>↓</a:t>
                      </a:r>
                      <a:endParaRPr lang="en-US" sz="12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B2B31"/>
                          </a:solidFill>
                        </a:rPr>
                        <a:t>0.12  (ns)</a:t>
                      </a:r>
                      <a:endParaRPr lang="en-US" sz="12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tr>
              <a:tr h="365760">
                <a:tc>
                  <a:txBody>
                    <a:bodyPr/>
                    <a:lstStyle/>
                    <a:p>
                      <a:pPr algn="l" indent="0" marL="0">
                        <a:buNone/>
                      </a:pPr>
                      <a:r>
                        <a:rPr lang="en-US" sz="1200" dirty="0">
                          <a:solidFill>
                            <a:srgbClr val="1B2B31"/>
                          </a:solidFill>
                        </a:rPr>
                        <a:t>bile_acid_lipid</a:t>
                      </a:r>
                      <a:endParaRPr lang="en-US" sz="12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B2B31"/>
                          </a:solidFill>
                        </a:rPr>
                        <a:t>mixed metabolism</a:t>
                      </a:r>
                      <a:endParaRPr lang="en-US" sz="12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B2B31"/>
                          </a:solidFill>
                        </a:rPr>
                        <a:t>20</a:t>
                      </a:r>
                      <a:endParaRPr lang="en-US" sz="12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B2B31"/>
                          </a:solidFill>
                        </a:rPr>
                        <a:t>–</a:t>
                      </a:r>
                      <a:endParaRPr lang="en-US" sz="12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B2B31"/>
                          </a:solidFill>
                        </a:rPr>
                        <a:t>0.72  (ns)</a:t>
                      </a:r>
                      <a:endParaRPr lang="en-US" sz="12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tr>
              <a:tr h="365760">
                <a:tc>
                  <a:txBody>
                    <a:bodyPr/>
                    <a:lstStyle/>
                    <a:p>
                      <a:pPr algn="l" indent="0" marL="0">
                        <a:buNone/>
                      </a:pPr>
                      <a:r>
                        <a:rPr lang="en-US" sz="1200" dirty="0">
                          <a:solidFill>
                            <a:srgbClr val="1B2B31"/>
                          </a:solidFill>
                        </a:rPr>
                        <a:t>cholangiocyte_ductular</a:t>
                      </a:r>
                      <a:endParaRPr lang="en-US" sz="12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B2B31"/>
                          </a:solidFill>
                        </a:rPr>
                        <a:t>biliary / bile-duct markers</a:t>
                      </a:r>
                      <a:endParaRPr lang="en-US" sz="12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B2B31"/>
                          </a:solidFill>
                        </a:rPr>
                        <a:t>10</a:t>
                      </a:r>
                      <a:endParaRPr lang="en-US" sz="12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B2B31"/>
                          </a:solidFill>
                        </a:rPr>
                        <a:t>↑</a:t>
                      </a:r>
                      <a:endParaRPr lang="en-US" sz="12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B2B31"/>
                          </a:solidFill>
                        </a:rPr>
                        <a:t>1.9×10⁻⁵</a:t>
                      </a:r>
                      <a:endParaRPr lang="en-US" sz="12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tr>
              <a:tr h="365760">
                <a:tc>
                  <a:txBody>
                    <a:bodyPr/>
                    <a:lstStyle/>
                    <a:p>
                      <a:pPr algn="l" indent="0" marL="0">
                        <a:buNone/>
                      </a:pPr>
                      <a:r>
                        <a:rPr lang="en-US" sz="1200" dirty="0">
                          <a:solidFill>
                            <a:srgbClr val="1B2B31"/>
                          </a:solidFill>
                        </a:rPr>
                        <a:t>CTRL_interferon</a:t>
                      </a:r>
                      <a:endParaRPr lang="en-US" sz="12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B2B31"/>
                          </a:solidFill>
                        </a:rPr>
                        <a:t>inflammation  (+control)</a:t>
                      </a:r>
                      <a:endParaRPr lang="en-US" sz="12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B2B31"/>
                          </a:solidFill>
                        </a:rPr>
                        <a:t>20</a:t>
                      </a:r>
                      <a:endParaRPr lang="en-US" sz="12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B2B31"/>
                          </a:solidFill>
                        </a:rPr>
                        <a:t>↑</a:t>
                      </a:r>
                      <a:endParaRPr lang="en-US" sz="12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B2B31"/>
                          </a:solidFill>
                        </a:rPr>
                        <a:t>1.5×10⁻³</a:t>
                      </a:r>
                      <a:endParaRPr lang="en-US" sz="12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tr>
              <a:tr h="365760">
                <a:tc>
                  <a:txBody>
                    <a:bodyPr/>
                    <a:lstStyle/>
                    <a:p>
                      <a:pPr algn="l" indent="0" marL="0">
                        <a:buNone/>
                      </a:pPr>
                      <a:r>
                        <a:rPr lang="en-US" sz="1200" dirty="0">
                          <a:solidFill>
                            <a:srgbClr val="1B2B31"/>
                          </a:solidFill>
                        </a:rPr>
                        <a:t>CTRL_EMT</a:t>
                      </a:r>
                      <a:endParaRPr lang="en-US" sz="12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B2B31"/>
                          </a:solidFill>
                        </a:rPr>
                        <a:t>fibrogenesis / scar  (+control)</a:t>
                      </a:r>
                      <a:endParaRPr lang="en-US" sz="12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B2B31"/>
                          </a:solidFill>
                        </a:rPr>
                        <a:t>20</a:t>
                      </a:r>
                      <a:endParaRPr lang="en-US" sz="12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B2B31"/>
                          </a:solidFill>
                        </a:rPr>
                        <a:t>↑</a:t>
                      </a:r>
                      <a:endParaRPr lang="en-US" sz="12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B2B31"/>
                          </a:solidFill>
                        </a:rPr>
                        <a:t>9×10⁻⁶</a:t>
                      </a:r>
                      <a:endParaRPr lang="en-US" sz="12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tr>
              <a:tr h="365760">
                <a:tc>
                  <a:txBody>
                    <a:bodyPr/>
                    <a:lstStyle/>
                    <a:p>
                      <a:pPr algn="l" indent="0" marL="0">
                        <a:buNone/>
                      </a:pPr>
                      <a:r>
                        <a:rPr lang="en-US" sz="1200" dirty="0">
                          <a:solidFill>
                            <a:srgbClr val="1B2B31"/>
                          </a:solidFill>
                        </a:rPr>
                        <a:t>CTRL_ER_stress</a:t>
                      </a:r>
                      <a:endParaRPr lang="en-US" sz="12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B2B31"/>
                          </a:solidFill>
                        </a:rPr>
                        <a:t>unfolded-protein resp.  (−control)</a:t>
                      </a:r>
                      <a:endParaRPr lang="en-US" sz="12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B2B31"/>
                          </a:solidFill>
                        </a:rPr>
                        <a:t>20</a:t>
                      </a:r>
                      <a:endParaRPr lang="en-US" sz="12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B2B31"/>
                          </a:solidFill>
                        </a:rPr>
                        <a:t>–</a:t>
                      </a:r>
                      <a:endParaRPr lang="en-US" sz="12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B2B31"/>
                          </a:solidFill>
                        </a:rPr>
                        <a:t>0.72  (ns)</a:t>
                      </a:r>
                      <a:endParaRPr lang="en-US" sz="12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tr>
            </a:tbl>
          </a:graphicData>
        </a:graphic>
      </p:graphicFrame>
      <p:sp>
        <p:nvSpPr>
          <p:cNvPr id="6" name="Text 3"/>
          <p:cNvSpPr/>
          <p:nvPr/>
        </p:nvSpPr>
        <p:spPr>
          <a:xfrm>
            <a:off x="548640" y="5440680"/>
            <a:ext cx="11247120" cy="1005840"/>
          </a:xfrm>
          <a:prstGeom prst="rect">
            <a:avLst/>
          </a:prstGeom>
          <a:noFill/>
          <a:ln/>
        </p:spPr>
        <p:txBody>
          <a:bodyPr wrap="square" rtlCol="0" anchor="ctr"/>
          <a:lstStyle/>
          <a:p>
            <a:pPr algn="l" indent="0" marL="0">
              <a:buNone/>
            </a:pPr>
            <a:r>
              <a:rPr lang="en-US" sz="1150" i="1" dirty="0">
                <a:solidFill>
                  <a:srgbClr val="5C6E73"/>
                </a:solidFill>
              </a:rPr>
              <a:t>Donor-level, biopsy F0–F4, limma::camera (GSEA agrees). Pre-specified, no fishing: PC/PP identity = Paper 2’s own landmark genes; CYP / detox / urea / bile = KEGG·HGNC cores; biliary = plasticity.txt + markers; controls = MSigDB Hallmark cores. The validating controls behaved (fibrogenesis &amp; inflammation ↑, ER-stress flat) — proof the test detects real biology, not noise. The pericentral detox + identity programs fall; the see-saw (PP ↑) and biliary ↑ are why we adversarially controlled for composition (it survived).</a:t>
            </a:r>
            <a:endParaRPr lang="en-US" sz="11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7F5F1"/>
        </a:solidFill>
      </p:bgPr>
    </p:bg>
    <p:spTree>
      <p:nvGrpSpPr>
        <p:cNvPr id="1" name=""/>
        <p:cNvGrpSpPr/>
        <p:nvPr/>
      </p:nvGrpSpPr>
      <p:grpSpPr>
        <a:xfrm>
          <a:off x="0" y="0"/>
          <a:ext cx="0" cy="0"/>
          <a:chOff x="0" y="0"/>
          <a:chExt cx="0" cy="0"/>
        </a:xfrm>
      </p:grpSpPr>
      <p:sp>
        <p:nvSpPr>
          <p:cNvPr id="2" name="Shape 0"/>
          <p:cNvSpPr/>
          <p:nvPr/>
        </p:nvSpPr>
        <p:spPr>
          <a:xfrm>
            <a:off x="457200" y="310896"/>
            <a:ext cx="146304" cy="237744"/>
          </a:xfrm>
          <a:prstGeom prst="rect">
            <a:avLst/>
          </a:prstGeom>
          <a:solidFill>
            <a:srgbClr val="C0561B"/>
          </a:solidFill>
          <a:ln/>
        </p:spPr>
      </p:sp>
      <p:sp>
        <p:nvSpPr>
          <p:cNvPr id="3" name="Text 1"/>
          <p:cNvSpPr/>
          <p:nvPr/>
        </p:nvSpPr>
        <p:spPr>
          <a:xfrm>
            <a:off x="676656" y="274320"/>
            <a:ext cx="10972800" cy="320040"/>
          </a:xfrm>
          <a:prstGeom prst="rect">
            <a:avLst/>
          </a:prstGeom>
          <a:noFill/>
          <a:ln/>
        </p:spPr>
        <p:txBody>
          <a:bodyPr wrap="square" rtlCol="0" anchor="ctr"/>
          <a:lstStyle/>
          <a:p>
            <a:pPr indent="0" marL="0">
              <a:buNone/>
            </a:pPr>
            <a:r>
              <a:rPr lang="en-US" sz="1300" b="1" spc="300" kern="0" dirty="0">
                <a:solidFill>
                  <a:srgbClr val="C0561B"/>
                </a:solidFill>
              </a:rPr>
              <a:t>BACKUP  ·  METHODS GLOSSARY</a:t>
            </a:r>
            <a:endParaRPr lang="en-US" sz="1300" dirty="0"/>
          </a:p>
        </p:txBody>
      </p:sp>
      <p:sp>
        <p:nvSpPr>
          <p:cNvPr id="4" name="Text 2"/>
          <p:cNvSpPr/>
          <p:nvPr/>
        </p:nvSpPr>
        <p:spPr>
          <a:xfrm>
            <a:off x="438912" y="585216"/>
            <a:ext cx="11338560" cy="731520"/>
          </a:xfrm>
          <a:prstGeom prst="rect">
            <a:avLst/>
          </a:prstGeom>
          <a:noFill/>
          <a:ln/>
        </p:spPr>
        <p:txBody>
          <a:bodyPr wrap="square" rtlCol="0" anchor="ctr"/>
          <a:lstStyle/>
          <a:p>
            <a:pPr algn="l" indent="0" marL="0">
              <a:buNone/>
            </a:pPr>
            <a:r>
              <a:rPr lang="en-US" sz="2600" b="1" dirty="0">
                <a:solidFill>
                  <a:srgbClr val="123F47"/>
                </a:solidFill>
                <a:latin typeface="Georgia" pitchFamily="34" charset="0"/>
                <a:ea typeface="Georgia" pitchFamily="34" charset="-122"/>
                <a:cs typeface="Georgia" pitchFamily="34" charset="-120"/>
              </a:rPr>
              <a:t>Gene-set testing, in one breath each</a:t>
            </a:r>
            <a:endParaRPr lang="en-US" sz="2600" dirty="0"/>
          </a:p>
        </p:txBody>
      </p:sp>
      <p:sp>
        <p:nvSpPr>
          <p:cNvPr id="5" name="Text 3"/>
          <p:cNvSpPr/>
          <p:nvPr/>
        </p:nvSpPr>
        <p:spPr>
          <a:xfrm>
            <a:off x="731520" y="1554480"/>
            <a:ext cx="10881360" cy="4754880"/>
          </a:xfrm>
          <a:prstGeom prst="rect">
            <a:avLst/>
          </a:prstGeom>
          <a:noFill/>
          <a:ln/>
        </p:spPr>
        <p:txBody>
          <a:bodyPr wrap="square" rtlCol="0" anchor="t"/>
          <a:lstStyle/>
          <a:p>
            <a:pPr algn="l" indent="0" marL="0">
              <a:spcAft>
                <a:spcPts val="900"/>
              </a:spcAft>
              <a:buNone/>
            </a:pPr>
            <a:r>
              <a:rPr lang="en-US" sz="1600" b="1" dirty="0">
                <a:solidFill>
                  <a:srgbClr val="1B2B31"/>
                </a:solidFill>
              </a:rPr>
              <a:t>Pseudobulk  </a:t>
            </a:r>
            <a:pPr algn="l" indent="0" marL="0">
              <a:spcAft>
                <a:spcPts val="900"/>
              </a:spcAft>
              <a:buNone/>
            </a:pPr>
            <a:r>
              <a:rPr lang="en-US" sz="1600" dirty="0">
                <a:solidFill>
                  <a:srgbClr val="1B2B31"/>
                </a:solidFill>
              </a:rPr>
              <a:t>— sum each donor’s hepatocyte counts into one profile per donor (donor = unit of inference).
</a:t>
            </a:r>
            <a:endParaRPr lang="en-US" sz="1600" dirty="0"/>
          </a:p>
          <a:p>
            <a:pPr algn="l" indent="0" marL="0">
              <a:spcAft>
                <a:spcPts val="900"/>
              </a:spcAft>
              <a:buNone/>
            </a:pPr>
            <a:r>
              <a:rPr lang="en-US" sz="1600" b="1" dirty="0">
                <a:solidFill>
                  <a:srgbClr val="1B2B31"/>
                </a:solidFill>
              </a:rPr>
              <a:t>CPM  </a:t>
            </a:r>
            <a:pPr algn="l" indent="0" marL="0">
              <a:spcAft>
                <a:spcPts val="900"/>
              </a:spcAft>
              <a:buNone/>
            </a:pPr>
            <a:r>
              <a:rPr lang="en-US" sz="1600" dirty="0">
                <a:solidFill>
                  <a:srgbClr val="1B2B31"/>
                </a:solidFill>
              </a:rPr>
              <a:t>— each gene as a share of the donor’s total counts; simple, but compositional (a few surging genes shrink everyone else’s share).
</a:t>
            </a:r>
            <a:endParaRPr lang="en-US" sz="1600" dirty="0"/>
          </a:p>
          <a:p>
            <a:pPr algn="l" indent="0" marL="0">
              <a:spcAft>
                <a:spcPts val="900"/>
              </a:spcAft>
              <a:buNone/>
            </a:pPr>
            <a:r>
              <a:rPr lang="en-US" sz="1600" b="1" dirty="0">
                <a:solidFill>
                  <a:srgbClr val="0D9488"/>
                </a:solidFill>
              </a:rPr>
              <a:t>TMM  </a:t>
            </a:r>
            <a:pPr algn="l" indent="0" marL="0">
              <a:spcAft>
                <a:spcPts val="900"/>
              </a:spcAft>
              <a:buNone/>
            </a:pPr>
            <a:r>
              <a:rPr lang="en-US" sz="1600" dirty="0">
                <a:solidFill>
                  <a:srgbClr val="1B2B31"/>
                </a:solidFill>
              </a:rPr>
              <a:t>— the scaling factor is taken from the bulk of genes after trimming the extreme movers, so surging genes can’t set it → composition-robust.
</a:t>
            </a:r>
            <a:endParaRPr lang="en-US" sz="1600" dirty="0"/>
          </a:p>
          <a:p>
            <a:pPr algn="l" indent="0" marL="0">
              <a:spcAft>
                <a:spcPts val="900"/>
              </a:spcAft>
              <a:buNone/>
            </a:pPr>
            <a:r>
              <a:rPr lang="en-US" sz="1600" b="1" dirty="0">
                <a:solidFill>
                  <a:srgbClr val="1B2B31"/>
                </a:solidFill>
              </a:rPr>
              <a:t>Per-gene DGE  </a:t>
            </a:r>
            <a:pPr algn="l" indent="0" marL="0">
              <a:spcAft>
                <a:spcPts val="900"/>
              </a:spcAft>
              <a:buNone/>
            </a:pPr>
            <a:r>
              <a:rPr lang="en-US" sz="1600" dirty="0">
                <a:solidFill>
                  <a:srgbClr val="1B2B31"/>
                </a:solidFill>
              </a:rPr>
              <a:t>— test each gene on its own for a fibrosis trend (edgeR); misses a weak shift shared by many genes.
</a:t>
            </a:r>
            <a:endParaRPr lang="en-US" sz="1600" dirty="0"/>
          </a:p>
          <a:p>
            <a:pPr algn="l" indent="0" marL="0">
              <a:spcAft>
                <a:spcPts val="900"/>
              </a:spcAft>
              <a:buNone/>
            </a:pPr>
            <a:r>
              <a:rPr lang="en-US" sz="1600" b="1" dirty="0">
                <a:solidFill>
                  <a:srgbClr val="C0561B"/>
                </a:solidFill>
              </a:rPr>
              <a:t>Gene-set test  </a:t>
            </a:r>
            <a:pPr algn="l" indent="0" marL="0">
              <a:spcAft>
                <a:spcPts val="900"/>
              </a:spcAft>
              <a:buNone/>
            </a:pPr>
            <a:r>
              <a:rPr lang="en-US" sz="1600" dirty="0">
                <a:solidFill>
                  <a:srgbClr val="1B2B31"/>
                </a:solidFill>
              </a:rPr>
              <a:t>— test a whole pre-specified set at once. camera = competitive (more shifted than the rest of the genome?; Wu &amp; Smyth 2012); ROAST = self-contained (does the set move against zero?; Wu et al. 2010).
</a:t>
            </a:r>
            <a:endParaRPr lang="en-US" sz="1600" dirty="0"/>
          </a:p>
          <a:p>
            <a:pPr algn="l" indent="0" marL="0">
              <a:spcAft>
                <a:spcPts val="900"/>
              </a:spcAft>
              <a:buNone/>
            </a:pPr>
            <a:r>
              <a:rPr lang="en-US" sz="1600" b="1" dirty="0">
                <a:solidFill>
                  <a:srgbClr val="0D9488"/>
                </a:solidFill>
              </a:rPr>
              <a:t>Within-PC detox output  </a:t>
            </a:r>
            <a:pPr algn="l" indent="0" marL="0">
              <a:spcAft>
                <a:spcPts val="900"/>
              </a:spcAft>
              <a:buNone/>
            </a:pPr>
            <a:r>
              <a:rPr lang="en-US" sz="1600" dirty="0">
                <a:solidFill>
                  <a:srgbClr val="1B2B31"/>
                </a:solidFill>
              </a:rPr>
              <a:t>— detox transcripts per pericentral nucleus after equalizing read depth: per-cell, relative to the cell’s own output, immune to between-cell composition.
</a:t>
            </a:r>
            <a:endParaRPr lang="en-US" sz="1600" dirty="0"/>
          </a:p>
          <a:p>
            <a:pPr algn="l" indent="0" marL="0">
              <a:spcAft>
                <a:spcPts val="900"/>
              </a:spcAft>
              <a:buNone/>
            </a:pPr>
            <a:r>
              <a:rPr lang="en-US" sz="1600" b="1" dirty="0">
                <a:solidFill>
                  <a:srgbClr val="1B2B31"/>
                </a:solidFill>
              </a:rPr>
              <a:t>Adversarial check  </a:t>
            </a:r>
            <a:pPr algn="l" indent="0" marL="0">
              <a:spcAft>
                <a:spcPts val="900"/>
              </a:spcAft>
              <a:buNone/>
            </a:pPr>
            <a:r>
              <a:rPr lang="en-US" sz="1600" dirty="0">
                <a:solidFill>
                  <a:srgbClr val="1B2B31"/>
                </a:solidFill>
              </a:rPr>
              <a:t>— redo with TMM, with ROAST, with the rising genes removed, and with the per-cell burden; all four agreed → the dimming is real.</a:t>
            </a:r>
            <a:endParaRPr lang="en-US" sz="16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7F5F1"/>
        </a:solidFill>
      </p:bgPr>
    </p:bg>
    <p:spTree>
      <p:nvGrpSpPr>
        <p:cNvPr id="1" name=""/>
        <p:cNvGrpSpPr/>
        <p:nvPr/>
      </p:nvGrpSpPr>
      <p:grpSpPr>
        <a:xfrm>
          <a:off x="0" y="0"/>
          <a:ext cx="0" cy="0"/>
          <a:chOff x="0" y="0"/>
          <a:chExt cx="0" cy="0"/>
        </a:xfrm>
      </p:grpSpPr>
      <p:sp>
        <p:nvSpPr>
          <p:cNvPr id="2" name="Shape 0"/>
          <p:cNvSpPr/>
          <p:nvPr/>
        </p:nvSpPr>
        <p:spPr>
          <a:xfrm>
            <a:off x="457200" y="310896"/>
            <a:ext cx="146304" cy="237744"/>
          </a:xfrm>
          <a:prstGeom prst="rect">
            <a:avLst/>
          </a:prstGeom>
          <a:solidFill>
            <a:srgbClr val="C0561B"/>
          </a:solidFill>
          <a:ln/>
        </p:spPr>
      </p:sp>
      <p:sp>
        <p:nvSpPr>
          <p:cNvPr id="3" name="Text 1"/>
          <p:cNvSpPr/>
          <p:nvPr/>
        </p:nvSpPr>
        <p:spPr>
          <a:xfrm>
            <a:off x="676656" y="274320"/>
            <a:ext cx="10972800" cy="320040"/>
          </a:xfrm>
          <a:prstGeom prst="rect">
            <a:avLst/>
          </a:prstGeom>
          <a:noFill/>
          <a:ln/>
        </p:spPr>
        <p:txBody>
          <a:bodyPr wrap="square" rtlCol="0" anchor="ctr"/>
          <a:lstStyle/>
          <a:p>
            <a:pPr indent="0" marL="0">
              <a:buNone/>
            </a:pPr>
            <a:r>
              <a:rPr lang="en-US" sz="1300" b="1" spc="300" kern="0" dirty="0">
                <a:solidFill>
                  <a:srgbClr val="C0561B"/>
                </a:solidFill>
              </a:rPr>
              <a:t>BACKUP  ·  SCENARIO COVERAGE</a:t>
            </a:r>
            <a:endParaRPr lang="en-US" sz="1300" dirty="0"/>
          </a:p>
        </p:txBody>
      </p:sp>
      <p:sp>
        <p:nvSpPr>
          <p:cNvPr id="4" name="Text 2"/>
          <p:cNvSpPr/>
          <p:nvPr/>
        </p:nvSpPr>
        <p:spPr>
          <a:xfrm>
            <a:off x="438912" y="585216"/>
            <a:ext cx="11338560" cy="731520"/>
          </a:xfrm>
          <a:prstGeom prst="rect">
            <a:avLst/>
          </a:prstGeom>
          <a:noFill/>
          <a:ln/>
        </p:spPr>
        <p:txBody>
          <a:bodyPr wrap="square" rtlCol="0" anchor="ctr"/>
          <a:lstStyle/>
          <a:p>
            <a:pPr algn="l" indent="0" marL="0">
              <a:buNone/>
            </a:pPr>
            <a:r>
              <a:rPr lang="en-US" sz="2600" b="1" dirty="0">
                <a:solidFill>
                  <a:srgbClr val="123F47"/>
                </a:solidFill>
                <a:latin typeface="Georgia" pitchFamily="34" charset="0"/>
                <a:ea typeface="Georgia" pitchFamily="34" charset="-122"/>
                <a:cs typeface="Georgia" pitchFamily="34" charset="-120"/>
              </a:rPr>
              <a:t>Every de-zonation route, mapped to its signature</a:t>
            </a:r>
            <a:endParaRPr lang="en-US" sz="2600" dirty="0"/>
          </a:p>
        </p:txBody>
      </p:sp>
      <p:graphicFrame>
        <p:nvGraphicFramePr>
          <p:cNvPr id="29" name="Table 0"/>
          <p:cNvGraphicFramePr>
            <a:graphicFrameLocks noGrp="1"/>
          </p:cNvGraphicFramePr>
          <p:nvPr>
            <p:extLst>
              <p:ext uri="{D42A27DB-BD31-4B8C-83A1-F6EECF244321}">
                <p14:modId xmlns:p14="http://schemas.microsoft.com/office/powerpoint/2010/main" val="1579011935"/>
              </p:ext>
            </p:extLst>
          </p:nvPr>
        </p:nvGraphicFramePr>
        <p:xfrm>
          <a:off x="640080" y="1508760"/>
          <a:ext cx="10972800" cy="914400"/>
        </p:xfrm>
        <a:graphic>
          <a:graphicData uri="http://schemas.openxmlformats.org/drawingml/2006/table">
            <a:tbl>
              <a:tblPr/>
              <a:tblGrid>
                <a:gridCol w="2286000"/>
                <a:gridCol w="2697480"/>
                <a:gridCol w="3611880"/>
                <a:gridCol w="2377440"/>
              </a:tblGrid>
              <a:tr h="365760">
                <a:tc>
                  <a:txBody>
                    <a:bodyPr/>
                    <a:lstStyle/>
                    <a:p>
                      <a:pPr algn="l" indent="0" marL="0">
                        <a:buNone/>
                      </a:pPr>
                      <a:r>
                        <a:rPr lang="en-US" sz="1250" b="1" dirty="0">
                          <a:solidFill>
                            <a:srgbClr val="1B2B31"/>
                          </a:solidFill>
                        </a:rPr>
                        <a:t>Mechanism</a:t>
                      </a:r>
                      <a:endParaRPr lang="en-US" sz="1250" dirty="0"/>
                    </a:p>
                  </a:txBody>
                  <a:tcPr marL="63500" marR="63500" marT="38100" marB="38100" anchor="ctr">
                    <a:lnL w="6350" cap="flat" cmpd="sng" algn="ctr">
                      <a:solidFill>
                        <a:srgbClr val="C9BFAE"/>
                      </a:solidFill>
                      <a:prstDash val="solid"/>
                      <a:round/>
                      <a:headEnd type="none" w="med" len="med"/>
                      <a:tailEnd type="none" w="med" len="med"/>
                    </a:lnL>
                    <a:lnR w="6350" cap="flat" cmpd="sng" algn="ctr">
                      <a:solidFill>
                        <a:srgbClr val="C9BFAE"/>
                      </a:solidFill>
                      <a:prstDash val="solid"/>
                      <a:round/>
                      <a:headEnd type="none" w="med" len="med"/>
                      <a:tailEnd type="none" w="med" len="med"/>
                    </a:lnR>
                    <a:lnT w="6350" cap="flat" cmpd="sng" algn="ctr">
                      <a:solidFill>
                        <a:srgbClr val="C9BFAE"/>
                      </a:solidFill>
                      <a:prstDash val="solid"/>
                      <a:round/>
                      <a:headEnd type="none" w="med" len="med"/>
                      <a:tailEnd type="none" w="med" len="med"/>
                    </a:lnT>
                    <a:lnB w="6350" cap="flat" cmpd="sng" algn="ctr">
                      <a:solidFill>
                        <a:srgbClr val="C9BFAE"/>
                      </a:solidFill>
                      <a:prstDash val="solid"/>
                      <a:round/>
                      <a:headEnd type="none" w="med" len="med"/>
                      <a:tailEnd type="none" w="med" len="med"/>
                    </a:lnB>
                    <a:solidFill>
                      <a:srgbClr val="FFFFFF"/>
                    </a:solidFill>
                  </a:tcPr>
                </a:tc>
                <a:tc>
                  <a:txBody>
                    <a:bodyPr/>
                    <a:lstStyle/>
                    <a:p>
                      <a:pPr algn="l" indent="0" marL="0">
                        <a:buNone/>
                      </a:pPr>
                      <a:r>
                        <a:rPr lang="en-US" sz="1250" b="1" dirty="0">
                          <a:solidFill>
                            <a:srgbClr val="1B2B31"/>
                          </a:solidFill>
                        </a:rPr>
                        <a:t>Signature</a:t>
                      </a:r>
                      <a:endParaRPr lang="en-US" sz="1250" dirty="0"/>
                    </a:p>
                  </a:txBody>
                  <a:tcPr marL="63500" marR="63500" marT="38100" marB="38100" anchor="ctr">
                    <a:lnL w="6350" cap="flat" cmpd="sng" algn="ctr">
                      <a:solidFill>
                        <a:srgbClr val="C9BFAE"/>
                      </a:solidFill>
                      <a:prstDash val="solid"/>
                      <a:round/>
                      <a:headEnd type="none" w="med" len="med"/>
                      <a:tailEnd type="none" w="med" len="med"/>
                    </a:lnL>
                    <a:lnR w="6350" cap="flat" cmpd="sng" algn="ctr">
                      <a:solidFill>
                        <a:srgbClr val="C9BFAE"/>
                      </a:solidFill>
                      <a:prstDash val="solid"/>
                      <a:round/>
                      <a:headEnd type="none" w="med" len="med"/>
                      <a:tailEnd type="none" w="med" len="med"/>
                    </a:lnR>
                    <a:lnT w="6350" cap="flat" cmpd="sng" algn="ctr">
                      <a:solidFill>
                        <a:srgbClr val="C9BFAE"/>
                      </a:solidFill>
                      <a:prstDash val="solid"/>
                      <a:round/>
                      <a:headEnd type="none" w="med" len="med"/>
                      <a:tailEnd type="none" w="med" len="med"/>
                    </a:lnT>
                    <a:lnB w="6350" cap="flat" cmpd="sng" algn="ctr">
                      <a:solidFill>
                        <a:srgbClr val="C9BFAE"/>
                      </a:solidFill>
                      <a:prstDash val="solid"/>
                      <a:round/>
                      <a:headEnd type="none" w="med" len="med"/>
                      <a:tailEnd type="none" w="med" len="med"/>
                    </a:lnB>
                    <a:solidFill>
                      <a:srgbClr val="FFFFFF"/>
                    </a:solidFill>
                  </a:tcPr>
                </a:tc>
                <a:tc>
                  <a:txBody>
                    <a:bodyPr/>
                    <a:lstStyle/>
                    <a:p>
                      <a:pPr algn="l" indent="0" marL="0">
                        <a:buNone/>
                      </a:pPr>
                      <a:r>
                        <a:rPr lang="en-US" sz="1250" b="1" dirty="0">
                          <a:solidFill>
                            <a:srgbClr val="1B2B31"/>
                          </a:solidFill>
                        </a:rPr>
                        <a:t>Biopsy F0→F4 (donor-median)</a:t>
                      </a:r>
                      <a:endParaRPr lang="en-US" sz="1250" dirty="0"/>
                    </a:p>
                  </a:txBody>
                  <a:tcPr marL="63500" marR="63500" marT="38100" marB="38100" anchor="ctr">
                    <a:lnL w="6350" cap="flat" cmpd="sng" algn="ctr">
                      <a:solidFill>
                        <a:srgbClr val="C9BFAE"/>
                      </a:solidFill>
                      <a:prstDash val="solid"/>
                      <a:round/>
                      <a:headEnd type="none" w="med" len="med"/>
                      <a:tailEnd type="none" w="med" len="med"/>
                    </a:lnL>
                    <a:lnR w="6350" cap="flat" cmpd="sng" algn="ctr">
                      <a:solidFill>
                        <a:srgbClr val="C9BFAE"/>
                      </a:solidFill>
                      <a:prstDash val="solid"/>
                      <a:round/>
                      <a:headEnd type="none" w="med" len="med"/>
                      <a:tailEnd type="none" w="med" len="med"/>
                    </a:lnR>
                    <a:lnT w="6350" cap="flat" cmpd="sng" algn="ctr">
                      <a:solidFill>
                        <a:srgbClr val="C9BFAE"/>
                      </a:solidFill>
                      <a:prstDash val="solid"/>
                      <a:round/>
                      <a:headEnd type="none" w="med" len="med"/>
                      <a:tailEnd type="none" w="med" len="med"/>
                    </a:lnT>
                    <a:lnB w="6350" cap="flat" cmpd="sng" algn="ctr">
                      <a:solidFill>
                        <a:srgbClr val="C9BFAE"/>
                      </a:solidFill>
                      <a:prstDash val="solid"/>
                      <a:round/>
                      <a:headEnd type="none" w="med" len="med"/>
                      <a:tailEnd type="none" w="med" len="med"/>
                    </a:lnB>
                    <a:solidFill>
                      <a:srgbClr val="FFFFFF"/>
                    </a:solidFill>
                  </a:tcPr>
                </a:tc>
                <a:tc>
                  <a:txBody>
                    <a:bodyPr/>
                    <a:lstStyle/>
                    <a:p>
                      <a:pPr algn="l" indent="0" marL="0">
                        <a:buNone/>
                      </a:pPr>
                      <a:r>
                        <a:rPr lang="en-US" sz="1250" b="1" dirty="0">
                          <a:solidFill>
                            <a:srgbClr val="1B2B31"/>
                          </a:solidFill>
                        </a:rPr>
                        <a:t>Verdict</a:t>
                      </a:r>
                      <a:endParaRPr lang="en-US" sz="1250" dirty="0"/>
                    </a:p>
                  </a:txBody>
                  <a:tcPr marL="63500" marR="63500" marT="38100" marB="38100" anchor="ctr">
                    <a:lnL w="6350" cap="flat" cmpd="sng" algn="ctr">
                      <a:solidFill>
                        <a:srgbClr val="C9BFAE"/>
                      </a:solidFill>
                      <a:prstDash val="solid"/>
                      <a:round/>
                      <a:headEnd type="none" w="med" len="med"/>
                      <a:tailEnd type="none" w="med" len="med"/>
                    </a:lnL>
                    <a:lnR w="6350" cap="flat" cmpd="sng" algn="ctr">
                      <a:solidFill>
                        <a:srgbClr val="C9BFAE"/>
                      </a:solidFill>
                      <a:prstDash val="solid"/>
                      <a:round/>
                      <a:headEnd type="none" w="med" len="med"/>
                      <a:tailEnd type="none" w="med" len="med"/>
                    </a:lnR>
                    <a:lnT w="6350" cap="flat" cmpd="sng" algn="ctr">
                      <a:solidFill>
                        <a:srgbClr val="C9BFAE"/>
                      </a:solidFill>
                      <a:prstDash val="solid"/>
                      <a:round/>
                      <a:headEnd type="none" w="med" len="med"/>
                      <a:tailEnd type="none" w="med" len="med"/>
                    </a:lnT>
                    <a:lnB w="6350" cap="flat" cmpd="sng" algn="ctr">
                      <a:solidFill>
                        <a:srgbClr val="C9BFAE"/>
                      </a:solidFill>
                      <a:prstDash val="solid"/>
                      <a:round/>
                      <a:headEnd type="none" w="med" len="med"/>
                      <a:tailEnd type="none" w="med" len="med"/>
                    </a:lnB>
                    <a:solidFill>
                      <a:srgbClr val="FFFFFF"/>
                    </a:solidFill>
                  </a:tcPr>
                </a:tc>
              </a:tr>
              <a:tr h="365760">
                <a:tc>
                  <a:txBody>
                    <a:bodyPr/>
                    <a:lstStyle/>
                    <a:p>
                      <a:pPr algn="l" indent="0" marL="0">
                        <a:buNone/>
                      </a:pPr>
                      <a:r>
                        <a:rPr lang="en-US" sz="1250" dirty="0">
                          <a:solidFill>
                            <a:srgbClr val="1B2B31"/>
                          </a:solidFill>
                        </a:rPr>
                        <a:t>Pericentral depletion</a:t>
                      </a:r>
                      <a:endParaRPr lang="en-US" sz="1250" dirty="0"/>
                    </a:p>
                  </a:txBody>
                  <a:tcPr marL="63500" marR="63500" marT="38100" marB="38100" anchor="ctr">
                    <a:lnL w="6350" cap="flat" cmpd="sng" algn="ctr">
                      <a:solidFill>
                        <a:srgbClr val="C9BFAE"/>
                      </a:solidFill>
                      <a:prstDash val="solid"/>
                      <a:round/>
                      <a:headEnd type="none" w="med" len="med"/>
                      <a:tailEnd type="none" w="med" len="med"/>
                    </a:lnL>
                    <a:lnR w="6350" cap="flat" cmpd="sng" algn="ctr">
                      <a:solidFill>
                        <a:srgbClr val="C9BFAE"/>
                      </a:solidFill>
                      <a:prstDash val="solid"/>
                      <a:round/>
                      <a:headEnd type="none" w="med" len="med"/>
                      <a:tailEnd type="none" w="med" len="med"/>
                    </a:lnR>
                    <a:lnT w="6350" cap="flat" cmpd="sng" algn="ctr">
                      <a:solidFill>
                        <a:srgbClr val="C9BFAE"/>
                      </a:solidFill>
                      <a:prstDash val="solid"/>
                      <a:round/>
                      <a:headEnd type="none" w="med" len="med"/>
                      <a:tailEnd type="none" w="med" len="med"/>
                    </a:lnT>
                    <a:lnB w="6350" cap="flat" cmpd="sng" algn="ctr">
                      <a:solidFill>
                        <a:srgbClr val="C9BFAE"/>
                      </a:solidFill>
                      <a:prstDash val="solid"/>
                      <a:round/>
                      <a:headEnd type="none" w="med" len="med"/>
                      <a:tailEnd type="none" w="med" len="med"/>
                    </a:lnB>
                    <a:solidFill>
                      <a:srgbClr val="FFFFFF"/>
                    </a:solidFill>
                  </a:tcPr>
                </a:tc>
                <a:tc>
                  <a:txBody>
                    <a:bodyPr/>
                    <a:lstStyle/>
                    <a:p>
                      <a:pPr algn="l" indent="0" marL="0">
                        <a:buNone/>
                      </a:pPr>
                      <a:r>
                        <a:rPr lang="en-US" sz="1250" dirty="0">
                          <a:solidFill>
                            <a:srgbClr val="1B2B31"/>
                          </a:solidFill>
                        </a:rPr>
                        <a:t>PC-anchor fraction ↓</a:t>
                      </a:r>
                      <a:endParaRPr lang="en-US" sz="1250" dirty="0"/>
                    </a:p>
                  </a:txBody>
                  <a:tcPr marL="63500" marR="63500" marT="38100" marB="38100" anchor="ctr">
                    <a:lnL w="6350" cap="flat" cmpd="sng" algn="ctr">
                      <a:solidFill>
                        <a:srgbClr val="C9BFAE"/>
                      </a:solidFill>
                      <a:prstDash val="solid"/>
                      <a:round/>
                      <a:headEnd type="none" w="med" len="med"/>
                      <a:tailEnd type="none" w="med" len="med"/>
                    </a:lnL>
                    <a:lnR w="6350" cap="flat" cmpd="sng" algn="ctr">
                      <a:solidFill>
                        <a:srgbClr val="C9BFAE"/>
                      </a:solidFill>
                      <a:prstDash val="solid"/>
                      <a:round/>
                      <a:headEnd type="none" w="med" len="med"/>
                      <a:tailEnd type="none" w="med" len="med"/>
                    </a:lnR>
                    <a:lnT w="6350" cap="flat" cmpd="sng" algn="ctr">
                      <a:solidFill>
                        <a:srgbClr val="C9BFAE"/>
                      </a:solidFill>
                      <a:prstDash val="solid"/>
                      <a:round/>
                      <a:headEnd type="none" w="med" len="med"/>
                      <a:tailEnd type="none" w="med" len="med"/>
                    </a:lnT>
                    <a:lnB w="6350" cap="flat" cmpd="sng" algn="ctr">
                      <a:solidFill>
                        <a:srgbClr val="C9BFAE"/>
                      </a:solidFill>
                      <a:prstDash val="solid"/>
                      <a:round/>
                      <a:headEnd type="none" w="med" len="med"/>
                      <a:tailEnd type="none" w="med" len="med"/>
                    </a:lnB>
                    <a:solidFill>
                      <a:srgbClr val="FFFFFF"/>
                    </a:solidFill>
                  </a:tcPr>
                </a:tc>
                <a:tc>
                  <a:txBody>
                    <a:bodyPr/>
                    <a:lstStyle/>
                    <a:p>
                      <a:pPr algn="l" indent="0" marL="0">
                        <a:buNone/>
                      </a:pPr>
                      <a:r>
                        <a:rPr lang="en-US" sz="1250" dirty="0">
                          <a:solidFill>
                            <a:srgbClr val="1B2B31"/>
                          </a:solidFill>
                        </a:rPr>
                        <a:t>36 / 19 / 23 / 22 / 21 %</a:t>
                      </a:r>
                      <a:endParaRPr lang="en-US" sz="1250" dirty="0"/>
                    </a:p>
                  </a:txBody>
                  <a:tcPr marL="63500" marR="63500" marT="38100" marB="38100" anchor="ctr">
                    <a:lnL w="6350" cap="flat" cmpd="sng" algn="ctr">
                      <a:solidFill>
                        <a:srgbClr val="C9BFAE"/>
                      </a:solidFill>
                      <a:prstDash val="solid"/>
                      <a:round/>
                      <a:headEnd type="none" w="med" len="med"/>
                      <a:tailEnd type="none" w="med" len="med"/>
                    </a:lnL>
                    <a:lnR w="6350" cap="flat" cmpd="sng" algn="ctr">
                      <a:solidFill>
                        <a:srgbClr val="C9BFAE"/>
                      </a:solidFill>
                      <a:prstDash val="solid"/>
                      <a:round/>
                      <a:headEnd type="none" w="med" len="med"/>
                      <a:tailEnd type="none" w="med" len="med"/>
                    </a:lnR>
                    <a:lnT w="6350" cap="flat" cmpd="sng" algn="ctr">
                      <a:solidFill>
                        <a:srgbClr val="C9BFAE"/>
                      </a:solidFill>
                      <a:prstDash val="solid"/>
                      <a:round/>
                      <a:headEnd type="none" w="med" len="med"/>
                      <a:tailEnd type="none" w="med" len="med"/>
                    </a:lnT>
                    <a:lnB w="6350" cap="flat" cmpd="sng" algn="ctr">
                      <a:solidFill>
                        <a:srgbClr val="C9BFAE"/>
                      </a:solidFill>
                      <a:prstDash val="solid"/>
                      <a:round/>
                      <a:headEnd type="none" w="med" len="med"/>
                      <a:tailEnd type="none" w="med" len="med"/>
                    </a:lnB>
                    <a:solidFill>
                      <a:srgbClr val="FFFFFF"/>
                    </a:solidFill>
                  </a:tcPr>
                </a:tc>
                <a:tc>
                  <a:txBody>
                    <a:bodyPr/>
                    <a:lstStyle/>
                    <a:p>
                      <a:pPr algn="l" indent="0" marL="0">
                        <a:buNone/>
                      </a:pPr>
                      <a:r>
                        <a:rPr lang="en-US" sz="1250" dirty="0">
                          <a:solidFill>
                            <a:srgbClr val="1B2B31"/>
                          </a:solidFill>
                        </a:rPr>
                        <a:t>flat → no depletion</a:t>
                      </a:r>
                      <a:endParaRPr lang="en-US" sz="1250" dirty="0"/>
                    </a:p>
                  </a:txBody>
                  <a:tcPr marL="63500" marR="63500" marT="38100" marB="38100" anchor="ctr">
                    <a:lnL w="6350" cap="flat" cmpd="sng" algn="ctr">
                      <a:solidFill>
                        <a:srgbClr val="C9BFAE"/>
                      </a:solidFill>
                      <a:prstDash val="solid"/>
                      <a:round/>
                      <a:headEnd type="none" w="med" len="med"/>
                      <a:tailEnd type="none" w="med" len="med"/>
                    </a:lnL>
                    <a:lnR w="6350" cap="flat" cmpd="sng" algn="ctr">
                      <a:solidFill>
                        <a:srgbClr val="C9BFAE"/>
                      </a:solidFill>
                      <a:prstDash val="solid"/>
                      <a:round/>
                      <a:headEnd type="none" w="med" len="med"/>
                      <a:tailEnd type="none" w="med" len="med"/>
                    </a:lnR>
                    <a:lnT w="6350" cap="flat" cmpd="sng" algn="ctr">
                      <a:solidFill>
                        <a:srgbClr val="C9BFAE"/>
                      </a:solidFill>
                      <a:prstDash val="solid"/>
                      <a:round/>
                      <a:headEnd type="none" w="med" len="med"/>
                      <a:tailEnd type="none" w="med" len="med"/>
                    </a:lnT>
                    <a:lnB w="6350" cap="flat" cmpd="sng" algn="ctr">
                      <a:solidFill>
                        <a:srgbClr val="C9BFAE"/>
                      </a:solidFill>
                      <a:prstDash val="solid"/>
                      <a:round/>
                      <a:headEnd type="none" w="med" len="med"/>
                      <a:tailEnd type="none" w="med" len="med"/>
                    </a:lnB>
                    <a:solidFill>
                      <a:srgbClr val="FFFFFF"/>
                    </a:solidFill>
                  </a:tcPr>
                </a:tc>
              </a:tr>
              <a:tr h="365760">
                <a:tc>
                  <a:txBody>
                    <a:bodyPr/>
                    <a:lstStyle/>
                    <a:p>
                      <a:pPr algn="l" indent="0" marL="0">
                        <a:buNone/>
                      </a:pPr>
                      <a:r>
                        <a:rPr lang="en-US" sz="1250" dirty="0">
                          <a:solidFill>
                            <a:srgbClr val="1B2B31"/>
                          </a:solidFill>
                        </a:rPr>
                        <a:t>Periportal depletion</a:t>
                      </a:r>
                      <a:endParaRPr lang="en-US" sz="1250" dirty="0"/>
                    </a:p>
                  </a:txBody>
                  <a:tcPr marL="63500" marR="63500" marT="38100" marB="38100" anchor="ctr">
                    <a:lnL w="6350" cap="flat" cmpd="sng" algn="ctr">
                      <a:solidFill>
                        <a:srgbClr val="C9BFAE"/>
                      </a:solidFill>
                      <a:prstDash val="solid"/>
                      <a:round/>
                      <a:headEnd type="none" w="med" len="med"/>
                      <a:tailEnd type="none" w="med" len="med"/>
                    </a:lnL>
                    <a:lnR w="6350" cap="flat" cmpd="sng" algn="ctr">
                      <a:solidFill>
                        <a:srgbClr val="C9BFAE"/>
                      </a:solidFill>
                      <a:prstDash val="solid"/>
                      <a:round/>
                      <a:headEnd type="none" w="med" len="med"/>
                      <a:tailEnd type="none" w="med" len="med"/>
                    </a:lnR>
                    <a:lnT w="6350" cap="flat" cmpd="sng" algn="ctr">
                      <a:solidFill>
                        <a:srgbClr val="C9BFAE"/>
                      </a:solidFill>
                      <a:prstDash val="solid"/>
                      <a:round/>
                      <a:headEnd type="none" w="med" len="med"/>
                      <a:tailEnd type="none" w="med" len="med"/>
                    </a:lnT>
                    <a:lnB w="6350" cap="flat" cmpd="sng" algn="ctr">
                      <a:solidFill>
                        <a:srgbClr val="C9BFAE"/>
                      </a:solidFill>
                      <a:prstDash val="solid"/>
                      <a:round/>
                      <a:headEnd type="none" w="med" len="med"/>
                      <a:tailEnd type="none" w="med" len="med"/>
                    </a:lnB>
                    <a:solidFill>
                      <a:srgbClr val="FFFFFF"/>
                    </a:solidFill>
                  </a:tcPr>
                </a:tc>
                <a:tc>
                  <a:txBody>
                    <a:bodyPr/>
                    <a:lstStyle/>
                    <a:p>
                      <a:pPr algn="l" indent="0" marL="0">
                        <a:buNone/>
                      </a:pPr>
                      <a:r>
                        <a:rPr lang="en-US" sz="1250" dirty="0">
                          <a:solidFill>
                            <a:srgbClr val="1B2B31"/>
                          </a:solidFill>
                        </a:rPr>
                        <a:t>PP-anchor fraction ↓</a:t>
                      </a:r>
                      <a:endParaRPr lang="en-US" sz="1250" dirty="0"/>
                    </a:p>
                  </a:txBody>
                  <a:tcPr marL="63500" marR="63500" marT="38100" marB="38100" anchor="ctr">
                    <a:lnL w="6350" cap="flat" cmpd="sng" algn="ctr">
                      <a:solidFill>
                        <a:srgbClr val="C9BFAE"/>
                      </a:solidFill>
                      <a:prstDash val="solid"/>
                      <a:round/>
                      <a:headEnd type="none" w="med" len="med"/>
                      <a:tailEnd type="none" w="med" len="med"/>
                    </a:lnL>
                    <a:lnR w="6350" cap="flat" cmpd="sng" algn="ctr">
                      <a:solidFill>
                        <a:srgbClr val="C9BFAE"/>
                      </a:solidFill>
                      <a:prstDash val="solid"/>
                      <a:round/>
                      <a:headEnd type="none" w="med" len="med"/>
                      <a:tailEnd type="none" w="med" len="med"/>
                    </a:lnR>
                    <a:lnT w="6350" cap="flat" cmpd="sng" algn="ctr">
                      <a:solidFill>
                        <a:srgbClr val="C9BFAE"/>
                      </a:solidFill>
                      <a:prstDash val="solid"/>
                      <a:round/>
                      <a:headEnd type="none" w="med" len="med"/>
                      <a:tailEnd type="none" w="med" len="med"/>
                    </a:lnT>
                    <a:lnB w="6350" cap="flat" cmpd="sng" algn="ctr">
                      <a:solidFill>
                        <a:srgbClr val="C9BFAE"/>
                      </a:solidFill>
                      <a:prstDash val="solid"/>
                      <a:round/>
                      <a:headEnd type="none" w="med" len="med"/>
                      <a:tailEnd type="none" w="med" len="med"/>
                    </a:lnB>
                    <a:solidFill>
                      <a:srgbClr val="FFFFFF"/>
                    </a:solidFill>
                  </a:tcPr>
                </a:tc>
                <a:tc>
                  <a:txBody>
                    <a:bodyPr/>
                    <a:lstStyle/>
                    <a:p>
                      <a:pPr algn="l" indent="0" marL="0">
                        <a:buNone/>
                      </a:pPr>
                      <a:r>
                        <a:rPr lang="en-US" sz="1250" dirty="0">
                          <a:solidFill>
                            <a:srgbClr val="1B2B31"/>
                          </a:solidFill>
                        </a:rPr>
                        <a:t>20 / 21 / 22 / 24 / 24 %</a:t>
                      </a:r>
                      <a:endParaRPr lang="en-US" sz="1250" dirty="0"/>
                    </a:p>
                  </a:txBody>
                  <a:tcPr marL="63500" marR="63500" marT="38100" marB="38100" anchor="ctr">
                    <a:lnL w="6350" cap="flat" cmpd="sng" algn="ctr">
                      <a:solidFill>
                        <a:srgbClr val="C9BFAE"/>
                      </a:solidFill>
                      <a:prstDash val="solid"/>
                      <a:round/>
                      <a:headEnd type="none" w="med" len="med"/>
                      <a:tailEnd type="none" w="med" len="med"/>
                    </a:lnL>
                    <a:lnR w="6350" cap="flat" cmpd="sng" algn="ctr">
                      <a:solidFill>
                        <a:srgbClr val="C9BFAE"/>
                      </a:solidFill>
                      <a:prstDash val="solid"/>
                      <a:round/>
                      <a:headEnd type="none" w="med" len="med"/>
                      <a:tailEnd type="none" w="med" len="med"/>
                    </a:lnR>
                    <a:lnT w="6350" cap="flat" cmpd="sng" algn="ctr">
                      <a:solidFill>
                        <a:srgbClr val="C9BFAE"/>
                      </a:solidFill>
                      <a:prstDash val="solid"/>
                      <a:round/>
                      <a:headEnd type="none" w="med" len="med"/>
                      <a:tailEnd type="none" w="med" len="med"/>
                    </a:lnT>
                    <a:lnB w="6350" cap="flat" cmpd="sng" algn="ctr">
                      <a:solidFill>
                        <a:srgbClr val="C9BFAE"/>
                      </a:solidFill>
                      <a:prstDash val="solid"/>
                      <a:round/>
                      <a:headEnd type="none" w="med" len="med"/>
                      <a:tailEnd type="none" w="med" len="med"/>
                    </a:lnB>
                    <a:solidFill>
                      <a:srgbClr val="FFFFFF"/>
                    </a:solidFill>
                  </a:tcPr>
                </a:tc>
                <a:tc>
                  <a:txBody>
                    <a:bodyPr/>
                    <a:lstStyle/>
                    <a:p>
                      <a:pPr algn="l" indent="0" marL="0">
                        <a:buNone/>
                      </a:pPr>
                      <a:r>
                        <a:rPr lang="en-US" sz="1250" dirty="0">
                          <a:solidFill>
                            <a:srgbClr val="1B2B31"/>
                          </a:solidFill>
                        </a:rPr>
                        <a:t>flat → no depletion</a:t>
                      </a:r>
                      <a:endParaRPr lang="en-US" sz="1250" dirty="0"/>
                    </a:p>
                  </a:txBody>
                  <a:tcPr marL="63500" marR="63500" marT="38100" marB="38100" anchor="ctr">
                    <a:lnL w="6350" cap="flat" cmpd="sng" algn="ctr">
                      <a:solidFill>
                        <a:srgbClr val="C9BFAE"/>
                      </a:solidFill>
                      <a:prstDash val="solid"/>
                      <a:round/>
                      <a:headEnd type="none" w="med" len="med"/>
                      <a:tailEnd type="none" w="med" len="med"/>
                    </a:lnL>
                    <a:lnR w="6350" cap="flat" cmpd="sng" algn="ctr">
                      <a:solidFill>
                        <a:srgbClr val="C9BFAE"/>
                      </a:solidFill>
                      <a:prstDash val="solid"/>
                      <a:round/>
                      <a:headEnd type="none" w="med" len="med"/>
                      <a:tailEnd type="none" w="med" len="med"/>
                    </a:lnR>
                    <a:lnT w="6350" cap="flat" cmpd="sng" algn="ctr">
                      <a:solidFill>
                        <a:srgbClr val="C9BFAE"/>
                      </a:solidFill>
                      <a:prstDash val="solid"/>
                      <a:round/>
                      <a:headEnd type="none" w="med" len="med"/>
                      <a:tailEnd type="none" w="med" len="med"/>
                    </a:lnT>
                    <a:lnB w="6350" cap="flat" cmpd="sng" algn="ctr">
                      <a:solidFill>
                        <a:srgbClr val="C9BFAE"/>
                      </a:solidFill>
                      <a:prstDash val="solid"/>
                      <a:round/>
                      <a:headEnd type="none" w="med" len="med"/>
                      <a:tailEnd type="none" w="med" len="med"/>
                    </a:lnB>
                    <a:solidFill>
                      <a:srgbClr val="FFFFFF"/>
                    </a:solidFill>
                  </a:tcPr>
                </a:tc>
              </a:tr>
              <a:tr h="365760">
                <a:tc>
                  <a:txBody>
                    <a:bodyPr/>
                    <a:lstStyle/>
                    <a:p>
                      <a:pPr algn="l" indent="0" marL="0">
                        <a:buNone/>
                      </a:pPr>
                      <a:r>
                        <a:rPr lang="en-US" sz="1250" dirty="0">
                          <a:solidFill>
                            <a:srgbClr val="1B2B31"/>
                          </a:solidFill>
                        </a:rPr>
                        <a:t>Dimming</a:t>
                      </a:r>
                      <a:endParaRPr lang="en-US" sz="1250" dirty="0"/>
                    </a:p>
                  </a:txBody>
                  <a:tcPr marL="63500" marR="63500" marT="38100" marB="38100" anchor="ctr">
                    <a:lnL w="6350" cap="flat" cmpd="sng" algn="ctr">
                      <a:solidFill>
                        <a:srgbClr val="C9BFAE"/>
                      </a:solidFill>
                      <a:prstDash val="solid"/>
                      <a:round/>
                      <a:headEnd type="none" w="med" len="med"/>
                      <a:tailEnd type="none" w="med" len="med"/>
                    </a:lnL>
                    <a:lnR w="6350" cap="flat" cmpd="sng" algn="ctr">
                      <a:solidFill>
                        <a:srgbClr val="C9BFAE"/>
                      </a:solidFill>
                      <a:prstDash val="solid"/>
                      <a:round/>
                      <a:headEnd type="none" w="med" len="med"/>
                      <a:tailEnd type="none" w="med" len="med"/>
                    </a:lnR>
                    <a:lnT w="6350" cap="flat" cmpd="sng" algn="ctr">
                      <a:solidFill>
                        <a:srgbClr val="C9BFAE"/>
                      </a:solidFill>
                      <a:prstDash val="solid"/>
                      <a:round/>
                      <a:headEnd type="none" w="med" len="med"/>
                      <a:tailEnd type="none" w="med" len="med"/>
                    </a:lnT>
                    <a:lnB w="6350" cap="flat" cmpd="sng" algn="ctr">
                      <a:solidFill>
                        <a:srgbClr val="C9BFAE"/>
                      </a:solidFill>
                      <a:prstDash val="solid"/>
                      <a:round/>
                      <a:headEnd type="none" w="med" len="med"/>
                      <a:tailEnd type="none" w="med" len="med"/>
                    </a:lnB>
                    <a:solidFill>
                      <a:srgbClr val="FFFFFF"/>
                    </a:solidFill>
                  </a:tcPr>
                </a:tc>
                <a:tc>
                  <a:txBody>
                    <a:bodyPr/>
                    <a:lstStyle/>
                    <a:p>
                      <a:pPr algn="l" indent="0" marL="0">
                        <a:buNone/>
                      </a:pPr>
                      <a:r>
                        <a:rPr lang="en-US" sz="1250" dirty="0">
                          <a:solidFill>
                            <a:srgbClr val="1B2B31"/>
                          </a:solidFill>
                        </a:rPr>
                        <a:t>within-PC level ↓ (magnitude)</a:t>
                      </a:r>
                      <a:endParaRPr lang="en-US" sz="1250" dirty="0"/>
                    </a:p>
                  </a:txBody>
                  <a:tcPr marL="63500" marR="63500" marT="38100" marB="38100" anchor="ctr">
                    <a:lnL w="6350" cap="flat" cmpd="sng" algn="ctr">
                      <a:solidFill>
                        <a:srgbClr val="C9BFAE"/>
                      </a:solidFill>
                      <a:prstDash val="solid"/>
                      <a:round/>
                      <a:headEnd type="none" w="med" len="med"/>
                      <a:tailEnd type="none" w="med" len="med"/>
                    </a:lnL>
                    <a:lnR w="6350" cap="flat" cmpd="sng" algn="ctr">
                      <a:solidFill>
                        <a:srgbClr val="C9BFAE"/>
                      </a:solidFill>
                      <a:prstDash val="solid"/>
                      <a:round/>
                      <a:headEnd type="none" w="med" len="med"/>
                      <a:tailEnd type="none" w="med" len="med"/>
                    </a:lnR>
                    <a:lnT w="6350" cap="flat" cmpd="sng" algn="ctr">
                      <a:solidFill>
                        <a:srgbClr val="C9BFAE"/>
                      </a:solidFill>
                      <a:prstDash val="solid"/>
                      <a:round/>
                      <a:headEnd type="none" w="med" len="med"/>
                      <a:tailEnd type="none" w="med" len="med"/>
                    </a:lnT>
                    <a:lnB w="6350" cap="flat" cmpd="sng" algn="ctr">
                      <a:solidFill>
                        <a:srgbClr val="C9BFAE"/>
                      </a:solidFill>
                      <a:prstDash val="solid"/>
                      <a:round/>
                      <a:headEnd type="none" w="med" len="med"/>
                      <a:tailEnd type="none" w="med" len="med"/>
                    </a:lnB>
                    <a:solidFill>
                      <a:srgbClr val="FFFFFF"/>
                    </a:solidFill>
                  </a:tcPr>
                </a:tc>
                <a:tc>
                  <a:txBody>
                    <a:bodyPr/>
                    <a:lstStyle/>
                    <a:p>
                      <a:pPr algn="l" indent="0" marL="0">
                        <a:buNone/>
                      </a:pPr>
                      <a:r>
                        <a:rPr lang="en-US" sz="1250" dirty="0">
                          <a:solidFill>
                            <a:srgbClr val="1B2B31"/>
                          </a:solidFill>
                        </a:rPr>
                        <a:t>11.9 → 8.8 detox UMI/nuc (F1→F4); ρ = −0.48</a:t>
                      </a:r>
                      <a:endParaRPr lang="en-US" sz="1250" dirty="0"/>
                    </a:p>
                  </a:txBody>
                  <a:tcPr marL="63500" marR="63500" marT="38100" marB="38100" anchor="ctr">
                    <a:lnL w="6350" cap="flat" cmpd="sng" algn="ctr">
                      <a:solidFill>
                        <a:srgbClr val="C9BFAE"/>
                      </a:solidFill>
                      <a:prstDash val="solid"/>
                      <a:round/>
                      <a:headEnd type="none" w="med" len="med"/>
                      <a:tailEnd type="none" w="med" len="med"/>
                    </a:lnL>
                    <a:lnR w="6350" cap="flat" cmpd="sng" algn="ctr">
                      <a:solidFill>
                        <a:srgbClr val="C9BFAE"/>
                      </a:solidFill>
                      <a:prstDash val="solid"/>
                      <a:round/>
                      <a:headEnd type="none" w="med" len="med"/>
                      <a:tailEnd type="none" w="med" len="med"/>
                    </a:lnR>
                    <a:lnT w="6350" cap="flat" cmpd="sng" algn="ctr">
                      <a:solidFill>
                        <a:srgbClr val="C9BFAE"/>
                      </a:solidFill>
                      <a:prstDash val="solid"/>
                      <a:round/>
                      <a:headEnd type="none" w="med" len="med"/>
                      <a:tailEnd type="none" w="med" len="med"/>
                    </a:lnT>
                    <a:lnB w="6350" cap="flat" cmpd="sng" algn="ctr">
                      <a:solidFill>
                        <a:srgbClr val="C9BFAE"/>
                      </a:solidFill>
                      <a:prstDash val="solid"/>
                      <a:round/>
                      <a:headEnd type="none" w="med" len="med"/>
                      <a:tailEnd type="none" w="med" len="med"/>
                    </a:lnB>
                    <a:solidFill>
                      <a:srgbClr val="FFFFFF"/>
                    </a:solidFill>
                  </a:tcPr>
                </a:tc>
                <a:tc>
                  <a:txBody>
                    <a:bodyPr/>
                    <a:lstStyle/>
                    <a:p>
                      <a:pPr algn="l" indent="0" marL="0">
                        <a:buNone/>
                      </a:pPr>
                      <a:r>
                        <a:rPr lang="en-US" sz="1250" dirty="0">
                          <a:solidFill>
                            <a:srgbClr val="1B2B31"/>
                          </a:solidFill>
                        </a:rPr>
                        <a:t>REAL — gene-set + within-PC confirm (CYP FDR 2e-6)</a:t>
                      </a:r>
                      <a:endParaRPr lang="en-US" sz="1250" dirty="0"/>
                    </a:p>
                  </a:txBody>
                  <a:tcPr marL="63500" marR="63500" marT="38100" marB="38100" anchor="ctr">
                    <a:lnL w="6350" cap="flat" cmpd="sng" algn="ctr">
                      <a:solidFill>
                        <a:srgbClr val="C9BFAE"/>
                      </a:solidFill>
                      <a:prstDash val="solid"/>
                      <a:round/>
                      <a:headEnd type="none" w="med" len="med"/>
                      <a:tailEnd type="none" w="med" len="med"/>
                    </a:lnL>
                    <a:lnR w="6350" cap="flat" cmpd="sng" algn="ctr">
                      <a:solidFill>
                        <a:srgbClr val="C9BFAE"/>
                      </a:solidFill>
                      <a:prstDash val="solid"/>
                      <a:round/>
                      <a:headEnd type="none" w="med" len="med"/>
                      <a:tailEnd type="none" w="med" len="med"/>
                    </a:lnR>
                    <a:lnT w="6350" cap="flat" cmpd="sng" algn="ctr">
                      <a:solidFill>
                        <a:srgbClr val="C9BFAE"/>
                      </a:solidFill>
                      <a:prstDash val="solid"/>
                      <a:round/>
                      <a:headEnd type="none" w="med" len="med"/>
                      <a:tailEnd type="none" w="med" len="med"/>
                    </a:lnT>
                    <a:lnB w="6350" cap="flat" cmpd="sng" algn="ctr">
                      <a:solidFill>
                        <a:srgbClr val="C9BFAE"/>
                      </a:solidFill>
                      <a:prstDash val="solid"/>
                      <a:round/>
                      <a:headEnd type="none" w="med" len="med"/>
                      <a:tailEnd type="none" w="med" len="med"/>
                    </a:lnB>
                    <a:solidFill>
                      <a:srgbClr val="FFFFFF"/>
                    </a:solidFill>
                  </a:tcPr>
                </a:tc>
              </a:tr>
              <a:tr h="365760">
                <a:tc>
                  <a:txBody>
                    <a:bodyPr/>
                    <a:lstStyle/>
                    <a:p>
                      <a:pPr algn="l" indent="0" marL="0">
                        <a:buNone/>
                      </a:pPr>
                      <a:r>
                        <a:rPr lang="en-US" sz="1250" dirty="0">
                          <a:solidFill>
                            <a:srgbClr val="1B2B31"/>
                          </a:solidFill>
                        </a:rPr>
                        <a:t>Co-expression</a:t>
                      </a:r>
                      <a:endParaRPr lang="en-US" sz="1250" dirty="0"/>
                    </a:p>
                  </a:txBody>
                  <a:tcPr marL="63500" marR="63500" marT="38100" marB="38100" anchor="ctr">
                    <a:lnL w="6350" cap="flat" cmpd="sng" algn="ctr">
                      <a:solidFill>
                        <a:srgbClr val="C9BFAE"/>
                      </a:solidFill>
                      <a:prstDash val="solid"/>
                      <a:round/>
                      <a:headEnd type="none" w="med" len="med"/>
                      <a:tailEnd type="none" w="med" len="med"/>
                    </a:lnL>
                    <a:lnR w="6350" cap="flat" cmpd="sng" algn="ctr">
                      <a:solidFill>
                        <a:srgbClr val="C9BFAE"/>
                      </a:solidFill>
                      <a:prstDash val="solid"/>
                      <a:round/>
                      <a:headEnd type="none" w="med" len="med"/>
                      <a:tailEnd type="none" w="med" len="med"/>
                    </a:lnR>
                    <a:lnT w="6350" cap="flat" cmpd="sng" algn="ctr">
                      <a:solidFill>
                        <a:srgbClr val="C9BFAE"/>
                      </a:solidFill>
                      <a:prstDash val="solid"/>
                      <a:round/>
                      <a:headEnd type="none" w="med" len="med"/>
                      <a:tailEnd type="none" w="med" len="med"/>
                    </a:lnT>
                    <a:lnB w="6350" cap="flat" cmpd="sng" algn="ctr">
                      <a:solidFill>
                        <a:srgbClr val="C9BFAE"/>
                      </a:solidFill>
                      <a:prstDash val="solid"/>
                      <a:round/>
                      <a:headEnd type="none" w="med" len="med"/>
                      <a:tailEnd type="none" w="med" len="med"/>
                    </a:lnB>
                    <a:solidFill>
                      <a:srgbClr val="FFFFFF"/>
                    </a:solidFill>
                  </a:tcPr>
                </a:tc>
                <a:tc>
                  <a:txBody>
                    <a:bodyPr/>
                    <a:lstStyle/>
                    <a:p>
                      <a:pPr algn="l" indent="0" marL="0">
                        <a:buNone/>
                      </a:pPr>
                      <a:r>
                        <a:rPr lang="en-US" sz="1250" dirty="0">
                          <a:solidFill>
                            <a:srgbClr val="1B2B31"/>
                          </a:solidFill>
                        </a:rPr>
                        <a:t>dual (≥2 UMI) fraction ↑</a:t>
                      </a:r>
                      <a:endParaRPr lang="en-US" sz="1250" dirty="0"/>
                    </a:p>
                  </a:txBody>
                  <a:tcPr marL="63500" marR="63500" marT="38100" marB="38100" anchor="ctr">
                    <a:lnL w="6350" cap="flat" cmpd="sng" algn="ctr">
                      <a:solidFill>
                        <a:srgbClr val="C9BFAE"/>
                      </a:solidFill>
                      <a:prstDash val="solid"/>
                      <a:round/>
                      <a:headEnd type="none" w="med" len="med"/>
                      <a:tailEnd type="none" w="med" len="med"/>
                    </a:lnL>
                    <a:lnR w="6350" cap="flat" cmpd="sng" algn="ctr">
                      <a:solidFill>
                        <a:srgbClr val="C9BFAE"/>
                      </a:solidFill>
                      <a:prstDash val="solid"/>
                      <a:round/>
                      <a:headEnd type="none" w="med" len="med"/>
                      <a:tailEnd type="none" w="med" len="med"/>
                    </a:lnR>
                    <a:lnT w="6350" cap="flat" cmpd="sng" algn="ctr">
                      <a:solidFill>
                        <a:srgbClr val="C9BFAE"/>
                      </a:solidFill>
                      <a:prstDash val="solid"/>
                      <a:round/>
                      <a:headEnd type="none" w="med" len="med"/>
                      <a:tailEnd type="none" w="med" len="med"/>
                    </a:lnT>
                    <a:lnB w="6350" cap="flat" cmpd="sng" algn="ctr">
                      <a:solidFill>
                        <a:srgbClr val="C9BFAE"/>
                      </a:solidFill>
                      <a:prstDash val="solid"/>
                      <a:round/>
                      <a:headEnd type="none" w="med" len="med"/>
                      <a:tailEnd type="none" w="med" len="med"/>
                    </a:lnB>
                    <a:solidFill>
                      <a:srgbClr val="FFFFFF"/>
                    </a:solidFill>
                  </a:tcPr>
                </a:tc>
                <a:tc>
                  <a:txBody>
                    <a:bodyPr/>
                    <a:lstStyle/>
                    <a:p>
                      <a:pPr algn="l" indent="0" marL="0">
                        <a:buNone/>
                      </a:pPr>
                      <a:r>
                        <a:rPr lang="en-US" sz="1250" dirty="0">
                          <a:solidFill>
                            <a:srgbClr val="1B2B31"/>
                          </a:solidFill>
                        </a:rPr>
                        <a:t>~0.0 / 0.2 / 0.4 / 0.2 / 0.2 %</a:t>
                      </a:r>
                      <a:endParaRPr lang="en-US" sz="1250" dirty="0"/>
                    </a:p>
                  </a:txBody>
                  <a:tcPr marL="63500" marR="63500" marT="38100" marB="38100" anchor="ctr">
                    <a:lnL w="6350" cap="flat" cmpd="sng" algn="ctr">
                      <a:solidFill>
                        <a:srgbClr val="C9BFAE"/>
                      </a:solidFill>
                      <a:prstDash val="solid"/>
                      <a:round/>
                      <a:headEnd type="none" w="med" len="med"/>
                      <a:tailEnd type="none" w="med" len="med"/>
                    </a:lnL>
                    <a:lnR w="6350" cap="flat" cmpd="sng" algn="ctr">
                      <a:solidFill>
                        <a:srgbClr val="C9BFAE"/>
                      </a:solidFill>
                      <a:prstDash val="solid"/>
                      <a:round/>
                      <a:headEnd type="none" w="med" len="med"/>
                      <a:tailEnd type="none" w="med" len="med"/>
                    </a:lnR>
                    <a:lnT w="6350" cap="flat" cmpd="sng" algn="ctr">
                      <a:solidFill>
                        <a:srgbClr val="C9BFAE"/>
                      </a:solidFill>
                      <a:prstDash val="solid"/>
                      <a:round/>
                      <a:headEnd type="none" w="med" len="med"/>
                      <a:tailEnd type="none" w="med" len="med"/>
                    </a:lnT>
                    <a:lnB w="6350" cap="flat" cmpd="sng" algn="ctr">
                      <a:solidFill>
                        <a:srgbClr val="C9BFAE"/>
                      </a:solidFill>
                      <a:prstDash val="solid"/>
                      <a:round/>
                      <a:headEnd type="none" w="med" len="med"/>
                      <a:tailEnd type="none" w="med" len="med"/>
                    </a:lnB>
                    <a:solidFill>
                      <a:srgbClr val="FFFFFF"/>
                    </a:solidFill>
                  </a:tcPr>
                </a:tc>
                <a:tc>
                  <a:txBody>
                    <a:bodyPr/>
                    <a:lstStyle/>
                    <a:p>
                      <a:pPr algn="l" indent="0" marL="0">
                        <a:buNone/>
                      </a:pPr>
                      <a:r>
                        <a:rPr lang="en-US" sz="1250" dirty="0">
                          <a:solidFill>
                            <a:srgbClr val="1B2B31"/>
                          </a:solidFill>
                        </a:rPr>
                        <a:t>ambient soup → no</a:t>
                      </a:r>
                      <a:endParaRPr lang="en-US" sz="1250" dirty="0"/>
                    </a:p>
                  </a:txBody>
                  <a:tcPr marL="63500" marR="63500" marT="38100" marB="38100" anchor="ctr">
                    <a:lnL w="6350" cap="flat" cmpd="sng" algn="ctr">
                      <a:solidFill>
                        <a:srgbClr val="C9BFAE"/>
                      </a:solidFill>
                      <a:prstDash val="solid"/>
                      <a:round/>
                      <a:headEnd type="none" w="med" len="med"/>
                      <a:tailEnd type="none" w="med" len="med"/>
                    </a:lnL>
                    <a:lnR w="6350" cap="flat" cmpd="sng" algn="ctr">
                      <a:solidFill>
                        <a:srgbClr val="C9BFAE"/>
                      </a:solidFill>
                      <a:prstDash val="solid"/>
                      <a:round/>
                      <a:headEnd type="none" w="med" len="med"/>
                      <a:tailEnd type="none" w="med" len="med"/>
                    </a:lnR>
                    <a:lnT w="6350" cap="flat" cmpd="sng" algn="ctr">
                      <a:solidFill>
                        <a:srgbClr val="C9BFAE"/>
                      </a:solidFill>
                      <a:prstDash val="solid"/>
                      <a:round/>
                      <a:headEnd type="none" w="med" len="med"/>
                      <a:tailEnd type="none" w="med" len="med"/>
                    </a:lnT>
                    <a:lnB w="6350" cap="flat" cmpd="sng" algn="ctr">
                      <a:solidFill>
                        <a:srgbClr val="C9BFAE"/>
                      </a:solidFill>
                      <a:prstDash val="solid"/>
                      <a:round/>
                      <a:headEnd type="none" w="med" len="med"/>
                      <a:tailEnd type="none" w="med" len="med"/>
                    </a:lnB>
                    <a:solidFill>
                      <a:srgbClr val="FFFFFF"/>
                    </a:solidFill>
                  </a:tcPr>
                </a:tc>
              </a:tr>
              <a:tr h="365760">
                <a:tc>
                  <a:txBody>
                    <a:bodyPr/>
                    <a:lstStyle/>
                    <a:p>
                      <a:pPr algn="l" indent="0" marL="0">
                        <a:buNone/>
                      </a:pPr>
                      <a:r>
                        <a:rPr lang="en-US" sz="1250" dirty="0">
                          <a:solidFill>
                            <a:srgbClr val="1B2B31"/>
                          </a:solidFill>
                        </a:rPr>
                        <a:t>Gradient compression</a:t>
                      </a:r>
                      <a:endParaRPr lang="en-US" sz="1250" dirty="0"/>
                    </a:p>
                  </a:txBody>
                  <a:tcPr marL="63500" marR="63500" marT="38100" marB="38100" anchor="ctr">
                    <a:lnL w="6350" cap="flat" cmpd="sng" algn="ctr">
                      <a:solidFill>
                        <a:srgbClr val="C9BFAE"/>
                      </a:solidFill>
                      <a:prstDash val="solid"/>
                      <a:round/>
                      <a:headEnd type="none" w="med" len="med"/>
                      <a:tailEnd type="none" w="med" len="med"/>
                    </a:lnL>
                    <a:lnR w="6350" cap="flat" cmpd="sng" algn="ctr">
                      <a:solidFill>
                        <a:srgbClr val="C9BFAE"/>
                      </a:solidFill>
                      <a:prstDash val="solid"/>
                      <a:round/>
                      <a:headEnd type="none" w="med" len="med"/>
                      <a:tailEnd type="none" w="med" len="med"/>
                    </a:lnR>
                    <a:lnT w="6350" cap="flat" cmpd="sng" algn="ctr">
                      <a:solidFill>
                        <a:srgbClr val="C9BFAE"/>
                      </a:solidFill>
                      <a:prstDash val="solid"/>
                      <a:round/>
                      <a:headEnd type="none" w="med" len="med"/>
                      <a:tailEnd type="none" w="med" len="med"/>
                    </a:lnT>
                    <a:lnB w="6350" cap="flat" cmpd="sng" algn="ctr">
                      <a:solidFill>
                        <a:srgbClr val="C9BFAE"/>
                      </a:solidFill>
                      <a:prstDash val="solid"/>
                      <a:round/>
                      <a:headEnd type="none" w="med" len="med"/>
                      <a:tailEnd type="none" w="med" len="med"/>
                    </a:lnB>
                    <a:solidFill>
                      <a:srgbClr val="FFFFFF"/>
                    </a:solidFill>
                  </a:tcPr>
                </a:tc>
                <a:tc>
                  <a:txBody>
                    <a:bodyPr/>
                    <a:lstStyle/>
                    <a:p>
                      <a:pPr algn="l" indent="0" marL="0">
                        <a:buNone/>
                      </a:pPr>
                      <a:r>
                        <a:rPr lang="en-US" sz="1250" dirty="0">
                          <a:solidFill>
                            <a:srgbClr val="1B2B31"/>
                          </a:solidFill>
                        </a:rPr>
                        <a:t>per-cell balance → middle</a:t>
                      </a:r>
                      <a:endParaRPr lang="en-US" sz="1250" dirty="0"/>
                    </a:p>
                  </a:txBody>
                  <a:tcPr marL="63500" marR="63500" marT="38100" marB="38100" anchor="ctr">
                    <a:lnL w="6350" cap="flat" cmpd="sng" algn="ctr">
                      <a:solidFill>
                        <a:srgbClr val="C9BFAE"/>
                      </a:solidFill>
                      <a:prstDash val="solid"/>
                      <a:round/>
                      <a:headEnd type="none" w="med" len="med"/>
                      <a:tailEnd type="none" w="med" len="med"/>
                    </a:lnL>
                    <a:lnR w="6350" cap="flat" cmpd="sng" algn="ctr">
                      <a:solidFill>
                        <a:srgbClr val="C9BFAE"/>
                      </a:solidFill>
                      <a:prstDash val="solid"/>
                      <a:round/>
                      <a:headEnd type="none" w="med" len="med"/>
                      <a:tailEnd type="none" w="med" len="med"/>
                    </a:lnR>
                    <a:lnT w="6350" cap="flat" cmpd="sng" algn="ctr">
                      <a:solidFill>
                        <a:srgbClr val="C9BFAE"/>
                      </a:solidFill>
                      <a:prstDash val="solid"/>
                      <a:round/>
                      <a:headEnd type="none" w="med" len="med"/>
                      <a:tailEnd type="none" w="med" len="med"/>
                    </a:lnT>
                    <a:lnB w="6350" cap="flat" cmpd="sng" algn="ctr">
                      <a:solidFill>
                        <a:srgbClr val="C9BFAE"/>
                      </a:solidFill>
                      <a:prstDash val="solid"/>
                      <a:round/>
                      <a:headEnd type="none" w="med" len="med"/>
                      <a:tailEnd type="none" w="med" len="med"/>
                    </a:lnB>
                    <a:solidFill>
                      <a:srgbClr val="FFFFFF"/>
                    </a:solidFill>
                  </a:tcPr>
                </a:tc>
                <a:tc>
                  <a:txBody>
                    <a:bodyPr/>
                    <a:lstStyle/>
                    <a:p>
                      <a:pPr algn="l" indent="0" marL="0">
                        <a:buNone/>
                      </a:pPr>
                      <a:r>
                        <a:rPr lang="en-US" sz="1250" dirty="0">
                          <a:solidFill>
                            <a:srgbClr val="1B2B31"/>
                          </a:solidFill>
                        </a:rPr>
                        <a:t>mild, non-monotone (peak F3)</a:t>
                      </a:r>
                      <a:endParaRPr lang="en-US" sz="1250" dirty="0"/>
                    </a:p>
                  </a:txBody>
                  <a:tcPr marL="63500" marR="63500" marT="38100" marB="38100" anchor="ctr">
                    <a:lnL w="6350" cap="flat" cmpd="sng" algn="ctr">
                      <a:solidFill>
                        <a:srgbClr val="C9BFAE"/>
                      </a:solidFill>
                      <a:prstDash val="solid"/>
                      <a:round/>
                      <a:headEnd type="none" w="med" len="med"/>
                      <a:tailEnd type="none" w="med" len="med"/>
                    </a:lnL>
                    <a:lnR w="6350" cap="flat" cmpd="sng" algn="ctr">
                      <a:solidFill>
                        <a:srgbClr val="C9BFAE"/>
                      </a:solidFill>
                      <a:prstDash val="solid"/>
                      <a:round/>
                      <a:headEnd type="none" w="med" len="med"/>
                      <a:tailEnd type="none" w="med" len="med"/>
                    </a:lnR>
                    <a:lnT w="6350" cap="flat" cmpd="sng" algn="ctr">
                      <a:solidFill>
                        <a:srgbClr val="C9BFAE"/>
                      </a:solidFill>
                      <a:prstDash val="solid"/>
                      <a:round/>
                      <a:headEnd type="none" w="med" len="med"/>
                      <a:tailEnd type="none" w="med" len="med"/>
                    </a:lnT>
                    <a:lnB w="6350" cap="flat" cmpd="sng" algn="ctr">
                      <a:solidFill>
                        <a:srgbClr val="C9BFAE"/>
                      </a:solidFill>
                      <a:prstDash val="solid"/>
                      <a:round/>
                      <a:headEnd type="none" w="med" len="med"/>
                      <a:tailEnd type="none" w="med" len="med"/>
                    </a:lnB>
                    <a:solidFill>
                      <a:srgbClr val="FFFFFF"/>
                    </a:solidFill>
                  </a:tcPr>
                </a:tc>
                <a:tc>
                  <a:txBody>
                    <a:bodyPr/>
                    <a:lstStyle/>
                    <a:p>
                      <a:pPr algn="l" indent="0" marL="0">
                        <a:buNone/>
                      </a:pPr>
                      <a:r>
                        <a:rPr lang="en-US" sz="1250" dirty="0">
                          <a:solidFill>
                            <a:srgbClr val="1B2B31"/>
                          </a:solidFill>
                        </a:rPr>
                        <a:t>gradient present</a:t>
                      </a:r>
                      <a:endParaRPr lang="en-US" sz="1250" dirty="0"/>
                    </a:p>
                  </a:txBody>
                  <a:tcPr marL="63500" marR="63500" marT="38100" marB="38100" anchor="ctr">
                    <a:lnL w="6350" cap="flat" cmpd="sng" algn="ctr">
                      <a:solidFill>
                        <a:srgbClr val="C9BFAE"/>
                      </a:solidFill>
                      <a:prstDash val="solid"/>
                      <a:round/>
                      <a:headEnd type="none" w="med" len="med"/>
                      <a:tailEnd type="none" w="med" len="med"/>
                    </a:lnL>
                    <a:lnR w="6350" cap="flat" cmpd="sng" algn="ctr">
                      <a:solidFill>
                        <a:srgbClr val="C9BFAE"/>
                      </a:solidFill>
                      <a:prstDash val="solid"/>
                      <a:round/>
                      <a:headEnd type="none" w="med" len="med"/>
                      <a:tailEnd type="none" w="med" len="med"/>
                    </a:lnR>
                    <a:lnT w="6350" cap="flat" cmpd="sng" algn="ctr">
                      <a:solidFill>
                        <a:srgbClr val="C9BFAE"/>
                      </a:solidFill>
                      <a:prstDash val="solid"/>
                      <a:round/>
                      <a:headEnd type="none" w="med" len="med"/>
                      <a:tailEnd type="none" w="med" len="med"/>
                    </a:lnT>
                    <a:lnB w="6350" cap="flat" cmpd="sng" algn="ctr">
                      <a:solidFill>
                        <a:srgbClr val="C9BFAE"/>
                      </a:solidFill>
                      <a:prstDash val="solid"/>
                      <a:round/>
                      <a:headEnd type="none" w="med" len="med"/>
                      <a:tailEnd type="none" w="med" len="med"/>
                    </a:lnB>
                    <a:solidFill>
                      <a:srgbClr val="FFFFFF"/>
                    </a:solidFill>
                  </a:tcPr>
                </a:tc>
              </a:tr>
              <a:tr h="365760">
                <a:tc>
                  <a:txBody>
                    <a:bodyPr/>
                    <a:lstStyle/>
                    <a:p>
                      <a:pPr algn="l" indent="0" marL="0">
                        <a:buNone/>
                      </a:pPr>
                      <a:r>
                        <a:rPr lang="en-US" sz="1250" dirty="0">
                          <a:solidFill>
                            <a:srgbClr val="1B2B31"/>
                          </a:solidFill>
                        </a:rPr>
                        <a:t>Turn-off</a:t>
                      </a:r>
                      <a:endParaRPr lang="en-US" sz="1250" dirty="0"/>
                    </a:p>
                  </a:txBody>
                  <a:tcPr marL="63500" marR="63500" marT="38100" marB="38100" anchor="ctr">
                    <a:lnL w="6350" cap="flat" cmpd="sng" algn="ctr">
                      <a:solidFill>
                        <a:srgbClr val="C9BFAE"/>
                      </a:solidFill>
                      <a:prstDash val="solid"/>
                      <a:round/>
                      <a:headEnd type="none" w="med" len="med"/>
                      <a:tailEnd type="none" w="med" len="med"/>
                    </a:lnL>
                    <a:lnR w="6350" cap="flat" cmpd="sng" algn="ctr">
                      <a:solidFill>
                        <a:srgbClr val="C9BFAE"/>
                      </a:solidFill>
                      <a:prstDash val="solid"/>
                      <a:round/>
                      <a:headEnd type="none" w="med" len="med"/>
                      <a:tailEnd type="none" w="med" len="med"/>
                    </a:lnR>
                    <a:lnT w="6350" cap="flat" cmpd="sng" algn="ctr">
                      <a:solidFill>
                        <a:srgbClr val="C9BFAE"/>
                      </a:solidFill>
                      <a:prstDash val="solid"/>
                      <a:round/>
                      <a:headEnd type="none" w="med" len="med"/>
                      <a:tailEnd type="none" w="med" len="med"/>
                    </a:lnT>
                    <a:lnB w="6350" cap="flat" cmpd="sng" algn="ctr">
                      <a:solidFill>
                        <a:srgbClr val="C9BFAE"/>
                      </a:solidFill>
                      <a:prstDash val="solid"/>
                      <a:round/>
                      <a:headEnd type="none" w="med" len="med"/>
                      <a:tailEnd type="none" w="med" len="med"/>
                    </a:lnB>
                    <a:solidFill>
                      <a:srgbClr val="FFFFFF"/>
                    </a:solidFill>
                  </a:tcPr>
                </a:tc>
                <a:tc>
                  <a:txBody>
                    <a:bodyPr/>
                    <a:lstStyle/>
                    <a:p>
                      <a:pPr algn="l" indent="0" marL="0">
                        <a:buNone/>
                      </a:pPr>
                      <a:r>
                        <a:rPr lang="en-US" sz="1250" dirty="0">
                          <a:solidFill>
                            <a:srgbClr val="1B2B31"/>
                          </a:solidFill>
                        </a:rPr>
                        <a:t>null (double-neg) fraction ↑</a:t>
                      </a:r>
                      <a:endParaRPr lang="en-US" sz="1250" dirty="0"/>
                    </a:p>
                  </a:txBody>
                  <a:tcPr marL="63500" marR="63500" marT="38100" marB="38100" anchor="ctr">
                    <a:lnL w="6350" cap="flat" cmpd="sng" algn="ctr">
                      <a:solidFill>
                        <a:srgbClr val="C9BFAE"/>
                      </a:solidFill>
                      <a:prstDash val="solid"/>
                      <a:round/>
                      <a:headEnd type="none" w="med" len="med"/>
                      <a:tailEnd type="none" w="med" len="med"/>
                    </a:lnL>
                    <a:lnR w="6350" cap="flat" cmpd="sng" algn="ctr">
                      <a:solidFill>
                        <a:srgbClr val="C9BFAE"/>
                      </a:solidFill>
                      <a:prstDash val="solid"/>
                      <a:round/>
                      <a:headEnd type="none" w="med" len="med"/>
                      <a:tailEnd type="none" w="med" len="med"/>
                    </a:lnR>
                    <a:lnT w="6350" cap="flat" cmpd="sng" algn="ctr">
                      <a:solidFill>
                        <a:srgbClr val="C9BFAE"/>
                      </a:solidFill>
                      <a:prstDash val="solid"/>
                      <a:round/>
                      <a:headEnd type="none" w="med" len="med"/>
                      <a:tailEnd type="none" w="med" len="med"/>
                    </a:lnT>
                    <a:lnB w="6350" cap="flat" cmpd="sng" algn="ctr">
                      <a:solidFill>
                        <a:srgbClr val="C9BFAE"/>
                      </a:solidFill>
                      <a:prstDash val="solid"/>
                      <a:round/>
                      <a:headEnd type="none" w="med" len="med"/>
                      <a:tailEnd type="none" w="med" len="med"/>
                    </a:lnB>
                    <a:solidFill>
                      <a:srgbClr val="FFFFFF"/>
                    </a:solidFill>
                  </a:tcPr>
                </a:tc>
                <a:tc>
                  <a:txBody>
                    <a:bodyPr/>
                    <a:lstStyle/>
                    <a:p>
                      <a:pPr algn="l" indent="0" marL="0">
                        <a:buNone/>
                      </a:pPr>
                      <a:r>
                        <a:rPr lang="en-US" sz="1250" dirty="0">
                          <a:solidFill>
                            <a:srgbClr val="1B2B31"/>
                          </a:solidFill>
                        </a:rPr>
                        <a:t>34 / 44 / 36 / 39 / 39 %</a:t>
                      </a:r>
                      <a:endParaRPr lang="en-US" sz="1250" dirty="0"/>
                    </a:p>
                  </a:txBody>
                  <a:tcPr marL="63500" marR="63500" marT="38100" marB="38100" anchor="ctr">
                    <a:lnL w="6350" cap="flat" cmpd="sng" algn="ctr">
                      <a:solidFill>
                        <a:srgbClr val="C9BFAE"/>
                      </a:solidFill>
                      <a:prstDash val="solid"/>
                      <a:round/>
                      <a:headEnd type="none" w="med" len="med"/>
                      <a:tailEnd type="none" w="med" len="med"/>
                    </a:lnL>
                    <a:lnR w="6350" cap="flat" cmpd="sng" algn="ctr">
                      <a:solidFill>
                        <a:srgbClr val="C9BFAE"/>
                      </a:solidFill>
                      <a:prstDash val="solid"/>
                      <a:round/>
                      <a:headEnd type="none" w="med" len="med"/>
                      <a:tailEnd type="none" w="med" len="med"/>
                    </a:lnR>
                    <a:lnT w="6350" cap="flat" cmpd="sng" algn="ctr">
                      <a:solidFill>
                        <a:srgbClr val="C9BFAE"/>
                      </a:solidFill>
                      <a:prstDash val="solid"/>
                      <a:round/>
                      <a:headEnd type="none" w="med" len="med"/>
                      <a:tailEnd type="none" w="med" len="med"/>
                    </a:lnT>
                    <a:lnB w="6350" cap="flat" cmpd="sng" algn="ctr">
                      <a:solidFill>
                        <a:srgbClr val="C9BFAE"/>
                      </a:solidFill>
                      <a:prstDash val="solid"/>
                      <a:round/>
                      <a:headEnd type="none" w="med" len="med"/>
                      <a:tailEnd type="none" w="med" len="med"/>
                    </a:lnB>
                    <a:solidFill>
                      <a:srgbClr val="FFFFFF"/>
                    </a:solidFill>
                  </a:tcPr>
                </a:tc>
                <a:tc>
                  <a:txBody>
                    <a:bodyPr/>
                    <a:lstStyle/>
                    <a:p>
                      <a:pPr algn="l" indent="0" marL="0">
                        <a:buNone/>
                      </a:pPr>
                      <a:r>
                        <a:rPr lang="en-US" sz="1250" dirty="0">
                          <a:solidFill>
                            <a:srgbClr val="1B2B31"/>
                          </a:solidFill>
                        </a:rPr>
                        <a:t>flat → no turn-off</a:t>
                      </a:r>
                      <a:endParaRPr lang="en-US" sz="1250" dirty="0"/>
                    </a:p>
                  </a:txBody>
                  <a:tcPr marL="63500" marR="63500" marT="38100" marB="38100" anchor="ctr">
                    <a:lnL w="6350" cap="flat" cmpd="sng" algn="ctr">
                      <a:solidFill>
                        <a:srgbClr val="C9BFAE"/>
                      </a:solidFill>
                      <a:prstDash val="solid"/>
                      <a:round/>
                      <a:headEnd type="none" w="med" len="med"/>
                      <a:tailEnd type="none" w="med" len="med"/>
                    </a:lnL>
                    <a:lnR w="6350" cap="flat" cmpd="sng" algn="ctr">
                      <a:solidFill>
                        <a:srgbClr val="C9BFAE"/>
                      </a:solidFill>
                      <a:prstDash val="solid"/>
                      <a:round/>
                      <a:headEnd type="none" w="med" len="med"/>
                      <a:tailEnd type="none" w="med" len="med"/>
                    </a:lnR>
                    <a:lnT w="6350" cap="flat" cmpd="sng" algn="ctr">
                      <a:solidFill>
                        <a:srgbClr val="C9BFAE"/>
                      </a:solidFill>
                      <a:prstDash val="solid"/>
                      <a:round/>
                      <a:headEnd type="none" w="med" len="med"/>
                      <a:tailEnd type="none" w="med" len="med"/>
                    </a:lnT>
                    <a:lnB w="6350" cap="flat" cmpd="sng" algn="ctr">
                      <a:solidFill>
                        <a:srgbClr val="C9BFAE"/>
                      </a:solidFill>
                      <a:prstDash val="solid"/>
                      <a:round/>
                      <a:headEnd type="none" w="med" len="med"/>
                      <a:tailEnd type="none" w="med" len="med"/>
                    </a:lnB>
                    <a:solidFill>
                      <a:srgbClr val="FFFFFF"/>
                    </a:solidFill>
                  </a:tcPr>
                </a:tc>
              </a:tr>
              <a:tr h="365760">
                <a:tc>
                  <a:txBody>
                    <a:bodyPr/>
                    <a:lstStyle/>
                    <a:p>
                      <a:pPr algn="l" indent="0" marL="0">
                        <a:buNone/>
                      </a:pPr>
                      <a:r>
                        <a:rPr lang="en-US" sz="1250" dirty="0">
                          <a:solidFill>
                            <a:srgbClr val="1B2B31"/>
                          </a:solidFill>
                        </a:rPr>
                        <a:t>Composition shift</a:t>
                      </a:r>
                      <a:endParaRPr lang="en-US" sz="1250" dirty="0"/>
                    </a:p>
                  </a:txBody>
                  <a:tcPr marL="63500" marR="63500" marT="38100" marB="38100" anchor="ctr">
                    <a:lnL w="6350" cap="flat" cmpd="sng" algn="ctr">
                      <a:solidFill>
                        <a:srgbClr val="C9BFAE"/>
                      </a:solidFill>
                      <a:prstDash val="solid"/>
                      <a:round/>
                      <a:headEnd type="none" w="med" len="med"/>
                      <a:tailEnd type="none" w="med" len="med"/>
                    </a:lnL>
                    <a:lnR w="6350" cap="flat" cmpd="sng" algn="ctr">
                      <a:solidFill>
                        <a:srgbClr val="C9BFAE"/>
                      </a:solidFill>
                      <a:prstDash val="solid"/>
                      <a:round/>
                      <a:headEnd type="none" w="med" len="med"/>
                      <a:tailEnd type="none" w="med" len="med"/>
                    </a:lnR>
                    <a:lnT w="6350" cap="flat" cmpd="sng" algn="ctr">
                      <a:solidFill>
                        <a:srgbClr val="C9BFAE"/>
                      </a:solidFill>
                      <a:prstDash val="solid"/>
                      <a:round/>
                      <a:headEnd type="none" w="med" len="med"/>
                      <a:tailEnd type="none" w="med" len="med"/>
                    </a:lnT>
                    <a:lnB w="6350" cap="flat" cmpd="sng" algn="ctr">
                      <a:solidFill>
                        <a:srgbClr val="C9BFAE"/>
                      </a:solidFill>
                      <a:prstDash val="solid"/>
                      <a:round/>
                      <a:headEnd type="none" w="med" len="med"/>
                      <a:tailEnd type="none" w="med" len="med"/>
                    </a:lnB>
                    <a:solidFill>
                      <a:srgbClr val="FFFFFF"/>
                    </a:solidFill>
                  </a:tcPr>
                </a:tc>
                <a:tc>
                  <a:txBody>
                    <a:bodyPr/>
                    <a:lstStyle/>
                    <a:p>
                      <a:pPr algn="l" indent="0" marL="0">
                        <a:buNone/>
                      </a:pPr>
                      <a:r>
                        <a:rPr lang="en-US" sz="1250" dirty="0">
                          <a:solidFill>
                            <a:srgbClr val="1B2B31"/>
                          </a:solidFill>
                        </a:rPr>
                        <a:t>PP : PC anchor ratio</a:t>
                      </a:r>
                      <a:endParaRPr lang="en-US" sz="1250" dirty="0"/>
                    </a:p>
                  </a:txBody>
                  <a:tcPr marL="63500" marR="63500" marT="38100" marB="38100" anchor="ctr">
                    <a:lnL w="6350" cap="flat" cmpd="sng" algn="ctr">
                      <a:solidFill>
                        <a:srgbClr val="C9BFAE"/>
                      </a:solidFill>
                      <a:prstDash val="solid"/>
                      <a:round/>
                      <a:headEnd type="none" w="med" len="med"/>
                      <a:tailEnd type="none" w="med" len="med"/>
                    </a:lnL>
                    <a:lnR w="6350" cap="flat" cmpd="sng" algn="ctr">
                      <a:solidFill>
                        <a:srgbClr val="C9BFAE"/>
                      </a:solidFill>
                      <a:prstDash val="solid"/>
                      <a:round/>
                      <a:headEnd type="none" w="med" len="med"/>
                      <a:tailEnd type="none" w="med" len="med"/>
                    </a:lnR>
                    <a:lnT w="6350" cap="flat" cmpd="sng" algn="ctr">
                      <a:solidFill>
                        <a:srgbClr val="C9BFAE"/>
                      </a:solidFill>
                      <a:prstDash val="solid"/>
                      <a:round/>
                      <a:headEnd type="none" w="med" len="med"/>
                      <a:tailEnd type="none" w="med" len="med"/>
                    </a:lnT>
                    <a:lnB w="6350" cap="flat" cmpd="sng" algn="ctr">
                      <a:solidFill>
                        <a:srgbClr val="C9BFAE"/>
                      </a:solidFill>
                      <a:prstDash val="solid"/>
                      <a:round/>
                      <a:headEnd type="none" w="med" len="med"/>
                      <a:tailEnd type="none" w="med" len="med"/>
                    </a:lnB>
                    <a:solidFill>
                      <a:srgbClr val="FFFFFF"/>
                    </a:solidFill>
                  </a:tcPr>
                </a:tc>
                <a:tc>
                  <a:txBody>
                    <a:bodyPr/>
                    <a:lstStyle/>
                    <a:p>
                      <a:pPr algn="l" indent="0" marL="0">
                        <a:buNone/>
                      </a:pPr>
                      <a:r>
                        <a:rPr lang="en-US" sz="1250" dirty="0">
                          <a:solidFill>
                            <a:srgbClr val="1B2B31"/>
                          </a:solidFill>
                        </a:rPr>
                        <a:t>0.62 / 1.16 / 1.01 / 1.10 / 1.18</a:t>
                      </a:r>
                      <a:endParaRPr lang="en-US" sz="1250" dirty="0"/>
                    </a:p>
                  </a:txBody>
                  <a:tcPr marL="63500" marR="63500" marT="38100" marB="38100" anchor="ctr">
                    <a:lnL w="6350" cap="flat" cmpd="sng" algn="ctr">
                      <a:solidFill>
                        <a:srgbClr val="C9BFAE"/>
                      </a:solidFill>
                      <a:prstDash val="solid"/>
                      <a:round/>
                      <a:headEnd type="none" w="med" len="med"/>
                      <a:tailEnd type="none" w="med" len="med"/>
                    </a:lnL>
                    <a:lnR w="6350" cap="flat" cmpd="sng" algn="ctr">
                      <a:solidFill>
                        <a:srgbClr val="C9BFAE"/>
                      </a:solidFill>
                      <a:prstDash val="solid"/>
                      <a:round/>
                      <a:headEnd type="none" w="med" len="med"/>
                      <a:tailEnd type="none" w="med" len="med"/>
                    </a:lnR>
                    <a:lnT w="6350" cap="flat" cmpd="sng" algn="ctr">
                      <a:solidFill>
                        <a:srgbClr val="C9BFAE"/>
                      </a:solidFill>
                      <a:prstDash val="solid"/>
                      <a:round/>
                      <a:headEnd type="none" w="med" len="med"/>
                      <a:tailEnd type="none" w="med" len="med"/>
                    </a:lnT>
                    <a:lnB w="6350" cap="flat" cmpd="sng" algn="ctr">
                      <a:solidFill>
                        <a:srgbClr val="C9BFAE"/>
                      </a:solidFill>
                      <a:prstDash val="solid"/>
                      <a:round/>
                      <a:headEnd type="none" w="med" len="med"/>
                      <a:tailEnd type="none" w="med" len="med"/>
                    </a:lnB>
                    <a:solidFill>
                      <a:srgbClr val="FFFFFF"/>
                    </a:solidFill>
                  </a:tcPr>
                </a:tc>
                <a:tc>
                  <a:txBody>
                    <a:bodyPr/>
                    <a:lstStyle/>
                    <a:p>
                      <a:pPr algn="l" indent="0" marL="0">
                        <a:buNone/>
                      </a:pPr>
                      <a:r>
                        <a:rPr lang="en-US" sz="1250" dirty="0">
                          <a:solidFill>
                            <a:srgbClr val="1B2B31"/>
                          </a:solidFill>
                        </a:rPr>
                        <a:t>~flat → no shift</a:t>
                      </a:r>
                      <a:endParaRPr lang="en-US" sz="1250" dirty="0"/>
                    </a:p>
                  </a:txBody>
                  <a:tcPr marL="63500" marR="63500" marT="38100" marB="38100" anchor="ctr">
                    <a:lnL w="6350" cap="flat" cmpd="sng" algn="ctr">
                      <a:solidFill>
                        <a:srgbClr val="C9BFAE"/>
                      </a:solidFill>
                      <a:prstDash val="solid"/>
                      <a:round/>
                      <a:headEnd type="none" w="med" len="med"/>
                      <a:tailEnd type="none" w="med" len="med"/>
                    </a:lnL>
                    <a:lnR w="6350" cap="flat" cmpd="sng" algn="ctr">
                      <a:solidFill>
                        <a:srgbClr val="C9BFAE"/>
                      </a:solidFill>
                      <a:prstDash val="solid"/>
                      <a:round/>
                      <a:headEnd type="none" w="med" len="med"/>
                      <a:tailEnd type="none" w="med" len="med"/>
                    </a:lnR>
                    <a:lnT w="6350" cap="flat" cmpd="sng" algn="ctr">
                      <a:solidFill>
                        <a:srgbClr val="C9BFAE"/>
                      </a:solidFill>
                      <a:prstDash val="solid"/>
                      <a:round/>
                      <a:headEnd type="none" w="med" len="med"/>
                      <a:tailEnd type="none" w="med" len="med"/>
                    </a:lnT>
                    <a:lnB w="6350" cap="flat" cmpd="sng" algn="ctr">
                      <a:solidFill>
                        <a:srgbClr val="C9BFAE"/>
                      </a:solidFill>
                      <a:prstDash val="solid"/>
                      <a:round/>
                      <a:headEnd type="none" w="med" len="med"/>
                      <a:tailEnd type="none" w="med" len="med"/>
                    </a:lnB>
                    <a:solidFill>
                      <a:srgbClr val="FFFFFF"/>
                    </a:solidFill>
                  </a:tcPr>
                </a:tc>
              </a:tr>
              <a:tr h="365760">
                <a:tc>
                  <a:txBody>
                    <a:bodyPr/>
                    <a:lstStyle/>
                    <a:p>
                      <a:pPr algn="l" indent="0" marL="0">
                        <a:buNone/>
                      </a:pPr>
                      <a:r>
                        <a:rPr lang="en-US" sz="1250" dirty="0">
                          <a:solidFill>
                            <a:srgbClr val="1B2B31"/>
                          </a:solidFill>
                        </a:rPr>
                        <a:t>Induction</a:t>
                      </a:r>
                      <a:endParaRPr lang="en-US" sz="1250" dirty="0"/>
                    </a:p>
                  </a:txBody>
                  <a:tcPr marL="63500" marR="63500" marT="38100" marB="38100" anchor="ctr">
                    <a:lnL w="6350" cap="flat" cmpd="sng" algn="ctr">
                      <a:solidFill>
                        <a:srgbClr val="C9BFAE"/>
                      </a:solidFill>
                      <a:prstDash val="solid"/>
                      <a:round/>
                      <a:headEnd type="none" w="med" len="med"/>
                      <a:tailEnd type="none" w="med" len="med"/>
                    </a:lnL>
                    <a:lnR w="6350" cap="flat" cmpd="sng" algn="ctr">
                      <a:solidFill>
                        <a:srgbClr val="C9BFAE"/>
                      </a:solidFill>
                      <a:prstDash val="solid"/>
                      <a:round/>
                      <a:headEnd type="none" w="med" len="med"/>
                      <a:tailEnd type="none" w="med" len="med"/>
                    </a:lnR>
                    <a:lnT w="6350" cap="flat" cmpd="sng" algn="ctr">
                      <a:solidFill>
                        <a:srgbClr val="C9BFAE"/>
                      </a:solidFill>
                      <a:prstDash val="solid"/>
                      <a:round/>
                      <a:headEnd type="none" w="med" len="med"/>
                      <a:tailEnd type="none" w="med" len="med"/>
                    </a:lnT>
                    <a:lnB w="6350" cap="flat" cmpd="sng" algn="ctr">
                      <a:solidFill>
                        <a:srgbClr val="C9BFAE"/>
                      </a:solidFill>
                      <a:prstDash val="solid"/>
                      <a:round/>
                      <a:headEnd type="none" w="med" len="med"/>
                      <a:tailEnd type="none" w="med" len="med"/>
                    </a:lnB>
                    <a:solidFill>
                      <a:srgbClr val="FFFFFF"/>
                    </a:solidFill>
                  </a:tcPr>
                </a:tc>
                <a:tc>
                  <a:txBody>
                    <a:bodyPr/>
                    <a:lstStyle/>
                    <a:p>
                      <a:pPr algn="l" indent="0" marL="0">
                        <a:buNone/>
                      </a:pPr>
                      <a:r>
                        <a:rPr lang="en-US" sz="1250" dirty="0">
                          <a:solidFill>
                            <a:srgbClr val="1B2B31"/>
                          </a:solidFill>
                        </a:rPr>
                        <a:t>program burden ↑</a:t>
                      </a:r>
                      <a:endParaRPr lang="en-US" sz="1250" dirty="0"/>
                    </a:p>
                  </a:txBody>
                  <a:tcPr marL="63500" marR="63500" marT="38100" marB="38100" anchor="ctr">
                    <a:lnL w="6350" cap="flat" cmpd="sng" algn="ctr">
                      <a:solidFill>
                        <a:srgbClr val="C9BFAE"/>
                      </a:solidFill>
                      <a:prstDash val="solid"/>
                      <a:round/>
                      <a:headEnd type="none" w="med" len="med"/>
                      <a:tailEnd type="none" w="med" len="med"/>
                    </a:lnL>
                    <a:lnR w="6350" cap="flat" cmpd="sng" algn="ctr">
                      <a:solidFill>
                        <a:srgbClr val="C9BFAE"/>
                      </a:solidFill>
                      <a:prstDash val="solid"/>
                      <a:round/>
                      <a:headEnd type="none" w="med" len="med"/>
                      <a:tailEnd type="none" w="med" len="med"/>
                    </a:lnR>
                    <a:lnT w="6350" cap="flat" cmpd="sng" algn="ctr">
                      <a:solidFill>
                        <a:srgbClr val="C9BFAE"/>
                      </a:solidFill>
                      <a:prstDash val="solid"/>
                      <a:round/>
                      <a:headEnd type="none" w="med" len="med"/>
                      <a:tailEnd type="none" w="med" len="med"/>
                    </a:lnT>
                    <a:lnB w="6350" cap="flat" cmpd="sng" algn="ctr">
                      <a:solidFill>
                        <a:srgbClr val="C9BFAE"/>
                      </a:solidFill>
                      <a:prstDash val="solid"/>
                      <a:round/>
                      <a:headEnd type="none" w="med" len="med"/>
                      <a:tailEnd type="none" w="med" len="med"/>
                    </a:lnB>
                    <a:solidFill>
                      <a:srgbClr val="FFFFFF"/>
                    </a:solidFill>
                  </a:tcPr>
                </a:tc>
                <a:tc>
                  <a:txBody>
                    <a:bodyPr/>
                    <a:lstStyle/>
                    <a:p>
                      <a:pPr algn="l" indent="0" marL="0">
                        <a:buNone/>
                      </a:pPr>
                      <a:r>
                        <a:rPr lang="en-US" sz="1250" dirty="0">
                          <a:solidFill>
                            <a:srgbClr val="1B2B31"/>
                          </a:solidFill>
                        </a:rPr>
                        <a:t>flat in biopsy; rises only end-stage</a:t>
                      </a:r>
                      <a:endParaRPr lang="en-US" sz="1250" dirty="0"/>
                    </a:p>
                  </a:txBody>
                  <a:tcPr marL="63500" marR="63500" marT="38100" marB="38100" anchor="ctr">
                    <a:lnL w="6350" cap="flat" cmpd="sng" algn="ctr">
                      <a:solidFill>
                        <a:srgbClr val="C9BFAE"/>
                      </a:solidFill>
                      <a:prstDash val="solid"/>
                      <a:round/>
                      <a:headEnd type="none" w="med" len="med"/>
                      <a:tailEnd type="none" w="med" len="med"/>
                    </a:lnL>
                    <a:lnR w="6350" cap="flat" cmpd="sng" algn="ctr">
                      <a:solidFill>
                        <a:srgbClr val="C9BFAE"/>
                      </a:solidFill>
                      <a:prstDash val="solid"/>
                      <a:round/>
                      <a:headEnd type="none" w="med" len="med"/>
                      <a:tailEnd type="none" w="med" len="med"/>
                    </a:lnR>
                    <a:lnT w="6350" cap="flat" cmpd="sng" algn="ctr">
                      <a:solidFill>
                        <a:srgbClr val="C9BFAE"/>
                      </a:solidFill>
                      <a:prstDash val="solid"/>
                      <a:round/>
                      <a:headEnd type="none" w="med" len="med"/>
                      <a:tailEnd type="none" w="med" len="med"/>
                    </a:lnT>
                    <a:lnB w="6350" cap="flat" cmpd="sng" algn="ctr">
                      <a:solidFill>
                        <a:srgbClr val="C9BFAE"/>
                      </a:solidFill>
                      <a:prstDash val="solid"/>
                      <a:round/>
                      <a:headEnd type="none" w="med" len="med"/>
                      <a:tailEnd type="none" w="med" len="med"/>
                    </a:lnB>
                    <a:solidFill>
                      <a:srgbClr val="FFFFFF"/>
                    </a:solidFill>
                  </a:tcPr>
                </a:tc>
                <a:tc>
                  <a:txBody>
                    <a:bodyPr/>
                    <a:lstStyle/>
                    <a:p>
                      <a:pPr algn="l" indent="0" marL="0">
                        <a:buNone/>
                      </a:pPr>
                      <a:r>
                        <a:rPr lang="en-US" sz="1250" dirty="0">
                          <a:solidFill>
                            <a:srgbClr val="1B2B31"/>
                          </a:solidFill>
                        </a:rPr>
                        <a:t>explant-only</a:t>
                      </a:r>
                      <a:endParaRPr lang="en-US" sz="1250" dirty="0"/>
                    </a:p>
                  </a:txBody>
                  <a:tcPr marL="63500" marR="63500" marT="38100" marB="38100" anchor="ctr">
                    <a:lnL w="6350" cap="flat" cmpd="sng" algn="ctr">
                      <a:solidFill>
                        <a:srgbClr val="C9BFAE"/>
                      </a:solidFill>
                      <a:prstDash val="solid"/>
                      <a:round/>
                      <a:headEnd type="none" w="med" len="med"/>
                      <a:tailEnd type="none" w="med" len="med"/>
                    </a:lnL>
                    <a:lnR w="6350" cap="flat" cmpd="sng" algn="ctr">
                      <a:solidFill>
                        <a:srgbClr val="C9BFAE"/>
                      </a:solidFill>
                      <a:prstDash val="solid"/>
                      <a:round/>
                      <a:headEnd type="none" w="med" len="med"/>
                      <a:tailEnd type="none" w="med" len="med"/>
                    </a:lnR>
                    <a:lnT w="6350" cap="flat" cmpd="sng" algn="ctr">
                      <a:solidFill>
                        <a:srgbClr val="C9BFAE"/>
                      </a:solidFill>
                      <a:prstDash val="solid"/>
                      <a:round/>
                      <a:headEnd type="none" w="med" len="med"/>
                      <a:tailEnd type="none" w="med" len="med"/>
                    </a:lnT>
                    <a:lnB w="6350" cap="flat" cmpd="sng" algn="ctr">
                      <a:solidFill>
                        <a:srgbClr val="C9BFAE"/>
                      </a:solidFill>
                      <a:prstDash val="solid"/>
                      <a:round/>
                      <a:headEnd type="none" w="med" len="med"/>
                      <a:tailEnd type="none" w="med" len="med"/>
                    </a:lnB>
                    <a:solidFill>
                      <a:srgbClr val="FFFFFF"/>
                    </a:solidFill>
                  </a:tcPr>
                </a:tc>
              </a:tr>
            </a:tbl>
          </a:graphicData>
        </a:graphic>
      </p:graphicFrame>
      <p:sp>
        <p:nvSpPr>
          <p:cNvPr id="6" name="Text 3"/>
          <p:cNvSpPr/>
          <p:nvPr/>
        </p:nvSpPr>
        <p:spPr>
          <a:xfrm>
            <a:off x="640080" y="5897880"/>
            <a:ext cx="10972800" cy="640080"/>
          </a:xfrm>
          <a:prstGeom prst="rect">
            <a:avLst/>
          </a:prstGeom>
          <a:noFill/>
          <a:ln/>
        </p:spPr>
        <p:txBody>
          <a:bodyPr wrap="square" rtlCol="0" anchor="ctr"/>
          <a:lstStyle/>
          <a:p>
            <a:pPr algn="l" indent="0" marL="0">
              <a:buNone/>
            </a:pPr>
            <a:r>
              <a:rPr lang="en-US" sz="1250" i="1" dirty="0">
                <a:solidFill>
                  <a:srgbClr val="5C6E73"/>
                </a:solidFill>
              </a:rPr>
              <a:t>Each row is a distinct way zonation could fail, mapped to its signature on depth-normalized counts. The structure-redistribution routes (cells crossing boxes) are all flat — cells keep their identity. The one magnitude route, dimming, is REAL: the pericentral detox program quiets, confirmed by gene-set + within-PC testing.</a:t>
            </a:r>
            <a:endParaRPr lang="en-US" sz="12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16242B"/>
        </a:solidFill>
      </p:bgPr>
    </p:bg>
    <p:spTree>
      <p:nvGrpSpPr>
        <p:cNvPr id="1" name=""/>
        <p:cNvGrpSpPr/>
        <p:nvPr/>
      </p:nvGrpSpPr>
      <p:grpSpPr>
        <a:xfrm>
          <a:off x="0" y="0"/>
          <a:ext cx="0" cy="0"/>
          <a:chOff x="0" y="0"/>
          <a:chExt cx="0" cy="0"/>
        </a:xfrm>
      </p:grpSpPr>
      <p:sp>
        <p:nvSpPr>
          <p:cNvPr id="2" name="Shape 0"/>
          <p:cNvSpPr/>
          <p:nvPr/>
        </p:nvSpPr>
        <p:spPr>
          <a:xfrm>
            <a:off x="0" y="0"/>
            <a:ext cx="256032" cy="6858000"/>
          </a:xfrm>
          <a:prstGeom prst="rect">
            <a:avLst/>
          </a:prstGeom>
          <a:solidFill>
            <a:srgbClr val="1B6E78"/>
          </a:solidFill>
          <a:ln/>
        </p:spPr>
      </p:sp>
      <p:sp>
        <p:nvSpPr>
          <p:cNvPr id="3" name="Shape 1"/>
          <p:cNvSpPr/>
          <p:nvPr/>
        </p:nvSpPr>
        <p:spPr>
          <a:xfrm>
            <a:off x="256032" y="0"/>
            <a:ext cx="109728" cy="6858000"/>
          </a:xfrm>
          <a:prstGeom prst="rect">
            <a:avLst/>
          </a:prstGeom>
          <a:solidFill>
            <a:srgbClr val="C0561B"/>
          </a:solidFill>
          <a:ln/>
        </p:spPr>
      </p:sp>
      <p:sp>
        <p:nvSpPr>
          <p:cNvPr id="4" name="Shape 2"/>
          <p:cNvSpPr/>
          <p:nvPr/>
        </p:nvSpPr>
        <p:spPr>
          <a:xfrm>
            <a:off x="777240" y="457200"/>
            <a:ext cx="146304" cy="237744"/>
          </a:xfrm>
          <a:prstGeom prst="rect">
            <a:avLst/>
          </a:prstGeom>
          <a:solidFill>
            <a:srgbClr val="C0561B"/>
          </a:solidFill>
          <a:ln/>
        </p:spPr>
      </p:sp>
      <p:sp>
        <p:nvSpPr>
          <p:cNvPr id="5" name="Text 3"/>
          <p:cNvSpPr/>
          <p:nvPr/>
        </p:nvSpPr>
        <p:spPr>
          <a:xfrm>
            <a:off x="987552" y="420624"/>
            <a:ext cx="10515600" cy="365760"/>
          </a:xfrm>
          <a:prstGeom prst="rect">
            <a:avLst/>
          </a:prstGeom>
          <a:noFill/>
          <a:ln/>
        </p:spPr>
        <p:txBody>
          <a:bodyPr wrap="square" rtlCol="0" anchor="ctr"/>
          <a:lstStyle/>
          <a:p>
            <a:pPr algn="l" indent="0" marL="0">
              <a:buNone/>
            </a:pPr>
            <a:r>
              <a:rPr lang="en-US" sz="1400" b="1" spc="300" kern="0" dirty="0">
                <a:solidFill>
                  <a:srgbClr val="C0561B"/>
                </a:solidFill>
              </a:rPr>
              <a:t>BACKUP  ·  FULL CONCLUSIONS</a:t>
            </a:r>
            <a:endParaRPr lang="en-US" sz="1400" dirty="0"/>
          </a:p>
        </p:txBody>
      </p:sp>
      <p:sp>
        <p:nvSpPr>
          <p:cNvPr id="6" name="Text 4"/>
          <p:cNvSpPr/>
          <p:nvPr/>
        </p:nvSpPr>
        <p:spPr>
          <a:xfrm>
            <a:off x="777240" y="777240"/>
            <a:ext cx="10607040" cy="731520"/>
          </a:xfrm>
          <a:prstGeom prst="rect">
            <a:avLst/>
          </a:prstGeom>
          <a:noFill/>
          <a:ln/>
        </p:spPr>
        <p:txBody>
          <a:bodyPr wrap="square" rtlCol="0" anchor="ctr"/>
          <a:lstStyle/>
          <a:p>
            <a:pPr algn="l" indent="0" marL="0">
              <a:buNone/>
            </a:pPr>
            <a:r>
              <a:rPr lang="en-US" sz="2800" b="1" dirty="0">
                <a:solidFill>
                  <a:srgbClr val="FFFFFF"/>
                </a:solidFill>
                <a:latin typeface="Georgia" pitchFamily="34" charset="0"/>
                <a:ea typeface="Georgia" pitchFamily="34" charset="-122"/>
                <a:cs typeface="Georgia" pitchFamily="34" charset="-120"/>
              </a:rPr>
              <a:t>Conclusions · limits · next steps</a:t>
            </a:r>
            <a:endParaRPr lang="en-US" sz="2800" dirty="0"/>
          </a:p>
        </p:txBody>
      </p:sp>
      <p:sp>
        <p:nvSpPr>
          <p:cNvPr id="7" name="Shape 5"/>
          <p:cNvSpPr/>
          <p:nvPr/>
        </p:nvSpPr>
        <p:spPr>
          <a:xfrm>
            <a:off x="777240" y="1645920"/>
            <a:ext cx="3520440" cy="4160520"/>
          </a:xfrm>
          <a:prstGeom prst="roundRect">
            <a:avLst>
              <a:gd name="adj" fmla="val 2078"/>
            </a:avLst>
          </a:prstGeom>
          <a:solidFill>
            <a:srgbClr val="1E3A3D"/>
          </a:solidFill>
          <a:ln/>
          <a:effectLst>
            <a:outerShdw sx="100000" sy="100000" kx="0" ky="0" algn="bl" rotWithShape="0" blurRad="88900" dist="38100" dir="5400000">
              <a:srgbClr val="000000">
                <a:alpha val="12000"/>
              </a:srgbClr>
            </a:outerShdw>
          </a:effectLst>
        </p:spPr>
      </p:sp>
      <p:sp>
        <p:nvSpPr>
          <p:cNvPr id="8" name="Text 6"/>
          <p:cNvSpPr/>
          <p:nvPr/>
        </p:nvSpPr>
        <p:spPr>
          <a:xfrm>
            <a:off x="777240" y="1783080"/>
            <a:ext cx="3520440" cy="457200"/>
          </a:xfrm>
          <a:prstGeom prst="rect">
            <a:avLst/>
          </a:prstGeom>
          <a:noFill/>
          <a:ln/>
        </p:spPr>
        <p:txBody>
          <a:bodyPr wrap="square" rtlCol="0" anchor="ctr"/>
          <a:lstStyle/>
          <a:p>
            <a:pPr algn="ctr" indent="0" marL="0">
              <a:buNone/>
            </a:pPr>
            <a:r>
              <a:rPr lang="en-US" sz="2000" b="1" dirty="0">
                <a:solidFill>
                  <a:srgbClr val="F0B27A"/>
                </a:solidFill>
                <a:latin typeface="Georgia" pitchFamily="34" charset="0"/>
                <a:ea typeface="Georgia" pitchFamily="34" charset="-122"/>
                <a:cs typeface="Georgia" pitchFamily="34" charset="-120"/>
              </a:rPr>
              <a:t>Conclusions</a:t>
            </a:r>
            <a:endParaRPr lang="en-US" sz="2000" dirty="0"/>
          </a:p>
        </p:txBody>
      </p:sp>
      <p:sp>
        <p:nvSpPr>
          <p:cNvPr id="9" name="Text 7"/>
          <p:cNvSpPr/>
          <p:nvPr/>
        </p:nvSpPr>
        <p:spPr>
          <a:xfrm>
            <a:off x="1005840" y="2331720"/>
            <a:ext cx="3108960" cy="3291840"/>
          </a:xfrm>
          <a:prstGeom prst="rect">
            <a:avLst/>
          </a:prstGeom>
          <a:noFill/>
          <a:ln/>
        </p:spPr>
        <p:txBody>
          <a:bodyPr wrap="square" rtlCol="0" anchor="t"/>
          <a:lstStyle/>
          <a:p>
            <a:pPr algn="l" marL="342900" indent="-342900">
              <a:spcAft>
                <a:spcPts val="900"/>
              </a:spcAft>
              <a:buSzPct val="100000"/>
              <a:buChar char="•"/>
            </a:pPr>
            <a:r>
              <a:rPr lang="en-US" sz="1450" dirty="0">
                <a:solidFill>
                  <a:srgbClr val="E2E8F0"/>
                </a:solidFill>
              </a:rPr>
              <a:t>Full healthy→end-stage trajectory is source-confounded.</a:t>
            </a:r>
            <a:endParaRPr lang="en-US" sz="1450" dirty="0"/>
          </a:p>
          <a:p>
            <a:pPr algn="l" marL="342900" indent="-342900">
              <a:spcAft>
                <a:spcPts val="900"/>
              </a:spcAft>
              <a:buSzPct val="100000"/>
              <a:buChar char="•"/>
            </a:pPr>
            <a:r>
              <a:rPr lang="en-US" sz="1450" dirty="0">
                <a:solidFill>
                  <a:srgbClr val="E2E8F0"/>
                </a:solidFill>
              </a:rPr>
              <a:t>In biopsy F1–F4 cells keep zonal identity — no de-zonation (large shift excluded).</a:t>
            </a:r>
            <a:endParaRPr lang="en-US" sz="1450" dirty="0"/>
          </a:p>
          <a:p>
            <a:pPr algn="l" marL="342900" indent="-342900">
              <a:spcAft>
                <a:spcPts val="900"/>
              </a:spcAft>
              <a:buSzPct val="100000"/>
              <a:buChar char="•"/>
            </a:pPr>
            <a:r>
              <a:rPr lang="en-US" sz="1450" dirty="0">
                <a:solidFill>
                  <a:srgbClr val="E2E8F0"/>
                </a:solidFill>
              </a:rPr>
              <a:t>Two real biopsy-internal signals: a compositional biliary burden, and a confirmed pericentral-detox dimming (gene-set + per-cell).</a:t>
            </a:r>
            <a:endParaRPr lang="en-US" sz="1450" dirty="0"/>
          </a:p>
        </p:txBody>
      </p:sp>
      <p:sp>
        <p:nvSpPr>
          <p:cNvPr id="10" name="Shape 8"/>
          <p:cNvSpPr/>
          <p:nvPr/>
        </p:nvSpPr>
        <p:spPr>
          <a:xfrm>
            <a:off x="4526280" y="1645920"/>
            <a:ext cx="3520440" cy="4160520"/>
          </a:xfrm>
          <a:prstGeom prst="roundRect">
            <a:avLst>
              <a:gd name="adj" fmla="val 2078"/>
            </a:avLst>
          </a:prstGeom>
          <a:solidFill>
            <a:srgbClr val="1E3A3D"/>
          </a:solidFill>
          <a:ln/>
          <a:effectLst>
            <a:outerShdw sx="100000" sy="100000" kx="0" ky="0" algn="bl" rotWithShape="0" blurRad="88900" dist="38100" dir="5400000">
              <a:srgbClr val="000000">
                <a:alpha val="12000"/>
              </a:srgbClr>
            </a:outerShdw>
          </a:effectLst>
        </p:spPr>
      </p:sp>
      <p:sp>
        <p:nvSpPr>
          <p:cNvPr id="11" name="Text 9"/>
          <p:cNvSpPr/>
          <p:nvPr/>
        </p:nvSpPr>
        <p:spPr>
          <a:xfrm>
            <a:off x="4526280" y="1783080"/>
            <a:ext cx="3520440" cy="457200"/>
          </a:xfrm>
          <a:prstGeom prst="rect">
            <a:avLst/>
          </a:prstGeom>
          <a:noFill/>
          <a:ln/>
        </p:spPr>
        <p:txBody>
          <a:bodyPr wrap="square" rtlCol="0" anchor="ctr"/>
          <a:lstStyle/>
          <a:p>
            <a:pPr algn="ctr" indent="0" marL="0">
              <a:buNone/>
            </a:pPr>
            <a:r>
              <a:rPr lang="en-US" sz="2000" b="1" dirty="0">
                <a:solidFill>
                  <a:srgbClr val="FCA5A5"/>
                </a:solidFill>
                <a:latin typeface="Georgia" pitchFamily="34" charset="0"/>
                <a:ea typeface="Georgia" pitchFamily="34" charset="-122"/>
                <a:cs typeface="Georgia" pitchFamily="34" charset="-120"/>
              </a:rPr>
              <a:t>Limits</a:t>
            </a:r>
            <a:endParaRPr lang="en-US" sz="2000" dirty="0"/>
          </a:p>
        </p:txBody>
      </p:sp>
      <p:sp>
        <p:nvSpPr>
          <p:cNvPr id="12" name="Text 10"/>
          <p:cNvSpPr/>
          <p:nvPr/>
        </p:nvSpPr>
        <p:spPr>
          <a:xfrm>
            <a:off x="4754880" y="2331720"/>
            <a:ext cx="3108960" cy="3291840"/>
          </a:xfrm>
          <a:prstGeom prst="rect">
            <a:avLst/>
          </a:prstGeom>
          <a:noFill/>
          <a:ln/>
        </p:spPr>
        <p:txBody>
          <a:bodyPr wrap="square" rtlCol="0" anchor="t"/>
          <a:lstStyle/>
          <a:p>
            <a:pPr algn="l" marL="342900" indent="-342900">
              <a:spcAft>
                <a:spcPts val="900"/>
              </a:spcAft>
              <a:buSzPct val="100000"/>
              <a:buChar char="•"/>
            </a:pPr>
            <a:r>
              <a:rPr lang="en-US" sz="1450" dirty="0">
                <a:solidFill>
                  <a:srgbClr val="E2E8F0"/>
                </a:solidFill>
              </a:rPr>
              <a:t>“PC-like program,” not lobular location — counts can’t see spatial position.</a:t>
            </a:r>
            <a:endParaRPr lang="en-US" sz="1450" dirty="0"/>
          </a:p>
          <a:p>
            <a:pPr algn="l" marL="342900" indent="-342900">
              <a:spcAft>
                <a:spcPts val="900"/>
              </a:spcAft>
              <a:buSzPct val="100000"/>
              <a:buChar char="•"/>
            </a:pPr>
            <a:r>
              <a:rPr lang="en-US" sz="1450" dirty="0">
                <a:solidFill>
                  <a:srgbClr val="E2E8F0"/>
                </a:solidFill>
              </a:rPr>
              <a:t>Imaging / protein / organoid evidence not re-analyzed.</a:t>
            </a:r>
            <a:endParaRPr lang="en-US" sz="1450" dirty="0"/>
          </a:p>
          <a:p>
            <a:pPr algn="l" marL="342900" indent="-342900">
              <a:spcAft>
                <a:spcPts val="900"/>
              </a:spcAft>
              <a:buSzPct val="100000"/>
              <a:buChar char="•"/>
            </a:pPr>
            <a:r>
              <a:rPr lang="en-US" sz="1450" dirty="0">
                <a:solidFill>
                  <a:srgbClr val="E2E8F0"/>
                </a:solidFill>
              </a:rPr>
              <a:t>F4 has only 4 biopsy donors.</a:t>
            </a:r>
            <a:endParaRPr lang="en-US" sz="1450" dirty="0"/>
          </a:p>
          <a:p>
            <a:pPr algn="l" marL="342900" indent="-342900">
              <a:spcAft>
                <a:spcPts val="900"/>
              </a:spcAft>
              <a:buSzPct val="100000"/>
              <a:buChar char="•"/>
            </a:pPr>
            <a:r>
              <a:rPr lang="en-US" sz="1450" dirty="0">
                <a:solidFill>
                  <a:srgbClr val="E2E8F0"/>
                </a:solidFill>
              </a:rPr>
              <a:t>Detox dimming is a RELATIVE decline (not proven absolute) and could partly reflect a shift among PC subzones; self-contained test clears only the CYP core.</a:t>
            </a:r>
            <a:endParaRPr lang="en-US" sz="1450" dirty="0"/>
          </a:p>
        </p:txBody>
      </p:sp>
      <p:sp>
        <p:nvSpPr>
          <p:cNvPr id="13" name="Shape 11"/>
          <p:cNvSpPr/>
          <p:nvPr/>
        </p:nvSpPr>
        <p:spPr>
          <a:xfrm>
            <a:off x="8275320" y="1645920"/>
            <a:ext cx="3520440" cy="4160520"/>
          </a:xfrm>
          <a:prstGeom prst="roundRect">
            <a:avLst>
              <a:gd name="adj" fmla="val 2078"/>
            </a:avLst>
          </a:prstGeom>
          <a:solidFill>
            <a:srgbClr val="1E3A3D"/>
          </a:solidFill>
          <a:ln/>
          <a:effectLst>
            <a:outerShdw sx="100000" sy="100000" kx="0" ky="0" algn="bl" rotWithShape="0" blurRad="88900" dist="38100" dir="5400000">
              <a:srgbClr val="000000">
                <a:alpha val="12000"/>
              </a:srgbClr>
            </a:outerShdw>
          </a:effectLst>
        </p:spPr>
      </p:sp>
      <p:sp>
        <p:nvSpPr>
          <p:cNvPr id="14" name="Text 12"/>
          <p:cNvSpPr/>
          <p:nvPr/>
        </p:nvSpPr>
        <p:spPr>
          <a:xfrm>
            <a:off x="8275320" y="1783080"/>
            <a:ext cx="3520440" cy="457200"/>
          </a:xfrm>
          <a:prstGeom prst="rect">
            <a:avLst/>
          </a:prstGeom>
          <a:noFill/>
          <a:ln/>
        </p:spPr>
        <p:txBody>
          <a:bodyPr wrap="square" rtlCol="0" anchor="ctr"/>
          <a:lstStyle/>
          <a:p>
            <a:pPr algn="ctr" indent="0" marL="0">
              <a:buNone/>
            </a:pPr>
            <a:r>
              <a:rPr lang="en-US" sz="2000" b="1" dirty="0">
                <a:solidFill>
                  <a:srgbClr val="9CC6CC"/>
                </a:solidFill>
                <a:latin typeface="Georgia" pitchFamily="34" charset="0"/>
                <a:ea typeface="Georgia" pitchFamily="34" charset="-122"/>
                <a:cs typeface="Georgia" pitchFamily="34" charset="-120"/>
              </a:rPr>
              <a:t>Next</a:t>
            </a:r>
            <a:endParaRPr lang="en-US" sz="2000" dirty="0"/>
          </a:p>
        </p:txBody>
      </p:sp>
      <p:sp>
        <p:nvSpPr>
          <p:cNvPr id="15" name="Text 13"/>
          <p:cNvSpPr/>
          <p:nvPr/>
        </p:nvSpPr>
        <p:spPr>
          <a:xfrm>
            <a:off x="8503920" y="2331720"/>
            <a:ext cx="3108960" cy="3291840"/>
          </a:xfrm>
          <a:prstGeom prst="rect">
            <a:avLst/>
          </a:prstGeom>
          <a:noFill/>
          <a:ln/>
        </p:spPr>
        <p:txBody>
          <a:bodyPr wrap="square" rtlCol="0" anchor="t"/>
          <a:lstStyle/>
          <a:p>
            <a:pPr algn="l" marL="342900" indent="-342900">
              <a:spcAft>
                <a:spcPts val="900"/>
              </a:spcAft>
              <a:buSzPct val="100000"/>
              <a:buChar char="•"/>
            </a:pPr>
            <a:r>
              <a:rPr lang="en-US" sz="1450" dirty="0">
                <a:solidFill>
                  <a:srgbClr val="E2E8F0"/>
                </a:solidFill>
              </a:rPr>
              <a:t>Spatial / independent-biopsy validation of the detox-dimming gradient.</a:t>
            </a:r>
            <a:endParaRPr lang="en-US" sz="1450" dirty="0"/>
          </a:p>
          <a:p>
            <a:pPr algn="l" marL="342900" indent="-342900">
              <a:spcAft>
                <a:spcPts val="900"/>
              </a:spcAft>
              <a:buSzPct val="100000"/>
              <a:buChar char="•"/>
            </a:pPr>
            <a:r>
              <a:rPr lang="en-US" sz="1450" dirty="0">
                <a:solidFill>
                  <a:srgbClr val="E2E8F0"/>
                </a:solidFill>
              </a:rPr>
              <a:t>Leave-one-F4-donor-out DGE.</a:t>
            </a:r>
            <a:endParaRPr lang="en-US" sz="1450" dirty="0"/>
          </a:p>
          <a:p>
            <a:pPr algn="l" marL="342900" indent="-342900">
              <a:spcAft>
                <a:spcPts val="900"/>
              </a:spcAft>
              <a:buSzPct val="100000"/>
              <a:buChar char="•"/>
            </a:pPr>
            <a:r>
              <a:rPr lang="en-US" sz="1450" dirty="0">
                <a:solidFill>
                  <a:srgbClr val="E2E8F0"/>
                </a:solidFill>
              </a:rPr>
              <a:t>Quantitative contamination model for the biliary lead.</a:t>
            </a:r>
            <a:endParaRPr lang="en-US" sz="1450" dirty="0"/>
          </a:p>
          <a:p>
            <a:pPr algn="l" marL="342900" indent="-342900">
              <a:spcAft>
                <a:spcPts val="900"/>
              </a:spcAft>
              <a:buSzPct val="100000"/>
              <a:buChar char="•"/>
            </a:pPr>
            <a:r>
              <a:rPr lang="en-US" sz="1450" dirty="0">
                <a:solidFill>
                  <a:srgbClr val="E2E8F0"/>
                </a:solidFill>
              </a:rPr>
              <a:t>Functional readout of pericentral detox capacity.</a:t>
            </a:r>
            <a:endParaRPr lang="en-US" sz="14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29</Slides>
  <Notes>29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29</vt:i4>
      </vt:variant>
    </vt:vector>
  </HeadingPairs>
  <TitlesOfParts>
    <vt:vector size="3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No transcriptional de-zonation signal in matched MASLD biopsies — but the pericentral detox program dims</dc:title>
  <dc:subject>PptxGenJS Presentation</dc:subject>
  <dc:creator>Roee Tekoah, Shira Gelbstein</dc:creator>
  <cp:lastModifiedBy>Roee Tekoah, Shira Gelbstein</cp:lastModifiedBy>
  <cp:revision>1</cp:revision>
  <dcterms:created xsi:type="dcterms:W3CDTF">2026-06-24T16:39:59Z</dcterms:created>
  <dcterms:modified xsi:type="dcterms:W3CDTF">2026-06-24T16:39:59Z</dcterms:modified>
</cp:coreProperties>
</file>