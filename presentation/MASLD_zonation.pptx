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legacy approach and the claim it produced, then dismantle it. We first read the data with a z-scored relative ruler and marker correlations — which produced the headline 'hepatocytes lose zonation, pericentral turns off.' But every such metric is a relative summary pooled across all samples; it hides who moved and is bent by depth, cell number and tissue source. That motivated the pivot to raw molecule counts on the matched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thing. Pericentral OR periportal cells could deplete; cells could co-express both poles; cells could turn both off; or the periportal-to-pericentral ratio could shift. We deliberately say 'depletion' generally — we suspected pericentral depletion and will show it is absent, but depletion is the general confounder and we test each mechanism. A single correlation score conflates them; counts separate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CB0AC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9D6D3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4160520"/>
            <a:ext cx="4572000" cy="0"/>
          </a:xfrm>
          <a:prstGeom prst="line">
            <a:avLst/>
          </a:prstGeom>
          <a:noFill/>
          <a:ln w="19050">
            <a:solidFill>
              <a:srgbClr val="C056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3434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7E8F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CB0AC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E8F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Hepatocytes are transcriptionally zonated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256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6256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93B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— or how the tissue was taken?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ECE6D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2B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E293B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2B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LEGACY APPROACH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metric that produced the collapse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ECE6D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105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6256"/>
                </a:solidFill>
              </a:rPr>
              <a:t>WHAT WE FIRST USED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A z-scored zonation coordinate, marker–marker correlations, and spread / slope-loss plots — pooled across all samples.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66160" y="3063240"/>
            <a:ext cx="0" cy="32004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520440"/>
            <a:ext cx="5852160" cy="1371600"/>
          </a:xfrm>
          <a:prstGeom prst="roundRect">
            <a:avLst>
              <a:gd name="adj" fmla="val 4667"/>
            </a:avLst>
          </a:prstGeom>
          <a:solidFill>
            <a:srgbClr val="FBEEE9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6393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E123C"/>
                </a:solidFill>
              </a:rPr>
              <a:t>THE CLAIM IT PRODUCED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F3A3D"/>
                </a:solidFill>
              </a:rPr>
              <a:t>“Hepatocytes lose their zonation; the pericentral program turns off, strongest at end-stage.”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2B"/>
                </a:solidFill>
              </a:rPr>
              <a:t>THE TRAP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78040" y="22402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Every metric is a relative summary — it hides who moved, how many, and from where.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They pool healthy + biopsy + end-stage across a hidden sampling discontinuity.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Depth, cell number and tissue source all bend a z-score or correlation.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0D9488"/>
                </a:solidFill>
              </a:rPr>
              <a:t>→ so we switched to raw molecule counts (next slide: why the samples differ).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Zonation loss is not one mechanism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 pole's cells lost)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(both poles on)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(neither pole on)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suspected pericentral depletion specifically — but </a:t>
            </a:r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“depletion” is general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(either pole, or both). We test each mechanism, not just the one we expected.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6256"/>
                </a:solidFill>
              </a:rPr>
              <a:t>A single anti-correlation or UMAP impression conflates these — which is exactly the trap we avoid with absolute counts.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is entangled with acquisition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carry organ-wide stress</a:t>
            </a:r>
            <a:endParaRPr lang="en-US" sz="2800" dirty="0"/>
          </a:p>
        </p:txBody>
      </p:sp>
      <p:pic>
        <p:nvPicPr>
          <p:cNvPr id="5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82296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E293B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Raw-count anchor classification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6B625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E6DA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800" dirty="0"/>
          </a:p>
        </p:txBody>
      </p:sp>
      <p:pic>
        <p:nvPicPr>
          <p:cNvPr id="5" name="Image 0" descr="D:\CS\Genomics\Hackathon\presentation/assets/fig_result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417320"/>
            <a:ext cx="832104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52578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2.  Pericentral and periportal depletion and dual co-expression across matched biopsy F1–F4 (donor=point, value-labelled; F0 n=2 in backup).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41080" y="150876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3D"/>
                </a:solidFill>
              </a:rPr>
              <a:t>The other two mechanisms (F1→F4 donor-median):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Null (turn-off):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44 / 36 / 39 / 39% — stable.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1.16 / 1.01 / 1.10 / 1.18 — flat.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500" i="1" dirty="0">
                <a:solidFill>
                  <a:srgbClr val="6B6256"/>
                </a:solidFill>
              </a:rPr>
              <a:t>a large shift (~20 pp) is excluded; a subtle drift ≤10 pp is not (F4 n=4).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41080" y="489204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1F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78240" y="49377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Anchor fractions do not support large biopsy-axis de-zonation.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signal: biliary markers</a:t>
            </a:r>
            <a:endParaRPr lang="en-US" sz="2800" dirty="0"/>
          </a:p>
        </p:txBody>
      </p:sp>
      <p:pic>
        <p:nvPicPr>
          <p:cNvPr id="5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795528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ECE6DA"/>
          </a:solidFill>
          <a:ln/>
        </p:spPr>
      </p:sp>
      <p:sp>
        <p:nvSpPr>
          <p:cNvPr id="9" name="Text 6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256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SOURCE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burden looks compositional</a:t>
            </a:r>
            <a:endParaRPr lang="en-US" sz="2800" dirty="0"/>
          </a:p>
        </p:txBody>
      </p:sp>
      <p:pic>
        <p:nvPicPr>
          <p:cNvPr id="5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1161288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4" name="Text 2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2B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Preservation, not progressive collapse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7724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2628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7532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CC6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92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58521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transcriptomic evidence for progressive de-zonation does not survive matched-source re-analysis.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256"/>
                </a:solidFill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four-mechanism panel (F0–F4)</a:t>
            </a:r>
            <a:endParaRPr lang="en-US" sz="2600" dirty="0"/>
          </a:p>
        </p:txBody>
      </p:sp>
      <p:pic>
        <p:nvPicPr>
          <p:cNvPr id="5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371600"/>
            <a:ext cx="84124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overturning the paper?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Caudate lobe? Lobe-invariant</a:t>
            </a:r>
            <a:endParaRPr lang="en-US" sz="2600" dirty="0"/>
          </a:p>
        </p:txBody>
      </p:sp>
      <p:pic>
        <p:nvPicPr>
          <p:cNvPr id="5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694944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organs, five phenotypes</a:t>
            </a:r>
            <a:endParaRPr lang="en-US" sz="2600" dirty="0"/>
          </a:p>
        </p:txBody>
      </p:sp>
      <p:pic>
        <p:nvPicPr>
          <p:cNvPr id="5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74980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grid + equivalence bound</a:t>
            </a:r>
            <a:endParaRPr lang="en-US" sz="2600" dirty="0"/>
          </a:p>
        </p:txBody>
      </p:sp>
      <p:pic>
        <p:nvPicPr>
          <p:cNvPr id="5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63040"/>
            <a:ext cx="5852160" cy="3657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256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6B6256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raw counts, why pseudobulk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decontX prove contamination?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2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2B"/>
                </a:solidFill>
              </a:rPr>
              <a:t>BACKUP  ·  SCENARIO COVERAGE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de-zonation route, tested by count signature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65760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</a:rPr>
                        <a:t>Mechanism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</a:rPr>
                        <a:t>Count signature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</a:rPr>
                        <a:t>Biopsy F0→F4 (donor-median)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</a:rPr>
                        <a:t>Verdict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Pericentral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PC-anchor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36 / 19 / 23 / 22 / 21 %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Periportal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PP-anchor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20 / 21 / 22 / 24 / 24 %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Co-expression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dual (≥2 UMI)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~0.0 / 0.2 / 0.4 / 0.2 / 0.2 %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ambient soup → no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Gradient compression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per-cell balance → middle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mild, non-monotone (peak F3)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gradient present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null (double-neg)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34 / 44 / 36 / 39 / 39 %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flat → no 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Composition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PP : PC anchor ratio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0.62 / 1.16 / 1.01 / 1.10 / 1.18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~flat → no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Induction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program burden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flat in biopsy; rises only end-stage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</a:rPr>
                        <a:t>explant-only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256"/>
                </a:solidFill>
              </a:rPr>
              <a:t>Each row is a distinct way zonation could fail, mapped to an absolute-count signature on depth-normalized counts; only the null (all stable) survives across biopsy F1–F4.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2026-06-23T18:33:32Z</dcterms:created>
  <dcterms:modified xsi:type="dcterms:W3CDTF">2026-06-23T18:33:32Z</dcterms:modified>
</cp:coreProperties>
</file>