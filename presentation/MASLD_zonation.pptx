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legacy approach and the claim it produced, then dismantle it. We first read the data with a z-scored relative ruler and marker correlations — which produced the headline 'hepatocytes lose zonation, pericentral turns off.' But every such metric is a relative summary pooled across all samples; it hides who moved and is bent by depth, cell number and tissue source. That motivated the pivot to raw molecule counts on the matched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before mechanisms. Every hepatocyte is sorted into exactly one of four classes by which zonation program it runs: PC-anchor (pericentral only), PP-anchor (periportal only), Dual (both — the co-expression state), or Null (neither — double-negative). The 2x2 is pericentral detected/not against periportal detected/not. The card colours are carried onto the next slide, where each failure mode is a change in how cells distribute across these four boxes. 'Detected' here is operationalised on the later method slide as the &gt;=2-UMI, depth-normalized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event but several, each a different movement among the four boxes from the previous slide. Depletion = an anchor (pole-identity) box shrinks — pericentral OR periportal. Turn-off = the null, double-negative box grows. These are dissociable, which is the question that keeps coming up: a pole can convert to the opposite pole (depletion with the null box untouched), and cells can go double-negative without any single pole shrinking (turn-off with no depletion). Co-expression fills the dual box; composition shift tilts the PP:PC ratio. A single correlation or z-score collapses all four into one number; absolute box counts keep them separate. All four are flat across biopsy F1-F4. Two further routes act on the gradient itself rather than the boxes — gradient compression and dimming — and get their own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continuous-gradient axis, which the discrete box-counts cannot capture. Two routes here, and they are distinct facets: compression is a loss of SHAPE — the per-cell PC/(PC+PP) balance drifts toward the middle, contrast between poles shrinks (still a relative measure); dimming is a loss of LEVEL — the program's absolute magnitude falls while the balance is unchanged. Compression: down-thinned, donor-balanced per-cell balance histograms (results/figures/h2/gradient_polarization_dist.png) show a mild, non-monotone middle drift peaking at F3 with both poles staying populated — gradient present, not collapsed; only the explant collapses to the periportal pole. Dimming: a nominal ~30% within-PC detox dip (12.7 to 8.9 down-thinned UMIs/nucleus, F1 to F4). It is borderline to begin with — only about 1.4x the ~26% minimum detectable effect at n=8 vs 4 — and it is NOT corroborated by the genome-wide donor-level pseudobulk DGE of the same genes (CYP2E1 FDR .98, CYP1A2 .91, ADH4 .97, GLUL ~.80, all non-significant). Since those detox genes are expressed mostly in PC cells, a real dimming should have left a donor-level footprint; none appears, so we drop it rather than report it. We do not claim the DGE formally disproves dimming. Net: the gradient is preserved in shape and, where testable, in amplitude — matching the flat anchor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full extent of the confounder work. Top four are the structural confounds that make the original full-trajectory comparison uninterpretable (source, stress, batch, lobe). The remaining six are within-biopsy checks that our preserved-zonation null is not an artifact — depth, ambient RNA, cholangiocyte mis-annotation, ploidy, the depth-match discard, and clinical covariates. Every one was tested in counts at the donor level; none manufactures the result. Batch at the single-experiment-label level is perfectly confounded and we flag it as untestable rather than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FC0C4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9D6D3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4160520"/>
            <a:ext cx="4572000" cy="0"/>
          </a:xfrm>
          <a:prstGeom prst="line">
            <a:avLst/>
          </a:prstGeom>
          <a:noFill/>
          <a:ln w="19050">
            <a:solidFill>
              <a:srgbClr val="C056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3434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7E8F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CB0AC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E8F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Hepatocytes are transcriptionally zonated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B31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— or how the tissue was taken?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2B31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LEGACY APPROACH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metric that produced the collapse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105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6E73"/>
                </a:solidFill>
              </a:rPr>
              <a:t>WHAT WE FIRST USED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A z-scored zonation coordinate, marker–marker correlations, and spread / slope-loss plots — pooled across all samples.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66160" y="3063240"/>
            <a:ext cx="0" cy="32004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520440"/>
            <a:ext cx="5852160" cy="1371600"/>
          </a:xfrm>
          <a:prstGeom prst="roundRect">
            <a:avLst>
              <a:gd name="adj" fmla="val 4667"/>
            </a:avLst>
          </a:prstGeom>
          <a:solidFill>
            <a:srgbClr val="FBEEE9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6393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E123C"/>
                </a:solidFill>
              </a:rPr>
              <a:t>THE CLAIM IT PRODUCED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23F47"/>
                </a:solidFill>
              </a:rPr>
              <a:t>“Hepatocytes lose their zonation; the pericentral program turns off, strongest at end-stage.”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TRAP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78040" y="22402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Every metric is a relative summary — it hides who moved, how many, and from where.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They pool healthy + biopsy + end-stage across a hidden sampling discontinuity.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Depth, cell number and tissue source all bend a z-score or correlation.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0D9488"/>
                </a:solidFill>
              </a:rPr>
              <a:t>→ so we switched to raw molecule counts (next slide: why the samples differ).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VOCABULARY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hepatocyte falls in one of four classes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B31"/>
                </a:solidFill>
              </a:rPr>
              <a:t>Before asking how zonation could break down, we fix the words. Each hepatocyte either runs the pericentral program, the periportal program, both at once, or neither — four mutually exclusive classes: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697480" y="1993392"/>
            <a:ext cx="8366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EA580C"/>
                </a:solidFill>
              </a:rPr>
              <a:t>PERIPORTAL  PROGRAM   (ASS1, CPS1, PCK1 …)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6E73"/>
                </a:solidFill>
              </a:rPr>
              <a:t>not detected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995160" y="22860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6E73"/>
                </a:solidFill>
              </a:rPr>
              <a:t>detected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</a:rPr>
              <a:t>PERICENTRAL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</a:rPr>
              <a:t>PROGRAM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D4ED8"/>
                </a:solidFill>
              </a:rPr>
              <a:t>(GLUL, CYP …)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" y="3200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6E73"/>
                </a:solidFill>
              </a:rPr>
              <a:t>detected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5760" y="4754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6E73"/>
                </a:solidFill>
              </a:rPr>
              <a:t>not detected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697480" y="2651760"/>
            <a:ext cx="4069080" cy="1417320"/>
          </a:xfrm>
          <a:prstGeom prst="roundRect">
            <a:avLst>
              <a:gd name="adj" fmla="val 4516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862072" y="277063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PC-anchor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862072" y="3273552"/>
            <a:ext cx="3739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Pericentral identity — pericentral genes detected, periportal genes silent.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995160" y="2651760"/>
            <a:ext cx="4069080" cy="1417320"/>
          </a:xfrm>
          <a:prstGeom prst="roundRect">
            <a:avLst>
              <a:gd name="adj" fmla="val 4516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59752" y="277063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159752" y="3273552"/>
            <a:ext cx="3739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Co-expression — both programs detectable in the same nucleus.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7480" y="4206240"/>
            <a:ext cx="4069080" cy="1417320"/>
          </a:xfrm>
          <a:prstGeom prst="roundRect">
            <a:avLst>
              <a:gd name="adj" fmla="val 4516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862072" y="432511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Null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62072" y="4828032"/>
            <a:ext cx="3739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B31"/>
                </a:solidFill>
              </a:rPr>
              <a:t>Double-negative — neither program detectable.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995160" y="4206240"/>
            <a:ext cx="4069080" cy="1417320"/>
          </a:xfrm>
          <a:prstGeom prst="roundRect">
            <a:avLst>
              <a:gd name="adj" fmla="val 4516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59752" y="4325112"/>
            <a:ext cx="3739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PP-anchor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59752" y="4828032"/>
            <a:ext cx="3739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Periportal identity — periportal genes detected, pericentral genes silent.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5806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5C6E73"/>
                </a:solidFill>
              </a:rPr>
              <a:t>These four classes are the vocabulary. </a:t>
            </a:r>
            <a:pPr algn="l" indent="0" marL="0">
              <a:buNone/>
            </a:pPr>
            <a:r>
              <a:rPr lang="en-US" sz="1350" i="1" dirty="0">
                <a:solidFill>
                  <a:srgbClr val="5C6E73"/>
                </a:solidFill>
              </a:rPr>
              <a:t>“Losing zonation” means cells </a:t>
            </a:r>
            <a:pPr algn="l" indent="0" marL="0">
              <a:buNone/>
            </a:pPr>
            <a:r>
              <a:rPr lang="en-US" sz="1350" i="1" dirty="0">
                <a:solidFill>
                  <a:srgbClr val="5C6E73"/>
                </a:solidFill>
              </a:rPr>
              <a:t>redistribute</a:t>
            </a:r>
            <a:pPr algn="l" indent="0" marL="0">
              <a:buNone/>
            </a:pPr>
            <a:r>
              <a:rPr lang="en-US" sz="1350" i="1" dirty="0">
                <a:solidFill>
                  <a:srgbClr val="5C6E73"/>
                </a:solidFill>
              </a:rPr>
              <a:t> across them — the next slide is the four ways that can happen, in these same colours.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Zonation loss is not one mechanism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(an anchor box ↓)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(the dual box ↑)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(the null box ↑)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3886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expected pericentral depletion — but an </a:t>
            </a:r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emptying anchor box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(depletion) and a </a:t>
            </a:r>
            <a:pPr algn="l" indent="0" marL="0">
              <a:buNone/>
            </a:pPr>
            <a:r>
              <a:rPr lang="en-US" sz="1500" b="1" dirty="0">
                <a:solidFill>
                  <a:srgbClr val="6B7280"/>
                </a:solidFill>
              </a:rPr>
              <a:t>filling null box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(turn-off) are different boxes, opposite directions — neither implies the other. We track all four, not just the pericentral depletion we expected.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89204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Any relative summary — a z-score, a marker correlation, a UMAP axis — is scale-free by construction: it divides out the absolute level, so it reads the gradient’s shape, not how many cells sit where. The four box-counts above collapse into one number; only counting molecules tells them apart.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GRADIENT AXIS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the boxes — zonation is a gradient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B31"/>
                </a:solidFill>
              </a:rPr>
              <a:t>The four classes are discrete bins. Zonation is really a continuous gradient, which can weaken two further ways the box-counts can’t see — one of shape, one of level: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54864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2128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6E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 </a:t>
            </a:r>
            <a:pPr algn="l" indent="0" marL="0">
              <a:buNone/>
            </a:pPr>
            <a:r>
              <a:rPr lang="en-US" sz="1400" i="1" dirty="0">
                <a:solidFill>
                  <a:srgbClr val="5C6E73"/>
                </a:solidFill>
              </a:rPr>
              <a:t>the gradient flattens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68680" y="2743200"/>
            <a:ext cx="0" cy="1325880"/>
          </a:xfrm>
          <a:prstGeom prst="line">
            <a:avLst/>
          </a:prstGeom>
          <a:noFill/>
          <a:ln w="12700">
            <a:solidFill>
              <a:srgbClr val="C2CB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4069080"/>
            <a:ext cx="1737360" cy="0"/>
          </a:xfrm>
          <a:prstGeom prst="line">
            <a:avLst/>
          </a:prstGeom>
          <a:noFill/>
          <a:ln w="12700">
            <a:solidFill>
              <a:srgbClr val="C2CB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68680" y="2849270"/>
            <a:ext cx="1737360" cy="1153516"/>
          </a:xfrm>
          <a:prstGeom prst="line">
            <a:avLst/>
          </a:prstGeom>
          <a:noFill/>
          <a:ln w="25400">
            <a:solidFill>
              <a:srgbClr val="B7C1C1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flipV="1">
            <a:off x="868680" y="3326587"/>
            <a:ext cx="1737360" cy="185623"/>
          </a:xfrm>
          <a:prstGeom prst="line">
            <a:avLst/>
          </a:prstGeom>
          <a:noFill/>
          <a:ln w="44450">
            <a:solidFill>
              <a:srgbClr val="1B6E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1148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A6"/>
                </a:solidFill>
              </a:rPr>
              <a:t>— before    </a:t>
            </a:r>
            <a:pPr algn="ctr" indent="0" marL="0">
              <a:buNone/>
            </a:pPr>
            <a:r>
              <a:rPr lang="en-US" sz="1050" b="1" dirty="0">
                <a:solidFill>
                  <a:srgbClr val="1B6E78"/>
                </a:solidFill>
              </a:rPr>
              <a:t>— after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88920" y="27432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B31"/>
                </a:solidFill>
              </a:rPr>
              <a:t>Per-cell PC↔PP balance drifts toward the middle — the contrast between poles shrinks.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4526280"/>
            <a:ext cx="4937760" cy="603504"/>
          </a:xfrm>
          <a:prstGeom prst="roundRect">
            <a:avLst>
              <a:gd name="adj" fmla="val 7576"/>
            </a:avLst>
          </a:prstGeom>
          <a:solidFill>
            <a:srgbClr val="E7F0EE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54456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4532D"/>
                </a:solidFill>
              </a:rPr>
              <a:t>Mild, non-monotone (peak F3); both poles stay populated → </a:t>
            </a:r>
            <a:pPr algn="l" indent="0" marL="0">
              <a:buNone/>
            </a:pPr>
            <a:r>
              <a:rPr lang="en-US" sz="1250" b="1" dirty="0">
                <a:solidFill>
                  <a:srgbClr val="14532D"/>
                </a:solidFill>
              </a:rPr>
              <a:t>gradient present.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057400"/>
            <a:ext cx="54864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2DCCF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22128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5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Dimming  </a:t>
            </a:r>
            <a:pPr algn="l" indent="0" marL="0">
              <a:buNone/>
            </a:pPr>
            <a:r>
              <a:rPr lang="en-US" sz="1400" i="1" dirty="0">
                <a:solidFill>
                  <a:srgbClr val="5C6E73"/>
                </a:solidFill>
              </a:rPr>
              <a:t>the gradient drops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583680" y="2743200"/>
            <a:ext cx="0" cy="1325880"/>
          </a:xfrm>
          <a:prstGeom prst="line">
            <a:avLst/>
          </a:prstGeom>
          <a:noFill/>
          <a:ln w="12700">
            <a:solidFill>
              <a:srgbClr val="C2CB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0" y="4069080"/>
            <a:ext cx="1737360" cy="0"/>
          </a:xfrm>
          <a:prstGeom prst="line">
            <a:avLst/>
          </a:prstGeom>
          <a:noFill/>
          <a:ln w="12700">
            <a:solidFill>
              <a:srgbClr val="C2CB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6583680" y="2849270"/>
            <a:ext cx="1737360" cy="981151"/>
          </a:xfrm>
          <a:prstGeom prst="line">
            <a:avLst/>
          </a:prstGeom>
          <a:noFill/>
          <a:ln w="25400">
            <a:solidFill>
              <a:srgbClr val="B7C1C1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6583680" y="3193999"/>
            <a:ext cx="1737360" cy="875081"/>
          </a:xfrm>
          <a:prstGeom prst="line">
            <a:avLst/>
          </a:prstGeom>
          <a:noFill/>
          <a:ln w="44450">
            <a:solidFill>
              <a:srgbClr val="C05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41148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A6"/>
                </a:solidFill>
              </a:rPr>
              <a:t>— before    </a:t>
            </a:r>
            <a:pPr algn="ctr" indent="0" marL="0">
              <a:buNone/>
            </a:pPr>
            <a:r>
              <a:rPr lang="en-US" sz="1050" b="1" dirty="0">
                <a:solidFill>
                  <a:srgbClr val="C0561B"/>
                </a:solidFill>
              </a:rPr>
              <a:t>— after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03920" y="27432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B2B31"/>
                </a:solidFill>
              </a:rPr>
              <a:t>Cells keep their balance, but the program’s overall level falls (same shape, lower).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4526280"/>
            <a:ext cx="4937760" cy="603504"/>
          </a:xfrm>
          <a:prstGeom prst="roundRect">
            <a:avLst>
              <a:gd name="adj" fmla="val 7576"/>
            </a:avLst>
          </a:prstGeom>
          <a:solidFill>
            <a:srgbClr val="FBEEE2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0" y="454456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C2D12"/>
                </a:solidFill>
              </a:rPr>
              <a:t>Nominal ~30% dip (12.7→8.9 UMI/nuc) — borderline; not corroborated genome-wide → </a:t>
            </a:r>
            <a:pPr algn="l" indent="0" marL="0">
              <a:buNone/>
            </a:pPr>
            <a:r>
              <a:rPr lang="en-US" sz="1200" b="1" dirty="0">
                <a:solidFill>
                  <a:srgbClr val="7C2D12"/>
                </a:solidFill>
              </a:rPr>
              <a:t>dropped.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5321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334155"/>
                </a:solidFill>
              </a:rPr>
              <a:t>On matched biopsies the gradient holds its shape, and the one amplitude hint doesn’t hold up — consistent with the flat box-counts. </a:t>
            </a:r>
            <a:pPr algn="l" indent="0" marL="0">
              <a:buNone/>
            </a:pPr>
            <a:r>
              <a:rPr lang="en-US" sz="1450" i="1" dirty="0">
                <a:solidFill>
                  <a:srgbClr val="5C6E73"/>
                </a:solidFill>
              </a:rPr>
              <a:t>Only the explant collapses to a single pole.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is entangled with acquisition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carry organ-wide stress</a:t>
            </a:r>
            <a:endParaRPr lang="en-US" sz="2800" dirty="0"/>
          </a:p>
        </p:txBody>
      </p:sp>
      <p:pic>
        <p:nvPicPr>
          <p:cNvPr id="5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229600" cy="3157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B31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B2B31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Raw-count anchor classification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800" dirty="0"/>
          </a:p>
        </p:txBody>
      </p:sp>
      <p:pic>
        <p:nvPicPr>
          <p:cNvPr id="5" name="Image 0" descr="D:\CS\Genomics\Hackathon\presentation/assets/fig_result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961" y="1417320"/>
            <a:ext cx="7914879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52578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2.  Pericentral and periportal depletion and dual co-expression across matched biopsy F1–F4 (donor=point, value-labelled; F0 n=2 in backup).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41080" y="150876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F47"/>
                </a:solidFill>
              </a:rPr>
              <a:t>The other two mechanisms (F1→F4 donor-median):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Null (turn-off):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44 / 36 / 39 / 39% — stable.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1.16 / 1.01 / 1.10 / 1.18 — flat.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large shift (~20 pp) is excluded; a subtle drift ≤10 pp is not (F4 n=4).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41080" y="489204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78240" y="49377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Anchor fractions do not support large biopsy-axis de-zonation.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CONFOUNDER AUDIT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confounder we could test, tested in counts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E73"/>
                </a:solidFill>
              </a:rPr>
              <a:t>Two jobs: (a) the structural confounds that make the original trajectory uninterpretable, and (b) the within-biopsy checks that the preserved-zonation null is not itself an artifact.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1155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03504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Confounder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What we did  (test · numbers)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Tissue source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organ-cube / explant ends are not acquisition-matched to needle biopsy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excluded → biopsy-only F1–F4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Procurement stress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IEG+HSP across 6 lineages; hep 18× ≈ endothelial 18× (no zonation)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organ-wide handling, not zonation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batch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run × source Cramér’s V = 0.84; run × F (biopsy) = 0.40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ends confounded; biopsy estimable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 (caudate)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marker detection R / C / L within explants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lobe-invariant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depth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binomial down-thin to B = 1,000 / 1,500 / 3,000 UMIs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PC-share flat at every B (SD 0.006–0.010)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Ambient RNA (“soup”)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corr( ALB burden , dual fraction ) across 38 donors = +0.04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does not drive co-expression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Cholangiocyte mis-annotation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KRT19⁺ ≤ 0.001, EPCAM⁺ ≤ 0.003 in every anchor class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not contaminating cholangiocytes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Ploidy / complexity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nFeatures by stage: 2218 / 3063 / 3169 / 2641 / 1984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non-monotone — does not track stage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Depth-match discard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3.5–7.8 % dropped below B, uniformly lower-detection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depth-driven, not PC-biased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Clinical covariates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partial corr( detox , F | Age ) = −0.32; Age–F = +0.43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demographics do not explain trends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signal: biliary markers</a:t>
            </a:r>
            <a:endParaRPr lang="en-US" sz="2800" dirty="0"/>
          </a:p>
        </p:txBody>
      </p:sp>
      <p:pic>
        <p:nvPicPr>
          <p:cNvPr id="5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542" y="1371600"/>
            <a:ext cx="637283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ECF1F1"/>
          </a:solidFill>
          <a:ln/>
        </p:spPr>
      </p:sp>
      <p:sp>
        <p:nvSpPr>
          <p:cNvPr id="9" name="Text 6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SOURCE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burden looks compositional</a:t>
            </a:r>
            <a:endParaRPr lang="en-US" sz="2800" dirty="0"/>
          </a:p>
        </p:txBody>
      </p:sp>
      <p:pic>
        <p:nvPicPr>
          <p:cNvPr id="5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2687" y="1371600"/>
            <a:ext cx="9016146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5" name="Text 3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1B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Preservation, not progressive collapse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41248" y="175564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5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011680" y="17739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029968" y="22128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9D6D3"/>
                </a:solidFill>
              </a:rPr>
              <a:t>Across F1–F4 every count route — depletion, co-expression, turn-off, composition — is flat, and the gradient holds its shape.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67004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5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011680" y="26883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trajectory was acquisition, not disease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029968" y="31272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9D6D3"/>
                </a:solidFill>
              </a:rPr>
              <a:t>Healthy and end-stage are deceased-donor cubes and explants; the apparent “progression” tracks how the tissue was taken.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584448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56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011680" y="36027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signal looks compositional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2029968" y="404164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9D6D3"/>
                </a:solidFill>
              </a:rPr>
              <a:t>The lone genome-wide change is a biliary / ductular burden, most consistent with composition / ambient RNA.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2029968" y="4553712"/>
            <a:ext cx="9418320" cy="0"/>
          </a:xfrm>
          <a:prstGeom prst="line">
            <a:avLst/>
          </a:prstGeom>
          <a:noFill/>
          <a:ln w="12700">
            <a:solidFill>
              <a:srgbClr val="2E4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73659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evidence for progressive de-zonation does not survive matched-source re-analysis — what looked like a disease trajectory was, in large part, an acquisition trajectory.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" y="59436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3A0"/>
                </a:solidFill>
              </a:rPr>
              <a:t>Scope — snRNA-seq transcriptomes only: imaging, protein and organoid evidence are untouched, and a weak coordinated gene-set program is not excluded.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four-mechanism panel (F0–F4)</a:t>
            </a:r>
            <a:endParaRPr lang="en-US" sz="2600" dirty="0"/>
          </a:p>
        </p:txBody>
      </p:sp>
      <p:pic>
        <p:nvPicPr>
          <p:cNvPr id="5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867" y="1371600"/>
            <a:ext cx="6944187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B31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overturning the paper?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Caudate lobe? Lobe-invariant</a:t>
            </a:r>
            <a:endParaRPr lang="en-US" sz="2600" dirty="0"/>
          </a:p>
        </p:txBody>
      </p:sp>
      <p:pic>
        <p:nvPicPr>
          <p:cNvPr id="5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6949440" cy="399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B31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B31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organs, five phenotypes</a:t>
            </a:r>
            <a:endParaRPr lang="en-US" sz="2600" dirty="0"/>
          </a:p>
        </p:txBody>
      </p:sp>
      <p:pic>
        <p:nvPicPr>
          <p:cNvPr id="5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7498080" cy="39160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B31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grid + equivalence bound</a:t>
            </a:r>
            <a:endParaRPr lang="en-US" sz="2600" dirty="0"/>
          </a:p>
        </p:txBody>
      </p:sp>
      <p:pic>
        <p:nvPicPr>
          <p:cNvPr id="5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63040"/>
            <a:ext cx="5852160" cy="28473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B31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5C6E73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raw counts, why pseudobulk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decontX prove contamination?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SCENARIO COVERAGE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de-zonation route, mapped to its signature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97480"/>
                <a:gridCol w="361188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B31"/>
                          </a:solidFill>
                        </a:rPr>
                        <a:t>Mechanism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B31"/>
                          </a:solidFill>
                        </a:rPr>
                        <a:t>Signature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B31"/>
                          </a:solidFill>
                        </a:rPr>
                        <a:t>Biopsy F0→F4 (donor-median)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Pericentral depletion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PC-anchor fraction ↓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36 / 19 / 23 / 22 / 21 %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Periportal depletion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PP-anchor fraction ↓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20 / 21 / 22 / 24 / 24 %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Dimming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within-PC level ↓ (magnitude)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12.7 → 8.9 detox UMI/nuc (F1→F4)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borderline; not corroborated genome-wide → dropped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Co-expression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dual (≥2 UMI) fraction ↑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~0.0 / 0.2 / 0.4 / 0.2 / 0.2 %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ambient soup → no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Gradient compression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per-cell balance → middle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mild, non-monotone (peak F3)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gradient present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Turn-off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null (double-neg) fraction ↑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34 / 44 / 36 / 39 / 39 %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flat → no turn-off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Composition shift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PP : PC anchor ratio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0.62 / 1.16 / 1.01 / 1.10 / 1.18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~flat → no shift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Induction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program burden ↑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flat in biopsy; rises only end-stage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B31"/>
                          </a:solidFill>
                        </a:rPr>
                        <a:t>explant-only</a:t>
                      </a:r>
                      <a:endParaRPr lang="en-US" sz="12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C6E73"/>
                </a:solidFill>
              </a:rPr>
              <a:t>Each row is a distinct way zonation could fail, mapped to its signature on depth-normalized counts. Seven are count-based (cells crossing boxes); dimming is the one magnitude axis the counts can’t see. Only the null (all stable) survives biopsy F1–F4 — the lone positive hint, dimming, did not hold up genome-wide.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5" name="Text 3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1B"/>
                </a:solidFill>
              </a:rPr>
              <a:t>BACKUP  ·  FULL CONCLUSIONS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· limits · next steps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77240" y="164592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783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233172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26280" y="164592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783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233172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75320" y="1645920"/>
            <a:ext cx="3520440" cy="41605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783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CC6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2331720"/>
            <a:ext cx="3108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2026-06-23T20:47:07Z</dcterms:created>
  <dcterms:modified xsi:type="dcterms:W3CDTF">2026-06-23T20:47:07Z</dcterms:modified>
</cp:coreProperties>
</file>