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We are Roee Tekoah and Shira Gelbstein; this is our hackathon re-analysis of the single-nucleus RNA-seq in Gribben et al., Nature 2024, asking whether the evidence for progressive hepatocyte de-zonation in MASLD survives once tissue acquisition is controlled. One-line answer in the title: matched biopsies preserve transcriptional zonation.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background: the liver lobule is zonated — pericentral hepatocytes (near the central vein) run one program (GLUL, CYP3A4, the CYP/detox genes), periportal hepatocytes (near the portal tract) run another (ASS1, CPS1, PCK1, urea cycle). Gribben et al.'s claim is that in MASLD hepatocytes lose this zonation and acquire cholangiocyte-like identity. That is what we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research question, posed as in our own project framing: does hepatocyte zonation degrade across MASLD, and is that linked to the transdifferentiation Paper 1 reported? The pivot is methodological — we abandoned a relative/correlation ruler (which conflates depth, tissue and biology) for raw molecule counts at the donor level, and we restrict to the acquisition-matched biopsy axis, which the next slide motivates.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De-zonation is not one thing. Pericentral OR periportal cells could deplete; cells could co-express both poles; cells could turn both off; or the periportal-to-pericentral ratio could shift. We deliberately say 'depletion' generally — we suspected pericentral depletion and will show it is absent, but depletion is the general confounder and we test each mechanism. A single correlation score conflates them; counts separate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point. Disease stage is collinear with how the tissue was obtained: healthy and end-stage are deceased-donor organ tissue and explants; F0–F4 are needle biopsies. So a 'progressive' trajectory can be manufactured by procurement, ischemia, dissociation or batch. We restrict the disease axis to the matched biopsies, F1–F4.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cross-lineage control: stress is ~22x higher in end-stage explants than biopsies — but endothelial cells, which have no zonation program, show the same ~18x immediate-early spike as hepatocytes. So this is organ-wide acute handling stress, not a hepatocyte zonation program — which justifies excluding the deceased-donor and explant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raw counts: a single marker molecule may be ambient, so absolute molecule detection matters and SCT-normalized values are the wrong object. We down-thin every nucleus to a common 1,500-UMI budget, call a marker on only at &gt;=2 UMIs, classify each hepatocyte PC/PP/dual/null, and infer at the donor level (~47) to avoid pseudoreplication. Robust across the marker/threshold sensitivity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result. Pericentral-anchor fraction is flat/non-monotone across F0-F4 — no depletion. Dual co-expression at the ambient-robust &gt;=2-UMI cut stays ~0.4% and does not trend (vs ~2.9% in the confounded explants). Null and PP:PC are also flat. The equivalence bound excludes a large ~20-percentage-point shift but cannot exclude subtle drift below ~10 points (F4 n=4).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Pseudobulk per donor — donors, not cells, are the replicates. This is an independent count-based check (zonation genes flat, GLUL FDR 0.80) plus a discovery layer: only 64 of ~21,000 genes are significant, and they are biliary/ductular markers, not a broad program. Careful wording: no large single-GENE program outside the biliary burden — gene-set testing is still owed for weak coordinated pathways.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evidence levels. Strong: the genes are 5-78x more abundant in cholangiocytes and per-cell hepatocyte co-expression is ~0.4%. Suggestive: decontX halves the hits and drops SOX4/SOX9 — supports an ambient contribution but is not proof. Open: EPCAM/SPINT2/B3GNT3 survive. So the dominant evidence points to composition/ambient RNA, but a rare intrinsic state is not excluded; CXCL10 is set aside as a candidate real inflammatory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methodological lesson: in single-cell disease atlases, acquisition matching can dominate apparent disease trajectories. Bottom line, narrow and honest: the snRNA-seq transcriptomic evidence for progressive de-zonation does not survive matched-source re-analysis; imaging/protein/organoid evidence is untouched; the biliary burden is most consistent with composition/ambient RNA, a rare intrinsic state not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</a:rPr>
              <a:t>LIVER GENOMICS  ·  SINGLE-NUCLEUS RE-ANALYSIS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Matched biopsies preserve hepatocyte transcriptional zonation in MASLD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BD5E1"/>
                </a:solidFill>
              </a:rPr>
              <a:t>A critical re-analysis of the single-nucleus RNA-seq in Gribben et al., Nature 2024 (GSE202379)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457200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2976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Roee Tekoah</a:t>
            </a:r>
            <a:pPr algn="l" indent="0" marL="0">
              <a:buNone/>
            </a:pPr>
            <a:r>
              <a:rPr lang="en-US" sz="2000" dirty="0">
                <a:solidFill>
                  <a:srgbClr val="64748B"/>
                </a:solidFill>
              </a:rPr>
              <a:t>   ·   </a:t>
            </a:r>
            <a:pPr algn="l"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Shira Gelbstein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800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Computational Genomics (76553)  ·  Hebrew University of Jerusalem  ·  Hackathon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47 donors  ·  ~99,809 nuclei  ·  69,426 hepatocytes  ·  raw-count, donor-level analysis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93B"/>
                </a:solidFill>
              </a:rPr>
              <a:t>Hepatocytes are transcriptionally zonated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EA580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Pericentral (zone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Periportal (zone 1)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Central vein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59536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Portal tract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GLUL, CYP3A4, CYP2E1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— drug metabolism (Wnt-driven)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ASS1, CPS1, PCK1, HAL, ALDOB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— urea cycle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429000"/>
            <a:ext cx="9509760" cy="1737360"/>
          </a:xfrm>
          <a:prstGeom prst="roundRect">
            <a:avLst>
              <a:gd name="adj" fmla="val 42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61188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E123C"/>
                </a:solidFill>
              </a:rPr>
              <a:t>THE PUBLISHED CLAIM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39776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93B"/>
                </a:solidFill>
              </a:rPr>
              <a:t>“Hepatocytes lose their zonation.”  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Gribben et al. report that, as human MASLD progresses, hepatocytes co-express pericentral + periportal markers and transdifferentiate toward cholangiocytes (epithelial plasticity).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THE QUESTION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93B"/>
                </a:solidFill>
              </a:rPr>
              <a:t>Disease — or how the tissue was taken?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1691640"/>
            <a:ext cx="950976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82880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Our research question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219456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E293B"/>
                </a:solidFill>
              </a:rPr>
              <a:t>Does hepatocyte zonation degrade across MASLD progression — and is that degradation linked to the hepatocyte→cholangiocyte transdifferentiation Paper 1 reported?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The pivot — how we test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Earlier, a relative / correlation ruler suggested a collapse — but it conflates sequencing depth, tissue source and biology.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We instead count molecules: raw UMI counts, depth-normalized, with the donor (~47) as the unit of inference.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And we test on the acquisition-matched needle-biopsy axis only (next slide explains why).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WHAT WE TEST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93B"/>
                </a:solidFill>
              </a:rPr>
              <a:t>Zonation loss is not one mechanism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If the zonation expression signal breaks down, it can do so in distinct ways — each has its own count signature, which we test separately: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91440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Depletion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(a pole's cells lost)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352044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2044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Co-expression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(both poles on)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2648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2648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Turn-off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(neither pole on)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732520" y="23774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73252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Composition shift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(PP : PC ratio moves)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We suspected pericentral depletion specifically — but </a:t>
            </a:r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“depletion” is general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(either pole, or both). We test each mechanism, not just the one we expected.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4748B"/>
                </a:solidFill>
              </a:rPr>
              <a:t>A single anti-correlation or UMAP impression conflates these — which is exactly the trap we avoid with absolute counts.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THE CONFOUND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93B"/>
                </a:solidFill>
              </a:rPr>
              <a:t>Stage is entangled with acquisition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1783080"/>
            <a:ext cx="1280160" cy="640080"/>
          </a:xfrm>
          <a:prstGeom prst="roundRect">
            <a:avLst>
              <a:gd name="adj" fmla="val 8571"/>
            </a:avLst>
          </a:prstGeom>
          <a:solidFill>
            <a:srgbClr val="BE123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Healthy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3172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33172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044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916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9788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9788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F3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8660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8660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F4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686800" y="178308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86198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0" y="1783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End-stage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1581912"/>
            <a:ext cx="97840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40080" y="2606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deceased-donor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organ cubes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331720" y="26060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16-gauge needle biopsies, right lobe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0" y="26060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explanted cirrhotic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organs, multi-lobe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68680" y="1737360"/>
            <a:ext cx="137160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8641080" y="1737360"/>
            <a:ext cx="210312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8046720" y="338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not acquisition-matched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" y="3886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47 donors   ·   biopsy axis F0/F1/F2/F3/F4 = 2 / 8 / 12 / 12 / 4   ·   end-stage = 5   ·   healthy = 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D9488"/>
                </a:solidFill>
              </a:rPr>
              <a:t>Primary inference: biopsy F1–F4 (F0 n=2 shown for context).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554480" y="48006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The full trajectory is also an acquisition trajectory.</a:t>
            </a:r>
            <a:endParaRPr lang="en-US" sz="18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So healthy / end-stage comparisons cannot cleanly isolate disease biology — we use biopsy-only F1–F4.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93B"/>
                </a:solidFill>
              </a:rPr>
              <a:t>Endpoints carry organ-wide stress</a:t>
            </a:r>
            <a:endParaRPr lang="en-US" sz="2700" dirty="0"/>
          </a:p>
        </p:txBody>
      </p:sp>
      <p:pic>
        <p:nvPicPr>
          <p:cNvPr id="4" name="Image 0" descr="D:\CS\Genomics\Hackathon\presentation/assets/fig_st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82296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Figure 1.  Procurement-stress module by tissue source (donor-level); the same immediate-early spike appears in non-zonated endothelium.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686800" y="15087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778240" y="1572768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Same stress spike in hepatocytes AND endothelium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732520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</a:rPr>
              <a:t>FOS, JUN, JUNB, JUND, ATF3, DUSP1, HSPA1A/B.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1E293B"/>
                </a:solidFill>
              </a:rPr>
              <a:t>Endothelium has no zonation program.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DC2626"/>
                </a:solidFill>
              </a:rPr>
              <a:t>→ acquisition / procurement signal, not zonation biology.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HOW WE MEASURE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93B"/>
                </a:solidFill>
              </a:rPr>
              <a:t>Raw-count anchor classification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raw UMI counts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697480" y="1920240"/>
            <a:ext cx="201168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98648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98648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down-thin to 1,500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47488" y="1920240"/>
            <a:ext cx="201168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48656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48656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marker ON if ≥ 2 UMI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97496" y="1920240"/>
            <a:ext cx="201168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98664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98664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classify nucleus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747504" y="1920240"/>
            <a:ext cx="201168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948672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F1F5F9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48672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fraction per donor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44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 on / PP off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36576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 on / PC off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Dual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both programs on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9144000" y="28346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Null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</a:rPr>
              <a:t>neither 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14400" y="411480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Why raw counts: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a single KRT19 or GLUL molecule may be ambient — absolute detection matters, so SCT-normalized values are the wrong object.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7C3AED"/>
                </a:solidFill>
              </a:rPr>
              <a:t>≥2-UMI threshold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suppresses single-molecule ambient.    </a:t>
            </a:r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0D9488"/>
                </a:solidFill>
              </a:rPr>
              <a:t>Unit = donor (~47), never the nucleus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→ no pseudoreplication.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Robust across the sensitivity grid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(anchor genes, periportal rule, ALDOB in/out, 1 vs 2 UMI).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THE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93B"/>
                </a:solidFill>
              </a:rPr>
              <a:t>Matched biopsies stay zonated</a:t>
            </a:r>
            <a:endParaRPr lang="en-US" sz="2700" dirty="0"/>
          </a:p>
        </p:txBody>
      </p:sp>
      <p:pic>
        <p:nvPicPr>
          <p:cNvPr id="4" name="Image 0" descr="D:\CS\Genomics\Hackathon\presentation/assets/fig_result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786384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Figure 2.  Donor-level pericentral-anchor (left) and dual co-expression (right) fractions across biopsy fibrosis F0–F4.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321040" y="1691640"/>
            <a:ext cx="3657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475569"/>
                </a:solidFill>
              </a:rPr>
              <a:t>Null fraction (turn-off): </a:t>
            </a:r>
            <a:pPr algn="l" indent="0" marL="0">
              <a:buNone/>
            </a:pPr>
            <a:r>
              <a:rPr lang="en-US" sz="1650" dirty="0">
                <a:solidFill>
                  <a:srgbClr val="1E293B"/>
                </a:solidFill>
              </a:rPr>
              <a:t>stable.
</a:t>
            </a:r>
            <a:endParaRPr lang="en-US" sz="1650" dirty="0"/>
          </a:p>
          <a:p>
            <a:pPr algn="l" indent="0" marL="0">
              <a:buNone/>
            </a:pPr>
            <a:r>
              <a:rPr lang="en-US" sz="1650" b="1" dirty="0">
                <a:solidFill>
                  <a:srgbClr val="EA580C"/>
                </a:solidFill>
              </a:rPr>
              <a:t>PP : PC ratio: </a:t>
            </a:r>
            <a:pPr algn="l" indent="0" marL="0">
              <a:buNone/>
            </a:pPr>
            <a:r>
              <a:rPr lang="en-US" sz="1650" dirty="0">
                <a:solidFill>
                  <a:srgbClr val="1E293B"/>
                </a:solidFill>
              </a:rPr>
              <a:t>non-monotone, no drift.
</a:t>
            </a:r>
            <a:endParaRPr lang="en-US" sz="1650" dirty="0"/>
          </a:p>
          <a:p>
            <a:pPr algn="l" indent="0" marL="0">
              <a:buNone/>
            </a:pPr>
            <a:r>
              <a:rPr lang="en-US" sz="1650" b="1" dirty="0">
                <a:solidFill>
                  <a:srgbClr val="1D4ED8"/>
                </a:solidFill>
              </a:rPr>
              <a:t>Bound: </a:t>
            </a:r>
            <a:pPr algn="l" indent="0" marL="0">
              <a:buNone/>
            </a:pPr>
            <a:r>
              <a:rPr lang="en-US" sz="1650" i="1" dirty="0">
                <a:solidFill>
                  <a:srgbClr val="64748B"/>
                </a:solidFill>
              </a:rPr>
              <a:t>a large shift (~20 pp) is excluded; a subtle drift ≤10 pp is not (F4 n=4).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8321040" y="4434840"/>
            <a:ext cx="3657600" cy="1143000"/>
          </a:xfrm>
          <a:prstGeom prst="roundRect">
            <a:avLst>
              <a:gd name="adj" fmla="val 6400"/>
            </a:avLst>
          </a:prstGeom>
          <a:solidFill>
            <a:srgbClr val="ECFDF5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458200" y="4498848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F46"/>
                </a:solidFill>
              </a:rPr>
              <a:t>Donor-level anchor fractions do not support large biopsy-axis de-zonation.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GENOME-WIDE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93B"/>
                </a:solidFill>
              </a:rPr>
              <a:t>One signal: biliary markers</a:t>
            </a:r>
            <a:endParaRPr lang="en-US" sz="2700" dirty="0"/>
          </a:p>
        </p:txBody>
      </p:sp>
      <p:pic>
        <p:nvPicPr>
          <p:cNvPr id="4" name="Image 0" descr="D:\CS\Genomics\Hackathon\presentation/assets/fig_volcan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795528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5532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Figure 3.  Genome-wide pseudobulk differential expression, cirrhotic F4 vs F1 (edgeR).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412480" y="16459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E293B"/>
                </a:solidFill>
              </a:rPr>
              <a:t>Pseudobulk per donor; edgeR TMM + NB quasi-likelihood.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E293B"/>
                </a:solidFill>
              </a:rPr>
              <a:t>64 genes FDR&lt;0.05 — mostly biliary/ductular.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4ED8"/>
                </a:solidFill>
              </a:rPr>
              <a:t>Zonation genes not significant (GLUL FDR 0.80).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rgbClr val="7C3AED"/>
                </a:solidFill>
              </a:rPr>
              <a:t>“No large single-gene program outside the biliary burden.”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412480" y="5029200"/>
            <a:ext cx="3474720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/>
        </p:spPr>
      </p:sp>
      <p:sp>
        <p:nvSpPr>
          <p:cNvPr id="8" name="Text 5"/>
          <p:cNvSpPr/>
          <p:nvPr/>
        </p:nvSpPr>
        <p:spPr>
          <a:xfrm>
            <a:off x="8549640" y="50749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Caveat: weak coordinated pathways still need gene-set testing.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</a:rPr>
              <a:t>SOURCE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93B"/>
                </a:solidFill>
              </a:rPr>
              <a:t>The biliary burden looks compositional</a:t>
            </a:r>
            <a:endParaRPr lang="en-US" sz="2700" dirty="0"/>
          </a:p>
        </p:txBody>
      </p:sp>
      <p:pic>
        <p:nvPicPr>
          <p:cNvPr id="4" name="Image 0" descr="D:\CS\Genomics\Hackathon\presentation/assets/fig_composi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1161288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4983480"/>
            <a:ext cx="1161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Figure 4.  Source attribution — cross-lineage abundance, decontX ambient removal, and the F4 ductular reaction.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F46"/>
                </a:solidFill>
              </a:rPr>
              <a:t>Strong: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biliary genes far more abundant in cholangiocytes; hepatocyte co-expression rare (~0.4%).   </a:t>
            </a:r>
            <a:pPr algn="l"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Suggestive: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decontX halves the hits (ambient contribution — not proof).   </a:t>
            </a:r>
            <a:pPr algn="l" indent="0" marL="0">
              <a:buNone/>
            </a:pPr>
            <a:r>
              <a:rPr lang="en-US" sz="1500" b="1" dirty="0">
                <a:solidFill>
                  <a:srgbClr val="BE123C"/>
                </a:solidFill>
              </a:rPr>
              <a:t>Open: </a:t>
            </a:r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EPCAM/SPINT2/B3GNT3 survive.  </a:t>
            </a:r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CXCL10 = possible real inflammation (does not track cholangiocytes).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Preservation, not progressive collapse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373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EAD4"/>
                </a:solidFill>
              </a:rPr>
              <a:t>Conclusions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31546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Full healthy→end-stage trajectory is source-confounded.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In biopsy F1–F4, hepatocyte transcriptional zonation is preserved.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Main DGE signal = biliary/ductular burden, most consistent with composition / ambient RNA.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434840" y="160020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34840" y="17373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A5A5"/>
                </a:solidFill>
              </a:rPr>
              <a:t>Limits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63440" y="2286000"/>
            <a:ext cx="31546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snRNA-seq ≠ lobule geometry / spatial architecture.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Imaging / protein / organoid evidence not re-analyzed.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F4 has only 4 biopsy donors.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Gene-level DGE can miss weak coordinated pathways.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0" y="160020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7373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C5FD"/>
                </a:solidFill>
              </a:rPr>
              <a:t>Next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458200" y="2286000"/>
            <a:ext cx="31546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CAMERA / ROAST gene-set tests.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Leave-one-F4-donor-out DGE.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Quantitative contamination model.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Spatial / independent biopsy validation.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585216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</a:rPr>
              <a:t>The snRNA-seq transcriptomic evidence for progressive de-zonation does not survive matched-source re-analysis.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</a:rPr>
              <a:t>BACKUP  ·  DE-ZONATION MECHANISMS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Full four-mechanism panel (F0–F4)</a:t>
            </a:r>
            <a:endParaRPr lang="en-US" sz="2600" dirty="0"/>
          </a:p>
        </p:txBody>
      </p:sp>
      <p:pic>
        <p:nvPicPr>
          <p:cNvPr id="4" name="Image 0" descr="D:\CS\Genomics\Hackathon\presentation/assets/fig_anchor2x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371600"/>
            <a:ext cx="841248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5943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Figure 5.  Depletion, co-expression, turn-off and composition across biopsy fibrosis — none shows a large monotone change.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784080" y="237744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</a:rPr>
              <a:t>None of the four routes shows a large monotone biopsy-axis change.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E123C"/>
                </a:solidFill>
              </a:rPr>
              <a:t>Confounded explants: dual ≈ 2.9% (~7×).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</a:rPr>
              <a:t>BACKUP  ·  SCOPE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Are you overturning the paper? 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re-tested only the snRNA-seq transcriptional zonation/plasticity evidence.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did NOT test imaging, protein staining, organoids, or 3D architecture.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Claim: matched biopsy transcriptomes do not show progressive zonation loss.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We agree the strong signal is an end-stage phenomenon.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</a:rPr>
              <a:t>BACKUP  ·  LOBE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Caudate lobe? Lobe-invariant</a:t>
            </a:r>
            <a:endParaRPr lang="en-US" sz="2600" dirty="0"/>
          </a:p>
        </p:txBody>
      </p:sp>
      <p:pic>
        <p:nvPicPr>
          <p:cNvPr id="4" name="Image 0" descr="D:\CS\Genomics\Hackathon\presentation/assets/fig_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694944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5943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Figure 6.  Zonation-marker detection across Right / Caudate / Left lobes in end-stage explants.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955280" y="23774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Detection matches across lobes.
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E293B"/>
                </a:solidFill>
              </a:rPr>
              <a:t>Lobe does not explain the signal; explant-vs-biopsy acquisition still does.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</a:rPr>
              <a:t>BACKUP  ·  END-STAGE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Five organs, five phenotypes</a:t>
            </a:r>
            <a:endParaRPr lang="en-US" sz="2600" dirty="0"/>
          </a:p>
        </p:txBody>
      </p:sp>
      <p:pic>
        <p:nvPicPr>
          <p:cNvPr id="4" name="Image 0" descr="D:\CS\Genomics\Hackathon\presentation/assets/fig_expl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749808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5943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Figure 7.  Per-explant anchor fractions — end-stage is heterogeneous, not one coherent program.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412480" y="23774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PC-anchor 3% → 50%;  PP:PC 0.13 → 20.
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Dramatic but NOT one program — pooling manufactures a uniform “collapse.”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</a:rPr>
              <a:t>BACKUP  ·  ROBUSTNESS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Sensitivity grid + equivalence bound</a:t>
            </a:r>
            <a:endParaRPr lang="en-US" sz="2600" dirty="0"/>
          </a:p>
        </p:txBody>
      </p:sp>
      <p:pic>
        <p:nvPicPr>
          <p:cNvPr id="4" name="Image 0" descr="D:\CS\Genomics\Hackathon\presentation/assets/fig_t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63040"/>
            <a:ext cx="58521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0" y="51663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Figure 8.  Equivalence bound on the F4-vs-F1 pericentral-anchor change.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64592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Stable across every variant:
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anchor genes, periportal rule, ALDOB in/out, CPS1-based, 1 vs 2 UMI.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No depletion · no dual rise · no turn-off — in all.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Bound: large shift (~20 pp) excluded; subtle drift ≤10 pp not (F4 n=4).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</a:rPr>
              <a:t>BACKUP  ·  METHODS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Why raw counts, why pseudobulk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Raw counts: marker co-detection + ambient sensitivity need molecules, not SCT residuals.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Pseudobulk: cells from one donor are not independent — sum per donor, then edgeR (Squair 2021).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edgeR: filterByExpr → 21,022 genes; TMM; NB quasi-likelihood GLM, robust dispersion; common BCV 0.405.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signal persists in DIRECTION with a run covariate and within a single run; significance attenuates with n (not a batch artifact).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</a:rPr>
              <a:t>BACKUP  ·  AMBIENT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Does decontX prove contamination? 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decontX models a native + ambient RNA mixture and subtracts the estimate.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Hits 64 → 34; SOX4/SOX9 drop below significance → supports an ambient contribution.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But it can remove true hybrid signal OR leave residual contamination.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Source attribution is a lead, not a closed verdict; CXCL10 is a separate candidate inflammatory signal.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</a:rPr>
              <a:t>BACKUP  · 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The one analysis still owed: gene-set testing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Gene-level FDR can miss a coordinated WEAK program (many genes, small shifts).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CAMERA + ROAST on pre-specified sets: PC, PP, detox, urea cycle, bile-acid/lipid,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mitochondrial, ER stress, interferon, hypoxia, EMT/fetal/progenitor, cholangiocyte/ductular.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Closes the caveat behind “no other large hepatocyte program.”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Matched biopsies preserve hepatocyte transcriptional zonation in MASLD</dc:title>
  <dc:subject>PptxGenJS Presentation</dc:subject>
  <dc:creator>Roee Tekoah, Shira Gelbstein</dc:creator>
  <cp:lastModifiedBy>Roee Tekoah, Shira Gelbstein</cp:lastModifiedBy>
  <cp:revision>1</cp:revision>
  <dcterms:created xsi:type="dcterms:W3CDTF">2026-06-23T17:51:33Z</dcterms:created>
  <dcterms:modified xsi:type="dcterms:W3CDTF">2026-06-23T17:51:33Z</dcterms:modified>
</cp:coreProperties>
</file>