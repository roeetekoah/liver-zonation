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question + legacy ruler. The research question (does zonation degrade across MASLD, and is it linked to the transdifferentiation Paper 1 described). We first read it with a relative ruler — z-scored coordinate + marker correlations pooled over all samples — which produced 'hepatocytes lose zonation; pericentral turns off.' The trap: a relative summary hides who moved, pools across a hidden sampling discontinuity, and is bent by depth/cell-number/tissue-source; and per the relative-ruler postmortem, even biopsy-only the ruler stays depth-sensitive and conflates turn-off vs de-zonation vs noise. So we switched to raw molecule counts on the matched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load-bearing confound. Disease stage is collinear with how the tissue was obtained: healthy and end-stage are deceased-donor organ tissue and explants; F0–F4 are needle biopsies. So a 'progressive' trajectory can be manufactured by procurement, ischemia, dissociation or batch. This is THE structural confound; the others (depth, ambient, batch, etc.) are audited on the later audit slide. We restrict the disease axis to the matched biopsies, F1–F4.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decisive cross-lineage control: stress is ~22x higher in end-stage explants than biopsies — but endothelial cells, which have no zonation program, show the same ~18x immediate-early spike as hepatocytes. So this is organ-wide acute handling stress (not hypoxia — HIF stays flat at 1.7-2.6x), not a hepatocyte zonation program — which justifies excluding the deceased-donor and explant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before mechanisms. Every hepatocyte is sorted into exactly one of four classes by which zonation program it runs: PC-anchor (pericentral only), PP-anchor (periportal only), Dual (both — the co-expression state), or Null (neither — double-negative). The 2x2 is pericentral detected/not against periportal detected/not. The card colours carry onto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De-zonation is not one event but several, each a different movement among the four boxes. Depletion = an anchor (pole-identity) box shrinks — pericentral OR periportal. Turn-off = the null, double-negative box grows. These are dissociable: a pole can convert to the opposite pole (depletion with the null box untouched), and cells can go double-negative without any single pole shrinking (turn-off with no depletion). Co-expression fills the dual box; composition shift tilts the PP:PC ratio. A single correlation collapses all four into one number; absolute box counts keep them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continuous-gradient axis, which the discrete box-counts cannot capture. Compression is a loss of SHAPE (per-cell PC/(PC+PP) balance drifts to the middle); dimming is a loss of LEVEL (the program's absolute magnitude falls while the balance is unchanged). Compression: mild non-monotone middle drift peaking at F3, both poles populated — gradient present; only the explant collapses. Dimming: a nominal ~30% within-PC detox dip, borderline (~1.4x the ~26% MDE) and not corroborated by genome-wide pseudobulk DGE of the same genes — dropped, not a finding (we do not claim the DGE formally disproves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result. Pericentral-anchor fraction is flat/non-monotone across F1-F4 — no depletion. Dual co-expression at the ambient-robust &gt;=2-UMI cut stays ~0.4% and does not trend (vs ~2.9% in the confounded explants). Null and PP:PC are also flat. The donor is the replicate, so each stage average has SE ~ SD/sqrt(n) ~ 4 pp despite the ~12 pp per-donor spread; the spread is the same at every stage (noise around a flat line). Equivalence bound excludes a &gt;19 pp shift but cannot exclude a &lt;=10 pp drift (F4 n=4).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confounder battery, as a rigor-flash. Top four are the structural confounds that make the original full-trajectory comparison uninterpretable (source, stress, batch, lobe). The remaining six are within-biopsy checks that our no-detectable-de-zonation null is not an artifact — depth, ambient RNA, cholangiocyte mis-annotation, ploidy, the depth-match discard, and clinical covariates. Every one tested in counts at the donor level; none manufactures the result. Exact numbers (Cramer's V, correlations, nFeatures, etc.) are on the audit-detail backup. Batch at the single-experiment-label level is perfectly confounded — flagged untestable, not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Per-gene pseudobulk: nothing usable moves (64/21,000 significant, mostly biliary; zonation flat, GLUL FDR 0.80). The reveal: gene-set testing (camera + GSEA, donor-level, biopsy F0-F4) finds the pericentral detox program dims coordinately with fibrosis — CYP set FDR 2e-6, no single gene significant. We adversarially verified it is NOT a compositional artifact: it survives TMM normalization, survives removing the up-going biliary/stromal genes, and is confirmed by the within-PC depth-matched detox burden per cell (Spearman -0.48, p=0.003, exceeds the MDE) — a measure composition cannot touch. Honest limit: in the strictly self-contained test only the CYP core clears alone. This was the one count-based hint (the within-PC dip) we'd conservatively set aside; the proper test confirms it. Cells keep their zonal identity (the genre); the program's level dims (the volume). Validating controls behaved: EMT/interferon up (real fibrosis biology), ER-stress flat. Full gene sets and methods in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evidence levels. Strong: the genes are 5-78x more abundant in cholangiocytes and per-cell hepatocyte co-expression is ~0.4%. Suggestive: decontX halves the hits and drops SOX4/SOX9 — supports an ambient contribution but not proof. Open: EPCAM/SPINT2/B3GNT3 survive — a rare intrinsic state is not excluded; CXCL10 is set aside as a candidate real inflammatory signal. So the dominant evidence points to composition/ambient RNA, a lead not a closed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burden is most consistent with composition/ambient RNA, a rare intrinsic state not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777240" y="1051560"/>
            <a:ext cx="10881360" cy="365760"/>
          </a:xfrm>
          <a:prstGeom prst="rect">
            <a:avLst/>
          </a:prstGeom>
          <a:noFill/>
          <a:ln/>
        </p:spPr>
        <p:txBody>
          <a:bodyPr wrap="square" rtlCol="0" anchor="ctr"/>
          <a:lstStyle/>
          <a:p>
            <a:pPr algn="l" indent="0" marL="0">
              <a:buNone/>
            </a:pPr>
            <a:r>
              <a:rPr lang="en-US" sz="1500" b="1" spc="300" kern="0" dirty="0">
                <a:solidFill>
                  <a:srgbClr val="9FC0C4"/>
                </a:solidFill>
              </a:rPr>
              <a:t>LIVER GENOMICS  ·  SINGLE-NUCLEUS RE-ANALYSIS</a:t>
            </a:r>
            <a:endParaRPr lang="en-US" sz="1500" dirty="0"/>
          </a:p>
        </p:txBody>
      </p:sp>
      <p:sp>
        <p:nvSpPr>
          <p:cNvPr id="5" name="Text 3"/>
          <p:cNvSpPr/>
          <p:nvPr/>
        </p:nvSpPr>
        <p:spPr>
          <a:xfrm>
            <a:off x="777240" y="1508760"/>
            <a:ext cx="10698480" cy="1920240"/>
          </a:xfrm>
          <a:prstGeom prst="rect">
            <a:avLst/>
          </a:prstGeom>
          <a:noFill/>
          <a:ln/>
        </p:spPr>
        <p:txBody>
          <a:bodyPr wrap="square" rtlCol="0" anchor="t"/>
          <a:lstStyle/>
          <a:p>
            <a:pPr algn="l" indent="0" marL="0">
              <a:buNone/>
            </a:pPr>
            <a:r>
              <a:rPr lang="en-US" sz="3100" b="1" dirty="0">
                <a:solidFill>
                  <a:srgbClr val="FFFFFF"/>
                </a:solidFill>
                <a:latin typeface="Georgia" pitchFamily="34" charset="0"/>
                <a:ea typeface="Georgia" pitchFamily="34" charset="-122"/>
                <a:cs typeface="Georgia" pitchFamily="34" charset="-120"/>
              </a:rPr>
              <a:t>No transcriptional de-zonation signal in matched MASLD biopsies — but the pericentral detox program dims</a:t>
            </a:r>
            <a:endParaRPr lang="en-US" sz="3100" dirty="0"/>
          </a:p>
        </p:txBody>
      </p:sp>
      <p:sp>
        <p:nvSpPr>
          <p:cNvPr id="6" name="Text 4"/>
          <p:cNvSpPr/>
          <p:nvPr/>
        </p:nvSpPr>
        <p:spPr>
          <a:xfrm>
            <a:off x="777240" y="3246120"/>
            <a:ext cx="10607040" cy="457200"/>
          </a:xfrm>
          <a:prstGeom prst="rect">
            <a:avLst/>
          </a:prstGeom>
          <a:noFill/>
          <a:ln/>
        </p:spPr>
        <p:txBody>
          <a:bodyPr wrap="square" rtlCol="0" anchor="ctr"/>
          <a:lstStyle/>
          <a:p>
            <a:pPr algn="l" indent="0" marL="0">
              <a:buNone/>
            </a:pPr>
            <a:r>
              <a:rPr lang="en-US" sz="1800" i="1" dirty="0">
                <a:solidFill>
                  <a:srgbClr val="C9D6D3"/>
                </a:solidFill>
              </a:rPr>
              <a:t>A critical re-analysis of the single-nucleus RNA-seq in Gribben et al., Nature 2024 (GSE202379)</a:t>
            </a:r>
            <a:endParaRPr lang="en-US" sz="1800" dirty="0"/>
          </a:p>
        </p:txBody>
      </p:sp>
      <p:sp>
        <p:nvSpPr>
          <p:cNvPr id="7" name="Shape 5"/>
          <p:cNvSpPr/>
          <p:nvPr/>
        </p:nvSpPr>
        <p:spPr>
          <a:xfrm>
            <a:off x="777240" y="4160520"/>
            <a:ext cx="4572000" cy="0"/>
          </a:xfrm>
          <a:prstGeom prst="line">
            <a:avLst/>
          </a:prstGeom>
          <a:noFill/>
          <a:ln w="19050">
            <a:solidFill>
              <a:srgbClr val="C0561B"/>
            </a:solidFill>
            <a:prstDash val="solid"/>
          </a:ln>
        </p:spPr>
      </p:sp>
      <p:sp>
        <p:nvSpPr>
          <p:cNvPr id="8" name="Text 6"/>
          <p:cNvSpPr/>
          <p:nvPr/>
        </p:nvSpPr>
        <p:spPr>
          <a:xfrm>
            <a:off x="777240" y="4343400"/>
            <a:ext cx="10607040" cy="411480"/>
          </a:xfrm>
          <a:prstGeom prst="rect">
            <a:avLst/>
          </a:prstGeom>
          <a:noFill/>
          <a:ln/>
        </p:spPr>
        <p:txBody>
          <a:bodyPr wrap="square" rtlCol="0" anchor="ctr"/>
          <a:lstStyle/>
          <a:p>
            <a:pPr algn="l" indent="0" marL="0">
              <a:buNone/>
            </a:pPr>
            <a:r>
              <a:rPr lang="en-US" sz="2000" b="1" dirty="0">
                <a:solidFill>
                  <a:srgbClr val="EDE7DB"/>
                </a:solidFill>
              </a:rPr>
              <a:t>Roee Tekoah</a:t>
            </a:r>
            <a:pPr algn="l" indent="0" marL="0">
              <a:buNone/>
            </a:pPr>
            <a:r>
              <a:rPr lang="en-US" sz="2000" dirty="0">
                <a:solidFill>
                  <a:srgbClr val="7E8F8B"/>
                </a:solidFill>
              </a:rPr>
              <a:t>   ·   </a:t>
            </a:r>
            <a:pPr algn="l" indent="0" marL="0">
              <a:buNone/>
            </a:pPr>
            <a:r>
              <a:rPr lang="en-US" sz="2000" b="1" dirty="0">
                <a:solidFill>
                  <a:srgbClr val="EDE7DB"/>
                </a:solidFill>
              </a:rPr>
              <a:t>Shira Gelbstein</a:t>
            </a:r>
            <a:endParaRPr lang="en-US" sz="2000" dirty="0"/>
          </a:p>
        </p:txBody>
      </p:sp>
      <p:sp>
        <p:nvSpPr>
          <p:cNvPr id="9" name="Text 7"/>
          <p:cNvSpPr/>
          <p:nvPr/>
        </p:nvSpPr>
        <p:spPr>
          <a:xfrm>
            <a:off x="777240" y="4846320"/>
            <a:ext cx="10607040" cy="365760"/>
          </a:xfrm>
          <a:prstGeom prst="rect">
            <a:avLst/>
          </a:prstGeom>
          <a:noFill/>
          <a:ln/>
        </p:spPr>
        <p:txBody>
          <a:bodyPr wrap="square" rtlCol="0" anchor="ctr"/>
          <a:lstStyle/>
          <a:p>
            <a:pPr algn="l" indent="0" marL="0">
              <a:buNone/>
            </a:pPr>
            <a:r>
              <a:rPr lang="en-US" sz="1500" dirty="0">
                <a:solidFill>
                  <a:srgbClr val="9CB0AC"/>
                </a:solidFill>
              </a:rPr>
              <a:t>Computational Genomics (76553)  ·  Hebrew University of Jerusalem  ·  Hackathon</a:t>
            </a:r>
            <a:endParaRPr lang="en-US" sz="1500" dirty="0"/>
          </a:p>
        </p:txBody>
      </p:sp>
      <p:sp>
        <p:nvSpPr>
          <p:cNvPr id="10" name="Text 8"/>
          <p:cNvSpPr/>
          <p:nvPr/>
        </p:nvSpPr>
        <p:spPr>
          <a:xfrm>
            <a:off x="777240" y="5806440"/>
            <a:ext cx="10607040" cy="365760"/>
          </a:xfrm>
          <a:prstGeom prst="rect">
            <a:avLst/>
          </a:prstGeom>
          <a:noFill/>
          <a:ln/>
        </p:spPr>
        <p:txBody>
          <a:bodyPr wrap="square" rtlCol="0" anchor="ctr"/>
          <a:lstStyle/>
          <a:p>
            <a:pPr algn="l" indent="0" marL="0">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sp>
      <p:sp>
        <p:nvSpPr>
          <p:cNvPr id="7" name="Shape 5"/>
          <p:cNvSpPr/>
          <p:nvPr/>
        </p:nvSpPr>
        <p:spPr>
          <a:xfrm>
            <a:off x="914400" y="1691640"/>
            <a:ext cx="4754880" cy="502920"/>
          </a:xfrm>
          <a:prstGeom prst="rect">
            <a:avLst/>
          </a:prstGeom>
          <a:solidFill>
            <a:srgbClr val="1D4ED8"/>
          </a:solidFill>
          <a:ln/>
        </p:spPr>
      </p:sp>
      <p:sp>
        <p:nvSpPr>
          <p:cNvPr id="8" name="Text 6"/>
          <p:cNvSpPr/>
          <p:nvPr/>
        </p:nvSpPr>
        <p:spPr>
          <a:xfrm>
            <a:off x="1051560" y="1691640"/>
            <a:ext cx="4572000" cy="502920"/>
          </a:xfrm>
          <a:prstGeom prst="rect">
            <a:avLst/>
          </a:prstGeom>
          <a:noFill/>
          <a:ln/>
        </p:spPr>
        <p:txBody>
          <a:bodyPr wrap="square" rtlCol="0" anchor="ctr"/>
          <a:lstStyle/>
          <a:p>
            <a:pPr algn="l" indent="0" marL="0">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algn="r" indent="0" marL="0">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algn="l" indent="0" marL="0">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algn="r" indent="0" marL="0">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algn="ctr" indent="0" marL="0">
              <a:buNone/>
            </a:pPr>
            <a:r>
              <a:rPr lang="en-US" sz="1400" b="1" dirty="0">
                <a:solidFill>
                  <a:srgbClr val="1D4ED8"/>
                </a:solidFill>
              </a:rPr>
              <a:t>GLUL, CYP3A4, CYP2E1 </a:t>
            </a:r>
            <a:pPr algn="ctr" indent="0" marL="0">
              <a:buNone/>
            </a:pP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algn="ctr" indent="0" marL="0">
              <a:buNone/>
            </a:pPr>
            <a:r>
              <a:rPr lang="en-US" sz="1400" b="1" dirty="0">
                <a:solidFill>
                  <a:srgbClr val="EA580C"/>
                </a:solidFill>
              </a:rPr>
              <a:t>ASS1, CPS1, PCK1, HAL, ALDOB </a:t>
            </a:r>
            <a:pPr algn="ctr" indent="0" marL="0">
              <a:buNone/>
            </a:pPr>
            <a:r>
              <a:rPr lang="en-US" sz="1400" dirty="0">
                <a:solidFill>
                  <a:srgbClr val="1B2B31"/>
                </a:solidFill>
              </a:rPr>
              <a:t>— urea cycle</a:t>
            </a:r>
            <a:endParaRPr lang="en-US" sz="1400" dirty="0"/>
          </a:p>
        </p:txBody>
      </p:sp>
      <p:sp>
        <p:nvSpPr>
          <p:cNvPr id="14" name="Shape 12"/>
          <p:cNvSpPr/>
          <p:nvPr/>
        </p:nvSpPr>
        <p:spPr>
          <a:xfrm>
            <a:off x="914400" y="3429000"/>
            <a:ext cx="9509760" cy="1783080"/>
          </a:xfrm>
          <a:prstGeom prst="roundRect">
            <a:avLst>
              <a:gd name="adj" fmla="val 4103"/>
            </a:avLst>
          </a:prstGeom>
          <a:solidFill>
            <a:srgbClr val="123F47"/>
          </a:solidFill>
          <a:ln/>
          <a:effectLst>
            <a:outerShdw sx="100000" sy="100000" kx="0" ky="0" algn="bl" rotWithShape="0" blurRad="88900" dist="38100" dir="5400000">
              <a:srgbClr val="000000">
                <a:alpha val="12000"/>
              </a:srgbClr>
            </a:outerShdw>
          </a:effectLst>
        </p:spPr>
      </p:sp>
      <p:sp>
        <p:nvSpPr>
          <p:cNvPr id="15" name="Text 13"/>
          <p:cNvSpPr/>
          <p:nvPr/>
        </p:nvSpPr>
        <p:spPr>
          <a:xfrm>
            <a:off x="1143000" y="3566160"/>
            <a:ext cx="9052560" cy="320040"/>
          </a:xfrm>
          <a:prstGeom prst="rect">
            <a:avLst/>
          </a:prstGeom>
          <a:noFill/>
          <a:ln/>
        </p:spPr>
        <p:txBody>
          <a:bodyPr wrap="square" rtlCol="0" anchor="ctr"/>
          <a:lstStyle/>
          <a:p>
            <a:pPr algn="l" indent="0" marL="0">
              <a:buNone/>
            </a:pPr>
            <a:r>
              <a:rPr lang="en-US" sz="1300" b="1" spc="200" kern="0" dirty="0">
                <a:solidFill>
                  <a:srgbClr val="9FC0C4"/>
                </a:solidFill>
              </a:rPr>
              <a:t>THE PUBLISHED CLAIM   </a:t>
            </a:r>
            <a:pPr algn="l" indent="0" marL="0">
              <a:buNone/>
            </a:pPr>
            <a:r>
              <a:rPr lang="en-US" sz="1200" dirty="0">
                <a:solidFill>
                  <a:srgbClr val="7E9DA0"/>
                </a:solidFill>
              </a:rPr>
              <a:t>— Gribben et al., Nature 2024</a:t>
            </a:r>
            <a:endParaRPr lang="en-US" sz="1300" dirty="0"/>
          </a:p>
        </p:txBody>
      </p:sp>
      <p:sp>
        <p:nvSpPr>
          <p:cNvPr id="16" name="Text 14"/>
          <p:cNvSpPr/>
          <p:nvPr/>
        </p:nvSpPr>
        <p:spPr>
          <a:xfrm>
            <a:off x="1143000" y="3840480"/>
            <a:ext cx="9052560" cy="365760"/>
          </a:xfrm>
          <a:prstGeom prst="rect">
            <a:avLst/>
          </a:prstGeom>
          <a:noFill/>
          <a:ln/>
        </p:spPr>
        <p:txBody>
          <a:bodyPr wrap="square" rtlCol="0" anchor="t"/>
          <a:lstStyle/>
          <a:p>
            <a:pPr algn="l" indent="0" marL="0">
              <a:buNone/>
            </a:pPr>
            <a:r>
              <a:rPr lang="en-US" sz="1900" b="1" dirty="0">
                <a:solidFill>
                  <a:srgbClr val="FFFFFF"/>
                </a:solidFill>
                <a:latin typeface="Georgia" pitchFamily="34" charset="0"/>
                <a:ea typeface="Georgia" pitchFamily="34" charset="-122"/>
                <a:cs typeface="Georgia" pitchFamily="34" charset="-120"/>
              </a:rPr>
              <a:t>“Hepatocytes lose their zonation.”</a:t>
            </a:r>
            <a:endParaRPr lang="en-US" sz="1900" dirty="0"/>
          </a:p>
        </p:txBody>
      </p:sp>
      <p:sp>
        <p:nvSpPr>
          <p:cNvPr id="17" name="Text 15"/>
          <p:cNvSpPr/>
          <p:nvPr/>
        </p:nvSpPr>
        <p:spPr>
          <a:xfrm>
            <a:off x="1371600" y="4297680"/>
            <a:ext cx="8778240" cy="822960"/>
          </a:xfrm>
          <a:prstGeom prst="rect">
            <a:avLst/>
          </a:prstGeom>
          <a:noFill/>
          <a:ln/>
        </p:spPr>
        <p:txBody>
          <a:bodyPr wrap="square" rtlCol="0" anchor="t"/>
          <a:lstStyle/>
          <a:p>
            <a:pPr algn="l" marL="342900" indent="-342900">
              <a:spcAft>
                <a:spcPts val="800"/>
              </a:spcAft>
              <a:buSzPct val="100000"/>
              <a:buChar char="•"/>
            </a:pPr>
            <a:r>
              <a:rPr lang="en-US" sz="1350" dirty="0">
                <a:solidFill>
                  <a:srgbClr val="D7E6E8"/>
                </a:solidFill>
              </a:rPr>
              <a:t>In end-stage disease, hepatocytes co-express pericentral + periportal markers — validated by imaging and protein.</a:t>
            </a:r>
            <a:endParaRPr lang="en-US" sz="1350" dirty="0"/>
          </a:p>
          <a:p>
            <a:pPr algn="l" marL="342900" indent="-342900">
              <a:spcAft>
                <a:spcPts val="800"/>
              </a:spcAft>
              <a:buSzPct val="100000"/>
              <a:buChar char="•"/>
            </a:pPr>
            <a:r>
              <a:rPr lang="en-US" sz="1350" dirty="0">
                <a:solidFill>
                  <a:srgbClr val="D7E6E8"/>
                </a:solidFill>
              </a:rPr>
              <a:t>Hepatocyte↔cholangiocyte transdifferentiation, which they note “seems to occur,” “prominent in end-stage.”</a:t>
            </a:r>
            <a:endParaRPr lang="en-US" sz="1350" dirty="0"/>
          </a:p>
        </p:txBody>
      </p:sp>
      <p:sp>
        <p:nvSpPr>
          <p:cNvPr id="18" name="Text 1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9" name="Text 1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QUESTION</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The question — and the ruler that first answered it</a:t>
            </a:r>
            <a:endParaRPr lang="en-US" sz="2800" dirty="0"/>
          </a:p>
        </p:txBody>
      </p:sp>
      <p:sp>
        <p:nvSpPr>
          <p:cNvPr id="6" name="Shape 4"/>
          <p:cNvSpPr/>
          <p:nvPr/>
        </p:nvSpPr>
        <p:spPr>
          <a:xfrm>
            <a:off x="640080" y="1298448"/>
            <a:ext cx="11155680" cy="749808"/>
          </a:xfrm>
          <a:prstGeom prst="roundRect">
            <a:avLst>
              <a:gd name="adj" fmla="val 8537"/>
            </a:avLst>
          </a:prstGeom>
          <a:solidFill>
            <a:srgbClr val="ECF1F1"/>
          </a:solidFill>
          <a:ln/>
        </p:spPr>
      </p:sp>
      <p:sp>
        <p:nvSpPr>
          <p:cNvPr id="7" name="Text 5"/>
          <p:cNvSpPr/>
          <p:nvPr/>
        </p:nvSpPr>
        <p:spPr>
          <a:xfrm>
            <a:off x="868680" y="1335024"/>
            <a:ext cx="10698480" cy="676656"/>
          </a:xfrm>
          <a:prstGeom prst="rect">
            <a:avLst/>
          </a:prstGeom>
          <a:noFill/>
          <a:ln/>
        </p:spPr>
        <p:txBody>
          <a:bodyPr wrap="square" rtlCol="0" anchor="ctr"/>
          <a:lstStyle/>
          <a:p>
            <a:pPr algn="l" indent="0" marL="0">
              <a:buNone/>
            </a:pPr>
            <a:r>
              <a:rPr lang="en-US" sz="1600" b="1" dirty="0">
                <a:solidFill>
                  <a:srgbClr val="C0561B"/>
                </a:solidFill>
              </a:rPr>
              <a:t>Our question:  </a:t>
            </a:r>
            <a:pPr algn="l" indent="0" marL="0">
              <a:buNone/>
            </a:pPr>
            <a:r>
              <a:rPr lang="en-US" sz="1600" i="1" dirty="0">
                <a:solidFill>
                  <a:srgbClr val="1B2B31"/>
                </a:solidFill>
              </a:rPr>
              <a:t>Does hepatocyte zonation degrade across MASLD — and is that linked to the hepatocyte→cholangiocyte transdifferentiation Paper 1 described?</a:t>
            </a:r>
            <a:endParaRPr lang="en-US" sz="1600" dirty="0"/>
          </a:p>
        </p:txBody>
      </p:sp>
      <p:sp>
        <p:nvSpPr>
          <p:cNvPr id="8" name="Text 6"/>
          <p:cNvSpPr/>
          <p:nvPr/>
        </p:nvSpPr>
        <p:spPr>
          <a:xfrm>
            <a:off x="640080" y="2331720"/>
            <a:ext cx="5486400" cy="274320"/>
          </a:xfrm>
          <a:prstGeom prst="rect">
            <a:avLst/>
          </a:prstGeom>
          <a:noFill/>
          <a:ln/>
        </p:spPr>
        <p:txBody>
          <a:bodyPr wrap="square" rtlCol="0" anchor="ctr"/>
          <a:lstStyle/>
          <a:p>
            <a:pPr algn="l" indent="0" marL="0">
              <a:buNone/>
            </a:pPr>
            <a:r>
              <a:rPr lang="en-US" sz="1300" b="1" spc="200" kern="0" dirty="0">
                <a:solidFill>
                  <a:srgbClr val="5C6E73"/>
                </a:solidFill>
              </a:rPr>
              <a:t>THE OLD RULER</a:t>
            </a:r>
            <a:endParaRPr lang="en-US" sz="1300" dirty="0"/>
          </a:p>
        </p:txBody>
      </p:sp>
      <p:sp>
        <p:nvSpPr>
          <p:cNvPr id="9" name="Text 7"/>
          <p:cNvSpPr/>
          <p:nvPr/>
        </p:nvSpPr>
        <p:spPr>
          <a:xfrm>
            <a:off x="640080" y="2633472"/>
            <a:ext cx="5486400" cy="777240"/>
          </a:xfrm>
          <a:prstGeom prst="rect">
            <a:avLst/>
          </a:prstGeom>
          <a:noFill/>
          <a:ln/>
        </p:spPr>
        <p:txBody>
          <a:bodyPr wrap="square" rtlCol="0" anchor="t"/>
          <a:lstStyle/>
          <a:p>
            <a:pPr algn="l" indent="0" marL="0">
              <a:buNone/>
            </a:pPr>
            <a:r>
              <a:rPr lang="en-US" sz="1500" dirty="0">
                <a:solidFill>
                  <a:srgbClr val="1B2B31"/>
                </a:solidFill>
              </a:rPr>
              <a:t>We first read it with a z-scored zonation coordinate and marker–marker correlations, pooled across all samples.</a:t>
            </a:r>
            <a:endParaRPr lang="en-US" sz="1500" dirty="0"/>
          </a:p>
        </p:txBody>
      </p:sp>
      <p:sp>
        <p:nvSpPr>
          <p:cNvPr id="10" name="Shape 8"/>
          <p:cNvSpPr/>
          <p:nvPr/>
        </p:nvSpPr>
        <p:spPr>
          <a:xfrm>
            <a:off x="640080" y="3611880"/>
            <a:ext cx="5486400" cy="1417320"/>
          </a:xfrm>
          <a:prstGeom prst="roundRect">
            <a:avLst>
              <a:gd name="adj" fmla="val 4516"/>
            </a:avLst>
          </a:prstGeom>
          <a:solidFill>
            <a:srgbClr val="FBEEE9"/>
          </a:solidFill>
          <a:ln w="12700">
            <a:solidFill>
              <a:srgbClr val="BE123C"/>
            </a:solidFill>
            <a:prstDash val="solid"/>
          </a:ln>
        </p:spPr>
      </p:sp>
      <p:sp>
        <p:nvSpPr>
          <p:cNvPr id="11" name="Text 9"/>
          <p:cNvSpPr/>
          <p:nvPr/>
        </p:nvSpPr>
        <p:spPr>
          <a:xfrm>
            <a:off x="841248" y="3721608"/>
            <a:ext cx="5120640" cy="274320"/>
          </a:xfrm>
          <a:prstGeom prst="rect">
            <a:avLst/>
          </a:prstGeom>
          <a:noFill/>
          <a:ln/>
        </p:spPr>
        <p:txBody>
          <a:bodyPr wrap="square" rtlCol="0" anchor="ctr"/>
          <a:lstStyle/>
          <a:p>
            <a:pPr algn="l" indent="0" marL="0">
              <a:buNone/>
            </a:pPr>
            <a:r>
              <a:rPr lang="en-US" sz="1200" b="1" spc="200" kern="0" dirty="0">
                <a:solidFill>
                  <a:srgbClr val="BE123C"/>
                </a:solidFill>
              </a:rPr>
              <a:t>THE COLLAPSE IT PRODUCED</a:t>
            </a:r>
            <a:endParaRPr lang="en-US" sz="1200" dirty="0"/>
          </a:p>
        </p:txBody>
      </p:sp>
      <p:sp>
        <p:nvSpPr>
          <p:cNvPr id="12" name="Text 10"/>
          <p:cNvSpPr/>
          <p:nvPr/>
        </p:nvSpPr>
        <p:spPr>
          <a:xfrm>
            <a:off x="841248" y="4023360"/>
            <a:ext cx="5120640" cy="914400"/>
          </a:xfrm>
          <a:prstGeom prst="rect">
            <a:avLst/>
          </a:prstGeom>
          <a:noFill/>
          <a:ln/>
        </p:spPr>
        <p:txBody>
          <a:bodyPr wrap="square" rtlCol="0" anchor="t"/>
          <a:lstStyle/>
          <a:p>
            <a:pPr algn="l" indent="0" marL="0">
              <a:buNone/>
            </a:pPr>
            <a:r>
              <a:rPr lang="en-US" sz="1500" b="1" i="1" dirty="0">
                <a:solidFill>
                  <a:srgbClr val="123F47"/>
                </a:solidFill>
              </a:rPr>
              <a:t>“Hepatocytes lose their zonation; the pericentral program turns off, strongest at end-stage.”</a:t>
            </a:r>
            <a:endParaRPr lang="en-US" sz="1500" dirty="0"/>
          </a:p>
        </p:txBody>
      </p:sp>
      <p:sp>
        <p:nvSpPr>
          <p:cNvPr id="13" name="Text 11"/>
          <p:cNvSpPr/>
          <p:nvPr/>
        </p:nvSpPr>
        <p:spPr>
          <a:xfrm>
            <a:off x="6492240" y="2331720"/>
            <a:ext cx="5303520" cy="274320"/>
          </a:xfrm>
          <a:prstGeom prst="rect">
            <a:avLst/>
          </a:prstGeom>
          <a:noFill/>
          <a:ln/>
        </p:spPr>
        <p:txBody>
          <a:bodyPr wrap="square" rtlCol="0" anchor="ctr"/>
          <a:lstStyle/>
          <a:p>
            <a:pPr algn="l" indent="0" marL="0">
              <a:buNone/>
            </a:pPr>
            <a:r>
              <a:rPr lang="en-US" sz="1300" b="1" spc="200" kern="0" dirty="0">
                <a:solidFill>
                  <a:srgbClr val="C0561B"/>
                </a:solidFill>
              </a:rPr>
              <a:t>THE TRAP</a:t>
            </a:r>
            <a:endParaRPr lang="en-US" sz="1300" dirty="0"/>
          </a:p>
        </p:txBody>
      </p:sp>
      <p:sp>
        <p:nvSpPr>
          <p:cNvPr id="14" name="Text 12"/>
          <p:cNvSpPr/>
          <p:nvPr/>
        </p:nvSpPr>
        <p:spPr>
          <a:xfrm>
            <a:off x="6720840" y="2651760"/>
            <a:ext cx="5074920" cy="2926080"/>
          </a:xfrm>
          <a:prstGeom prst="rect">
            <a:avLst/>
          </a:prstGeom>
          <a:noFill/>
          <a:ln/>
        </p:spPr>
        <p:txBody>
          <a:bodyPr wrap="square" rtlCol="0" anchor="ctr"/>
          <a:lstStyle/>
          <a:p>
            <a:pPr algn="l" marL="342900" indent="-342900">
              <a:spcAft>
                <a:spcPts val="800"/>
              </a:spcAft>
              <a:buSzPct val="100000"/>
              <a:buChar char="•"/>
            </a:pPr>
            <a:r>
              <a:rPr lang="en-US" sz="1550" dirty="0">
                <a:solidFill>
                  <a:srgbClr val="1B2B31"/>
                </a:solidFill>
              </a:rPr>
              <a:t>A relative summary — it hides who moved, how many, and from where.</a:t>
            </a:r>
            <a:endParaRPr lang="en-US" sz="1550" dirty="0"/>
          </a:p>
          <a:p>
            <a:pPr algn="l" marL="342900" indent="-342900">
              <a:spcAft>
                <a:spcPts val="800"/>
              </a:spcAft>
              <a:buSzPct val="100000"/>
              <a:buChar char="•"/>
            </a:pPr>
            <a:r>
              <a:rPr lang="en-US" sz="1550" dirty="0">
                <a:solidFill>
                  <a:srgbClr val="1B2B31"/>
                </a:solidFill>
              </a:rPr>
              <a:t>It pools healthy + biopsy + end-stage across a hidden sampling break.</a:t>
            </a:r>
            <a:endParaRPr lang="en-US" sz="1550" dirty="0"/>
          </a:p>
          <a:p>
            <a:pPr algn="l" marL="342900" indent="-342900">
              <a:spcAft>
                <a:spcPts val="800"/>
              </a:spcAft>
              <a:buSzPct val="100000"/>
              <a:buChar char="•"/>
            </a:pPr>
            <a:r>
              <a:rPr lang="en-US" sz="1550" dirty="0">
                <a:solidFill>
                  <a:srgbClr val="1B2B31"/>
                </a:solidFill>
              </a:rPr>
              <a:t>Depth, cell number and tissue source all bend a z-score or correlation.</a:t>
            </a:r>
            <a:endParaRPr lang="en-US" sz="1550" dirty="0"/>
          </a:p>
          <a:p>
            <a:pPr algn="l" marL="342900" indent="-342900">
              <a:spcAft>
                <a:spcPts val="800"/>
              </a:spcAft>
              <a:buSzPct val="100000"/>
              <a:buChar char="•"/>
            </a:pPr>
            <a:r>
              <a:rPr lang="en-US" sz="1550" dirty="0">
                <a:solidFill>
                  <a:srgbClr val="1B2B31"/>
                </a:solidFill>
              </a:rPr>
              <a:t>Even biopsy-only it stays depth-sensitive and conflates turn-off / de-zonation / noise.</a:t>
            </a:r>
            <a:endParaRPr lang="en-US" sz="1550" dirty="0"/>
          </a:p>
          <a:p>
            <a:pPr algn="l" marL="342900" indent="-342900">
              <a:spcAft>
                <a:spcPts val="800"/>
              </a:spcAft>
              <a:buSzPct val="100000"/>
              <a:buChar char="•"/>
            </a:pPr>
            <a:r>
              <a:rPr lang="en-US" sz="1550" b="1" dirty="0">
                <a:solidFill>
                  <a:srgbClr val="0D9488"/>
                </a:solidFill>
              </a:rPr>
              <a:t>→ so we switched to raw molecule counts (next: why the samples differ).</a:t>
            </a:r>
            <a:endParaRPr lang="en-US" sz="1550" dirty="0"/>
          </a:p>
        </p:txBody>
      </p:sp>
      <p:sp>
        <p:nvSpPr>
          <p:cNvPr id="15" name="Text 13"/>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6" name="Text 14"/>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ACQUISITION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Stage is entangled with how the tissue was taken</a:t>
            </a:r>
            <a:endParaRPr lang="en-US" sz="2800" dirty="0"/>
          </a:p>
        </p:txBody>
      </p:sp>
      <p:sp>
        <p:nvSpPr>
          <p:cNvPr id="6" name="Shape 4"/>
          <p:cNvSpPr/>
          <p:nvPr/>
        </p:nvSpPr>
        <p:spPr>
          <a:xfrm>
            <a:off x="914400" y="1783080"/>
            <a:ext cx="1280160" cy="640080"/>
          </a:xfrm>
          <a:prstGeom prst="roundRect">
            <a:avLst>
              <a:gd name="adj" fmla="val 8571"/>
            </a:avLst>
          </a:prstGeom>
          <a:solidFill>
            <a:srgbClr val="BE123C"/>
          </a:solidFill>
          <a:ln/>
          <a:effectLst>
            <a:outerShdw sx="100000" sy="100000" kx="0" ky="0" algn="bl" rotWithShape="0" blurRad="88900" dist="38100" dir="5400000">
              <a:srgbClr val="000000">
                <a:alpha val="12000"/>
              </a:srgbClr>
            </a:outerShdw>
          </a:effectLst>
        </p:spPr>
      </p:sp>
      <p:sp>
        <p:nvSpPr>
          <p:cNvPr id="7" name="Text 5"/>
          <p:cNvSpPr/>
          <p:nvPr/>
        </p:nvSpPr>
        <p:spPr>
          <a:xfrm>
            <a:off x="914400" y="1783080"/>
            <a:ext cx="1280160" cy="640080"/>
          </a:xfrm>
          <a:prstGeom prst="rect">
            <a:avLst/>
          </a:prstGeom>
          <a:noFill/>
          <a:ln/>
        </p:spPr>
        <p:txBody>
          <a:bodyPr wrap="square" rtlCol="0" anchor="ctr"/>
          <a:lstStyle/>
          <a:p>
            <a:pPr algn="ctr" indent="0" marL="0">
              <a:buNone/>
            </a:pPr>
            <a:r>
              <a:rPr lang="en-US" sz="1500" b="1" dirty="0">
                <a:solidFill>
                  <a:srgbClr val="FFFFFF"/>
                </a:solidFill>
              </a:rPr>
              <a:t>Healthy</a:t>
            </a:r>
            <a:endParaRPr lang="en-US" sz="1500" dirty="0"/>
          </a:p>
        </p:txBody>
      </p:sp>
      <p:sp>
        <p:nvSpPr>
          <p:cNvPr id="8" name="Shape 6"/>
          <p:cNvSpPr/>
          <p:nvPr/>
        </p:nvSpPr>
        <p:spPr>
          <a:xfrm>
            <a:off x="2606040" y="1783080"/>
            <a:ext cx="105156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9" name="Text 7"/>
          <p:cNvSpPr/>
          <p:nvPr/>
        </p:nvSpPr>
        <p:spPr>
          <a:xfrm>
            <a:off x="2606040" y="1783080"/>
            <a:ext cx="1051560" cy="640080"/>
          </a:xfrm>
          <a:prstGeom prst="rect">
            <a:avLst/>
          </a:prstGeom>
          <a:noFill/>
          <a:ln/>
        </p:spPr>
        <p:txBody>
          <a:bodyPr wrap="square" rtlCol="0" anchor="ctr"/>
          <a:lstStyle/>
          <a:p>
            <a:pPr algn="ctr" indent="0" marL="0">
              <a:buNone/>
            </a:pPr>
            <a:r>
              <a:rPr lang="en-US" sz="1500" b="1" dirty="0">
                <a:solidFill>
                  <a:srgbClr val="FFFFFF"/>
                </a:solidFill>
              </a:rPr>
              <a:t>F0</a:t>
            </a:r>
            <a:endParaRPr lang="en-US" sz="1500" dirty="0"/>
          </a:p>
        </p:txBody>
      </p:sp>
      <p:sp>
        <p:nvSpPr>
          <p:cNvPr id="10" name="Shape 8"/>
          <p:cNvSpPr/>
          <p:nvPr/>
        </p:nvSpPr>
        <p:spPr>
          <a:xfrm>
            <a:off x="3794760" y="1783080"/>
            <a:ext cx="105156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1" name="Text 9"/>
          <p:cNvSpPr/>
          <p:nvPr/>
        </p:nvSpPr>
        <p:spPr>
          <a:xfrm>
            <a:off x="3794760" y="1783080"/>
            <a:ext cx="1051560" cy="640080"/>
          </a:xfrm>
          <a:prstGeom prst="rect">
            <a:avLst/>
          </a:prstGeom>
          <a:noFill/>
          <a:ln/>
        </p:spPr>
        <p:txBody>
          <a:bodyPr wrap="square" rtlCol="0" anchor="ctr"/>
          <a:lstStyle/>
          <a:p>
            <a:pPr algn="ctr" indent="0" marL="0">
              <a:buNone/>
            </a:pPr>
            <a:r>
              <a:rPr lang="en-US" sz="1500" b="1" dirty="0">
                <a:solidFill>
                  <a:srgbClr val="FFFFFF"/>
                </a:solidFill>
              </a:rPr>
              <a:t>F1</a:t>
            </a:r>
            <a:endParaRPr lang="en-US" sz="1500" dirty="0"/>
          </a:p>
        </p:txBody>
      </p:sp>
      <p:sp>
        <p:nvSpPr>
          <p:cNvPr id="12" name="Shape 10"/>
          <p:cNvSpPr/>
          <p:nvPr/>
        </p:nvSpPr>
        <p:spPr>
          <a:xfrm>
            <a:off x="4983480" y="1783080"/>
            <a:ext cx="105156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3" name="Text 11"/>
          <p:cNvSpPr/>
          <p:nvPr/>
        </p:nvSpPr>
        <p:spPr>
          <a:xfrm>
            <a:off x="4983480" y="1783080"/>
            <a:ext cx="1051560" cy="640080"/>
          </a:xfrm>
          <a:prstGeom prst="rect">
            <a:avLst/>
          </a:prstGeom>
          <a:noFill/>
          <a:ln/>
        </p:spPr>
        <p:txBody>
          <a:bodyPr wrap="square" rtlCol="0" anchor="ctr"/>
          <a:lstStyle/>
          <a:p>
            <a:pPr algn="ctr" indent="0" marL="0">
              <a:buNone/>
            </a:pPr>
            <a:r>
              <a:rPr lang="en-US" sz="1500" b="1" dirty="0">
                <a:solidFill>
                  <a:srgbClr val="FFFFFF"/>
                </a:solidFill>
              </a:rPr>
              <a:t>F2</a:t>
            </a:r>
            <a:endParaRPr lang="en-US" sz="1500" dirty="0"/>
          </a:p>
        </p:txBody>
      </p:sp>
      <p:sp>
        <p:nvSpPr>
          <p:cNvPr id="14" name="Shape 12"/>
          <p:cNvSpPr/>
          <p:nvPr/>
        </p:nvSpPr>
        <p:spPr>
          <a:xfrm>
            <a:off x="6172200" y="1783080"/>
            <a:ext cx="105156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5" name="Text 13"/>
          <p:cNvSpPr/>
          <p:nvPr/>
        </p:nvSpPr>
        <p:spPr>
          <a:xfrm>
            <a:off x="6172200" y="1783080"/>
            <a:ext cx="1051560" cy="640080"/>
          </a:xfrm>
          <a:prstGeom prst="rect">
            <a:avLst/>
          </a:prstGeom>
          <a:noFill/>
          <a:ln/>
        </p:spPr>
        <p:txBody>
          <a:bodyPr wrap="square" rtlCol="0" anchor="ctr"/>
          <a:lstStyle/>
          <a:p>
            <a:pPr algn="ctr" indent="0" marL="0">
              <a:buNone/>
            </a:pPr>
            <a:r>
              <a:rPr lang="en-US" sz="1500" b="1" dirty="0">
                <a:solidFill>
                  <a:srgbClr val="FFFFFF"/>
                </a:solidFill>
              </a:rPr>
              <a:t>F3</a:t>
            </a:r>
            <a:endParaRPr lang="en-US" sz="1500" dirty="0"/>
          </a:p>
        </p:txBody>
      </p:sp>
      <p:sp>
        <p:nvSpPr>
          <p:cNvPr id="16" name="Shape 14"/>
          <p:cNvSpPr/>
          <p:nvPr/>
        </p:nvSpPr>
        <p:spPr>
          <a:xfrm>
            <a:off x="7360920" y="1783080"/>
            <a:ext cx="105156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7" name="Text 15"/>
          <p:cNvSpPr/>
          <p:nvPr/>
        </p:nvSpPr>
        <p:spPr>
          <a:xfrm>
            <a:off x="7360920" y="1783080"/>
            <a:ext cx="1051560" cy="640080"/>
          </a:xfrm>
          <a:prstGeom prst="rect">
            <a:avLst/>
          </a:prstGeom>
          <a:noFill/>
          <a:ln/>
        </p:spPr>
        <p:txBody>
          <a:bodyPr wrap="square" rtlCol="0" anchor="ctr"/>
          <a:lstStyle/>
          <a:p>
            <a:pPr algn="ctr" indent="0" marL="0">
              <a:buNone/>
            </a:pPr>
            <a:r>
              <a:rPr lang="en-US" sz="1500" b="1" dirty="0">
                <a:solidFill>
                  <a:srgbClr val="FFFFFF"/>
                </a:solidFill>
              </a:rPr>
              <a:t>F4</a:t>
            </a:r>
            <a:endParaRPr lang="en-US" sz="1500" dirty="0"/>
          </a:p>
        </p:txBody>
      </p:sp>
      <p:sp>
        <p:nvSpPr>
          <p:cNvPr id="18" name="Shape 16"/>
          <p:cNvSpPr/>
          <p:nvPr/>
        </p:nvSpPr>
        <p:spPr>
          <a:xfrm>
            <a:off x="8823960" y="1783080"/>
            <a:ext cx="2011680" cy="640080"/>
          </a:xfrm>
          <a:prstGeom prst="roundRect">
            <a:avLst>
              <a:gd name="adj" fmla="val 8571"/>
            </a:avLst>
          </a:prstGeom>
          <a:solidFill>
            <a:srgbClr val="86198F"/>
          </a:solidFill>
          <a:ln/>
          <a:effectLst>
            <a:outerShdw sx="100000" sy="100000" kx="0" ky="0" algn="bl" rotWithShape="0" blurRad="88900" dist="38100" dir="5400000">
              <a:srgbClr val="000000">
                <a:alpha val="12000"/>
              </a:srgbClr>
            </a:outerShdw>
          </a:effectLst>
        </p:spPr>
      </p:sp>
      <p:sp>
        <p:nvSpPr>
          <p:cNvPr id="19" name="Text 17"/>
          <p:cNvSpPr/>
          <p:nvPr/>
        </p:nvSpPr>
        <p:spPr>
          <a:xfrm>
            <a:off x="8823960" y="1783080"/>
            <a:ext cx="2011680" cy="640080"/>
          </a:xfrm>
          <a:prstGeom prst="rect">
            <a:avLst/>
          </a:prstGeom>
          <a:noFill/>
          <a:ln/>
        </p:spPr>
        <p:txBody>
          <a:bodyPr wrap="square" rtlCol="0" anchor="ctr"/>
          <a:lstStyle/>
          <a:p>
            <a:pPr algn="ctr" indent="0" marL="0">
              <a:buNone/>
            </a:pPr>
            <a:r>
              <a:rPr lang="en-US" sz="1500" b="1" dirty="0">
                <a:solidFill>
                  <a:srgbClr val="FFFFFF"/>
                </a:solidFill>
              </a:rPr>
              <a:t>End-stage</a:t>
            </a:r>
            <a:endParaRPr lang="en-US" sz="1500" dirty="0"/>
          </a:p>
        </p:txBody>
      </p:sp>
      <p:sp>
        <p:nvSpPr>
          <p:cNvPr id="20" name="Shape 18"/>
          <p:cNvSpPr/>
          <p:nvPr/>
        </p:nvSpPr>
        <p:spPr>
          <a:xfrm>
            <a:off x="914400" y="1581912"/>
            <a:ext cx="9921240" cy="0"/>
          </a:xfrm>
          <a:prstGeom prst="line">
            <a:avLst/>
          </a:prstGeom>
          <a:noFill/>
          <a:ln w="19050">
            <a:solidFill>
              <a:srgbClr val="5C6E73"/>
            </a:solidFill>
            <a:prstDash val="solid"/>
            <a:tailEnd type="triangle"/>
          </a:ln>
        </p:spPr>
      </p:sp>
      <p:sp>
        <p:nvSpPr>
          <p:cNvPr id="21" name="Text 19"/>
          <p:cNvSpPr/>
          <p:nvPr/>
        </p:nvSpPr>
        <p:spPr>
          <a:xfrm>
            <a:off x="548640" y="2606040"/>
            <a:ext cx="2011680" cy="640080"/>
          </a:xfrm>
          <a:prstGeom prst="rect">
            <a:avLst/>
          </a:prstGeom>
          <a:noFill/>
          <a:ln/>
        </p:spPr>
        <p:txBody>
          <a:bodyPr wrap="square" rtlCol="0" anchor="ctr"/>
          <a:lstStyle/>
          <a:p>
            <a:pPr algn="ctr" indent="0" marL="0">
              <a:buNone/>
            </a:pPr>
            <a:r>
              <a:rPr lang="en-US" sz="1300" dirty="0">
                <a:solidFill>
                  <a:srgbClr val="BE123C"/>
                </a:solidFill>
              </a:rPr>
              <a:t>deceased-donor</a:t>
            </a:r>
            <a:endParaRPr lang="en-US" sz="1300" dirty="0"/>
          </a:p>
          <a:p>
            <a:pPr algn="ctr" indent="0" marL="0">
              <a:buNone/>
            </a:pPr>
            <a:r>
              <a:rPr lang="en-US" sz="1300" dirty="0">
                <a:solidFill>
                  <a:srgbClr val="BE123C"/>
                </a:solidFill>
              </a:rPr>
              <a:t>organ cubes</a:t>
            </a:r>
            <a:endParaRPr lang="en-US" sz="1300" dirty="0"/>
          </a:p>
        </p:txBody>
      </p:sp>
      <p:sp>
        <p:nvSpPr>
          <p:cNvPr id="22" name="Text 20"/>
          <p:cNvSpPr/>
          <p:nvPr/>
        </p:nvSpPr>
        <p:spPr>
          <a:xfrm>
            <a:off x="2606040" y="2606040"/>
            <a:ext cx="5806440" cy="365760"/>
          </a:xfrm>
          <a:prstGeom prst="rect">
            <a:avLst/>
          </a:prstGeom>
          <a:noFill/>
          <a:ln/>
        </p:spPr>
        <p:txBody>
          <a:bodyPr wrap="square" rtlCol="0" anchor="ctr"/>
          <a:lstStyle/>
          <a:p>
            <a:pPr algn="ctr" indent="0" marL="0">
              <a:buNone/>
            </a:pPr>
            <a:r>
              <a:rPr lang="en-US" sz="1400" b="1" dirty="0">
                <a:solidFill>
                  <a:srgbClr val="0D9488"/>
                </a:solidFill>
              </a:rPr>
              <a:t>16-gauge needle biopsies, right lobe</a:t>
            </a:r>
            <a:endParaRPr lang="en-US" sz="1400" dirty="0"/>
          </a:p>
        </p:txBody>
      </p:sp>
      <p:sp>
        <p:nvSpPr>
          <p:cNvPr id="23" name="Text 21"/>
          <p:cNvSpPr/>
          <p:nvPr/>
        </p:nvSpPr>
        <p:spPr>
          <a:xfrm>
            <a:off x="8823960" y="2606040"/>
            <a:ext cx="2011680" cy="640080"/>
          </a:xfrm>
          <a:prstGeom prst="rect">
            <a:avLst/>
          </a:prstGeom>
          <a:noFill/>
          <a:ln/>
        </p:spPr>
        <p:txBody>
          <a:bodyPr wrap="square" rtlCol="0" anchor="ctr"/>
          <a:lstStyle/>
          <a:p>
            <a:pPr algn="ctr" indent="0" marL="0">
              <a:buNone/>
            </a:pPr>
            <a:r>
              <a:rPr lang="en-US" sz="1300" dirty="0">
                <a:solidFill>
                  <a:srgbClr val="86198F"/>
                </a:solidFill>
              </a:rPr>
              <a:t>explanted cirrhotic</a:t>
            </a:r>
            <a:endParaRPr lang="en-US" sz="1300" dirty="0"/>
          </a:p>
          <a:p>
            <a:pPr algn="ctr" indent="0" marL="0">
              <a:buNone/>
            </a:pPr>
            <a:r>
              <a:rPr lang="en-US" sz="1300" dirty="0">
                <a:solidFill>
                  <a:srgbClr val="86198F"/>
                </a:solidFill>
              </a:rPr>
              <a:t>organs, multi-lobe</a:t>
            </a:r>
            <a:endParaRPr lang="en-US" sz="1300" dirty="0"/>
          </a:p>
        </p:txBody>
      </p:sp>
      <p:sp>
        <p:nvSpPr>
          <p:cNvPr id="24" name="Shape 22"/>
          <p:cNvSpPr/>
          <p:nvPr/>
        </p:nvSpPr>
        <p:spPr>
          <a:xfrm>
            <a:off x="841248" y="1737360"/>
            <a:ext cx="1426464" cy="1600200"/>
          </a:xfrm>
          <a:prstGeom prst="rect">
            <a:avLst/>
          </a:prstGeom>
          <a:ln w="25400">
            <a:solidFill>
              <a:srgbClr val="BE123C"/>
            </a:solidFill>
            <a:prstDash val="dash"/>
          </a:ln>
        </p:spPr>
      </p:sp>
      <p:sp>
        <p:nvSpPr>
          <p:cNvPr id="25" name="Shape 23"/>
          <p:cNvSpPr/>
          <p:nvPr/>
        </p:nvSpPr>
        <p:spPr>
          <a:xfrm>
            <a:off x="8750808" y="1737360"/>
            <a:ext cx="2157984" cy="1600200"/>
          </a:xfrm>
          <a:prstGeom prst="rect">
            <a:avLst/>
          </a:prstGeom>
          <a:ln w="25400">
            <a:solidFill>
              <a:srgbClr val="BE123C"/>
            </a:solidFill>
            <a:prstDash val="dash"/>
          </a:ln>
        </p:spPr>
      </p:sp>
      <p:sp>
        <p:nvSpPr>
          <p:cNvPr id="26" name="Text 24"/>
          <p:cNvSpPr/>
          <p:nvPr/>
        </p:nvSpPr>
        <p:spPr>
          <a:xfrm>
            <a:off x="7863840" y="3383280"/>
            <a:ext cx="3017520" cy="274320"/>
          </a:xfrm>
          <a:prstGeom prst="rect">
            <a:avLst/>
          </a:prstGeom>
          <a:noFill/>
          <a:ln/>
        </p:spPr>
        <p:txBody>
          <a:bodyPr wrap="square" rtlCol="0" anchor="ctr"/>
          <a:lstStyle/>
          <a:p>
            <a:pPr algn="ctr" indent="0" marL="0">
              <a:buNone/>
            </a:pPr>
            <a:r>
              <a:rPr lang="en-US" sz="1200" b="1" dirty="0">
                <a:solidFill>
                  <a:srgbClr val="BE123C"/>
                </a:solidFill>
              </a:rPr>
              <a:t>both ends: not acquisition-matched</a:t>
            </a:r>
            <a:endParaRPr lang="en-US" sz="1200" dirty="0"/>
          </a:p>
        </p:txBody>
      </p:sp>
      <p:sp>
        <p:nvSpPr>
          <p:cNvPr id="27" name="Text 25"/>
          <p:cNvSpPr/>
          <p:nvPr/>
        </p:nvSpPr>
        <p:spPr>
          <a:xfrm>
            <a:off x="914400" y="3886200"/>
            <a:ext cx="10058400" cy="365760"/>
          </a:xfrm>
          <a:prstGeom prst="rect">
            <a:avLst/>
          </a:prstGeom>
          <a:noFill/>
          <a:ln/>
        </p:spPr>
        <p:txBody>
          <a:bodyPr wrap="square" rtlCol="0" anchor="ctr"/>
          <a:lstStyle/>
          <a:p>
            <a:pPr algn="ctr" indent="0" marL="0">
              <a:buNone/>
            </a:pPr>
            <a:r>
              <a:rPr lang="en-US" sz="1600" b="1" dirty="0">
                <a:solidFill>
                  <a:srgbClr val="1B2B31"/>
                </a:solidFill>
              </a:rPr>
              <a:t>47 donors   ·   biopsy axis F0/F1/F2/F3/F4 = 2 / 8 / 12 / 12 / 4   ·   end-stage = 5   ·   healthy = 4</a:t>
            </a:r>
            <a:endParaRPr lang="en-US" sz="1600" dirty="0"/>
          </a:p>
        </p:txBody>
      </p:sp>
      <p:sp>
        <p:nvSpPr>
          <p:cNvPr id="28" name="Text 26"/>
          <p:cNvSpPr/>
          <p:nvPr/>
        </p:nvSpPr>
        <p:spPr>
          <a:xfrm>
            <a:off x="914400" y="4315968"/>
            <a:ext cx="10058400" cy="320040"/>
          </a:xfrm>
          <a:prstGeom prst="rect">
            <a:avLst/>
          </a:prstGeom>
          <a:noFill/>
          <a:ln/>
        </p:spPr>
        <p:txBody>
          <a:bodyPr wrap="square" rtlCol="0" anchor="ctr"/>
          <a:lstStyle/>
          <a:p>
            <a:pPr algn="ctr" indent="0" marL="0">
              <a:buNone/>
            </a:pPr>
            <a:r>
              <a:rPr lang="en-US" sz="1400" i="1" dirty="0">
                <a:solidFill>
                  <a:srgbClr val="0D9488"/>
                </a:solidFill>
              </a:rPr>
              <a:t>Primary inference: biopsy F1–F4 (F0 n=2 shown for context).</a:t>
            </a:r>
            <a:endParaRPr lang="en-US" sz="1400" dirty="0"/>
          </a:p>
        </p:txBody>
      </p:sp>
      <p:sp>
        <p:nvSpPr>
          <p:cNvPr id="29" name="Text 27"/>
          <p:cNvSpPr/>
          <p:nvPr/>
        </p:nvSpPr>
        <p:spPr>
          <a:xfrm>
            <a:off x="1554480" y="4754880"/>
            <a:ext cx="9144000" cy="1005840"/>
          </a:xfrm>
          <a:prstGeom prst="rect">
            <a:avLst/>
          </a:prstGeom>
          <a:noFill/>
          <a:ln/>
        </p:spPr>
        <p:txBody>
          <a:bodyPr wrap="square" rtlCol="0" anchor="ctr"/>
          <a:lstStyle/>
          <a:p>
            <a:pPr algn="l" marL="342900" indent="-342900">
              <a:spcAft>
                <a:spcPts val="500"/>
              </a:spcAft>
              <a:buSzPct val="100000"/>
              <a:buChar char="•"/>
            </a:pPr>
            <a:r>
              <a:rPr lang="en-US" sz="1800" dirty="0">
                <a:solidFill>
                  <a:srgbClr val="1B2B31"/>
                </a:solidFill>
              </a:rPr>
              <a:t>The full trajectory is also an acquisition trajectory — this is the core confound (the others are audited later).</a:t>
            </a:r>
            <a:endParaRPr lang="en-US" sz="1800" dirty="0"/>
          </a:p>
          <a:p>
            <a:pPr algn="l" marL="342900" indent="-342900">
              <a:spcAft>
                <a:spcPts val="500"/>
              </a:spcAft>
              <a:buSzPct val="100000"/>
              <a:buChar char="•"/>
            </a:pPr>
            <a:r>
              <a:rPr lang="en-US" sz="1800" b="1" dirty="0">
                <a:solidFill>
                  <a:srgbClr val="0D9488"/>
                </a:solidFill>
              </a:rPr>
              <a:t>So healthy / end-stage comparisons cannot cleanly isolate disease biology — we use biopsy-only F1–F4.</a:t>
            </a:r>
            <a:endParaRPr lang="en-US" sz="1800" dirty="0"/>
          </a:p>
        </p:txBody>
      </p:sp>
      <p:sp>
        <p:nvSpPr>
          <p:cNvPr id="30" name="Text 28"/>
          <p:cNvSpPr/>
          <p:nvPr/>
        </p:nvSpPr>
        <p:spPr>
          <a:xfrm>
            <a:off x="1554480" y="5943600"/>
            <a:ext cx="9601200" cy="274320"/>
          </a:xfrm>
          <a:prstGeom prst="rect">
            <a:avLst/>
          </a:prstGeom>
          <a:noFill/>
          <a:ln/>
        </p:spPr>
        <p:txBody>
          <a:bodyPr wrap="square" rtlCol="0" anchor="ctr"/>
          <a:lstStyle/>
          <a:p>
            <a:pPr algn="l" indent="0" marL="0">
              <a:buNone/>
            </a:pPr>
            <a:r>
              <a:rPr lang="en-US" sz="1250" i="1" dirty="0">
                <a:solidFill>
                  <a:srgbClr val="5C6E73"/>
                </a:solidFill>
              </a:rPr>
              <a:t>Verified directly from the paper’s Methods and the dataset (GSE202379) metadata.</a:t>
            </a:r>
            <a:endParaRPr lang="en-US" sz="1250" dirty="0"/>
          </a:p>
        </p:txBody>
      </p:sp>
      <p:sp>
        <p:nvSpPr>
          <p:cNvPr id="31" name="Text 29"/>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2" name="Text 30"/>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WHY IT MATTERS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Endpoints carry organ-wide stress</a:t>
            </a:r>
            <a:endParaRPr lang="en-US" sz="2800" dirty="0"/>
          </a:p>
        </p:txBody>
      </p:sp>
      <p:pic>
        <p:nvPicPr>
          <p:cNvPr id="6" name="Image 0" descr="D:\CS\Genomics\Hackathon\presentation/assets/fig_stress.png">    </p:cNvPr>
          <p:cNvPicPr>
            <a:picLocks noChangeAspect="1"/>
          </p:cNvPicPr>
          <p:nvPr/>
        </p:nvPicPr>
        <p:blipFill>
          <a:blip r:embed="rId1"/>
          <a:stretch>
            <a:fillRect/>
          </a:stretch>
        </p:blipFill>
        <p:spPr>
          <a:xfrm>
            <a:off x="274320" y="1371600"/>
            <a:ext cx="8229600" cy="3157198"/>
          </a:xfrm>
          <a:prstGeom prst="rect">
            <a:avLst/>
          </a:prstGeom>
        </p:spPr>
      </p:pic>
      <p:sp>
        <p:nvSpPr>
          <p:cNvPr id="7" name="Text 4"/>
          <p:cNvSpPr/>
          <p:nvPr/>
        </p:nvSpPr>
        <p:spPr>
          <a:xfrm>
            <a:off x="274320" y="5349240"/>
            <a:ext cx="82296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1.  Procurement-stress module by tissue source (donor-level); the same immediate-early spike appears in non-zonated endothelium.</a:t>
            </a:r>
            <a:endParaRPr lang="en-US" sz="1200" dirty="0"/>
          </a:p>
        </p:txBody>
      </p:sp>
      <p:sp>
        <p:nvSpPr>
          <p:cNvPr id="8" name="Shape 5"/>
          <p:cNvSpPr/>
          <p:nvPr/>
        </p:nvSpPr>
        <p:spPr>
          <a:xfrm>
            <a:off x="8686800" y="1508760"/>
            <a:ext cx="3200400" cy="1325880"/>
          </a:xfrm>
          <a:prstGeom prst="roundRect">
            <a:avLst>
              <a:gd name="adj" fmla="val 5517"/>
            </a:avLst>
          </a:prstGeom>
          <a:solidFill>
            <a:srgbClr val="FEF2F2"/>
          </a:solidFill>
          <a:ln/>
          <a:effectLst>
            <a:outerShdw sx="100000" sy="100000" kx="0" ky="0" algn="bl" rotWithShape="0" blurRad="88900" dist="38100" dir="5400000">
              <a:srgbClr val="000000">
                <a:alpha val="12000"/>
              </a:srgbClr>
            </a:outerShdw>
          </a:effectLst>
        </p:spPr>
      </p:sp>
      <p:sp>
        <p:nvSpPr>
          <p:cNvPr id="9" name="Text 6"/>
          <p:cNvSpPr/>
          <p:nvPr/>
        </p:nvSpPr>
        <p:spPr>
          <a:xfrm>
            <a:off x="8778240" y="1572768"/>
            <a:ext cx="3017520" cy="1188720"/>
          </a:xfrm>
          <a:prstGeom prst="rect">
            <a:avLst/>
          </a:prstGeom>
          <a:noFill/>
          <a:ln/>
        </p:spPr>
        <p:txBody>
          <a:bodyPr wrap="square" rtlCol="0" anchor="ctr"/>
          <a:lstStyle/>
          <a:p>
            <a:pPr algn="l" indent="0" marL="0">
              <a:buNone/>
            </a:pPr>
            <a:r>
              <a:rPr lang="en-US" sz="1600" b="1" dirty="0">
                <a:solidFill>
                  <a:srgbClr val="DC2626"/>
                </a:solidFill>
              </a:rPr>
              <a:t>Same stress spike in hepatocytes AND endothelium</a:t>
            </a:r>
            <a:endParaRPr lang="en-US" sz="1600" dirty="0"/>
          </a:p>
        </p:txBody>
      </p:sp>
      <p:sp>
        <p:nvSpPr>
          <p:cNvPr id="10" name="Text 7"/>
          <p:cNvSpPr/>
          <p:nvPr/>
        </p:nvSpPr>
        <p:spPr>
          <a:xfrm>
            <a:off x="8732520" y="2971800"/>
            <a:ext cx="3154680" cy="2651760"/>
          </a:xfrm>
          <a:prstGeom prst="rect">
            <a:avLst/>
          </a:prstGeom>
          <a:noFill/>
          <a:ln/>
        </p:spPr>
        <p:txBody>
          <a:bodyPr wrap="square" rtlCol="0" anchor="ctr"/>
          <a:lstStyle/>
          <a:p>
            <a:pPr algn="l" marL="342900" indent="-342900">
              <a:spcAft>
                <a:spcPts val="700"/>
              </a:spcAft>
              <a:buSzPct val="100000"/>
              <a:buChar char="•"/>
            </a:pPr>
            <a:r>
              <a:rPr lang="en-US" sz="1250" dirty="0">
                <a:solidFill>
                  <a:srgbClr val="1B2B31"/>
                </a:solidFill>
              </a:rPr>
              <a:t>FOS, JUN, ATF3, DUSP1, HSPA1A/B — the documented snRNA dissociation artifact¹.</a:t>
            </a:r>
            <a:endParaRPr lang="en-US" sz="1250" dirty="0"/>
          </a:p>
          <a:p>
            <a:pPr algn="l" marL="342900" indent="-342900">
              <a:spcAft>
                <a:spcPts val="700"/>
              </a:spcAft>
              <a:buSzPct val="100000"/>
              <a:buChar char="•"/>
            </a:pPr>
            <a:r>
              <a:rPr lang="en-US" sz="1250" dirty="0">
                <a:solidFill>
                  <a:srgbClr val="1B2B31"/>
                </a:solidFill>
              </a:rPr>
              <a:t>Acute handling, not hypoxia: hypoxia (HIF) genes stay flat (1.7–2.6×) while these spike 18×.</a:t>
            </a:r>
            <a:endParaRPr lang="en-US" sz="1250" dirty="0"/>
          </a:p>
          <a:p>
            <a:pPr algn="l" marL="342900" indent="-342900">
              <a:spcAft>
                <a:spcPts val="700"/>
              </a:spcAft>
              <a:buSzPct val="100000"/>
              <a:buChar char="•"/>
            </a:pPr>
            <a:r>
              <a:rPr lang="en-US" sz="1250" b="1" dirty="0">
                <a:solidFill>
                  <a:srgbClr val="DC2626"/>
                </a:solidFill>
              </a:rPr>
              <a:t>Endothelium (no zonation program) spikes 18× too → most consistent with organ-wide handling, not a zonation-specific change.</a:t>
            </a:r>
            <a:endParaRPr lang="en-US" sz="1250" dirty="0"/>
          </a:p>
        </p:txBody>
      </p:sp>
      <p:sp>
        <p:nvSpPr>
          <p:cNvPr id="11" name="Shape 8"/>
          <p:cNvSpPr/>
          <p:nvPr/>
        </p:nvSpPr>
        <p:spPr>
          <a:xfrm>
            <a:off x="457200" y="6199632"/>
            <a:ext cx="2926080" cy="0"/>
          </a:xfrm>
          <a:prstGeom prst="line">
            <a:avLst/>
          </a:prstGeom>
          <a:noFill/>
          <a:ln w="9525">
            <a:solidFill>
              <a:srgbClr val="C9C0B2"/>
            </a:solidFill>
            <a:prstDash val="solid"/>
          </a:ln>
        </p:spPr>
      </p:sp>
      <p:sp>
        <p:nvSpPr>
          <p:cNvPr id="12" name="Text 9"/>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Dissociation / handling artifact: van den Brink et al. 2017; O’Flanagan et al. 2019; Denisenko et al. 2020.</a:t>
            </a:r>
            <a:endParaRPr lang="en-US" sz="1000" dirty="0"/>
          </a:p>
        </p:txBody>
      </p:sp>
      <p:sp>
        <p:nvSpPr>
          <p:cNvPr id="13" name="Text 10"/>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4" name="Text 11"/>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VOCABULARY</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Every hepatocyte falls in one of four classes</a:t>
            </a:r>
            <a:endParaRPr lang="en-US" sz="2800" dirty="0"/>
          </a:p>
        </p:txBody>
      </p:sp>
      <p:sp>
        <p:nvSpPr>
          <p:cNvPr id="6" name="Text 4"/>
          <p:cNvSpPr/>
          <p:nvPr/>
        </p:nvSpPr>
        <p:spPr>
          <a:xfrm>
            <a:off x="640080" y="1371600"/>
            <a:ext cx="11247120" cy="457200"/>
          </a:xfrm>
          <a:prstGeom prst="rect">
            <a:avLst/>
          </a:prstGeom>
          <a:noFill/>
          <a:ln/>
        </p:spPr>
        <p:txBody>
          <a:bodyPr wrap="square" rtlCol="0" anchor="ctr"/>
          <a:lstStyle/>
          <a:p>
            <a:pPr algn="l" indent="0" marL="0">
              <a:buNone/>
            </a:pPr>
            <a:r>
              <a:rPr lang="en-US" sz="1600" dirty="0">
                <a:solidFill>
                  <a:srgbClr val="1B2B31"/>
                </a:solidFill>
              </a:rPr>
              <a:t>Before asking how zonation could break down, we fix the words. Each hepatocyte falls into one of four mutually exclusive classes:</a:t>
            </a:r>
            <a:endParaRPr lang="en-US" sz="1600" dirty="0"/>
          </a:p>
        </p:txBody>
      </p:sp>
      <p:sp>
        <p:nvSpPr>
          <p:cNvPr id="7" name="Text 5"/>
          <p:cNvSpPr/>
          <p:nvPr/>
        </p:nvSpPr>
        <p:spPr>
          <a:xfrm>
            <a:off x="2697480" y="1993392"/>
            <a:ext cx="8366760" cy="274320"/>
          </a:xfrm>
          <a:prstGeom prst="rect">
            <a:avLst/>
          </a:prstGeom>
          <a:noFill/>
          <a:ln/>
        </p:spPr>
        <p:txBody>
          <a:bodyPr wrap="square" lIns="0" tIns="0" rIns="0" bIns="0" rtlCol="0" anchor="ctr"/>
          <a:lstStyle/>
          <a:p>
            <a:pPr algn="ctr" indent="0" marL="0">
              <a:buNone/>
            </a:pPr>
            <a:r>
              <a:rPr lang="en-US" sz="1200" b="1" spc="100" kern="0" dirty="0">
                <a:solidFill>
                  <a:srgbClr val="EA580C"/>
                </a:solidFill>
              </a:rPr>
              <a:t>PERIPORTAL PROGRAM  (varies across columns →)   ASS1, CPS1, PCK1 …</a:t>
            </a:r>
            <a:endParaRPr lang="en-US" sz="1200" dirty="0"/>
          </a:p>
        </p:txBody>
      </p:sp>
      <p:sp>
        <p:nvSpPr>
          <p:cNvPr id="8" name="Text 6"/>
          <p:cNvSpPr/>
          <p:nvPr/>
        </p:nvSpPr>
        <p:spPr>
          <a:xfrm>
            <a:off x="2697480" y="2286000"/>
            <a:ext cx="4069080" cy="274320"/>
          </a:xfrm>
          <a:prstGeom prst="rect">
            <a:avLst/>
          </a:prstGeom>
          <a:noFill/>
          <a:ln/>
        </p:spPr>
        <p:txBody>
          <a:bodyPr wrap="square" lIns="0" tIns="0" rIns="0" bIns="0" rtlCol="0" anchor="ctr"/>
          <a:lstStyle/>
          <a:p>
            <a:pPr algn="ctr" indent="0" marL="0">
              <a:buNone/>
            </a:pPr>
            <a:r>
              <a:rPr lang="en-US" sz="1250" b="1" dirty="0">
                <a:solidFill>
                  <a:srgbClr val="5C6E73"/>
                </a:solidFill>
              </a:rPr>
              <a:t>not detected</a:t>
            </a:r>
            <a:endParaRPr lang="en-US" sz="1250" dirty="0"/>
          </a:p>
        </p:txBody>
      </p:sp>
      <p:sp>
        <p:nvSpPr>
          <p:cNvPr id="9" name="Text 7"/>
          <p:cNvSpPr/>
          <p:nvPr/>
        </p:nvSpPr>
        <p:spPr>
          <a:xfrm>
            <a:off x="6995160" y="2286000"/>
            <a:ext cx="4069080" cy="274320"/>
          </a:xfrm>
          <a:prstGeom prst="rect">
            <a:avLst/>
          </a:prstGeom>
          <a:noFill/>
          <a:ln/>
        </p:spPr>
        <p:txBody>
          <a:bodyPr wrap="square" lIns="0" tIns="0" rIns="0" bIns="0" rtlCol="0" anchor="ctr"/>
          <a:lstStyle/>
          <a:p>
            <a:pPr algn="ctr" indent="0" marL="0">
              <a:buNone/>
            </a:pPr>
            <a:r>
              <a:rPr lang="en-US" sz="1250" b="1" dirty="0">
                <a:solidFill>
                  <a:srgbClr val="5C6E73"/>
                </a:solidFill>
              </a:rPr>
              <a:t>detected</a:t>
            </a:r>
            <a:endParaRPr lang="en-US" sz="1250" dirty="0"/>
          </a:p>
        </p:txBody>
      </p:sp>
      <p:sp>
        <p:nvSpPr>
          <p:cNvPr id="10" name="Text 8"/>
          <p:cNvSpPr/>
          <p:nvPr/>
        </p:nvSpPr>
        <p:spPr>
          <a:xfrm>
            <a:off x="320040" y="2194560"/>
            <a:ext cx="2286000" cy="960120"/>
          </a:xfrm>
          <a:prstGeom prst="rect">
            <a:avLst/>
          </a:prstGeom>
          <a:noFill/>
          <a:ln/>
        </p:spPr>
        <p:txBody>
          <a:bodyPr wrap="square" lIns="0" tIns="0" rIns="0" bIns="0" rtlCol="0" anchor="ctr"/>
          <a:lstStyle/>
          <a:p>
            <a:pPr algn="ctr" indent="0" marL="0">
              <a:buNone/>
            </a:pPr>
            <a:r>
              <a:rPr lang="en-US" sz="1200" b="1" dirty="0">
                <a:solidFill>
                  <a:srgbClr val="1D4ED8"/>
                </a:solidFill>
              </a:rPr>
              <a:t>PERICENTRAL</a:t>
            </a:r>
            <a:endParaRPr lang="en-US" sz="1200" dirty="0"/>
          </a:p>
          <a:p>
            <a:pPr algn="ctr" indent="0" marL="0">
              <a:buNone/>
            </a:pPr>
            <a:r>
              <a:rPr lang="en-US" sz="1200" b="1" dirty="0">
                <a:solidFill>
                  <a:srgbClr val="1D4ED8"/>
                </a:solidFill>
              </a:rPr>
              <a:t>PROGRAM</a:t>
            </a:r>
            <a:endParaRPr lang="en-US" sz="1200" dirty="0"/>
          </a:p>
          <a:p>
            <a:pPr algn="ctr" indent="0" marL="0">
              <a:buNone/>
            </a:pPr>
            <a:r>
              <a:rPr lang="en-US" sz="1200" b="1" dirty="0">
                <a:solidFill>
                  <a:srgbClr val="1D4ED8"/>
                </a:solidFill>
              </a:rPr>
              <a:t>(varies down rows ↓)</a:t>
            </a:r>
            <a:endParaRPr lang="en-US" sz="1200" dirty="0"/>
          </a:p>
          <a:p>
            <a:pPr algn="ctr" indent="0" marL="0">
              <a:buNone/>
            </a:pPr>
            <a:r>
              <a:rPr lang="en-US" sz="1200" b="1" dirty="0">
                <a:solidFill>
                  <a:srgbClr val="1D4ED8"/>
                </a:solidFill>
              </a:rPr>
              <a:t>GLUL, CYP …</a:t>
            </a:r>
            <a:endParaRPr lang="en-US" sz="1200" dirty="0"/>
          </a:p>
        </p:txBody>
      </p:sp>
      <p:sp>
        <p:nvSpPr>
          <p:cNvPr id="11" name="Text 9"/>
          <p:cNvSpPr/>
          <p:nvPr/>
        </p:nvSpPr>
        <p:spPr>
          <a:xfrm>
            <a:off x="365760" y="3200400"/>
            <a:ext cx="2194560" cy="274320"/>
          </a:xfrm>
          <a:prstGeom prst="rect">
            <a:avLst/>
          </a:prstGeom>
          <a:noFill/>
          <a:ln/>
        </p:spPr>
        <p:txBody>
          <a:bodyPr wrap="square" lIns="0" tIns="0" rIns="0" bIns="0" rtlCol="0" anchor="ctr"/>
          <a:lstStyle/>
          <a:p>
            <a:pPr algn="ctr" indent="0" marL="0">
              <a:buNone/>
            </a:pPr>
            <a:r>
              <a:rPr lang="en-US" sz="1250" b="1" dirty="0">
                <a:solidFill>
                  <a:srgbClr val="5C6E73"/>
                </a:solidFill>
              </a:rPr>
              <a:t>detected</a:t>
            </a:r>
            <a:endParaRPr lang="en-US" sz="1250" dirty="0"/>
          </a:p>
        </p:txBody>
      </p:sp>
      <p:sp>
        <p:nvSpPr>
          <p:cNvPr id="12" name="Text 10"/>
          <p:cNvSpPr/>
          <p:nvPr/>
        </p:nvSpPr>
        <p:spPr>
          <a:xfrm>
            <a:off x="365760" y="4754880"/>
            <a:ext cx="2194560" cy="274320"/>
          </a:xfrm>
          <a:prstGeom prst="rect">
            <a:avLst/>
          </a:prstGeom>
          <a:noFill/>
          <a:ln/>
        </p:spPr>
        <p:txBody>
          <a:bodyPr wrap="square" lIns="0" tIns="0" rIns="0" bIns="0" rtlCol="0" anchor="ctr"/>
          <a:lstStyle/>
          <a:p>
            <a:pPr algn="ctr" indent="0" marL="0">
              <a:buNone/>
            </a:pPr>
            <a:r>
              <a:rPr lang="en-US" sz="1250" b="1" dirty="0">
                <a:solidFill>
                  <a:srgbClr val="5C6E73"/>
                </a:solidFill>
              </a:rPr>
              <a:t>not detected</a:t>
            </a:r>
            <a:endParaRPr lang="en-US" sz="1250" dirty="0"/>
          </a:p>
        </p:txBody>
      </p:sp>
      <p:sp>
        <p:nvSpPr>
          <p:cNvPr id="13" name="Shape 11"/>
          <p:cNvSpPr/>
          <p:nvPr/>
        </p:nvSpPr>
        <p:spPr>
          <a:xfrm>
            <a:off x="2697480" y="2651760"/>
            <a:ext cx="4069080" cy="1417320"/>
          </a:xfrm>
          <a:prstGeom prst="roundRect">
            <a:avLst>
              <a:gd name="adj" fmla="val 4516"/>
            </a:avLst>
          </a:prstGeom>
          <a:solidFill>
            <a:srgbClr val="1D4ED8"/>
          </a:solidFill>
          <a:ln/>
          <a:effectLst>
            <a:outerShdw sx="100000" sy="100000" kx="0" ky="0" algn="bl" rotWithShape="0" blurRad="88900" dist="38100" dir="5400000">
              <a:srgbClr val="000000">
                <a:alpha val="12000"/>
              </a:srgbClr>
            </a:outerShdw>
          </a:effectLst>
        </p:spPr>
      </p:sp>
      <p:sp>
        <p:nvSpPr>
          <p:cNvPr id="14" name="Text 12"/>
          <p:cNvSpPr/>
          <p:nvPr/>
        </p:nvSpPr>
        <p:spPr>
          <a:xfrm>
            <a:off x="2862072" y="2770632"/>
            <a:ext cx="373989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5" name="Text 13"/>
          <p:cNvSpPr/>
          <p:nvPr/>
        </p:nvSpPr>
        <p:spPr>
          <a:xfrm>
            <a:off x="2862072" y="3273552"/>
            <a:ext cx="3739896" cy="685800"/>
          </a:xfrm>
          <a:prstGeom prst="rect">
            <a:avLst/>
          </a:prstGeom>
          <a:noFill/>
          <a:ln/>
        </p:spPr>
        <p:txBody>
          <a:bodyPr wrap="square" lIns="0" tIns="0" rIns="0" bIns="0" rtlCol="0" anchor="t"/>
          <a:lstStyle/>
          <a:p>
            <a:pPr algn="l" indent="0" marL="0">
              <a:buNone/>
            </a:pPr>
            <a:r>
              <a:rPr lang="en-US" sz="1350" dirty="0">
                <a:solidFill>
                  <a:srgbClr val="FFFFFF"/>
                </a:solidFill>
              </a:rPr>
              <a:t>Pericentral identity — pericentral genes detected, periportal genes silent.</a:t>
            </a:r>
            <a:endParaRPr lang="en-US" sz="1350" dirty="0"/>
          </a:p>
        </p:txBody>
      </p:sp>
      <p:sp>
        <p:nvSpPr>
          <p:cNvPr id="16" name="Shape 14"/>
          <p:cNvSpPr/>
          <p:nvPr/>
        </p:nvSpPr>
        <p:spPr>
          <a:xfrm>
            <a:off x="6995160" y="2651760"/>
            <a:ext cx="4069080" cy="1417320"/>
          </a:xfrm>
          <a:prstGeom prst="roundRect">
            <a:avLst>
              <a:gd name="adj" fmla="val 4516"/>
            </a:avLst>
          </a:prstGeom>
          <a:solidFill>
            <a:srgbClr val="7C3AED"/>
          </a:solidFill>
          <a:ln/>
          <a:effectLst>
            <a:outerShdw sx="100000" sy="100000" kx="0" ky="0" algn="bl" rotWithShape="0" blurRad="88900" dist="38100" dir="5400000">
              <a:srgbClr val="000000">
                <a:alpha val="12000"/>
              </a:srgbClr>
            </a:outerShdw>
          </a:effectLst>
        </p:spPr>
      </p:sp>
      <p:sp>
        <p:nvSpPr>
          <p:cNvPr id="17" name="Text 15"/>
          <p:cNvSpPr/>
          <p:nvPr/>
        </p:nvSpPr>
        <p:spPr>
          <a:xfrm>
            <a:off x="7159752" y="2770632"/>
            <a:ext cx="373989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8" name="Text 16"/>
          <p:cNvSpPr/>
          <p:nvPr/>
        </p:nvSpPr>
        <p:spPr>
          <a:xfrm>
            <a:off x="7159752" y="3273552"/>
            <a:ext cx="3739896" cy="685800"/>
          </a:xfrm>
          <a:prstGeom prst="rect">
            <a:avLst/>
          </a:prstGeom>
          <a:noFill/>
          <a:ln/>
        </p:spPr>
        <p:txBody>
          <a:bodyPr wrap="square" lIns="0" tIns="0" rIns="0" bIns="0" rtlCol="0" anchor="t"/>
          <a:lstStyle/>
          <a:p>
            <a:pPr algn="l" indent="0" marL="0">
              <a:buNone/>
            </a:pPr>
            <a:r>
              <a:rPr lang="en-US" sz="1350" dirty="0">
                <a:solidFill>
                  <a:srgbClr val="FFFFFF"/>
                </a:solidFill>
              </a:rPr>
              <a:t>Co-expression — both programs detectable in the same nucleus.</a:t>
            </a:r>
            <a:endParaRPr lang="en-US" sz="1350" dirty="0"/>
          </a:p>
        </p:txBody>
      </p:sp>
      <p:sp>
        <p:nvSpPr>
          <p:cNvPr id="19" name="Shape 17"/>
          <p:cNvSpPr/>
          <p:nvPr/>
        </p:nvSpPr>
        <p:spPr>
          <a:xfrm>
            <a:off x="2697480" y="4206240"/>
            <a:ext cx="4069080" cy="1417320"/>
          </a:xfrm>
          <a:prstGeom prst="roundRect">
            <a:avLst>
              <a:gd name="adj" fmla="val 4516"/>
            </a:avLst>
          </a:prstGeom>
          <a:solidFill>
            <a:srgbClr val="9CA3AF"/>
          </a:solidFill>
          <a:ln/>
          <a:effectLst>
            <a:outerShdw sx="100000" sy="100000" kx="0" ky="0" algn="bl" rotWithShape="0" blurRad="88900" dist="38100" dir="5400000">
              <a:srgbClr val="000000">
                <a:alpha val="12000"/>
              </a:srgbClr>
            </a:outerShdw>
          </a:effectLst>
        </p:spPr>
      </p:sp>
      <p:sp>
        <p:nvSpPr>
          <p:cNvPr id="20" name="Text 18"/>
          <p:cNvSpPr/>
          <p:nvPr/>
        </p:nvSpPr>
        <p:spPr>
          <a:xfrm>
            <a:off x="2862072" y="4325112"/>
            <a:ext cx="3739896" cy="457200"/>
          </a:xfrm>
          <a:prstGeom prst="rect">
            <a:avLst/>
          </a:prstGeom>
          <a:noFill/>
          <a:ln/>
        </p:spPr>
        <p:txBody>
          <a:bodyPr wrap="square" lIns="0" tIns="0" rIns="0" bIns="0" rtlCol="0" anchor="t"/>
          <a:lstStyle/>
          <a:p>
            <a:pPr algn="l" indent="0" marL="0">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1" name="Text 19"/>
          <p:cNvSpPr/>
          <p:nvPr/>
        </p:nvSpPr>
        <p:spPr>
          <a:xfrm>
            <a:off x="2862072" y="4828032"/>
            <a:ext cx="3739896" cy="685800"/>
          </a:xfrm>
          <a:prstGeom prst="rect">
            <a:avLst/>
          </a:prstGeom>
          <a:noFill/>
          <a:ln/>
        </p:spPr>
        <p:txBody>
          <a:bodyPr wrap="square" lIns="0" tIns="0" rIns="0" bIns="0" rtlCol="0" anchor="t"/>
          <a:lstStyle/>
          <a:p>
            <a:pPr algn="l" indent="0" marL="0">
              <a:buNone/>
            </a:pPr>
            <a:r>
              <a:rPr lang="en-US" sz="1350" dirty="0">
                <a:solidFill>
                  <a:srgbClr val="1B2B31"/>
                </a:solidFill>
              </a:rPr>
              <a:t>Double-negative — neither program detectable.</a:t>
            </a:r>
            <a:endParaRPr lang="en-US" sz="1350" dirty="0"/>
          </a:p>
        </p:txBody>
      </p:sp>
      <p:sp>
        <p:nvSpPr>
          <p:cNvPr id="22" name="Shape 20"/>
          <p:cNvSpPr/>
          <p:nvPr/>
        </p:nvSpPr>
        <p:spPr>
          <a:xfrm>
            <a:off x="6995160" y="4206240"/>
            <a:ext cx="4069080" cy="1417320"/>
          </a:xfrm>
          <a:prstGeom prst="roundRect">
            <a:avLst>
              <a:gd name="adj" fmla="val 4516"/>
            </a:avLst>
          </a:prstGeom>
          <a:solidFill>
            <a:srgbClr val="EA580C"/>
          </a:solidFill>
          <a:ln/>
          <a:effectLst>
            <a:outerShdw sx="100000" sy="100000" kx="0" ky="0" algn="bl" rotWithShape="0" blurRad="88900" dist="38100" dir="5400000">
              <a:srgbClr val="000000">
                <a:alpha val="12000"/>
              </a:srgbClr>
            </a:outerShdw>
          </a:effectLst>
        </p:spPr>
      </p:sp>
      <p:sp>
        <p:nvSpPr>
          <p:cNvPr id="23" name="Text 21"/>
          <p:cNvSpPr/>
          <p:nvPr/>
        </p:nvSpPr>
        <p:spPr>
          <a:xfrm>
            <a:off x="7159752" y="4325112"/>
            <a:ext cx="373989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4" name="Text 22"/>
          <p:cNvSpPr/>
          <p:nvPr/>
        </p:nvSpPr>
        <p:spPr>
          <a:xfrm>
            <a:off x="7159752" y="4828032"/>
            <a:ext cx="3739896" cy="685800"/>
          </a:xfrm>
          <a:prstGeom prst="rect">
            <a:avLst/>
          </a:prstGeom>
          <a:noFill/>
          <a:ln/>
        </p:spPr>
        <p:txBody>
          <a:bodyPr wrap="square" lIns="0" tIns="0" rIns="0" bIns="0" rtlCol="0" anchor="t"/>
          <a:lstStyle/>
          <a:p>
            <a:pPr algn="l" indent="0" marL="0">
              <a:buNone/>
            </a:pPr>
            <a:r>
              <a:rPr lang="en-US" sz="1350" dirty="0">
                <a:solidFill>
                  <a:srgbClr val="FFFFFF"/>
                </a:solidFill>
              </a:rPr>
              <a:t>Periportal identity — periportal genes detected, pericentral genes silent.</a:t>
            </a:r>
            <a:endParaRPr lang="en-US" sz="1350" dirty="0"/>
          </a:p>
        </p:txBody>
      </p:sp>
      <p:sp>
        <p:nvSpPr>
          <p:cNvPr id="25" name="Text 23"/>
          <p:cNvSpPr/>
          <p:nvPr/>
        </p:nvSpPr>
        <p:spPr>
          <a:xfrm>
            <a:off x="640080" y="5806440"/>
            <a:ext cx="11247120" cy="457200"/>
          </a:xfrm>
          <a:prstGeom prst="rect">
            <a:avLst/>
          </a:prstGeom>
          <a:noFill/>
          <a:ln/>
        </p:spPr>
        <p:txBody>
          <a:bodyPr wrap="square" rtlCol="0" anchor="ctr"/>
          <a:lstStyle/>
          <a:p>
            <a:pPr algn="l" indent="0" marL="0">
              <a:buNone/>
            </a:pPr>
            <a:r>
              <a:rPr lang="en-US" sz="1350" b="1" i="1" dirty="0">
                <a:solidFill>
                  <a:srgbClr val="5C6E73"/>
                </a:solidFill>
              </a:rPr>
              <a:t>These four classes are the vocabulary. </a:t>
            </a:r>
            <a:pPr algn="l" indent="0" marL="0">
              <a:buNone/>
            </a:pPr>
            <a:r>
              <a:rPr lang="en-US" sz="1350" i="1" dirty="0">
                <a:solidFill>
                  <a:srgbClr val="5C6E73"/>
                </a:solidFill>
              </a:rPr>
              <a:t>“Losing zonation” means cells </a:t>
            </a:r>
            <a:pPr algn="l" indent="0" marL="0">
              <a:buNone/>
            </a:pPr>
            <a:r>
              <a:rPr lang="en-US" sz="1350" i="1" dirty="0">
                <a:solidFill>
                  <a:srgbClr val="5C6E73"/>
                </a:solidFill>
              </a:rPr>
              <a:t>redistribute</a:t>
            </a:r>
            <a:pPr algn="l" indent="0" marL="0">
              <a:buNone/>
            </a:pPr>
            <a:r>
              <a:rPr lang="en-US" sz="1350" i="1" dirty="0">
                <a:solidFill>
                  <a:srgbClr val="5C6E73"/>
                </a:solidFill>
              </a:rPr>
              <a:t> across them — the next slide is the four ways that can happen, in these same colours.</a:t>
            </a:r>
            <a:endParaRPr lang="en-US" sz="1350" dirty="0"/>
          </a:p>
        </p:txBody>
      </p:sp>
      <p:sp>
        <p:nvSpPr>
          <p:cNvPr id="26" name="Text 24"/>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7" name="Text 25"/>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WHAT WE TEST</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Zonation loss is not one mechanism</a:t>
            </a:r>
            <a:endParaRPr lang="en-US" sz="2800" dirty="0"/>
          </a:p>
        </p:txBody>
      </p:sp>
      <p:sp>
        <p:nvSpPr>
          <p:cNvPr id="6" name="Text 4"/>
          <p:cNvSpPr/>
          <p:nvPr/>
        </p:nvSpPr>
        <p:spPr>
          <a:xfrm>
            <a:off x="640080" y="1463040"/>
            <a:ext cx="10972800" cy="640080"/>
          </a:xfrm>
          <a:prstGeom prst="rect">
            <a:avLst/>
          </a:prstGeom>
          <a:noFill/>
          <a:ln/>
        </p:spPr>
        <p:txBody>
          <a:bodyPr wrap="square" rtlCol="0" anchor="ctr"/>
          <a:lstStyle/>
          <a:p>
            <a:pPr algn="l" indent="0" marL="0">
              <a:buNone/>
            </a:pPr>
            <a:r>
              <a:rPr lang="en-US" sz="1700" dirty="0">
                <a:solidFill>
                  <a:srgbClr val="1B2B31"/>
                </a:solidFill>
              </a:rPr>
              <a:t>If the zonation expression signal breaks down, it can do so in distinct ways — each with its own count signature:</a:t>
            </a:r>
            <a:endParaRPr lang="en-US" sz="1700" dirty="0"/>
          </a:p>
        </p:txBody>
      </p:sp>
      <p:sp>
        <p:nvSpPr>
          <p:cNvPr id="7" name="Shape 5"/>
          <p:cNvSpPr/>
          <p:nvPr/>
        </p:nvSpPr>
        <p:spPr>
          <a:xfrm>
            <a:off x="914400" y="2377440"/>
            <a:ext cx="2377440" cy="1097280"/>
          </a:xfrm>
          <a:prstGeom prst="roundRect">
            <a:avLst>
              <a:gd name="adj" fmla="val 6667"/>
            </a:avLst>
          </a:prstGeom>
          <a:solidFill>
            <a:srgbClr val="1D4ED8"/>
          </a:solidFill>
          <a:ln/>
          <a:effectLst>
            <a:outerShdw sx="100000" sy="100000" kx="0" ky="0" algn="bl" rotWithShape="0" blurRad="88900" dist="38100" dir="5400000">
              <a:srgbClr val="000000">
                <a:alpha val="12000"/>
              </a:srgbClr>
            </a:outerShdw>
          </a:effectLst>
        </p:spPr>
      </p:sp>
      <p:sp>
        <p:nvSpPr>
          <p:cNvPr id="8" name="Text 6"/>
          <p:cNvSpPr/>
          <p:nvPr/>
        </p:nvSpPr>
        <p:spPr>
          <a:xfrm>
            <a:off x="914400" y="2377440"/>
            <a:ext cx="2377440" cy="109728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Depletion</a:t>
            </a:r>
            <a:endParaRPr lang="en-US" sz="1450" dirty="0"/>
          </a:p>
          <a:p>
            <a:pPr algn="ctr" indent="0" marL="0">
              <a:buNone/>
            </a:pPr>
            <a:r>
              <a:rPr lang="en-US" sz="1450" b="1" dirty="0">
                <a:solidFill>
                  <a:srgbClr val="FFFFFF"/>
                </a:solidFill>
              </a:rPr>
              <a:t>(an anchor box ↓)</a:t>
            </a:r>
            <a:endParaRPr lang="en-US" sz="1450" dirty="0"/>
          </a:p>
        </p:txBody>
      </p:sp>
      <p:sp>
        <p:nvSpPr>
          <p:cNvPr id="9" name="Shape 7"/>
          <p:cNvSpPr/>
          <p:nvPr/>
        </p:nvSpPr>
        <p:spPr>
          <a:xfrm>
            <a:off x="3520440" y="2377440"/>
            <a:ext cx="2377440" cy="1097280"/>
          </a:xfrm>
          <a:prstGeom prst="roundRect">
            <a:avLst>
              <a:gd name="adj" fmla="val 6667"/>
            </a:avLst>
          </a:prstGeom>
          <a:solidFill>
            <a:srgbClr val="7C3AED"/>
          </a:solidFill>
          <a:ln/>
          <a:effectLst>
            <a:outerShdw sx="100000" sy="100000" kx="0" ky="0" algn="bl" rotWithShape="0" blurRad="88900" dist="38100" dir="5400000">
              <a:srgbClr val="000000">
                <a:alpha val="12000"/>
              </a:srgbClr>
            </a:outerShdw>
          </a:effectLst>
        </p:spPr>
      </p:sp>
      <p:sp>
        <p:nvSpPr>
          <p:cNvPr id="10" name="Text 8"/>
          <p:cNvSpPr/>
          <p:nvPr/>
        </p:nvSpPr>
        <p:spPr>
          <a:xfrm>
            <a:off x="3520440" y="2377440"/>
            <a:ext cx="2377440" cy="109728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Co-expression</a:t>
            </a:r>
            <a:endParaRPr lang="en-US" sz="1450" dirty="0"/>
          </a:p>
          <a:p>
            <a:pPr algn="ctr" indent="0" marL="0">
              <a:buNone/>
            </a:pPr>
            <a:r>
              <a:rPr lang="en-US" sz="1450" b="1" dirty="0">
                <a:solidFill>
                  <a:srgbClr val="FFFFFF"/>
                </a:solidFill>
              </a:rPr>
              <a:t>(the dual box ↑)</a:t>
            </a:r>
            <a:endParaRPr lang="en-US" sz="1450" dirty="0"/>
          </a:p>
        </p:txBody>
      </p:sp>
      <p:sp>
        <p:nvSpPr>
          <p:cNvPr id="11" name="Shape 9"/>
          <p:cNvSpPr/>
          <p:nvPr/>
        </p:nvSpPr>
        <p:spPr>
          <a:xfrm>
            <a:off x="6126480" y="2377440"/>
            <a:ext cx="2377440" cy="1097280"/>
          </a:xfrm>
          <a:prstGeom prst="roundRect">
            <a:avLst>
              <a:gd name="adj" fmla="val 6667"/>
            </a:avLst>
          </a:prstGeom>
          <a:solidFill>
            <a:srgbClr val="9CA3AF"/>
          </a:solidFill>
          <a:ln/>
          <a:effectLst>
            <a:outerShdw sx="100000" sy="100000" kx="0" ky="0" algn="bl" rotWithShape="0" blurRad="88900" dist="38100" dir="5400000">
              <a:srgbClr val="000000">
                <a:alpha val="12000"/>
              </a:srgbClr>
            </a:outerShdw>
          </a:effectLst>
        </p:spPr>
      </p:sp>
      <p:sp>
        <p:nvSpPr>
          <p:cNvPr id="12" name="Text 10"/>
          <p:cNvSpPr/>
          <p:nvPr/>
        </p:nvSpPr>
        <p:spPr>
          <a:xfrm>
            <a:off x="6126480" y="2377440"/>
            <a:ext cx="2377440" cy="1097280"/>
          </a:xfrm>
          <a:prstGeom prst="rect">
            <a:avLst/>
          </a:prstGeom>
          <a:noFill/>
          <a:ln/>
        </p:spPr>
        <p:txBody>
          <a:bodyPr wrap="square" lIns="25400" tIns="25400" rIns="25400" bIns="25400" rtlCol="0" anchor="ctr"/>
          <a:lstStyle/>
          <a:p>
            <a:pPr algn="ctr" indent="0" marL="0">
              <a:buNone/>
            </a:pPr>
            <a:r>
              <a:rPr lang="en-US" sz="1450" b="1" dirty="0">
                <a:solidFill>
                  <a:srgbClr val="1B2B31"/>
                </a:solidFill>
              </a:rPr>
              <a:t>Turn-off</a:t>
            </a:r>
            <a:endParaRPr lang="en-US" sz="1450" dirty="0"/>
          </a:p>
          <a:p>
            <a:pPr algn="ctr" indent="0" marL="0">
              <a:buNone/>
            </a:pPr>
            <a:r>
              <a:rPr lang="en-US" sz="1450" b="1" dirty="0">
                <a:solidFill>
                  <a:srgbClr val="1B2B31"/>
                </a:solidFill>
              </a:rPr>
              <a:t>(the null box ↑)</a:t>
            </a:r>
            <a:endParaRPr lang="en-US" sz="1450" dirty="0"/>
          </a:p>
        </p:txBody>
      </p:sp>
      <p:sp>
        <p:nvSpPr>
          <p:cNvPr id="13" name="Shape 11"/>
          <p:cNvSpPr/>
          <p:nvPr/>
        </p:nvSpPr>
        <p:spPr>
          <a:xfrm>
            <a:off x="8732520" y="2377440"/>
            <a:ext cx="2606040" cy="1097280"/>
          </a:xfrm>
          <a:prstGeom prst="roundRect">
            <a:avLst>
              <a:gd name="adj" fmla="val 6667"/>
            </a:avLst>
          </a:prstGeom>
          <a:solidFill>
            <a:srgbClr val="EA580C"/>
          </a:solidFill>
          <a:ln/>
          <a:effectLst>
            <a:outerShdw sx="100000" sy="100000" kx="0" ky="0" algn="bl" rotWithShape="0" blurRad="88900" dist="38100" dir="5400000">
              <a:srgbClr val="000000">
                <a:alpha val="12000"/>
              </a:srgbClr>
            </a:outerShdw>
          </a:effectLst>
        </p:spPr>
      </p:sp>
      <p:sp>
        <p:nvSpPr>
          <p:cNvPr id="14" name="Text 12"/>
          <p:cNvSpPr/>
          <p:nvPr/>
        </p:nvSpPr>
        <p:spPr>
          <a:xfrm>
            <a:off x="8732520" y="2377440"/>
            <a:ext cx="2606040" cy="109728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Composition shift</a:t>
            </a:r>
            <a:endParaRPr lang="en-US" sz="1450" dirty="0"/>
          </a:p>
          <a:p>
            <a:pPr algn="ctr" indent="0" marL="0">
              <a:buNone/>
            </a:pPr>
            <a:r>
              <a:rPr lang="en-US" sz="1450" b="1" dirty="0">
                <a:solidFill>
                  <a:srgbClr val="FFFFFF"/>
                </a:solidFill>
              </a:rPr>
              <a:t>(PP : PC ratio moves)</a:t>
            </a:r>
            <a:endParaRPr lang="en-US" sz="1450" dirty="0"/>
          </a:p>
        </p:txBody>
      </p:sp>
      <p:sp>
        <p:nvSpPr>
          <p:cNvPr id="15" name="Text 13"/>
          <p:cNvSpPr/>
          <p:nvPr/>
        </p:nvSpPr>
        <p:spPr>
          <a:xfrm>
            <a:off x="914400" y="3886200"/>
            <a:ext cx="10881360" cy="640080"/>
          </a:xfrm>
          <a:prstGeom prst="rect">
            <a:avLst/>
          </a:prstGeom>
          <a:noFill/>
          <a:ln/>
        </p:spPr>
        <p:txBody>
          <a:bodyPr wrap="square" rtlCol="0" anchor="t"/>
          <a:lstStyle/>
          <a:p>
            <a:pPr algn="l" indent="0" marL="0">
              <a:buNone/>
            </a:pPr>
            <a:r>
              <a:rPr lang="en-US" sz="1500" dirty="0">
                <a:solidFill>
                  <a:srgbClr val="334155"/>
                </a:solidFill>
              </a:rPr>
              <a:t>We expected pericentral depletion — but an </a:t>
            </a:r>
            <a:pPr algn="l" indent="0" marL="0">
              <a:buNone/>
            </a:pPr>
            <a:r>
              <a:rPr lang="en-US" sz="1500" b="1" dirty="0">
                <a:solidFill>
                  <a:srgbClr val="1D4ED8"/>
                </a:solidFill>
              </a:rPr>
              <a:t>emptying anchor box</a:t>
            </a:r>
            <a:pPr algn="l" indent="0" marL="0">
              <a:buNone/>
            </a:pPr>
            <a:r>
              <a:rPr lang="en-US" sz="1500" dirty="0">
                <a:solidFill>
                  <a:srgbClr val="334155"/>
                </a:solidFill>
              </a:rPr>
              <a:t> (depletion) and a </a:t>
            </a:r>
            <a:pPr algn="l" indent="0" marL="0">
              <a:buNone/>
            </a:pPr>
            <a:r>
              <a:rPr lang="en-US" sz="1500" b="1" dirty="0">
                <a:solidFill>
                  <a:srgbClr val="6B7280"/>
                </a:solidFill>
              </a:rPr>
              <a:t>filling null box</a:t>
            </a:r>
            <a:pPr algn="l" indent="0" marL="0">
              <a:buNone/>
            </a:pPr>
            <a:r>
              <a:rPr lang="en-US" sz="1500" dirty="0">
                <a:solidFill>
                  <a:srgbClr val="334155"/>
                </a:solidFill>
              </a:rPr>
              <a:t> (turn-off) are different boxes, opposite directions — neither implies the other. We track all four, not just the pericentral depletion we expected.</a:t>
            </a:r>
            <a:endParaRPr lang="en-US" sz="1500" dirty="0"/>
          </a:p>
        </p:txBody>
      </p:sp>
      <p:sp>
        <p:nvSpPr>
          <p:cNvPr id="16" name="Text 14"/>
          <p:cNvSpPr/>
          <p:nvPr/>
        </p:nvSpPr>
        <p:spPr>
          <a:xfrm>
            <a:off x="914400" y="4892040"/>
            <a:ext cx="10881360" cy="1188720"/>
          </a:xfrm>
          <a:prstGeom prst="rect">
            <a:avLst/>
          </a:prstGeom>
          <a:noFill/>
          <a:ln/>
        </p:spPr>
        <p:txBody>
          <a:bodyPr wrap="square" rtlCol="0" anchor="t"/>
          <a:lstStyle/>
          <a:p>
            <a:pPr algn="l" indent="0" marL="0">
              <a:buNone/>
            </a:pPr>
            <a:r>
              <a:rPr lang="en-US" sz="1500" i="1" dirty="0">
                <a:solidFill>
                  <a:srgbClr val="5C6E73"/>
                </a:solidFill>
              </a:rPr>
              <a:t>Any relative summary — a z-score, a marker correlation, a UMAP axis — is scale-free by construction: it divides out the absolute level, so it reads the gradient’s shape, not how many cells sit where. The four box-counts above collapse into one number; only counting molecules tells them apart.</a:t>
            </a:r>
            <a:endParaRPr lang="en-US" sz="1500" dirty="0"/>
          </a:p>
        </p:txBody>
      </p:sp>
      <p:sp>
        <p:nvSpPr>
          <p:cNvPr id="17" name="Text 15"/>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8" name="Text 16"/>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Beyond the boxes — zonation is a gradient</a:t>
            </a:r>
            <a:endParaRPr lang="en-US" sz="2800" dirty="0"/>
          </a:p>
        </p:txBody>
      </p:sp>
      <p:sp>
        <p:nvSpPr>
          <p:cNvPr id="6" name="Text 4"/>
          <p:cNvSpPr/>
          <p:nvPr/>
        </p:nvSpPr>
        <p:spPr>
          <a:xfrm>
            <a:off x="640080" y="1371600"/>
            <a:ext cx="11247120" cy="548640"/>
          </a:xfrm>
          <a:prstGeom prst="rect">
            <a:avLst/>
          </a:prstGeom>
          <a:noFill/>
          <a:ln/>
        </p:spPr>
        <p:txBody>
          <a:bodyPr wrap="square" rtlCol="0" anchor="ctr"/>
          <a:lstStyle/>
          <a:p>
            <a:pPr algn="l" indent="0" marL="0">
              <a:buNone/>
            </a:pPr>
            <a:r>
              <a:rPr lang="en-US" sz="1550" dirty="0">
                <a:solidFill>
                  <a:srgbClr val="1B2B31"/>
                </a:solidFill>
              </a:rPr>
              <a:t>The four classes are discrete bins — but zonation is a continuous gradient, cells strung along an anti-diagonal. Box-counts catch every jump between bins; they </a:t>
            </a:r>
            <a:pPr algn="l" indent="0" marL="0">
              <a:buNone/>
            </a:pPr>
            <a:r>
              <a:rPr lang="en-US" sz="1550" b="1" dirty="0">
                <a:solidFill>
                  <a:srgbClr val="1B2B31"/>
                </a:solidFill>
              </a:rPr>
              <a:t>miss a gradient that quietly flattens or dims in place</a:t>
            </a:r>
            <a:pPr algn="l" indent="0" marL="0">
              <a:buNone/>
            </a:pPr>
            <a:r>
              <a:rPr lang="en-US" sz="1550" dirty="0">
                <a:solidFill>
                  <a:srgbClr val="1B2B31"/>
                </a:solidFill>
              </a:rPr>
              <a:t>, with no cell changing bin. For that we read the gradient directly:</a:t>
            </a:r>
            <a:endParaRPr lang="en-US" sz="1550" dirty="0"/>
          </a:p>
        </p:txBody>
      </p:sp>
      <p:pic>
        <p:nvPicPr>
          <p:cNvPr id="7" name="Image 0" descr="D:\CS\Genomics\Hackathon\presentation/assets/fig_gradient_schematic.png">    </p:cNvPr>
          <p:cNvPicPr>
            <a:picLocks noChangeAspect="1"/>
          </p:cNvPicPr>
          <p:nvPr/>
        </p:nvPicPr>
        <p:blipFill>
          <a:blip r:embed="rId1"/>
          <a:stretch>
            <a:fillRect/>
          </a:stretch>
        </p:blipFill>
        <p:spPr>
          <a:xfrm>
            <a:off x="602144" y="1874520"/>
            <a:ext cx="6568113" cy="3703320"/>
          </a:xfrm>
          <a:prstGeom prst="rect">
            <a:avLst/>
          </a:prstGeom>
        </p:spPr>
      </p:pic>
      <p:sp>
        <p:nvSpPr>
          <p:cNvPr id="8" name="Shape 5"/>
          <p:cNvSpPr/>
          <p:nvPr/>
        </p:nvSpPr>
        <p:spPr>
          <a:xfrm>
            <a:off x="7543800" y="1920240"/>
            <a:ext cx="4251960" cy="1783080"/>
          </a:xfrm>
          <a:prstGeom prst="roundRect">
            <a:avLst>
              <a:gd name="adj" fmla="val 307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9" name="Text 6"/>
          <p:cNvSpPr/>
          <p:nvPr/>
        </p:nvSpPr>
        <p:spPr>
          <a:xfrm>
            <a:off x="7726680" y="2029968"/>
            <a:ext cx="3886200" cy="320040"/>
          </a:xfrm>
          <a:prstGeom prst="rect">
            <a:avLst/>
          </a:prstGeom>
          <a:noFill/>
          <a:ln/>
        </p:spPr>
        <p:txBody>
          <a:bodyPr wrap="square" lIns="0" tIns="0" rIns="0" bIns="0" rtlCol="0" anchor="ctr"/>
          <a:lstStyle/>
          <a:p>
            <a:pPr algn="l" indent="0" marL="0">
              <a:buNone/>
            </a:pPr>
            <a:r>
              <a:rPr lang="en-US" sz="1700" b="1" dirty="0">
                <a:solidFill>
                  <a:srgbClr val="1B6E78"/>
                </a:solidFill>
                <a:latin typeface="Georgia" pitchFamily="34" charset="0"/>
                <a:ea typeface="Georgia" pitchFamily="34" charset="-122"/>
                <a:cs typeface="Georgia" pitchFamily="34" charset="-120"/>
              </a:rPr>
              <a:t>Compression  </a:t>
            </a:r>
            <a:pPr algn="l" indent="0" marL="0">
              <a:buNone/>
            </a:pPr>
            <a:r>
              <a:rPr lang="en-US" sz="1300" i="1" dirty="0">
                <a:solidFill>
                  <a:srgbClr val="5C6E73"/>
                </a:solidFill>
              </a:rPr>
              <a:t>shape</a:t>
            </a:r>
            <a:endParaRPr lang="en-US" sz="1700" dirty="0"/>
          </a:p>
        </p:txBody>
      </p:sp>
      <p:sp>
        <p:nvSpPr>
          <p:cNvPr id="10" name="Text 7"/>
          <p:cNvSpPr/>
          <p:nvPr/>
        </p:nvSpPr>
        <p:spPr>
          <a:xfrm>
            <a:off x="7726680" y="2395728"/>
            <a:ext cx="3886200" cy="731520"/>
          </a:xfrm>
          <a:prstGeom prst="rect">
            <a:avLst/>
          </a:prstGeom>
          <a:noFill/>
          <a:ln/>
        </p:spPr>
        <p:txBody>
          <a:bodyPr wrap="square" rtlCol="0" anchor="t"/>
          <a:lstStyle/>
          <a:p>
            <a:pPr algn="l" indent="0" marL="0">
              <a:buNone/>
            </a:pPr>
            <a:r>
              <a:rPr lang="en-US" sz="1250" dirty="0">
                <a:solidFill>
                  <a:srgbClr val="1B2B31"/>
                </a:solidFill>
              </a:rPr>
              <a:t>Per-cell PC↔PP balance drifts toward the middle — the contrast between poles shrinks.</a:t>
            </a:r>
            <a:endParaRPr lang="en-US" sz="1250" dirty="0"/>
          </a:p>
        </p:txBody>
      </p:sp>
      <p:sp>
        <p:nvSpPr>
          <p:cNvPr id="11" name="Text 8"/>
          <p:cNvSpPr/>
          <p:nvPr/>
        </p:nvSpPr>
        <p:spPr>
          <a:xfrm>
            <a:off x="7726680" y="3182112"/>
            <a:ext cx="3886200" cy="457200"/>
          </a:xfrm>
          <a:prstGeom prst="rect">
            <a:avLst/>
          </a:prstGeom>
          <a:noFill/>
          <a:ln/>
        </p:spPr>
        <p:txBody>
          <a:bodyPr wrap="square" rtlCol="0" anchor="t"/>
          <a:lstStyle/>
          <a:p>
            <a:pPr algn="l" indent="0" marL="0">
              <a:buNone/>
            </a:pPr>
            <a:r>
              <a:rPr lang="en-US" sz="1150" i="1" dirty="0">
                <a:solidFill>
                  <a:srgbClr val="14532D"/>
                </a:solidFill>
              </a:rPr>
              <a:t>Mild, non-monotone (peak F3); both poles stay populated → </a:t>
            </a:r>
            <a:pPr algn="l" indent="0" marL="0">
              <a:buNone/>
            </a:pPr>
            <a:r>
              <a:rPr lang="en-US" sz="1150" b="1" i="1" dirty="0">
                <a:solidFill>
                  <a:srgbClr val="14532D"/>
                </a:solidFill>
              </a:rPr>
              <a:t>gradient present.</a:t>
            </a:r>
            <a:endParaRPr lang="en-US" sz="1150" dirty="0"/>
          </a:p>
        </p:txBody>
      </p:sp>
      <p:sp>
        <p:nvSpPr>
          <p:cNvPr id="12" name="Shape 9"/>
          <p:cNvSpPr/>
          <p:nvPr/>
        </p:nvSpPr>
        <p:spPr>
          <a:xfrm>
            <a:off x="7543800" y="3840480"/>
            <a:ext cx="4251960" cy="1783080"/>
          </a:xfrm>
          <a:prstGeom prst="roundRect">
            <a:avLst>
              <a:gd name="adj" fmla="val 307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3" name="Text 10"/>
          <p:cNvSpPr/>
          <p:nvPr/>
        </p:nvSpPr>
        <p:spPr>
          <a:xfrm>
            <a:off x="7726680" y="3950208"/>
            <a:ext cx="3886200" cy="320040"/>
          </a:xfrm>
          <a:prstGeom prst="rect">
            <a:avLst/>
          </a:prstGeom>
          <a:noFill/>
          <a:ln/>
        </p:spPr>
        <p:txBody>
          <a:bodyPr wrap="square" lIns="0" tIns="0" rIns="0" bIns="0" rtlCol="0" anchor="ctr"/>
          <a:lstStyle/>
          <a:p>
            <a:pPr algn="l" indent="0" marL="0">
              <a:buNone/>
            </a:pPr>
            <a:r>
              <a:rPr lang="en-US" sz="1700" b="1" dirty="0">
                <a:solidFill>
                  <a:srgbClr val="C0561B"/>
                </a:solidFill>
                <a:latin typeface="Georgia" pitchFamily="34" charset="0"/>
                <a:ea typeface="Georgia" pitchFamily="34" charset="-122"/>
                <a:cs typeface="Georgia" pitchFamily="34" charset="-120"/>
              </a:rPr>
              <a:t>Dimming  </a:t>
            </a:r>
            <a:pPr algn="l" indent="0" marL="0">
              <a:buNone/>
            </a:pPr>
            <a:r>
              <a:rPr lang="en-US" sz="1300" i="1" dirty="0">
                <a:solidFill>
                  <a:srgbClr val="5C6E73"/>
                </a:solidFill>
              </a:rPr>
              <a:t>level</a:t>
            </a:r>
            <a:endParaRPr lang="en-US" sz="1700" dirty="0"/>
          </a:p>
        </p:txBody>
      </p:sp>
      <p:sp>
        <p:nvSpPr>
          <p:cNvPr id="14" name="Text 11"/>
          <p:cNvSpPr/>
          <p:nvPr/>
        </p:nvSpPr>
        <p:spPr>
          <a:xfrm>
            <a:off x="7726680" y="4315968"/>
            <a:ext cx="3886200" cy="777240"/>
          </a:xfrm>
          <a:prstGeom prst="rect">
            <a:avLst/>
          </a:prstGeom>
          <a:noFill/>
          <a:ln/>
        </p:spPr>
        <p:txBody>
          <a:bodyPr wrap="square" rtlCol="0" anchor="t"/>
          <a:lstStyle/>
          <a:p>
            <a:pPr algn="l" indent="0" marL="0">
              <a:buNone/>
            </a:pPr>
            <a:r>
              <a:rPr lang="en-US" sz="1250" dirty="0">
                <a:solidFill>
                  <a:srgbClr val="1B2B31"/>
                </a:solidFill>
              </a:rPr>
              <a:t>The pericentral detox program — PC’s functional signature — drops in level. Cells keep their balance; the volume falls.</a:t>
            </a:r>
            <a:endParaRPr lang="en-US" sz="1250" dirty="0"/>
          </a:p>
        </p:txBody>
      </p:sp>
      <p:sp>
        <p:nvSpPr>
          <p:cNvPr id="15" name="Text 12"/>
          <p:cNvSpPr/>
          <p:nvPr/>
        </p:nvSpPr>
        <p:spPr>
          <a:xfrm>
            <a:off x="7726680" y="5120640"/>
            <a:ext cx="3886200" cy="457200"/>
          </a:xfrm>
          <a:prstGeom prst="rect">
            <a:avLst/>
          </a:prstGeom>
          <a:noFill/>
          <a:ln/>
        </p:spPr>
        <p:txBody>
          <a:bodyPr wrap="square" rtlCol="0" anchor="t"/>
          <a:lstStyle/>
          <a:p>
            <a:pPr algn="l" indent="0" marL="0">
              <a:buNone/>
            </a:pPr>
            <a:r>
              <a:rPr lang="en-US" sz="1150" i="1" dirty="0">
                <a:solidFill>
                  <a:srgbClr val="7C2D12"/>
                </a:solidFill>
              </a:rPr>
              <a:t>Real ~30% per-cell dip — confirmed by gene-set testing → </a:t>
            </a:r>
            <a:pPr algn="l" indent="0" marL="0">
              <a:buNone/>
            </a:pPr>
            <a:r>
              <a:rPr lang="en-US" sz="1150" b="1" i="1" dirty="0">
                <a:solidFill>
                  <a:srgbClr val="7C2D12"/>
                </a:solidFill>
              </a:rPr>
              <a:t>a finding (see Results).</a:t>
            </a:r>
            <a:endParaRPr lang="en-US" sz="1150" dirty="0"/>
          </a:p>
        </p:txBody>
      </p:sp>
      <p:sp>
        <p:nvSpPr>
          <p:cNvPr id="16" name="Text 13"/>
          <p:cNvSpPr/>
          <p:nvPr/>
        </p:nvSpPr>
        <p:spPr>
          <a:xfrm>
            <a:off x="411480" y="5715000"/>
            <a:ext cx="7040880" cy="640080"/>
          </a:xfrm>
          <a:prstGeom prst="rect">
            <a:avLst/>
          </a:prstGeom>
          <a:noFill/>
          <a:ln/>
        </p:spPr>
        <p:txBody>
          <a:bodyPr wrap="square" rtlCol="0" anchor="t"/>
          <a:lstStyle/>
          <a:p>
            <a:pPr algn="l" indent="0" marL="0">
              <a:buNone/>
            </a:pPr>
            <a:r>
              <a:rPr lang="en-US" sz="1250" b="1" dirty="0">
                <a:solidFill>
                  <a:srgbClr val="334155"/>
                </a:solidFill>
              </a:rPr>
              <a:t>On matched biopsies the gradient holds its shape (no compression)</a:t>
            </a:r>
            <a:pPr algn="l" indent="0" marL="0">
              <a:buNone/>
            </a:pPr>
            <a:r>
              <a:rPr lang="en-US" sz="1250" dirty="0">
                <a:solidFill>
                  <a:srgbClr val="334155"/>
                </a:solidFill>
              </a:rPr>
              <a:t> — but its level dims: the pericentral detox program quiets (confirmed in the results). </a:t>
            </a:r>
            <a:pPr algn="l" indent="0" marL="0">
              <a:buNone/>
            </a:pPr>
            <a:r>
              <a:rPr lang="en-US" sz="1250" i="1" dirty="0">
                <a:solidFill>
                  <a:srgbClr val="5C6E73"/>
                </a:solidFill>
              </a:rPr>
              <a:t>Only the explant collapses to a single pole.</a:t>
            </a:r>
            <a:endParaRPr lang="en-US" sz="1250" dirty="0"/>
          </a:p>
        </p:txBody>
      </p:sp>
      <p:sp>
        <p:nvSpPr>
          <p:cNvPr id="17" name="Text 14"/>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548640" y="1554480"/>
            <a:ext cx="2148840" cy="731520"/>
          </a:xfrm>
          <a:prstGeom prst="roundRect">
            <a:avLst>
              <a:gd name="adj" fmla="val 8750"/>
            </a:avLst>
          </a:prstGeom>
          <a:solidFill>
            <a:srgbClr val="ECF1F1"/>
          </a:solidFill>
          <a:ln w="15240">
            <a:solidFill>
              <a:srgbClr val="CBD5E1"/>
            </a:solidFill>
            <a:prstDash val="solid"/>
          </a:ln>
        </p:spPr>
      </p:sp>
      <p:sp>
        <p:nvSpPr>
          <p:cNvPr id="7" name="Text 5"/>
          <p:cNvSpPr/>
          <p:nvPr/>
        </p:nvSpPr>
        <p:spPr>
          <a:xfrm>
            <a:off x="548640"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raw UMI counts</a:t>
            </a:r>
            <a:endParaRPr lang="en-US" sz="1400" dirty="0"/>
          </a:p>
        </p:txBody>
      </p:sp>
      <p:sp>
        <p:nvSpPr>
          <p:cNvPr id="8" name="Shape 6"/>
          <p:cNvSpPr/>
          <p:nvPr/>
        </p:nvSpPr>
        <p:spPr>
          <a:xfrm>
            <a:off x="2697480" y="1920240"/>
            <a:ext cx="201168" cy="0"/>
          </a:xfrm>
          <a:prstGeom prst="line">
            <a:avLst/>
          </a:prstGeom>
          <a:noFill/>
          <a:ln w="20320">
            <a:solidFill>
              <a:srgbClr val="5C6E73"/>
            </a:solidFill>
            <a:prstDash val="solid"/>
            <a:tailEnd type="triangle"/>
          </a:ln>
        </p:spPr>
      </p:sp>
      <p:sp>
        <p:nvSpPr>
          <p:cNvPr id="9" name="Shape 7"/>
          <p:cNvSpPr/>
          <p:nvPr/>
        </p:nvSpPr>
        <p:spPr>
          <a:xfrm>
            <a:off x="2898648" y="1554480"/>
            <a:ext cx="2148840" cy="731520"/>
          </a:xfrm>
          <a:prstGeom prst="roundRect">
            <a:avLst>
              <a:gd name="adj" fmla="val 8750"/>
            </a:avLst>
          </a:prstGeom>
          <a:solidFill>
            <a:srgbClr val="ECF1F1"/>
          </a:solidFill>
          <a:ln w="15240">
            <a:solidFill>
              <a:srgbClr val="CBD5E1"/>
            </a:solidFill>
            <a:prstDash val="solid"/>
          </a:ln>
        </p:spPr>
      </p:sp>
      <p:sp>
        <p:nvSpPr>
          <p:cNvPr id="10" name="Text 8"/>
          <p:cNvSpPr/>
          <p:nvPr/>
        </p:nvSpPr>
        <p:spPr>
          <a:xfrm>
            <a:off x="2898648"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down-thin to 1,500</a:t>
            </a:r>
            <a:endParaRPr lang="en-US" sz="1400" dirty="0"/>
          </a:p>
        </p:txBody>
      </p:sp>
      <p:sp>
        <p:nvSpPr>
          <p:cNvPr id="11" name="Shape 9"/>
          <p:cNvSpPr/>
          <p:nvPr/>
        </p:nvSpPr>
        <p:spPr>
          <a:xfrm>
            <a:off x="5047488" y="1920240"/>
            <a:ext cx="201168" cy="0"/>
          </a:xfrm>
          <a:prstGeom prst="line">
            <a:avLst/>
          </a:prstGeom>
          <a:noFill/>
          <a:ln w="20320">
            <a:solidFill>
              <a:srgbClr val="5C6E73"/>
            </a:solidFill>
            <a:prstDash val="solid"/>
            <a:tailEnd type="triangle"/>
          </a:ln>
        </p:spPr>
      </p:sp>
      <p:sp>
        <p:nvSpPr>
          <p:cNvPr id="12" name="Shape 10"/>
          <p:cNvSpPr/>
          <p:nvPr/>
        </p:nvSpPr>
        <p:spPr>
          <a:xfrm>
            <a:off x="5248656" y="1554480"/>
            <a:ext cx="2148840" cy="731520"/>
          </a:xfrm>
          <a:prstGeom prst="roundRect">
            <a:avLst>
              <a:gd name="adj" fmla="val 8750"/>
            </a:avLst>
          </a:prstGeom>
          <a:solidFill>
            <a:srgbClr val="EDE9FE"/>
          </a:solidFill>
          <a:ln w="15240">
            <a:solidFill>
              <a:srgbClr val="7C3AED"/>
            </a:solidFill>
            <a:prstDash val="solid"/>
          </a:ln>
        </p:spPr>
      </p:sp>
      <p:sp>
        <p:nvSpPr>
          <p:cNvPr id="13" name="Text 11"/>
          <p:cNvSpPr/>
          <p:nvPr/>
        </p:nvSpPr>
        <p:spPr>
          <a:xfrm>
            <a:off x="5248656" y="1554480"/>
            <a:ext cx="2148840" cy="731520"/>
          </a:xfrm>
          <a:prstGeom prst="rect">
            <a:avLst/>
          </a:prstGeom>
          <a:noFill/>
          <a:ln/>
        </p:spPr>
        <p:txBody>
          <a:bodyPr wrap="square" lIns="38100" tIns="38100" rIns="38100" bIns="38100" rtlCol="0" anchor="ctr"/>
          <a:lstStyle/>
          <a:p>
            <a:pPr algn="ctr" indent="0" marL="0">
              <a:buNone/>
            </a:pPr>
            <a:r>
              <a:rPr lang="en-US" sz="1400" b="1" dirty="0">
                <a:solidFill>
                  <a:srgbClr val="7C3AED"/>
                </a:solidFill>
              </a:rPr>
              <a:t>marker ON if ≥ 2 UMI</a:t>
            </a:r>
            <a:endParaRPr lang="en-US" sz="1400" dirty="0"/>
          </a:p>
        </p:txBody>
      </p:sp>
      <p:sp>
        <p:nvSpPr>
          <p:cNvPr id="14" name="Shape 12"/>
          <p:cNvSpPr/>
          <p:nvPr/>
        </p:nvSpPr>
        <p:spPr>
          <a:xfrm>
            <a:off x="7397496" y="1920240"/>
            <a:ext cx="201168" cy="0"/>
          </a:xfrm>
          <a:prstGeom prst="line">
            <a:avLst/>
          </a:prstGeom>
          <a:noFill/>
          <a:ln w="20320">
            <a:solidFill>
              <a:srgbClr val="5C6E73"/>
            </a:solidFill>
            <a:prstDash val="solid"/>
            <a:tailEnd type="triangle"/>
          </a:ln>
        </p:spPr>
      </p:sp>
      <p:sp>
        <p:nvSpPr>
          <p:cNvPr id="15" name="Shape 13"/>
          <p:cNvSpPr/>
          <p:nvPr/>
        </p:nvSpPr>
        <p:spPr>
          <a:xfrm>
            <a:off x="7598664" y="1554480"/>
            <a:ext cx="2148840" cy="731520"/>
          </a:xfrm>
          <a:prstGeom prst="roundRect">
            <a:avLst>
              <a:gd name="adj" fmla="val 8750"/>
            </a:avLst>
          </a:prstGeom>
          <a:solidFill>
            <a:srgbClr val="ECF1F1"/>
          </a:solidFill>
          <a:ln w="15240">
            <a:solidFill>
              <a:srgbClr val="CBD5E1"/>
            </a:solidFill>
            <a:prstDash val="solid"/>
          </a:ln>
        </p:spPr>
      </p:sp>
      <p:sp>
        <p:nvSpPr>
          <p:cNvPr id="16" name="Text 14"/>
          <p:cNvSpPr/>
          <p:nvPr/>
        </p:nvSpPr>
        <p:spPr>
          <a:xfrm>
            <a:off x="7598664"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classify nucleus (e.g. PC)</a:t>
            </a:r>
            <a:endParaRPr lang="en-US" sz="1400" dirty="0"/>
          </a:p>
        </p:txBody>
      </p:sp>
      <p:sp>
        <p:nvSpPr>
          <p:cNvPr id="17" name="Shape 15"/>
          <p:cNvSpPr/>
          <p:nvPr/>
        </p:nvSpPr>
        <p:spPr>
          <a:xfrm>
            <a:off x="9747504" y="1920240"/>
            <a:ext cx="201168" cy="0"/>
          </a:xfrm>
          <a:prstGeom prst="line">
            <a:avLst/>
          </a:prstGeom>
          <a:noFill/>
          <a:ln w="20320">
            <a:solidFill>
              <a:srgbClr val="5C6E73"/>
            </a:solidFill>
            <a:prstDash val="solid"/>
            <a:tailEnd type="triangle"/>
          </a:ln>
        </p:spPr>
      </p:sp>
      <p:sp>
        <p:nvSpPr>
          <p:cNvPr id="18" name="Shape 16"/>
          <p:cNvSpPr/>
          <p:nvPr/>
        </p:nvSpPr>
        <p:spPr>
          <a:xfrm>
            <a:off x="9948672" y="1554480"/>
            <a:ext cx="2148840" cy="731520"/>
          </a:xfrm>
          <a:prstGeom prst="roundRect">
            <a:avLst>
              <a:gd name="adj" fmla="val 8750"/>
            </a:avLst>
          </a:prstGeom>
          <a:solidFill>
            <a:srgbClr val="ECF1F1"/>
          </a:solidFill>
          <a:ln w="15240">
            <a:solidFill>
              <a:srgbClr val="CBD5E1"/>
            </a:solidFill>
            <a:prstDash val="solid"/>
          </a:ln>
        </p:spPr>
      </p:sp>
      <p:sp>
        <p:nvSpPr>
          <p:cNvPr id="19" name="Text 17"/>
          <p:cNvSpPr/>
          <p:nvPr/>
        </p:nvSpPr>
        <p:spPr>
          <a:xfrm>
            <a:off x="9948672"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fraction per donor</a:t>
            </a:r>
            <a:endParaRPr lang="en-US" sz="1400" dirty="0"/>
          </a:p>
        </p:txBody>
      </p:sp>
      <p:sp>
        <p:nvSpPr>
          <p:cNvPr id="20" name="Text 18"/>
          <p:cNvSpPr/>
          <p:nvPr/>
        </p:nvSpPr>
        <p:spPr>
          <a:xfrm>
            <a:off x="914400" y="3108960"/>
            <a:ext cx="10607040" cy="2286000"/>
          </a:xfrm>
          <a:prstGeom prst="rect">
            <a:avLst/>
          </a:prstGeom>
          <a:noFill/>
          <a:ln/>
        </p:spPr>
        <p:txBody>
          <a:bodyPr wrap="square" rtlCol="0" anchor="t"/>
          <a:lstStyle/>
          <a:p>
            <a:pPr algn="l" indent="0" marL="0">
              <a:spcAft>
                <a:spcPts val="1100"/>
              </a:spcAft>
              <a:buNone/>
            </a:pPr>
            <a:r>
              <a:rPr lang="en-US" sz="1600" b="1" dirty="0">
                <a:solidFill>
                  <a:srgbClr val="1B2B31"/>
                </a:solidFill>
              </a:rPr>
              <a:t>Raw counts, not SCT: </a:t>
            </a:r>
            <a:pPr algn="l" indent="0" marL="0">
              <a:spcAft>
                <a:spcPts val="1100"/>
              </a:spcAft>
              <a:buNone/>
            </a:pPr>
            <a:r>
              <a:rPr lang="en-US" sz="1600" dirty="0">
                <a:solidFill>
                  <a:srgbClr val="1B2B31"/>
                </a:solidFill>
              </a:rPr>
              <a:t>a single molecule may be ambient — absolute detection is what matters.
</a:t>
            </a:r>
            <a:endParaRPr lang="en-US" sz="1600" dirty="0"/>
          </a:p>
          <a:p>
            <a:pPr algn="l" indent="0" marL="0">
              <a:spcAft>
                <a:spcPts val="1100"/>
              </a:spcAft>
              <a:buNone/>
            </a:pPr>
            <a:r>
              <a:rPr lang="en-US" sz="1600" b="1" dirty="0">
                <a:solidFill>
                  <a:srgbClr val="0D9488"/>
                </a:solidFill>
              </a:rPr>
              <a:t>Depth-matched¹: </a:t>
            </a:r>
            <a:pPr algn="l" indent="0" marL="0">
              <a:spcAft>
                <a:spcPts val="1100"/>
              </a:spcAft>
              <a:buNone/>
            </a:pPr>
            <a:r>
              <a:rPr lang="en-US" sz="1600" dirty="0">
                <a:solidFill>
                  <a:srgbClr val="1B2B31"/>
                </a:solidFill>
              </a:rPr>
              <a:t>down-thin every nucleus to 1,500 UMIs so depth can’t drive detection (stable at 1k / 1.5k / 3k).
</a:t>
            </a:r>
            <a:endParaRPr lang="en-US" sz="1600" dirty="0"/>
          </a:p>
          <a:p>
            <a:pPr algn="l" indent="0" marL="0">
              <a:spcAft>
                <a:spcPts val="1100"/>
              </a:spcAft>
              <a:buNone/>
            </a:pPr>
            <a:r>
              <a:rPr lang="en-US" sz="1600" b="1" dirty="0">
                <a:solidFill>
                  <a:srgbClr val="7C3AED"/>
                </a:solidFill>
              </a:rPr>
              <a:t>≥2 UMI, not ≥1: </a:t>
            </a:r>
            <a:pPr algn="l" indent="0" marL="0">
              <a:spcAft>
                <a:spcPts val="1100"/>
              </a:spcAft>
              <a:buNone/>
            </a:pPr>
            <a:r>
              <a:rPr lang="en-US" sz="1600" dirty="0">
                <a:solidFill>
                  <a:srgbClr val="1B2B31"/>
                </a:solidFill>
              </a:rPr>
              <a:t>kills ambient soup — apparent co-expression 7–10% → 0.2–0.5%.
</a:t>
            </a:r>
            <a:endParaRPr lang="en-US" sz="1600" dirty="0"/>
          </a:p>
          <a:p>
            <a:pPr algn="l" indent="0" marL="0">
              <a:spcAft>
                <a:spcPts val="1100"/>
              </a:spcAft>
              <a:buNone/>
            </a:pPr>
            <a:r>
              <a:rPr lang="en-US" sz="1600" b="1" dirty="0">
                <a:solidFill>
                  <a:srgbClr val="0D9488"/>
                </a:solidFill>
              </a:rPr>
              <a:t>Donor is the unit (~47): </a:t>
            </a:r>
            <a:pPr algn="l" indent="0" marL="0">
              <a:spcAft>
                <a:spcPts val="1100"/>
              </a:spcAft>
              <a:buNone/>
            </a:pPr>
            <a:r>
              <a:rPr lang="en-US" sz="1600" dirty="0">
                <a:solidFill>
                  <a:srgbClr val="1B2B31"/>
                </a:solidFill>
              </a:rPr>
              <a:t>no pseudoreplication. Robust on 6 marker sets (2–1,637 genes, incl. Paper 2’s own).</a:t>
            </a:r>
            <a:endParaRPr lang="en-US" sz="1600" dirty="0"/>
          </a:p>
        </p:txBody>
      </p:sp>
      <p:sp>
        <p:nvSpPr>
          <p:cNvPr id="21" name="Shape 19"/>
          <p:cNvSpPr/>
          <p:nvPr/>
        </p:nvSpPr>
        <p:spPr>
          <a:xfrm>
            <a:off x="457200" y="6199632"/>
            <a:ext cx="2926080" cy="0"/>
          </a:xfrm>
          <a:prstGeom prst="line">
            <a:avLst/>
          </a:prstGeom>
          <a:noFill/>
          <a:ln w="9525">
            <a:solidFill>
              <a:srgbClr val="C9C0B2"/>
            </a:solidFill>
            <a:prstDash val="solid"/>
          </a:ln>
        </p:spPr>
      </p:sp>
      <p:sp>
        <p:nvSpPr>
          <p:cNvPr id="22" name="Text 20"/>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23" name="Text 21"/>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4" name="Text 22"/>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RESULT</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r>
          <p:cNvPicPr>
            <a:picLocks noChangeAspect="1"/>
          </p:cNvPicPr>
          <p:nvPr/>
        </p:nvPicPr>
        <p:blipFill>
          <a:blip r:embed="rId1"/>
          <a:stretch>
            <a:fillRect/>
          </a:stretch>
        </p:blipFill>
        <p:spPr>
          <a:xfrm>
            <a:off x="521664" y="1417320"/>
            <a:ext cx="7643472" cy="3749040"/>
          </a:xfrm>
          <a:prstGeom prst="rect">
            <a:avLst/>
          </a:prstGeom>
        </p:spPr>
      </p:pic>
      <p:sp>
        <p:nvSpPr>
          <p:cNvPr id="7" name="Text 4"/>
          <p:cNvSpPr/>
          <p:nvPr/>
        </p:nvSpPr>
        <p:spPr>
          <a:xfrm>
            <a:off x="182880" y="5212080"/>
            <a:ext cx="832104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2.  Pericentral / periportal anchor and dual co-expression across matched biopsy F1–F4 (box = per-donor spread; each point = one donor).</a:t>
            </a:r>
            <a:endParaRPr lang="en-US" sz="1200" dirty="0"/>
          </a:p>
        </p:txBody>
      </p:sp>
      <p:sp>
        <p:nvSpPr>
          <p:cNvPr id="8" name="Text 5"/>
          <p:cNvSpPr/>
          <p:nvPr/>
        </p:nvSpPr>
        <p:spPr>
          <a:xfrm>
            <a:off x="182880" y="5596128"/>
            <a:ext cx="8321040" cy="640080"/>
          </a:xfrm>
          <a:prstGeom prst="rect">
            <a:avLst/>
          </a:prstGeom>
          <a:noFill/>
          <a:ln/>
        </p:spPr>
        <p:txBody>
          <a:bodyPr wrap="square" rtlCol="0" anchor="t"/>
          <a:lstStyle/>
          <a:p>
            <a:pPr algn="l" indent="0" marL="0">
              <a:buNone/>
            </a:pPr>
            <a:r>
              <a:rPr lang="en-US" sz="1150" b="1" i="1" dirty="0">
                <a:solidFill>
                  <a:srgbClr val="BE123C"/>
                </a:solidFill>
              </a:rPr>
              <a:t>F0 omitted: </a:t>
            </a:r>
            <a:pPr algn="l" indent="0" marL="0">
              <a:buNone/>
            </a:pPr>
            <a:r>
              <a:rPr lang="en-US" sz="1150" i="1" dirty="0">
                <a:solidFill>
                  <a:srgbClr val="5C6E73"/>
                </a:solidFill>
              </a:rPr>
              <a:t>its 2 donors disagree by 16.6 pp on the pericentral anchor (44% vs 28%) — too unstable to anchor a trend; F0 carries the highest PC fraction of any stage, so dropping it doesn’t flatter the result. Full F0–F4 in backup.</a:t>
            </a:r>
            <a:endParaRPr lang="en-US" sz="1150" dirty="0"/>
          </a:p>
        </p:txBody>
      </p:sp>
      <p:sp>
        <p:nvSpPr>
          <p:cNvPr id="9" name="Text 6"/>
          <p:cNvSpPr/>
          <p:nvPr/>
        </p:nvSpPr>
        <p:spPr>
          <a:xfrm>
            <a:off x="8641080" y="1463040"/>
            <a:ext cx="3337560" cy="2468880"/>
          </a:xfrm>
          <a:prstGeom prst="rect">
            <a:avLst/>
          </a:prstGeom>
          <a:noFill/>
          <a:ln/>
        </p:spPr>
        <p:txBody>
          <a:bodyPr wrap="square" rtlCol="0" anchor="t"/>
          <a:lstStyle/>
          <a:p>
            <a:pPr algn="l" indent="0" marL="0">
              <a:buNone/>
            </a:pPr>
            <a:r>
              <a:rPr lang="en-US" sz="1200" b="1" dirty="0">
                <a:solidFill>
                  <a:srgbClr val="123F47"/>
                </a:solidFill>
              </a:rPr>
              <a:t>Why we can still read it. </a:t>
            </a:r>
            <a:pPr algn="l" indent="0" marL="0">
              <a:buNone/>
            </a:pPr>
            <a:r>
              <a:rPr lang="en-US" sz="1200" dirty="0">
                <a:solidFill>
                  <a:srgbClr val="1B2B31"/>
                </a:solidFill>
              </a:rPr>
              <a:t>Donors scatter ~25–35 pp within each stage (SD ≈ 12), but the donor is the replicate — each stage average has SE ≈ SD/√n ≈ 4 pp. The spread is the same at every stage: noise around a flat line, not a hidden trend.</a:t>
            </a:r>
            <a:endParaRPr lang="en-US" sz="1200" dirty="0"/>
          </a:p>
        </p:txBody>
      </p:sp>
      <p:sp>
        <p:nvSpPr>
          <p:cNvPr id="10" name="Text 7"/>
          <p:cNvSpPr/>
          <p:nvPr/>
        </p:nvSpPr>
        <p:spPr>
          <a:xfrm>
            <a:off x="8641080" y="4023360"/>
            <a:ext cx="3337560" cy="320040"/>
          </a:xfrm>
          <a:prstGeom prst="rect">
            <a:avLst/>
          </a:prstGeom>
          <a:noFill/>
          <a:ln/>
        </p:spPr>
        <p:txBody>
          <a:bodyPr wrap="square" rtlCol="0" anchor="t"/>
          <a:lstStyle/>
          <a:p>
            <a:pPr algn="l" indent="0" marL="0">
              <a:buNone/>
            </a:pPr>
            <a:r>
              <a:rPr lang="en-US" sz="1300" b="1" dirty="0">
                <a:solidFill>
                  <a:srgbClr val="475569"/>
                </a:solidFill>
              </a:rPr>
              <a:t>Null (turn-off):  </a:t>
            </a:r>
            <a:pPr algn="l" indent="0" marL="0">
              <a:buNone/>
            </a:pPr>
            <a:r>
              <a:rPr lang="en-US" sz="1300" b="1" dirty="0">
                <a:solidFill>
                  <a:srgbClr val="1B2B31"/>
                </a:solidFill>
              </a:rPr>
              <a:t>44 / 36 / 39 / 39% — flat.</a:t>
            </a:r>
            <a:endParaRPr lang="en-US" sz="1300" dirty="0"/>
          </a:p>
        </p:txBody>
      </p:sp>
      <p:sp>
        <p:nvSpPr>
          <p:cNvPr id="11" name="Text 8"/>
          <p:cNvSpPr/>
          <p:nvPr/>
        </p:nvSpPr>
        <p:spPr>
          <a:xfrm>
            <a:off x="8641080" y="4407408"/>
            <a:ext cx="3337560" cy="320040"/>
          </a:xfrm>
          <a:prstGeom prst="rect">
            <a:avLst/>
          </a:prstGeom>
          <a:noFill/>
          <a:ln/>
        </p:spPr>
        <p:txBody>
          <a:bodyPr wrap="square" rtlCol="0" anchor="t"/>
          <a:lstStyle/>
          <a:p>
            <a:pPr algn="l" indent="0" marL="0">
              <a:buNone/>
            </a:pPr>
            <a:r>
              <a:rPr lang="en-US" sz="1300" b="1" dirty="0">
                <a:solidFill>
                  <a:srgbClr val="7C3AED"/>
                </a:solidFill>
              </a:rPr>
              <a:t>PP : PC ratio:  </a:t>
            </a:r>
            <a:pPr algn="l" indent="0" marL="0">
              <a:buNone/>
            </a:pPr>
            <a:r>
              <a:rPr lang="en-US" sz="1300" b="1" dirty="0">
                <a:solidFill>
                  <a:srgbClr val="1B2B31"/>
                </a:solidFill>
              </a:rPr>
              <a:t>1.16 / 1.01 / 1.10 / 1.18 — flat.</a:t>
            </a:r>
            <a:endParaRPr lang="en-US" sz="1300" dirty="0"/>
          </a:p>
        </p:txBody>
      </p:sp>
      <p:sp>
        <p:nvSpPr>
          <p:cNvPr id="12" name="Shape 9"/>
          <p:cNvSpPr/>
          <p:nvPr/>
        </p:nvSpPr>
        <p:spPr>
          <a:xfrm>
            <a:off x="8641080" y="4937760"/>
            <a:ext cx="3337560" cy="914400"/>
          </a:xfrm>
          <a:prstGeom prst="roundRect">
            <a:avLst>
              <a:gd name="adj" fmla="val 7000"/>
            </a:avLst>
          </a:prstGeom>
          <a:solidFill>
            <a:srgbClr val="E7F0EE"/>
          </a:solidFill>
          <a:ln w="12700">
            <a:solidFill>
              <a:srgbClr val="1B6E78"/>
            </a:solidFill>
            <a:prstDash val="solid"/>
          </a:ln>
        </p:spPr>
      </p:sp>
      <p:sp>
        <p:nvSpPr>
          <p:cNvPr id="13" name="Text 10"/>
          <p:cNvSpPr/>
          <p:nvPr/>
        </p:nvSpPr>
        <p:spPr>
          <a:xfrm>
            <a:off x="8778240" y="4992624"/>
            <a:ext cx="3108960" cy="822960"/>
          </a:xfrm>
          <a:prstGeom prst="rect">
            <a:avLst/>
          </a:prstGeom>
          <a:noFill/>
          <a:ln/>
        </p:spPr>
        <p:txBody>
          <a:bodyPr wrap="square" rtlCol="0" anchor="ctr"/>
          <a:lstStyle/>
          <a:p>
            <a:pPr algn="l" indent="0" marL="0">
              <a:buNone/>
            </a:pPr>
            <a:r>
              <a:rPr lang="en-US" sz="1200" b="1" dirty="0">
                <a:solidFill>
                  <a:srgbClr val="123F47"/>
                </a:solidFill>
              </a:rPr>
              <a:t>Equivalence (TOST).  </a:t>
            </a:r>
            <a:pPr algn="l" indent="0" marL="0">
              <a:buNone/>
            </a:pPr>
            <a:r>
              <a:rPr lang="en-US" sz="1200" dirty="0">
                <a:solidFill>
                  <a:srgbClr val="1B2B31"/>
                </a:solidFill>
              </a:rPr>
              <a:t>A shift &gt; ±19 pp is excluded; a ≤10-pp drift is not (F4 n=4; robustness backup).</a:t>
            </a:r>
            <a:endParaRPr lang="en-US" sz="1200" dirty="0"/>
          </a:p>
        </p:txBody>
      </p:sp>
      <p:sp>
        <p:nvSpPr>
          <p:cNvPr id="14" name="Text 11"/>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5" name="Text 12"/>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Cells stay spread across the zones — no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pPr algn="l" indent="0" marL="0">
              <a:buNone/>
            </a:pPr>
            <a:r>
              <a:rPr lang="en-US" sz="1450" b="1" dirty="0">
                <a:solidFill>
                  <a:srgbClr val="1B2B31"/>
                </a:solidFill>
              </a:rPr>
              <a:t>Each panel: where hepatocytes fall on the pericentral ↔ periportal axis.  </a:t>
            </a:r>
            <a:pPr algn="l" indent="0" marL="0">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r>
          <p:cNvPicPr>
            <a:picLocks noChangeAspect="1"/>
          </p:cNvPicPr>
          <p:nvPr/>
        </p:nvPicPr>
        <p:blipFill>
          <a:blip r:embed="rId1"/>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3.  Per-cell zonal balance by stage (down-thinned to 1,500 UMIs, ≤300 nuclei/donor). 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algn="l" indent="0" marL="0">
              <a:buNone/>
            </a:pPr>
            <a:r>
              <a:rPr lang="en-US" sz="1450" dirty="0">
                <a:solidFill>
                  <a:srgbClr val="1B2B31"/>
                </a:solidFill>
              </a:rPr>
              <a:t>Across biopsy F1–F4 the mass stays spread — the middle [0.4–0.6) drifts only 22 → 24 → 28 → 26% (peak F3, then reverts), non-monotone and mild. </a:t>
            </a:r>
            <a:pPr algn="l" indent="0" marL="0">
              <a:buNone/>
            </a:pP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CONFOUNDER AUDIT</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Ten confounders, tested in counts — none explains it</a:t>
            </a:r>
            <a:endParaRPr lang="en-US" sz="2800" dirty="0"/>
          </a:p>
        </p:txBody>
      </p:sp>
      <p:sp>
        <p:nvSpPr>
          <p:cNvPr id="6" name="Text 4"/>
          <p:cNvSpPr/>
          <p:nvPr/>
        </p:nvSpPr>
        <p:spPr>
          <a:xfrm>
            <a:off x="640080" y="1417320"/>
            <a:ext cx="11155680" cy="457200"/>
          </a:xfrm>
          <a:prstGeom prst="rect">
            <a:avLst/>
          </a:prstGeom>
          <a:noFill/>
          <a:ln/>
        </p:spPr>
        <p:txBody>
          <a:bodyPr wrap="square" rtlCol="0" anchor="ctr"/>
          <a:lstStyle/>
          <a:p>
            <a:pPr algn="l" indent="0" marL="0">
              <a:buNone/>
            </a:pPr>
            <a:r>
              <a:rPr lang="en-US" sz="1400" i="1" dirty="0">
                <a:solidFill>
                  <a:srgbClr val="5C6E73"/>
                </a:solidFill>
              </a:rPr>
              <a:t>If the flat result were an artifact, one of these would have shown it. Every confounder we could test, tested at the donor level — none manufactures the result. (Full numbers in backup.)</a:t>
            </a:r>
            <a:endParaRPr lang="en-US" sz="1400" dirty="0"/>
          </a:p>
        </p:txBody>
      </p:sp>
      <p:sp>
        <p:nvSpPr>
          <p:cNvPr id="7" name="Shape 5"/>
          <p:cNvSpPr/>
          <p:nvPr/>
        </p:nvSpPr>
        <p:spPr>
          <a:xfrm>
            <a:off x="548640" y="2103120"/>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8" name="Text 6"/>
          <p:cNvSpPr/>
          <p:nvPr/>
        </p:nvSpPr>
        <p:spPr>
          <a:xfrm>
            <a:off x="640080" y="2103120"/>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9" name="Text 7"/>
          <p:cNvSpPr/>
          <p:nvPr/>
        </p:nvSpPr>
        <p:spPr>
          <a:xfrm>
            <a:off x="1097280" y="2103120"/>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Tissue source</a:t>
            </a:r>
            <a:pPr algn="l" indent="0" marL="0">
              <a:buNone/>
            </a:pPr>
            <a:r>
              <a:rPr lang="en-US" sz="1400" dirty="0">
                <a:solidFill>
                  <a:srgbClr val="5C6E73"/>
                </a:solidFill>
              </a:rPr>
              <a:t>   —  excluded → biopsy-only F1–F4</a:t>
            </a:r>
            <a:endParaRPr lang="en-US" sz="1400" dirty="0"/>
          </a:p>
        </p:txBody>
      </p:sp>
      <p:sp>
        <p:nvSpPr>
          <p:cNvPr id="10" name="Shape 8"/>
          <p:cNvSpPr/>
          <p:nvPr/>
        </p:nvSpPr>
        <p:spPr>
          <a:xfrm>
            <a:off x="548640" y="2852928"/>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1" name="Text 9"/>
          <p:cNvSpPr/>
          <p:nvPr/>
        </p:nvSpPr>
        <p:spPr>
          <a:xfrm>
            <a:off x="640080" y="2852928"/>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12" name="Text 10"/>
          <p:cNvSpPr/>
          <p:nvPr/>
        </p:nvSpPr>
        <p:spPr>
          <a:xfrm>
            <a:off x="1097280" y="2852928"/>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Procurement stress</a:t>
            </a:r>
            <a:pPr algn="l" indent="0" marL="0">
              <a:buNone/>
            </a:pPr>
            <a:r>
              <a:rPr lang="en-US" sz="1400" dirty="0">
                <a:solidFill>
                  <a:srgbClr val="5C6E73"/>
                </a:solidFill>
              </a:rPr>
              <a:t>   —  organ-wide handling, not zonation</a:t>
            </a:r>
            <a:endParaRPr lang="en-US" sz="1400" dirty="0"/>
          </a:p>
        </p:txBody>
      </p:sp>
      <p:sp>
        <p:nvSpPr>
          <p:cNvPr id="13" name="Shape 11"/>
          <p:cNvSpPr/>
          <p:nvPr/>
        </p:nvSpPr>
        <p:spPr>
          <a:xfrm>
            <a:off x="548640" y="3602736"/>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4" name="Text 12"/>
          <p:cNvSpPr/>
          <p:nvPr/>
        </p:nvSpPr>
        <p:spPr>
          <a:xfrm>
            <a:off x="640080" y="3602736"/>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15" name="Text 13"/>
          <p:cNvSpPr/>
          <p:nvPr/>
        </p:nvSpPr>
        <p:spPr>
          <a:xfrm>
            <a:off x="1097280" y="3602736"/>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Sequencing batch</a:t>
            </a:r>
            <a:pPr algn="l" indent="0" marL="0">
              <a:buNone/>
            </a:pPr>
            <a:r>
              <a:rPr lang="en-US" sz="1400" dirty="0">
                <a:solidFill>
                  <a:srgbClr val="5C6E73"/>
                </a:solidFill>
              </a:rPr>
              <a:t>   —  ends confounded; biopsy estimable</a:t>
            </a:r>
            <a:endParaRPr lang="en-US" sz="1400" dirty="0"/>
          </a:p>
        </p:txBody>
      </p:sp>
      <p:sp>
        <p:nvSpPr>
          <p:cNvPr id="16" name="Shape 14"/>
          <p:cNvSpPr/>
          <p:nvPr/>
        </p:nvSpPr>
        <p:spPr>
          <a:xfrm>
            <a:off x="548640" y="4352544"/>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7" name="Text 15"/>
          <p:cNvSpPr/>
          <p:nvPr/>
        </p:nvSpPr>
        <p:spPr>
          <a:xfrm>
            <a:off x="640080" y="4352544"/>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18" name="Text 16"/>
          <p:cNvSpPr/>
          <p:nvPr/>
        </p:nvSpPr>
        <p:spPr>
          <a:xfrm>
            <a:off x="1097280" y="4352544"/>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Lobe (R / C / L)</a:t>
            </a:r>
            <a:pPr algn="l" indent="0" marL="0">
              <a:buNone/>
            </a:pPr>
            <a:r>
              <a:rPr lang="en-US" sz="1400" dirty="0">
                <a:solidFill>
                  <a:srgbClr val="5C6E73"/>
                </a:solidFill>
              </a:rPr>
              <a:t>   —  lobe-invariant</a:t>
            </a:r>
            <a:endParaRPr lang="en-US" sz="1400" dirty="0"/>
          </a:p>
        </p:txBody>
      </p:sp>
      <p:sp>
        <p:nvSpPr>
          <p:cNvPr id="19" name="Shape 17"/>
          <p:cNvSpPr/>
          <p:nvPr/>
        </p:nvSpPr>
        <p:spPr>
          <a:xfrm>
            <a:off x="548640" y="5102352"/>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0" name="Text 18"/>
          <p:cNvSpPr/>
          <p:nvPr/>
        </p:nvSpPr>
        <p:spPr>
          <a:xfrm>
            <a:off x="640080" y="5102352"/>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21" name="Text 19"/>
          <p:cNvSpPr/>
          <p:nvPr/>
        </p:nvSpPr>
        <p:spPr>
          <a:xfrm>
            <a:off x="1097280" y="5102352"/>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Sequencing depth</a:t>
            </a:r>
            <a:pPr algn="l" indent="0" marL="0">
              <a:buNone/>
            </a:pPr>
            <a:r>
              <a:rPr lang="en-US" sz="1400" dirty="0">
                <a:solidFill>
                  <a:srgbClr val="5C6E73"/>
                </a:solidFill>
              </a:rPr>
              <a:t>   —  flat at every budget (B-sweep)</a:t>
            </a:r>
            <a:endParaRPr lang="en-US" sz="1400" dirty="0"/>
          </a:p>
        </p:txBody>
      </p:sp>
      <p:sp>
        <p:nvSpPr>
          <p:cNvPr id="22" name="Shape 20"/>
          <p:cNvSpPr/>
          <p:nvPr/>
        </p:nvSpPr>
        <p:spPr>
          <a:xfrm>
            <a:off x="6327648" y="2103120"/>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3" name="Text 21"/>
          <p:cNvSpPr/>
          <p:nvPr/>
        </p:nvSpPr>
        <p:spPr>
          <a:xfrm>
            <a:off x="6419088" y="2103120"/>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24" name="Text 22"/>
          <p:cNvSpPr/>
          <p:nvPr/>
        </p:nvSpPr>
        <p:spPr>
          <a:xfrm>
            <a:off x="6876288" y="2103120"/>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Ambient RNA (“soup”)</a:t>
            </a:r>
            <a:pPr algn="l" indent="0" marL="0">
              <a:buNone/>
            </a:pPr>
            <a:r>
              <a:rPr lang="en-US" sz="1400" dirty="0">
                <a:solidFill>
                  <a:srgbClr val="5C6E73"/>
                </a:solidFill>
              </a:rPr>
              <a:t>   —  does not drive co-expression</a:t>
            </a:r>
            <a:endParaRPr lang="en-US" sz="1400" dirty="0"/>
          </a:p>
        </p:txBody>
      </p:sp>
      <p:sp>
        <p:nvSpPr>
          <p:cNvPr id="25" name="Shape 23"/>
          <p:cNvSpPr/>
          <p:nvPr/>
        </p:nvSpPr>
        <p:spPr>
          <a:xfrm>
            <a:off x="6327648" y="2852928"/>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6" name="Text 24"/>
          <p:cNvSpPr/>
          <p:nvPr/>
        </p:nvSpPr>
        <p:spPr>
          <a:xfrm>
            <a:off x="6419088" y="2852928"/>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27" name="Text 25"/>
          <p:cNvSpPr/>
          <p:nvPr/>
        </p:nvSpPr>
        <p:spPr>
          <a:xfrm>
            <a:off x="6876288" y="2852928"/>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Cholangiocyte mis-annotation</a:t>
            </a:r>
            <a:pPr algn="l" indent="0" marL="0">
              <a:buNone/>
            </a:pPr>
            <a:r>
              <a:rPr lang="en-US" sz="1400" dirty="0">
                <a:solidFill>
                  <a:srgbClr val="5C6E73"/>
                </a:solidFill>
              </a:rPr>
              <a:t>   —  not contaminating cells</a:t>
            </a:r>
            <a:endParaRPr lang="en-US" sz="1400" dirty="0"/>
          </a:p>
        </p:txBody>
      </p:sp>
      <p:sp>
        <p:nvSpPr>
          <p:cNvPr id="28" name="Shape 26"/>
          <p:cNvSpPr/>
          <p:nvPr/>
        </p:nvSpPr>
        <p:spPr>
          <a:xfrm>
            <a:off x="6327648" y="3602736"/>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9" name="Text 27"/>
          <p:cNvSpPr/>
          <p:nvPr/>
        </p:nvSpPr>
        <p:spPr>
          <a:xfrm>
            <a:off x="6419088" y="3602736"/>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30" name="Text 28"/>
          <p:cNvSpPr/>
          <p:nvPr/>
        </p:nvSpPr>
        <p:spPr>
          <a:xfrm>
            <a:off x="6876288" y="3602736"/>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Ploidy / complexity</a:t>
            </a:r>
            <a:pPr algn="l" indent="0" marL="0">
              <a:buNone/>
            </a:pPr>
            <a:r>
              <a:rPr lang="en-US" sz="1400" dirty="0">
                <a:solidFill>
                  <a:srgbClr val="5C6E73"/>
                </a:solidFill>
              </a:rPr>
              <a:t>   —  does not track stage</a:t>
            </a:r>
            <a:endParaRPr lang="en-US" sz="1400" dirty="0"/>
          </a:p>
        </p:txBody>
      </p:sp>
      <p:sp>
        <p:nvSpPr>
          <p:cNvPr id="31" name="Shape 29"/>
          <p:cNvSpPr/>
          <p:nvPr/>
        </p:nvSpPr>
        <p:spPr>
          <a:xfrm>
            <a:off x="6327648" y="4352544"/>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32" name="Text 30"/>
          <p:cNvSpPr/>
          <p:nvPr/>
        </p:nvSpPr>
        <p:spPr>
          <a:xfrm>
            <a:off x="6419088" y="4352544"/>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33" name="Text 31"/>
          <p:cNvSpPr/>
          <p:nvPr/>
        </p:nvSpPr>
        <p:spPr>
          <a:xfrm>
            <a:off x="6876288" y="4352544"/>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Depth-match discard</a:t>
            </a:r>
            <a:pPr algn="l" indent="0" marL="0">
              <a:buNone/>
            </a:pPr>
            <a:r>
              <a:rPr lang="en-US" sz="1400" dirty="0">
                <a:solidFill>
                  <a:srgbClr val="5C6E73"/>
                </a:solidFill>
              </a:rPr>
              <a:t>   —  depth-driven, not PC-biased</a:t>
            </a:r>
            <a:endParaRPr lang="en-US" sz="1400" dirty="0"/>
          </a:p>
        </p:txBody>
      </p:sp>
      <p:sp>
        <p:nvSpPr>
          <p:cNvPr id="34" name="Shape 32"/>
          <p:cNvSpPr/>
          <p:nvPr/>
        </p:nvSpPr>
        <p:spPr>
          <a:xfrm>
            <a:off x="6327648" y="5102352"/>
            <a:ext cx="5532120" cy="676656"/>
          </a:xfrm>
          <a:prstGeom prst="roundRect">
            <a:avLst>
              <a:gd name="adj" fmla="val 6757"/>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35" name="Text 33"/>
          <p:cNvSpPr/>
          <p:nvPr/>
        </p:nvSpPr>
        <p:spPr>
          <a:xfrm>
            <a:off x="6419088" y="5102352"/>
            <a:ext cx="411480" cy="676656"/>
          </a:xfrm>
          <a:prstGeom prst="rect">
            <a:avLst/>
          </a:prstGeom>
          <a:noFill/>
          <a:ln/>
        </p:spPr>
        <p:txBody>
          <a:bodyPr wrap="square" lIns="0" tIns="0" rIns="0" bIns="0" rtlCol="0" anchor="ctr"/>
          <a:lstStyle/>
          <a:p>
            <a:pPr algn="ctr" indent="0" marL="0">
              <a:buNone/>
            </a:pPr>
            <a:r>
              <a:rPr lang="en-US" sz="1800" b="1" dirty="0">
                <a:solidFill>
                  <a:srgbClr val="0D9488"/>
                </a:solidFill>
              </a:rPr>
              <a:t>✓</a:t>
            </a:r>
            <a:endParaRPr lang="en-US" sz="1800" dirty="0"/>
          </a:p>
        </p:txBody>
      </p:sp>
      <p:sp>
        <p:nvSpPr>
          <p:cNvPr id="36" name="Text 34"/>
          <p:cNvSpPr/>
          <p:nvPr/>
        </p:nvSpPr>
        <p:spPr>
          <a:xfrm>
            <a:off x="6876288" y="5102352"/>
            <a:ext cx="4937760" cy="676656"/>
          </a:xfrm>
          <a:prstGeom prst="rect">
            <a:avLst/>
          </a:prstGeom>
          <a:noFill/>
          <a:ln/>
        </p:spPr>
        <p:txBody>
          <a:bodyPr wrap="square" lIns="0" tIns="0" rIns="0" bIns="0" rtlCol="0" anchor="ctr"/>
          <a:lstStyle/>
          <a:p>
            <a:pPr algn="l" indent="0" marL="0">
              <a:buNone/>
            </a:pPr>
            <a:r>
              <a:rPr lang="en-US" sz="1400" b="1" dirty="0">
                <a:solidFill>
                  <a:srgbClr val="1B2B31"/>
                </a:solidFill>
              </a:rPr>
              <a:t>Clinical covariates</a:t>
            </a:r>
            <a:pPr algn="l" indent="0" marL="0">
              <a:buNone/>
            </a:pPr>
            <a:r>
              <a:rPr lang="en-US" sz="1400" dirty="0">
                <a:solidFill>
                  <a:srgbClr val="5C6E73"/>
                </a:solidFill>
              </a:rPr>
              <a:t>   —  demographics don’t explain it</a:t>
            </a:r>
            <a:endParaRPr lang="en-US" sz="1400" dirty="0"/>
          </a:p>
        </p:txBody>
      </p:sp>
      <p:sp>
        <p:nvSpPr>
          <p:cNvPr id="37" name="Text 35"/>
          <p:cNvSpPr/>
          <p:nvPr/>
        </p:nvSpPr>
        <p:spPr>
          <a:xfrm>
            <a:off x="548640" y="5989320"/>
            <a:ext cx="11247120" cy="274320"/>
          </a:xfrm>
          <a:prstGeom prst="rect">
            <a:avLst/>
          </a:prstGeom>
          <a:noFill/>
          <a:ln/>
        </p:spPr>
        <p:txBody>
          <a:bodyPr wrap="square" rtlCol="0" anchor="ctr"/>
          <a:lstStyle/>
          <a:p>
            <a:pPr algn="l" indent="0" marL="0">
              <a:buNone/>
            </a:pPr>
            <a:r>
              <a:rPr lang="en-US" sz="1100" i="1" dirty="0">
                <a:solidFill>
                  <a:srgbClr val="A99E8C"/>
                </a:solidFill>
              </a:rPr>
              <a:t>Caudate = Couinaud segment I, a lobe with its own blood supply, often spared in cirrhosis — checked so the multi-lobe explant sampling isn’t skewing detection.</a:t>
            </a:r>
            <a:endParaRPr lang="en-US" sz="11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What single genes miss: the detox program dims</a:t>
            </a:r>
            <a:endParaRPr lang="en-US" sz="2800" dirty="0"/>
          </a:p>
        </p:txBody>
      </p:sp>
      <p:pic>
        <p:nvPicPr>
          <p:cNvPr id="6" name="Image 0" descr="D:\CS\Genomics\Hackathon\presentation/assets/fig_volcano.png">    </p:cNvPr>
          <p:cNvPicPr>
            <a:picLocks noChangeAspect="1"/>
          </p:cNvPicPr>
          <p:nvPr/>
        </p:nvPicPr>
        <p:blipFill>
          <a:blip r:embed="rId1"/>
          <a:stretch>
            <a:fillRect/>
          </a:stretch>
        </p:blipFill>
        <p:spPr>
          <a:xfrm>
            <a:off x="648206" y="1463040"/>
            <a:ext cx="6018789" cy="3886200"/>
          </a:xfrm>
          <a:prstGeom prst="rect">
            <a:avLst/>
          </a:prstGeom>
        </p:spPr>
      </p:pic>
      <p:sp>
        <p:nvSpPr>
          <p:cNvPr id="7" name="Text 4"/>
          <p:cNvSpPr/>
          <p:nvPr/>
        </p:nvSpPr>
        <p:spPr>
          <a:xfrm>
            <a:off x="274320" y="5486400"/>
            <a:ext cx="676656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7315200" y="1508760"/>
            <a:ext cx="4572000" cy="868680"/>
          </a:xfrm>
          <a:prstGeom prst="rect">
            <a:avLst/>
          </a:prstGeom>
          <a:noFill/>
          <a:ln/>
        </p:spPr>
        <p:txBody>
          <a:bodyPr wrap="square" rtlCol="0" anchor="t"/>
          <a:lstStyle/>
          <a:p>
            <a:pPr algn="l" indent="0" marL="0">
              <a:buNone/>
            </a:pPr>
            <a:r>
              <a:rPr lang="en-US" sz="1300" b="1" dirty="0">
                <a:solidFill>
                  <a:srgbClr val="1B2B31"/>
                </a:solidFill>
              </a:rPr>
              <a:t>Per gene, nothing usable moves¹. </a:t>
            </a:r>
            <a:pPr algn="l" indent="0" marL="0">
              <a:buNone/>
            </a:pPr>
            <a:r>
              <a:rPr lang="en-US" sz="1300" dirty="0">
                <a:solidFill>
                  <a:srgbClr val="1B2B31"/>
                </a:solidFill>
              </a:rPr>
              <a:t>64 of ~21,000 genes pass FDR — mostly biliary/ductular; the zonation genes are flat (GLUL FDR 0.80).</a:t>
            </a:r>
            <a:endParaRPr lang="en-US" sz="1300" dirty="0"/>
          </a:p>
        </p:txBody>
      </p:sp>
      <p:sp>
        <p:nvSpPr>
          <p:cNvPr id="9" name="Shape 6"/>
          <p:cNvSpPr/>
          <p:nvPr/>
        </p:nvSpPr>
        <p:spPr>
          <a:xfrm>
            <a:off x="7315200" y="2487168"/>
            <a:ext cx="4572000" cy="2304288"/>
          </a:xfrm>
          <a:prstGeom prst="roundRect">
            <a:avLst>
              <a:gd name="adj" fmla="val 2381"/>
            </a:avLst>
          </a:prstGeom>
          <a:solidFill>
            <a:srgbClr val="FBF0E2"/>
          </a:solidFill>
          <a:ln w="12700">
            <a:solidFill>
              <a:srgbClr val="C0561B"/>
            </a:solidFill>
            <a:prstDash val="solid"/>
          </a:ln>
          <a:effectLst>
            <a:outerShdw sx="100000" sy="100000" kx="0" ky="0" algn="bl" rotWithShape="0" blurRad="88900" dist="38100" dir="5400000">
              <a:srgbClr val="000000">
                <a:alpha val="12000"/>
              </a:srgbClr>
            </a:outerShdw>
          </a:effectLst>
        </p:spPr>
      </p:sp>
      <p:sp>
        <p:nvSpPr>
          <p:cNvPr id="10" name="Text 7"/>
          <p:cNvSpPr/>
          <p:nvPr/>
        </p:nvSpPr>
        <p:spPr>
          <a:xfrm>
            <a:off x="7498080" y="2578608"/>
            <a:ext cx="4251960" cy="2139696"/>
          </a:xfrm>
          <a:prstGeom prst="rect">
            <a:avLst/>
          </a:prstGeom>
          <a:noFill/>
          <a:ln/>
        </p:spPr>
        <p:txBody>
          <a:bodyPr wrap="square" rtlCol="0" anchor="t"/>
          <a:lstStyle/>
          <a:p>
            <a:pPr algn="l" indent="0" marL="0">
              <a:buNone/>
            </a:pPr>
            <a:r>
              <a:rPr lang="en-US" sz="1200" b="1" dirty="0">
                <a:solidFill>
                  <a:srgbClr val="7C2D12"/>
                </a:solidFill>
              </a:rPr>
              <a:t>Gene-set testing² reveals the one real change. </a:t>
            </a:r>
            <a:pPr algn="l" indent="0" marL="0">
              <a:buNone/>
            </a:pPr>
            <a:r>
              <a:rPr lang="en-US" sz="1200" dirty="0">
                <a:solidFill>
                  <a:srgbClr val="1B2B31"/>
                </a:solidFill>
              </a:rPr>
              <a:t>The pericentral detox program (PC’s functional signature) dims coordinately with fibrosis — CYP set FDR 2×10⁻⁶ — though no single gene clears per-gene FDR. Robust to composition (TMM; survives removing the rising genes) and confirmed per cell (within-PC burden: Spearman −0.48, p=0.003). The one signal our counts had hinted at, set aside as borderline — now significant.</a:t>
            </a:r>
            <a:endParaRPr lang="en-US" sz="1200" dirty="0"/>
          </a:p>
        </p:txBody>
      </p:sp>
      <p:sp>
        <p:nvSpPr>
          <p:cNvPr id="11" name="Text 8"/>
          <p:cNvSpPr/>
          <p:nvPr/>
        </p:nvSpPr>
        <p:spPr>
          <a:xfrm>
            <a:off x="7315200" y="4919472"/>
            <a:ext cx="4572000" cy="640080"/>
          </a:xfrm>
          <a:prstGeom prst="rect">
            <a:avLst/>
          </a:prstGeom>
          <a:noFill/>
          <a:ln/>
        </p:spPr>
        <p:txBody>
          <a:bodyPr wrap="square" rtlCol="0" anchor="t"/>
          <a:lstStyle/>
          <a:p>
            <a:pPr algn="l" indent="0" marL="0">
              <a:buNone/>
            </a:pPr>
            <a:r>
              <a:rPr lang="en-US" sz="1250" b="1" dirty="0">
                <a:solidFill>
                  <a:srgbClr val="1B6E78"/>
                </a:solidFill>
              </a:rPr>
              <a:t>Like a radio: </a:t>
            </a:r>
            <a:pPr algn="l" indent="0" marL="0">
              <a:buNone/>
            </a:pPr>
            <a:r>
              <a:rPr lang="en-US" sz="1250" i="1" dirty="0">
                <a:solidFill>
                  <a:srgbClr val="1B2B31"/>
                </a:solidFill>
              </a:rPr>
              <a:t>the paper claimed a genre change (cells switch identity); we find the genre held — the volume dropped a notch.</a:t>
            </a:r>
            <a:endParaRPr lang="en-US" sz="1250" dirty="0"/>
          </a:p>
        </p:txBody>
      </p:sp>
      <p:sp>
        <p:nvSpPr>
          <p:cNvPr id="12" name="Text 9"/>
          <p:cNvSpPr/>
          <p:nvPr/>
        </p:nvSpPr>
        <p:spPr>
          <a:xfrm>
            <a:off x="7315200" y="5650992"/>
            <a:ext cx="4572000" cy="274320"/>
          </a:xfrm>
          <a:prstGeom prst="rect">
            <a:avLst/>
          </a:prstGeom>
          <a:noFill/>
          <a:ln/>
        </p:spPr>
        <p:txBody>
          <a:bodyPr wrap="square" rtlCol="0" anchor="ctr"/>
          <a:lstStyle/>
          <a:p>
            <a:pPr algn="l" indent="0" marL="0">
              <a:buNone/>
            </a:pPr>
            <a:r>
              <a:rPr lang="en-US" sz="1050" i="1" dirty="0">
                <a:solidFill>
                  <a:srgbClr val="A99E8C"/>
                </a:solidFill>
              </a:rPr>
              <a:t>Validating controls behaved (fibrosis genes up, unrelated flat). Sets &amp; methods in backup.</a:t>
            </a:r>
            <a:endParaRPr lang="en-US" sz="1050" dirty="0"/>
          </a:p>
        </p:txBody>
      </p:sp>
      <p:sp>
        <p:nvSpPr>
          <p:cNvPr id="13" name="Shape 10"/>
          <p:cNvSpPr/>
          <p:nvPr/>
        </p:nvSpPr>
        <p:spPr>
          <a:xfrm>
            <a:off x="457200" y="6199632"/>
            <a:ext cx="2926080" cy="0"/>
          </a:xfrm>
          <a:prstGeom prst="line">
            <a:avLst/>
          </a:prstGeom>
          <a:noFill/>
          <a:ln w="9525">
            <a:solidFill>
              <a:srgbClr val="C9C0B2"/>
            </a:solidFill>
            <a:prstDash val="solid"/>
          </a:ln>
        </p:spPr>
      </p:sp>
      <p:sp>
        <p:nvSpPr>
          <p:cNvPr id="14" name="Text 11"/>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Pseudobulk: Squair et al. 2021; edgeR / TMM: Robinson, McCarthy &amp; Smyth 2010; Robinson &amp; Oshlack 2010.    ² Gene-set: camera — Wu &amp; Smyth 2012; ROAST — Wu et al. 2010; GSEA — gseapy.</a:t>
            </a:r>
            <a:endParaRPr lang="en-US" sz="1000" dirty="0"/>
          </a:p>
        </p:txBody>
      </p:sp>
      <p:sp>
        <p:nvSpPr>
          <p:cNvPr id="15" name="Text 12"/>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6" name="Text 13"/>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SOURCE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The biliary burden looks compositional</a:t>
            </a:r>
            <a:endParaRPr lang="en-US" sz="2800" dirty="0"/>
          </a:p>
        </p:txBody>
      </p:sp>
      <p:pic>
        <p:nvPicPr>
          <p:cNvPr id="6" name="Image 0" descr="D:\CS\Genomics\Hackathon\presentation/assets/fig_compositional.png">    </p:cNvPr>
          <p:cNvPicPr>
            <a:picLocks noChangeAspect="1"/>
          </p:cNvPicPr>
          <p:nvPr/>
        </p:nvPicPr>
        <p:blipFill>
          <a:blip r:embed="rId1"/>
          <a:stretch>
            <a:fillRect/>
          </a:stretch>
        </p:blipFill>
        <p:spPr>
          <a:xfrm>
            <a:off x="2208441" y="1371600"/>
            <a:ext cx="7744638" cy="3063240"/>
          </a:xfrm>
          <a:prstGeom prst="rect">
            <a:avLst/>
          </a:prstGeom>
        </p:spPr>
      </p:pic>
      <p:sp>
        <p:nvSpPr>
          <p:cNvPr id="7" name="Text 4"/>
          <p:cNvSpPr/>
          <p:nvPr/>
        </p:nvSpPr>
        <p:spPr>
          <a:xfrm>
            <a:off x="274320" y="4498848"/>
            <a:ext cx="116128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5.  Source attribution — cross-lineage abundance, decontX ambient-RNA removal, and the F4 ductular reaction.</a:t>
            </a:r>
            <a:endParaRPr lang="en-US" sz="1200" dirty="0"/>
          </a:p>
        </p:txBody>
      </p:sp>
      <p:sp>
        <p:nvSpPr>
          <p:cNvPr id="8" name="Shape 5"/>
          <p:cNvSpPr/>
          <p:nvPr/>
        </p:nvSpPr>
        <p:spPr>
          <a:xfrm>
            <a:off x="548640" y="4828032"/>
            <a:ext cx="11155680" cy="384048"/>
          </a:xfrm>
          <a:prstGeom prst="roundRect">
            <a:avLst>
              <a:gd name="adj" fmla="val 11905"/>
            </a:avLst>
          </a:prstGeom>
          <a:solidFill>
            <a:srgbClr val="E7F2ED"/>
          </a:solidFill>
          <a:ln/>
        </p:spPr>
      </p:sp>
      <p:sp>
        <p:nvSpPr>
          <p:cNvPr id="9" name="Text 6"/>
          <p:cNvSpPr/>
          <p:nvPr/>
        </p:nvSpPr>
        <p:spPr>
          <a:xfrm>
            <a:off x="713232" y="4828032"/>
            <a:ext cx="1737360" cy="384048"/>
          </a:xfrm>
          <a:prstGeom prst="rect">
            <a:avLst/>
          </a:prstGeom>
          <a:noFill/>
          <a:ln/>
        </p:spPr>
        <p:txBody>
          <a:bodyPr wrap="square" lIns="0" tIns="0" rIns="0" bIns="0" rtlCol="0" anchor="ctr"/>
          <a:lstStyle/>
          <a:p>
            <a:pPr indent="0" marL="0">
              <a:buNone/>
            </a:pPr>
            <a:r>
              <a:rPr lang="en-US" sz="1200" b="1" spc="100" kern="0" dirty="0">
                <a:solidFill>
                  <a:srgbClr val="065F46"/>
                </a:solidFill>
              </a:rPr>
              <a:t>STRONG</a:t>
            </a:r>
            <a:endParaRPr lang="en-US" sz="1200" dirty="0"/>
          </a:p>
        </p:txBody>
      </p:sp>
      <p:sp>
        <p:nvSpPr>
          <p:cNvPr id="10" name="Text 7"/>
          <p:cNvSpPr/>
          <p:nvPr/>
        </p:nvSpPr>
        <p:spPr>
          <a:xfrm>
            <a:off x="2468880" y="4828032"/>
            <a:ext cx="9052560" cy="384048"/>
          </a:xfrm>
          <a:prstGeom prst="rect">
            <a:avLst/>
          </a:prstGeom>
          <a:noFill/>
          <a:ln/>
        </p:spPr>
        <p:txBody>
          <a:bodyPr wrap="square" lIns="0" tIns="0" rIns="0" bIns="0" rtlCol="0" anchor="ctr"/>
          <a:lstStyle/>
          <a:p>
            <a:pPr indent="0" marL="0">
              <a:buNone/>
            </a:pPr>
            <a:r>
              <a:rPr lang="en-US" sz="1300" dirty="0">
                <a:solidFill>
                  <a:srgbClr val="1B2B31"/>
                </a:solidFill>
              </a:rPr>
              <a:t>Biliary genes are cholangiocyte genes; hepatocyte co-expression ~0.4%</a:t>
            </a:r>
            <a:endParaRPr lang="en-US" sz="1300" dirty="0"/>
          </a:p>
        </p:txBody>
      </p:sp>
      <p:sp>
        <p:nvSpPr>
          <p:cNvPr id="11" name="Shape 8"/>
          <p:cNvSpPr/>
          <p:nvPr/>
        </p:nvSpPr>
        <p:spPr>
          <a:xfrm>
            <a:off x="548640" y="5257800"/>
            <a:ext cx="11155680" cy="384048"/>
          </a:xfrm>
          <a:prstGeom prst="roundRect">
            <a:avLst>
              <a:gd name="adj" fmla="val 11905"/>
            </a:avLst>
          </a:prstGeom>
          <a:solidFill>
            <a:srgbClr val="FBF0E2"/>
          </a:solidFill>
          <a:ln/>
        </p:spPr>
      </p:sp>
      <p:sp>
        <p:nvSpPr>
          <p:cNvPr id="12" name="Text 9"/>
          <p:cNvSpPr/>
          <p:nvPr/>
        </p:nvSpPr>
        <p:spPr>
          <a:xfrm>
            <a:off x="713232" y="5257800"/>
            <a:ext cx="1737360" cy="384048"/>
          </a:xfrm>
          <a:prstGeom prst="rect">
            <a:avLst/>
          </a:prstGeom>
          <a:noFill/>
          <a:ln/>
        </p:spPr>
        <p:txBody>
          <a:bodyPr wrap="square" lIns="0" tIns="0" rIns="0" bIns="0" rtlCol="0" anchor="ctr"/>
          <a:lstStyle/>
          <a:p>
            <a:pPr indent="0" marL="0">
              <a:buNone/>
            </a:pPr>
            <a:r>
              <a:rPr lang="en-US" sz="1200" b="1" spc="100" kern="0" dirty="0">
                <a:solidFill>
                  <a:srgbClr val="B45309"/>
                </a:solidFill>
              </a:rPr>
              <a:t>SUGGESTIVE</a:t>
            </a:r>
            <a:endParaRPr lang="en-US" sz="1200" dirty="0"/>
          </a:p>
        </p:txBody>
      </p:sp>
      <p:sp>
        <p:nvSpPr>
          <p:cNvPr id="13" name="Text 10"/>
          <p:cNvSpPr/>
          <p:nvPr/>
        </p:nvSpPr>
        <p:spPr>
          <a:xfrm>
            <a:off x="2468880" y="5257800"/>
            <a:ext cx="9052560" cy="384048"/>
          </a:xfrm>
          <a:prstGeom prst="rect">
            <a:avLst/>
          </a:prstGeom>
          <a:noFill/>
          <a:ln/>
        </p:spPr>
        <p:txBody>
          <a:bodyPr wrap="square" lIns="0" tIns="0" rIns="0" bIns="0" rtlCol="0" anchor="ctr"/>
          <a:lstStyle/>
          <a:p>
            <a:pPr indent="0" marL="0">
              <a:buNone/>
            </a:pPr>
            <a:r>
              <a:rPr lang="en-US" sz="1300" dirty="0">
                <a:solidFill>
                  <a:srgbClr val="1B2B31"/>
                </a:solidFill>
              </a:rPr>
              <a:t>decontX¹ halves the hits — an ambient contribution, not proof</a:t>
            </a:r>
            <a:endParaRPr lang="en-US" sz="1300" dirty="0"/>
          </a:p>
        </p:txBody>
      </p:sp>
      <p:sp>
        <p:nvSpPr>
          <p:cNvPr id="14" name="Shape 11"/>
          <p:cNvSpPr/>
          <p:nvPr/>
        </p:nvSpPr>
        <p:spPr>
          <a:xfrm>
            <a:off x="548640" y="5687568"/>
            <a:ext cx="11155680" cy="384048"/>
          </a:xfrm>
          <a:prstGeom prst="roundRect">
            <a:avLst>
              <a:gd name="adj" fmla="val 11905"/>
            </a:avLst>
          </a:prstGeom>
          <a:solidFill>
            <a:srgbClr val="FBEEE9"/>
          </a:solidFill>
          <a:ln/>
        </p:spPr>
      </p:sp>
      <p:sp>
        <p:nvSpPr>
          <p:cNvPr id="15" name="Text 12"/>
          <p:cNvSpPr/>
          <p:nvPr/>
        </p:nvSpPr>
        <p:spPr>
          <a:xfrm>
            <a:off x="713232" y="5687568"/>
            <a:ext cx="1737360" cy="384048"/>
          </a:xfrm>
          <a:prstGeom prst="rect">
            <a:avLst/>
          </a:prstGeom>
          <a:noFill/>
          <a:ln/>
        </p:spPr>
        <p:txBody>
          <a:bodyPr wrap="square" lIns="0" tIns="0" rIns="0" bIns="0" rtlCol="0" anchor="ctr"/>
          <a:lstStyle/>
          <a:p>
            <a:pPr indent="0" marL="0">
              <a:buNone/>
            </a:pPr>
            <a:r>
              <a:rPr lang="en-US" sz="1200" b="1" spc="100" kern="0" dirty="0">
                <a:solidFill>
                  <a:srgbClr val="BE123C"/>
                </a:solidFill>
              </a:rPr>
              <a:t>OPEN</a:t>
            </a:r>
            <a:endParaRPr lang="en-US" sz="1200" dirty="0"/>
          </a:p>
        </p:txBody>
      </p:sp>
      <p:sp>
        <p:nvSpPr>
          <p:cNvPr id="16" name="Text 13"/>
          <p:cNvSpPr/>
          <p:nvPr/>
        </p:nvSpPr>
        <p:spPr>
          <a:xfrm>
            <a:off x="2468880" y="5687568"/>
            <a:ext cx="9052560" cy="384048"/>
          </a:xfrm>
          <a:prstGeom prst="rect">
            <a:avLst/>
          </a:prstGeom>
          <a:noFill/>
          <a:ln/>
        </p:spPr>
        <p:txBody>
          <a:bodyPr wrap="square" lIns="0" tIns="0" rIns="0" bIns="0" rtlCol="0" anchor="ctr"/>
          <a:lstStyle/>
          <a:p>
            <a:pPr indent="0" marL="0">
              <a:buNone/>
            </a:pPr>
            <a:r>
              <a:rPr lang="en-US" sz="1300" dirty="0">
                <a:solidFill>
                  <a:srgbClr val="1B2B31"/>
                </a:solidFill>
              </a:rPr>
              <a:t>EPCAM / SPINT2 / B3GNT3 survive — a rare intrinsic state not excluded; CXCL10 a separate inflammatory lead</a:t>
            </a:r>
            <a:endParaRPr lang="en-US" sz="1300" dirty="0"/>
          </a:p>
        </p:txBody>
      </p:sp>
      <p:sp>
        <p:nvSpPr>
          <p:cNvPr id="17" name="Shape 14"/>
          <p:cNvSpPr/>
          <p:nvPr/>
        </p:nvSpPr>
        <p:spPr>
          <a:xfrm>
            <a:off x="457200" y="6199632"/>
            <a:ext cx="2926080" cy="0"/>
          </a:xfrm>
          <a:prstGeom prst="line">
            <a:avLst/>
          </a:prstGeom>
          <a:noFill/>
          <a:ln w="9525">
            <a:solidFill>
              <a:srgbClr val="C9C0B2"/>
            </a:solidFill>
            <a:prstDash val="solid"/>
          </a:ln>
        </p:spPr>
      </p:sp>
      <p:sp>
        <p:nvSpPr>
          <p:cNvPr id="18" name="Text 15"/>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Ambient-RNA removal: decontX — Yang et al., Genome Biol. 2020.    Source attribution is a lead, not a closed verdict.</a:t>
            </a:r>
            <a:endParaRPr lang="en-US" sz="1000" dirty="0"/>
          </a:p>
        </p:txBody>
      </p:sp>
      <p:sp>
        <p:nvSpPr>
          <p:cNvPr id="19" name="Text 1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0" name="Text 1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Shape 2"/>
          <p:cNvSpPr/>
          <p:nvPr/>
        </p:nvSpPr>
        <p:spPr>
          <a:xfrm>
            <a:off x="777240" y="457200"/>
            <a:ext cx="146304" cy="237744"/>
          </a:xfrm>
          <a:prstGeom prst="rect">
            <a:avLst/>
          </a:prstGeom>
          <a:solidFill>
            <a:srgbClr val="C0561B"/>
          </a:solidFill>
          <a:ln/>
        </p:spPr>
      </p:sp>
      <p:sp>
        <p:nvSpPr>
          <p:cNvPr id="5" name="Text 3"/>
          <p:cNvSpPr/>
          <p:nvPr/>
        </p:nvSpPr>
        <p:spPr>
          <a:xfrm>
            <a:off x="987552" y="420624"/>
            <a:ext cx="10515600" cy="365760"/>
          </a:xfrm>
          <a:prstGeom prst="rect">
            <a:avLst/>
          </a:prstGeom>
          <a:noFill/>
          <a:ln/>
        </p:spPr>
        <p:txBody>
          <a:bodyPr wrap="square" rtlCol="0" anchor="ctr"/>
          <a:lstStyle/>
          <a:p>
            <a:pPr algn="l" indent="0" marL="0">
              <a:buNone/>
            </a:pPr>
            <a:r>
              <a:rPr lang="en-US" sz="1400" b="1" spc="300" kern="0" dirty="0">
                <a:solidFill>
                  <a:srgbClr val="C0561B"/>
                </a:solidFill>
              </a:rPr>
              <a:t>CONCLUSION</a:t>
            </a:r>
            <a:endParaRPr lang="en-US" sz="1400" dirty="0"/>
          </a:p>
        </p:txBody>
      </p:sp>
      <p:sp>
        <p:nvSpPr>
          <p:cNvPr id="6" name="Text 4"/>
          <p:cNvSpPr/>
          <p:nvPr/>
        </p:nvSpPr>
        <p:spPr>
          <a:xfrm>
            <a:off x="777240" y="777240"/>
            <a:ext cx="10789920" cy="731520"/>
          </a:xfrm>
          <a:prstGeom prst="rect">
            <a:avLst/>
          </a:prstGeom>
          <a:noFill/>
          <a:ln/>
        </p:spPr>
        <p:txBody>
          <a:bodyPr wrap="square" rtlCol="0" anchor="ctr"/>
          <a:lstStyle/>
          <a:p>
            <a:pPr algn="l" indent="0" marL="0">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783080"/>
            <a:ext cx="1051560" cy="640080"/>
          </a:xfrm>
          <a:prstGeom prst="rect">
            <a:avLst/>
          </a:prstGeom>
          <a:noFill/>
          <a:ln/>
        </p:spPr>
        <p:txBody>
          <a:bodyPr wrap="square" lIns="0" tIns="0" rIns="0" bIns="0" rtlCol="0" anchor="t"/>
          <a:lstStyle/>
          <a:p>
            <a:pPr algn="l" indent="0" marL="0">
              <a:buNone/>
            </a:pPr>
            <a:r>
              <a:rPr lang="en-US" sz="3400" b="1" dirty="0">
                <a:solidFill>
                  <a:srgbClr val="C0561B"/>
                </a:solidFill>
                <a:latin typeface="Georgia" pitchFamily="34" charset="0"/>
                <a:ea typeface="Georgia" pitchFamily="34" charset="-122"/>
                <a:cs typeface="Georgia" pitchFamily="34" charset="-120"/>
              </a:rPr>
              <a:t>01</a:t>
            </a:r>
            <a:endParaRPr lang="en-US" sz="3400" dirty="0"/>
          </a:p>
        </p:txBody>
      </p:sp>
      <p:sp>
        <p:nvSpPr>
          <p:cNvPr id="8" name="Text 6"/>
          <p:cNvSpPr/>
          <p:nvPr/>
        </p:nvSpPr>
        <p:spPr>
          <a:xfrm>
            <a:off x="2011680" y="1801368"/>
            <a:ext cx="9601200" cy="411480"/>
          </a:xfrm>
          <a:prstGeom prst="rect">
            <a:avLst/>
          </a:prstGeom>
          <a:noFill/>
          <a:ln/>
        </p:spPr>
        <p:txBody>
          <a:bodyPr wrap="square" lIns="0" tIns="0" rIns="0" bIns="0" rtlCol="0" anchor="t"/>
          <a:lstStyle/>
          <a:p>
            <a:pPr algn="l" indent="0" marL="0">
              <a:buNone/>
            </a:pPr>
            <a:r>
              <a:rPr lang="en-US" sz="2100" b="1" dirty="0">
                <a:solidFill>
                  <a:srgbClr val="FFFFFF"/>
                </a:solidFill>
                <a:latin typeface="Georgia" pitchFamily="34" charset="0"/>
                <a:ea typeface="Georgia" pitchFamily="34" charset="-122"/>
                <a:cs typeface="Georgia" pitchFamily="34" charset="-120"/>
              </a:rPr>
              <a:t>Cells keep their zonal identity</a:t>
            </a:r>
            <a:endParaRPr lang="en-US" sz="2100" dirty="0"/>
          </a:p>
        </p:txBody>
      </p:sp>
      <p:sp>
        <p:nvSpPr>
          <p:cNvPr id="9" name="Text 7"/>
          <p:cNvSpPr/>
          <p:nvPr/>
        </p:nvSpPr>
        <p:spPr>
          <a:xfrm>
            <a:off x="2029968" y="2240280"/>
            <a:ext cx="9509760" cy="457200"/>
          </a:xfrm>
          <a:prstGeom prst="rect">
            <a:avLst/>
          </a:prstGeom>
          <a:noFill/>
          <a:ln/>
        </p:spPr>
        <p:txBody>
          <a:bodyPr wrap="square" lIns="0" tIns="0" rIns="0" bIns="0" rtlCol="0" anchor="t"/>
          <a:lstStyle/>
          <a:p>
            <a:pPr algn="l" indent="0" marL="0">
              <a:buNone/>
            </a:pPr>
            <a:r>
              <a:rPr lang="en-US" sz="1450" dirty="0">
                <a:solidFill>
                  <a:srgbClr val="C9D6D3"/>
                </a:solidFill>
              </a:rPr>
              <a:t>No transcriptional de-zonation signal: every count route — depletion, co-expression, turn-off, composition — is flat, and the gradient holds its shape.</a:t>
            </a:r>
            <a:endParaRPr lang="en-US" sz="1450" dirty="0"/>
          </a:p>
        </p:txBody>
      </p:sp>
      <p:sp>
        <p:nvSpPr>
          <p:cNvPr id="10" name="Text 8"/>
          <p:cNvSpPr/>
          <p:nvPr/>
        </p:nvSpPr>
        <p:spPr>
          <a:xfrm>
            <a:off x="841248" y="2697480"/>
            <a:ext cx="1051560" cy="640080"/>
          </a:xfrm>
          <a:prstGeom prst="rect">
            <a:avLst/>
          </a:prstGeom>
          <a:noFill/>
          <a:ln/>
        </p:spPr>
        <p:txBody>
          <a:bodyPr wrap="square" lIns="0" tIns="0" rIns="0" bIns="0" rtlCol="0" anchor="t"/>
          <a:lstStyle/>
          <a:p>
            <a:pPr algn="l" indent="0" marL="0">
              <a:buNone/>
            </a:pPr>
            <a:r>
              <a:rPr lang="en-US" sz="3400" b="1" dirty="0">
                <a:solidFill>
                  <a:srgbClr val="C0561B"/>
                </a:solidFill>
                <a:latin typeface="Georgia" pitchFamily="34" charset="0"/>
                <a:ea typeface="Georgia" pitchFamily="34" charset="-122"/>
                <a:cs typeface="Georgia" pitchFamily="34" charset="-120"/>
              </a:rPr>
              <a:t>02</a:t>
            </a:r>
            <a:endParaRPr lang="en-US" sz="3400" dirty="0"/>
          </a:p>
        </p:txBody>
      </p:sp>
      <p:sp>
        <p:nvSpPr>
          <p:cNvPr id="11" name="Text 9"/>
          <p:cNvSpPr/>
          <p:nvPr/>
        </p:nvSpPr>
        <p:spPr>
          <a:xfrm>
            <a:off x="2011680" y="2715768"/>
            <a:ext cx="9601200" cy="411480"/>
          </a:xfrm>
          <a:prstGeom prst="rect">
            <a:avLst/>
          </a:prstGeom>
          <a:noFill/>
          <a:ln/>
        </p:spPr>
        <p:txBody>
          <a:bodyPr wrap="square" lIns="0" tIns="0" rIns="0" bIns="0" rtlCol="0" anchor="t"/>
          <a:lstStyle/>
          <a:p>
            <a:pPr algn="l" indent="0" marL="0">
              <a:buNone/>
            </a:pPr>
            <a:r>
              <a:rPr lang="en-US" sz="2100" b="1" dirty="0">
                <a:solidFill>
                  <a:srgbClr val="FFFFFF"/>
                </a:solidFill>
                <a:latin typeface="Georgia" pitchFamily="34" charset="0"/>
                <a:ea typeface="Georgia" pitchFamily="34" charset="-122"/>
                <a:cs typeface="Georgia" pitchFamily="34" charset="-120"/>
              </a:rPr>
              <a:t>The dramatic trajectory is confounded by acquisition</a:t>
            </a:r>
            <a:endParaRPr lang="en-US" sz="2100" dirty="0"/>
          </a:p>
        </p:txBody>
      </p:sp>
      <p:sp>
        <p:nvSpPr>
          <p:cNvPr id="12" name="Text 10"/>
          <p:cNvSpPr/>
          <p:nvPr/>
        </p:nvSpPr>
        <p:spPr>
          <a:xfrm>
            <a:off x="2029968" y="3154680"/>
            <a:ext cx="9509760" cy="457200"/>
          </a:xfrm>
          <a:prstGeom prst="rect">
            <a:avLst/>
          </a:prstGeom>
          <a:noFill/>
          <a:ln/>
        </p:spPr>
        <p:txBody>
          <a:bodyPr wrap="square" lIns="0" tIns="0" rIns="0" bIns="0" rtlCol="0" anchor="t"/>
          <a:lstStyle/>
          <a:p>
            <a:pPr algn="l" indent="0" marL="0">
              <a:buNone/>
            </a:pPr>
            <a:r>
              <a:rPr lang="en-US" sz="1450" dirty="0">
                <a:solidFill>
                  <a:srgbClr val="C9D6D3"/>
                </a:solidFill>
              </a:rPr>
              <a:t>Healthy and end-stage are deceased-donor cubes and explants; the “progression” tracks how the tissue was taken.</a:t>
            </a:r>
            <a:endParaRPr lang="en-US" sz="1450" dirty="0"/>
          </a:p>
        </p:txBody>
      </p:sp>
      <p:sp>
        <p:nvSpPr>
          <p:cNvPr id="13" name="Text 11"/>
          <p:cNvSpPr/>
          <p:nvPr/>
        </p:nvSpPr>
        <p:spPr>
          <a:xfrm>
            <a:off x="841248" y="3611880"/>
            <a:ext cx="1051560" cy="640080"/>
          </a:xfrm>
          <a:prstGeom prst="rect">
            <a:avLst/>
          </a:prstGeom>
          <a:noFill/>
          <a:ln/>
        </p:spPr>
        <p:txBody>
          <a:bodyPr wrap="square" lIns="0" tIns="0" rIns="0" bIns="0" rtlCol="0" anchor="t"/>
          <a:lstStyle/>
          <a:p>
            <a:pPr algn="l" indent="0" marL="0">
              <a:buNone/>
            </a:pPr>
            <a:r>
              <a:rPr lang="en-US" sz="3400" b="1" dirty="0">
                <a:solidFill>
                  <a:srgbClr val="C0561B"/>
                </a:solidFill>
                <a:latin typeface="Georgia" pitchFamily="34" charset="0"/>
                <a:ea typeface="Georgia" pitchFamily="34" charset="-122"/>
                <a:cs typeface="Georgia" pitchFamily="34" charset="-120"/>
              </a:rPr>
              <a:t>03</a:t>
            </a:r>
            <a:endParaRPr lang="en-US" sz="3400" dirty="0"/>
          </a:p>
        </p:txBody>
      </p:sp>
      <p:sp>
        <p:nvSpPr>
          <p:cNvPr id="14" name="Text 12"/>
          <p:cNvSpPr/>
          <p:nvPr/>
        </p:nvSpPr>
        <p:spPr>
          <a:xfrm>
            <a:off x="2011680" y="3630168"/>
            <a:ext cx="9601200" cy="411480"/>
          </a:xfrm>
          <a:prstGeom prst="rect">
            <a:avLst/>
          </a:prstGeom>
          <a:noFill/>
          <a:ln/>
        </p:spPr>
        <p:txBody>
          <a:bodyPr wrap="square" lIns="0" tIns="0" rIns="0" bIns="0" rtlCol="0" anchor="t"/>
          <a:lstStyle/>
          <a:p>
            <a:pPr algn="l" indent="0" marL="0">
              <a:buNone/>
            </a:pPr>
            <a:r>
              <a:rPr lang="en-US" sz="2100" b="1" dirty="0">
                <a:solidFill>
                  <a:srgbClr val="FFFFFF"/>
                </a:solidFill>
                <a:latin typeface="Georgia" pitchFamily="34" charset="0"/>
                <a:ea typeface="Georgia" pitchFamily="34" charset="-122"/>
                <a:cs typeface="Georgia" pitchFamily="34" charset="-120"/>
              </a:rPr>
              <a:t>One real change: the pericentral detox program dims</a:t>
            </a:r>
            <a:endParaRPr lang="en-US" sz="2100" dirty="0"/>
          </a:p>
        </p:txBody>
      </p:sp>
      <p:sp>
        <p:nvSpPr>
          <p:cNvPr id="15" name="Text 13"/>
          <p:cNvSpPr/>
          <p:nvPr/>
        </p:nvSpPr>
        <p:spPr>
          <a:xfrm>
            <a:off x="2029968" y="4069080"/>
            <a:ext cx="9509760" cy="457200"/>
          </a:xfrm>
          <a:prstGeom prst="rect">
            <a:avLst/>
          </a:prstGeom>
          <a:noFill/>
          <a:ln/>
        </p:spPr>
        <p:txBody>
          <a:bodyPr wrap="square" lIns="0" tIns="0" rIns="0" bIns="0" rtlCol="0" anchor="t"/>
          <a:lstStyle/>
          <a:p>
            <a:pPr algn="l" indent="0" marL="0">
              <a:buNone/>
            </a:pPr>
            <a:r>
              <a:rPr lang="en-US" sz="1450" dirty="0">
                <a:solidFill>
                  <a:srgbClr val="C9D6D3"/>
                </a:solidFill>
              </a:rPr>
              <a:t>Cells stay put, but the detox program’s level drops with fibrosis — caught only by gene-set + per-cell tests. The biliary signal is a separate compositional lead.</a:t>
            </a:r>
            <a:endParaRPr lang="en-US" sz="1450" dirty="0"/>
          </a:p>
        </p:txBody>
      </p:sp>
      <p:sp>
        <p:nvSpPr>
          <p:cNvPr id="16" name="Shape 14"/>
          <p:cNvSpPr/>
          <p:nvPr/>
        </p:nvSpPr>
        <p:spPr>
          <a:xfrm>
            <a:off x="2029968" y="4572000"/>
            <a:ext cx="9418320" cy="0"/>
          </a:xfrm>
          <a:prstGeom prst="line">
            <a:avLst/>
          </a:prstGeom>
          <a:noFill/>
          <a:ln w="12700">
            <a:solidFill>
              <a:srgbClr val="2E4A4D"/>
            </a:solidFill>
            <a:prstDash val="solid"/>
          </a:ln>
        </p:spPr>
      </p:sp>
      <p:sp>
        <p:nvSpPr>
          <p:cNvPr id="17" name="Text 15"/>
          <p:cNvSpPr/>
          <p:nvPr/>
        </p:nvSpPr>
        <p:spPr>
          <a:xfrm>
            <a:off x="841248" y="4754880"/>
            <a:ext cx="10881360" cy="457200"/>
          </a:xfrm>
          <a:prstGeom prst="rect">
            <a:avLst/>
          </a:prstGeom>
          <a:noFill/>
          <a:ln/>
        </p:spPr>
        <p:txBody>
          <a:bodyPr wrap="square" rtlCol="0" anchor="t"/>
          <a:lstStyle/>
          <a:p>
            <a:pPr algn="l" indent="0" marL="0">
              <a:buNone/>
            </a:pPr>
            <a:r>
              <a:rPr lang="en-US" sz="1600" b="1" i="1" dirty="0">
                <a:solidFill>
                  <a:srgbClr val="FFFFFF"/>
                </a:solidFill>
              </a:rPr>
              <a:t>We correct one evidence leg</a:t>
            </a:r>
            <a:pPr algn="l" indent="0" marL="0">
              <a:buNone/>
            </a:pPr>
            <a:r>
              <a:rPr lang="en-US" sz="1600" i="1" dirty="0">
                <a:solidFill>
                  <a:srgbClr val="C9D6D3"/>
                </a:solidFill>
              </a:rPr>
              <a:t> — the snRNA marker-correlation. The paper’s imaging and protein staining are untouched.</a:t>
            </a:r>
            <a:endParaRPr lang="en-US" sz="1600" dirty="0"/>
          </a:p>
        </p:txBody>
      </p:sp>
      <p:sp>
        <p:nvSpPr>
          <p:cNvPr id="18" name="Text 16"/>
          <p:cNvSpPr/>
          <p:nvPr/>
        </p:nvSpPr>
        <p:spPr>
          <a:xfrm>
            <a:off x="841248" y="5897880"/>
            <a:ext cx="10881360" cy="365760"/>
          </a:xfrm>
          <a:prstGeom prst="rect">
            <a:avLst/>
          </a:prstGeom>
          <a:noFill/>
          <a:ln/>
        </p:spPr>
        <p:txBody>
          <a:bodyPr wrap="square" rtlCol="0" anchor="t"/>
          <a:lstStyle/>
          <a:p>
            <a:pPr algn="l" indent="0" marL="0">
              <a:buNone/>
            </a:pPr>
            <a:r>
              <a:rPr lang="en-US" sz="1250" dirty="0">
                <a:solidFill>
                  <a:srgbClr val="8FA3A0"/>
                </a:solidFill>
              </a:rPr>
              <a:t>Scope — a “PC-like program,” not lobular location; a weak coordinated gene-set program is not excluded; F4 is only 4 donors.</a:t>
            </a:r>
            <a:endParaRPr lang="en-US" sz="1250" dirty="0"/>
          </a:p>
        </p:txBody>
      </p:sp>
      <p:sp>
        <p:nvSpPr>
          <p:cNvPr id="19" name="Text 1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0" name="Text 1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We re-tested only the snRNA-seq transcriptional zonation/plasticity evidence.</a:t>
            </a:r>
            <a:endParaRPr lang="en-US" sz="2000" dirty="0"/>
          </a:p>
          <a:p>
            <a:pPr algn="l" marL="342900" indent="-342900">
              <a:spcAft>
                <a:spcPts val="900"/>
              </a:spcAft>
              <a:buSzPct val="100000"/>
              <a:buChar char="•"/>
            </a:pPr>
            <a:r>
              <a:rPr lang="en-US" sz="2000" dirty="0">
                <a:solidFill>
                  <a:srgbClr val="1B2B31"/>
                </a:solidFill>
              </a:rPr>
              <a:t>We did NOT test imaging, protein staining, organoids, or 3D architecture.</a:t>
            </a:r>
            <a:endParaRPr lang="en-US" sz="2000" dirty="0"/>
          </a:p>
          <a:p>
            <a:pPr algn="l" marL="342900" indent="-342900">
              <a:spcAft>
                <a:spcPts val="900"/>
              </a:spcAft>
              <a:buSzPct val="100000"/>
              <a:buChar char="•"/>
            </a:pPr>
            <a:r>
              <a:rPr lang="en-US" sz="2000" dirty="0">
                <a:solidFill>
                  <a:srgbClr val="1B2B31"/>
                </a:solidFill>
              </a:rPr>
              <a:t>Claim: matched biopsy transcriptomes do not show progressive zonation loss.</a:t>
            </a:r>
            <a:endParaRPr lang="en-US" sz="2000" dirty="0"/>
          </a:p>
          <a:p>
            <a:pPr algn="l" marL="342900" indent="-342900">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Null and the PP : PC ratio are flat too</a:t>
            </a:r>
            <a:endParaRPr lang="en-US" sz="2600" dirty="0"/>
          </a:p>
        </p:txBody>
      </p:sp>
      <p:pic>
        <p:nvPicPr>
          <p:cNvPr id="5" name="Image 0" descr="D:\CS\Genomics\Hackathon\presentation/assets/fig_secondary.png">    </p:cNvPr>
          <p:cNvPicPr>
            <a:picLocks noChangeAspect="1"/>
          </p:cNvPicPr>
          <p:nvPr/>
        </p:nvPicPr>
        <p:blipFill>
          <a:blip r:embed="rId1"/>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6.  Null (double-negative) fraction and the periportal : pericentral anchor ratio across biopsy F1–F4 (box = per-donor spread; each point = one donor).</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algn="l" indent="0" marL="0">
              <a:buNone/>
            </a:pPr>
            <a:r>
              <a:rPr lang="en-US" sz="1350" b="1" dirty="0">
                <a:solidFill>
                  <a:srgbClr val="475569"/>
                </a:solidFill>
              </a:rPr>
              <a:t>Null (double-negative): </a:t>
            </a:r>
            <a:pPr algn="l" indent="0" marL="0">
              <a:buNone/>
            </a:pPr>
            <a:r>
              <a:rPr lang="en-US" sz="1350" dirty="0">
                <a:solidFill>
                  <a:srgbClr val="1B2B31"/>
                </a:solidFill>
              </a:rPr>
              <a:t>≈ 44 / 36 / 39 / 39% — no rise across stages.
</a:t>
            </a:r>
            <a:endParaRPr lang="en-US" sz="1350" dirty="0"/>
          </a:p>
          <a:p>
            <a:pPr algn="l" indent="0" marL="0">
              <a:buNone/>
            </a:pPr>
            <a:r>
              <a:rPr lang="en-US" sz="1350" b="1" dirty="0">
                <a:solidFill>
                  <a:srgbClr val="7C3AED"/>
                </a:solidFill>
              </a:rPr>
              <a:t>PP : PC ratio: </a:t>
            </a:r>
            <a:pPr algn="l" indent="0" marL="0">
              <a:buNone/>
            </a:pPr>
            <a:r>
              <a:rPr lang="en-US" sz="1350" dirty="0">
                <a:solidFill>
                  <a:srgbClr val="1B2B31"/>
                </a:solidFill>
              </a:rPr>
              <a:t>≈ 1.16 / 1.01 / 1.10 / 1.18 — hovers around the balanced 1 : 1 line.
</a:t>
            </a:r>
            <a:endParaRPr lang="en-US" sz="1350" dirty="0"/>
          </a:p>
          <a:p>
            <a:pPr algn="l" indent="0" marL="0">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r>
          <p:cNvPicPr>
            <a:picLocks noChangeAspect="1"/>
          </p:cNvPicPr>
          <p:nvPr/>
        </p:nvPicPr>
        <p:blipFill>
          <a:blip r:embed="rId1"/>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7.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algn="l" indent="0" marL="0">
              <a:buNone/>
            </a:pPr>
            <a:r>
              <a:rPr lang="en-US" sz="1800" b="1" dirty="0">
                <a:solidFill>
                  <a:srgbClr val="1B2B31"/>
                </a:solidFill>
              </a:rPr>
              <a:t>Detection matches across all three lobes.
</a:t>
            </a:r>
            <a:endParaRPr lang="en-US" sz="1800" dirty="0"/>
          </a:p>
          <a:p>
            <a:pPr algn="l" indent="0" marL="0">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Five organs, five phenotypes</a:t>
            </a:r>
            <a:endParaRPr lang="en-US" sz="2600" dirty="0"/>
          </a:p>
        </p:txBody>
      </p:sp>
      <p:pic>
        <p:nvPicPr>
          <p:cNvPr id="5" name="Image 0" descr="D:\CS\Genomics\Hackathon\presentation/assets/fig_explant.png">    </p:cNvPr>
          <p:cNvPicPr>
            <a:picLocks noChangeAspect="1"/>
          </p:cNvPicPr>
          <p:nvPr/>
        </p:nvPicPr>
        <p:blipFill>
          <a:blip r:embed="rId1"/>
          <a:stretch>
            <a:fillRect/>
          </a:stretch>
        </p:blipFill>
        <p:spPr>
          <a:xfrm>
            <a:off x="731520" y="1371600"/>
            <a:ext cx="7498080" cy="3916062"/>
          </a:xfrm>
          <a:prstGeom prst="rect">
            <a:avLst/>
          </a:prstGeom>
        </p:spPr>
      </p:pic>
      <p:sp>
        <p:nvSpPr>
          <p:cNvPr id="6" name="Text 3"/>
          <p:cNvSpPr/>
          <p:nvPr/>
        </p:nvSpPr>
        <p:spPr>
          <a:xfrm>
            <a:off x="731520" y="5943600"/>
            <a:ext cx="74980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8.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algn="l" indent="0" marL="0">
              <a:buNone/>
            </a:pPr>
            <a:r>
              <a:rPr lang="en-US" sz="1700" b="1" dirty="0">
                <a:solidFill>
                  <a:srgbClr val="1B2B31"/>
                </a:solidFill>
              </a:rPr>
              <a:t>PC-anchor 3% → 50%;  PP:PC 0.13 → 20.
</a:t>
            </a:r>
            <a:endParaRPr lang="en-US" sz="1700" dirty="0"/>
          </a:p>
          <a:p>
            <a:pPr algn="l" indent="0" marL="0">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r>
          <p:cNvPicPr>
            <a:picLocks noChangeAspect="1"/>
          </p:cNvPicPr>
          <p:nvPr/>
        </p:nvPicPr>
        <p:blipFill>
          <a:blip r:embed="rId1"/>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9.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algn="l" indent="0" marL="0">
              <a:buNone/>
            </a:pPr>
            <a:r>
              <a:rPr lang="en-US" sz="1600" b="1" dirty="0">
                <a:solidFill>
                  <a:srgbClr val="1B2B31"/>
                </a:solidFill>
              </a:rPr>
              <a:t>Stable across every variant:
</a:t>
            </a:r>
            <a:endParaRPr lang="en-US" sz="1600" dirty="0"/>
          </a:p>
          <a:p>
            <a:pPr algn="l" indent="0" marL="0">
              <a:buNone/>
            </a:pPr>
            <a:r>
              <a:rPr lang="en-US" sz="1600" dirty="0">
                <a:solidFill>
                  <a:srgbClr val="1B2B31"/>
                </a:solidFill>
              </a:rPr>
              <a:t>anchor genes, periportal rule, ALDOB in/out, CPS1-based, 1 vs 2 UMI.
</a:t>
            </a:r>
            <a:endParaRPr lang="en-US" sz="1600" dirty="0"/>
          </a:p>
          <a:p>
            <a:pPr algn="l" indent="0" marL="0">
              <a:buNone/>
            </a:pPr>
            <a:r>
              <a:rPr lang="en-US" sz="1600" b="1" dirty="0">
                <a:solidFill>
                  <a:srgbClr val="0D9488"/>
                </a:solidFill>
              </a:rPr>
              <a:t>No depletion · no dual rise · no turn-off — in all.
</a:t>
            </a:r>
            <a:endParaRPr lang="en-US" sz="1600" dirty="0"/>
          </a:p>
          <a:p>
            <a:pPr algn="l" indent="0" marL="0">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gridCol w="6035040"/>
                <a:gridCol w="2651760"/>
              </a:tblGrid>
              <a:tr h="384048">
                <a:tc>
                  <a:txBody>
                    <a:bodyPr/>
                    <a:lstStyle/>
                    <a:p>
                      <a:pPr algn="l" indent="0" marL="0">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corr( ALB burden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algn="l" marL="342900" indent="-342900">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algn="l" marL="342900" indent="-342900">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algn="l" marL="342900" indent="-342900">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decontX models a native + ambient RNA mixture and subtracts the estimate.</a:t>
            </a:r>
            <a:endParaRPr lang="en-US" sz="2000" dirty="0"/>
          </a:p>
          <a:p>
            <a:pPr algn="l" marL="342900" indent="-342900">
              <a:spcAft>
                <a:spcPts val="900"/>
              </a:spcAft>
              <a:buSzPct val="100000"/>
              <a:buChar char="•"/>
            </a:pPr>
            <a:r>
              <a:rPr lang="en-US" sz="2000" dirty="0">
                <a:solidFill>
                  <a:srgbClr val="1B2B31"/>
                </a:solidFill>
              </a:rPr>
              <a:t>Hits 64 → 34; SOX4/SOX9 drop below significance → supports an ambient contribution.</a:t>
            </a:r>
            <a:endParaRPr lang="en-US" sz="2000" dirty="0"/>
          </a:p>
          <a:p>
            <a:pPr algn="l" marL="342900" indent="-342900">
              <a:spcAft>
                <a:spcPts val="900"/>
              </a:spcAft>
              <a:buSzPct val="100000"/>
              <a:buChar char="•"/>
            </a:pPr>
            <a:r>
              <a:rPr lang="en-US" sz="2000" dirty="0">
                <a:solidFill>
                  <a:srgbClr val="1B2B31"/>
                </a:solidFill>
              </a:rPr>
              <a:t>But it can remove true hybrid signal OR leave residual contamination.</a:t>
            </a:r>
            <a:endParaRPr lang="en-US" sz="2000" dirty="0"/>
          </a:p>
          <a:p>
            <a:pPr algn="l" marL="342900" indent="-342900">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gridCol w="3931920"/>
                <a:gridCol w="640080"/>
                <a:gridCol w="731520"/>
                <a:gridCol w="3383280"/>
              </a:tblGrid>
              <a:tr h="365760">
                <a:tc>
                  <a:txBody>
                    <a:bodyPr/>
                    <a:lstStyle/>
                    <a:p>
                      <a:pPr algn="l" indent="0" marL="0">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algn="l" indent="0" marL="0">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algn="l" indent="0" marL="0">
              <a:spcAft>
                <a:spcPts val="900"/>
              </a:spcAft>
              <a:buNone/>
            </a:pPr>
            <a:r>
              <a:rPr lang="en-US" sz="1600" b="1" dirty="0">
                <a:solidFill>
                  <a:srgbClr val="1B2B31"/>
                </a:solidFill>
              </a:rPr>
              <a:t>Pseudobulk  </a:t>
            </a:r>
            <a:pPr algn="l" indent="0" marL="0">
              <a:spcAft>
                <a:spcPts val="900"/>
              </a:spcAft>
              <a:buNone/>
            </a:pPr>
            <a:r>
              <a:rPr lang="en-US" sz="1600" dirty="0">
                <a:solidFill>
                  <a:srgbClr val="1B2B31"/>
                </a:solidFill>
              </a:rPr>
              <a:t>— sum each donor’s hepatocyte counts into one profile per donor (donor = unit of inference).
</a:t>
            </a:r>
            <a:endParaRPr lang="en-US" sz="1600" dirty="0"/>
          </a:p>
          <a:p>
            <a:pPr algn="l" indent="0" marL="0">
              <a:spcAft>
                <a:spcPts val="900"/>
              </a:spcAft>
              <a:buNone/>
            </a:pPr>
            <a:r>
              <a:rPr lang="en-US" sz="1600" b="1" dirty="0">
                <a:solidFill>
                  <a:srgbClr val="1B2B31"/>
                </a:solidFill>
              </a:rPr>
              <a:t>CPM  </a:t>
            </a:r>
            <a:pPr algn="l" indent="0" marL="0">
              <a:spcAft>
                <a:spcPts val="900"/>
              </a:spcAft>
              <a:buNone/>
            </a:pPr>
            <a:r>
              <a:rPr lang="en-US" sz="1600" dirty="0">
                <a:solidFill>
                  <a:srgbClr val="1B2B31"/>
                </a:solidFill>
              </a:rPr>
              <a:t>— each gene as a share of the donor’s total counts; simple, but compositional (a few surging genes shrink everyone else’s share).
</a:t>
            </a:r>
            <a:endParaRPr lang="en-US" sz="1600" dirty="0"/>
          </a:p>
          <a:p>
            <a:pPr algn="l" indent="0" marL="0">
              <a:spcAft>
                <a:spcPts val="900"/>
              </a:spcAft>
              <a:buNone/>
            </a:pPr>
            <a:r>
              <a:rPr lang="en-US" sz="1600" b="1" dirty="0">
                <a:solidFill>
                  <a:srgbClr val="0D9488"/>
                </a:solidFill>
              </a:rPr>
              <a:t>TMM  </a:t>
            </a:r>
            <a:pPr algn="l" indent="0" marL="0">
              <a:spcAft>
                <a:spcPts val="900"/>
              </a:spcAft>
              <a:buNone/>
            </a:pPr>
            <a:r>
              <a:rPr lang="en-US" sz="1600" dirty="0">
                <a:solidFill>
                  <a:srgbClr val="1B2B31"/>
                </a:solidFill>
              </a:rPr>
              <a:t>— the scaling factor is taken from the bulk of genes after trimming the extreme movers, so surging genes can’t set it → composition-robust.
</a:t>
            </a:r>
            <a:endParaRPr lang="en-US" sz="1600" dirty="0"/>
          </a:p>
          <a:p>
            <a:pPr algn="l" indent="0" marL="0">
              <a:spcAft>
                <a:spcPts val="900"/>
              </a:spcAft>
              <a:buNone/>
            </a:pPr>
            <a:r>
              <a:rPr lang="en-US" sz="1600" b="1" dirty="0">
                <a:solidFill>
                  <a:srgbClr val="1B2B31"/>
                </a:solidFill>
              </a:rPr>
              <a:t>Per-gene DGE  </a:t>
            </a:r>
            <a:pPr algn="l" indent="0" marL="0">
              <a:spcAft>
                <a:spcPts val="900"/>
              </a:spcAft>
              <a:buNone/>
            </a:pPr>
            <a:r>
              <a:rPr lang="en-US" sz="1600" dirty="0">
                <a:solidFill>
                  <a:srgbClr val="1B2B31"/>
                </a:solidFill>
              </a:rPr>
              <a:t>— test each gene on its own for a fibrosis trend (edgeR); misses a weak shift shared by many genes.
</a:t>
            </a:r>
            <a:endParaRPr lang="en-US" sz="1600" dirty="0"/>
          </a:p>
          <a:p>
            <a:pPr algn="l" indent="0" marL="0">
              <a:spcAft>
                <a:spcPts val="900"/>
              </a:spcAft>
              <a:buNone/>
            </a:pPr>
            <a:r>
              <a:rPr lang="en-US" sz="1600" b="1" dirty="0">
                <a:solidFill>
                  <a:srgbClr val="C0561B"/>
                </a:solidFill>
              </a:rPr>
              <a:t>Gene-set test  </a:t>
            </a:r>
            <a:pPr algn="l" indent="0" marL="0">
              <a:spcAft>
                <a:spcPts val="900"/>
              </a:spcAft>
              <a:buNone/>
            </a:pP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algn="l" indent="0" marL="0">
              <a:spcAft>
                <a:spcPts val="900"/>
              </a:spcAft>
              <a:buNone/>
            </a:pPr>
            <a:r>
              <a:rPr lang="en-US" sz="1600" b="1" dirty="0">
                <a:solidFill>
                  <a:srgbClr val="0D9488"/>
                </a:solidFill>
              </a:rPr>
              <a:t>Within-PC burden  </a:t>
            </a:r>
            <a:pPr algn="l" indent="0" marL="0">
              <a:spcAft>
                <a:spcPts val="900"/>
              </a:spcAft>
              <a:buNone/>
            </a:pPr>
            <a:r>
              <a:rPr lang="en-US" sz="1600" dirty="0">
                <a:solidFill>
                  <a:srgbClr val="1B2B31"/>
                </a:solidFill>
              </a:rPr>
              <a:t>— count detox molecules per pericentral cell after equalizing read depth: per-cell, absolute, immune to composition.
</a:t>
            </a:r>
            <a:endParaRPr lang="en-US" sz="1600" dirty="0"/>
          </a:p>
          <a:p>
            <a:pPr algn="l" indent="0" marL="0">
              <a:spcAft>
                <a:spcPts val="900"/>
              </a:spcAft>
              <a:buNone/>
            </a:pPr>
            <a:r>
              <a:rPr lang="en-US" sz="1600" b="1" dirty="0">
                <a:solidFill>
                  <a:srgbClr val="1B2B31"/>
                </a:solidFill>
              </a:rPr>
              <a:t>Adversarial check  </a:t>
            </a:r>
            <a:pPr algn="l" indent="0" marL="0">
              <a:spcAft>
                <a:spcPts val="900"/>
              </a:spcAft>
              <a:buNone/>
            </a:pPr>
            <a:r>
              <a:rPr lang="en-US" sz="1600" dirty="0">
                <a:solidFill>
                  <a:srgbClr val="1B2B31"/>
                </a:solidFill>
              </a:rPr>
              <a:t>— redo with TMM, with ROAST, with the rising genes removed, and with the per-cell burden; all four agreed → the dimming is real.</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gridCol w="2697480"/>
                <a:gridCol w="3611880"/>
                <a:gridCol w="2377440"/>
              </a:tblGrid>
              <a:tr h="365760">
                <a:tc>
                  <a:txBody>
                    <a:bodyPr/>
                    <a:lstStyle/>
                    <a:p>
                      <a:pPr algn="l" indent="0" marL="0">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program burden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algn="l" indent="0" marL="0">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Shape 2"/>
          <p:cNvSpPr/>
          <p:nvPr/>
        </p:nvSpPr>
        <p:spPr>
          <a:xfrm>
            <a:off x="777240" y="457200"/>
            <a:ext cx="146304" cy="237744"/>
          </a:xfrm>
          <a:prstGeom prst="rect">
            <a:avLst/>
          </a:prstGeom>
          <a:solidFill>
            <a:srgbClr val="C0561B"/>
          </a:solidFill>
          <a:ln/>
        </p:spPr>
      </p:sp>
      <p:sp>
        <p:nvSpPr>
          <p:cNvPr id="5" name="Text 3"/>
          <p:cNvSpPr/>
          <p:nvPr/>
        </p:nvSpPr>
        <p:spPr>
          <a:xfrm>
            <a:off x="987552" y="420624"/>
            <a:ext cx="10515600" cy="365760"/>
          </a:xfrm>
          <a:prstGeom prst="rect">
            <a:avLst/>
          </a:prstGeom>
          <a:noFill/>
          <a:ln/>
        </p:spPr>
        <p:txBody>
          <a:bodyPr wrap="square" rtlCol="0" anchor="ctr"/>
          <a:lstStyle/>
          <a:p>
            <a:pPr algn="l" indent="0" marL="0">
              <a:buNone/>
            </a:pPr>
            <a:r>
              <a:rPr lang="en-US" sz="1400" b="1" spc="300" kern="0" dirty="0">
                <a:solidFill>
                  <a:srgbClr val="C0561B"/>
                </a:solidFill>
              </a:rPr>
              <a:t>BACKUP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algn="l" indent="0" marL="0">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8" name="Text 6"/>
          <p:cNvSpPr/>
          <p:nvPr/>
        </p:nvSpPr>
        <p:spPr>
          <a:xfrm>
            <a:off x="777240" y="1783080"/>
            <a:ext cx="3520440" cy="457200"/>
          </a:xfrm>
          <a:prstGeom prst="rect">
            <a:avLst/>
          </a:prstGeom>
          <a:noFill/>
          <a:ln/>
        </p:spPr>
        <p:txBody>
          <a:bodyPr wrap="square" rtlCol="0" anchor="ctr"/>
          <a:lstStyle/>
          <a:p>
            <a:pPr algn="ctr" indent="0" marL="0">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Full healthy→end-stage trajectory is source-confounded.</a:t>
            </a:r>
            <a:endParaRPr lang="en-US" sz="1450" dirty="0"/>
          </a:p>
          <a:p>
            <a:pPr algn="l" marL="342900" indent="-342900">
              <a:spcAft>
                <a:spcPts val="900"/>
              </a:spcAft>
              <a:buSzPct val="100000"/>
              <a:buChar char="•"/>
            </a:pPr>
            <a:r>
              <a:rPr lang="en-US" sz="1450" dirty="0">
                <a:solidFill>
                  <a:srgbClr val="E2E8F0"/>
                </a:solidFill>
              </a:rPr>
              <a:t>In biopsy F1–F4 cells keep zonal identity — no de-zonation (large shift excluded).</a:t>
            </a:r>
            <a:endParaRPr lang="en-US" sz="1450" dirty="0"/>
          </a:p>
          <a:p>
            <a:pPr algn="l" marL="342900" indent="-342900">
              <a:spcAft>
                <a:spcPts val="900"/>
              </a:spcAft>
              <a:buSzPct val="100000"/>
              <a:buChar char="•"/>
            </a:pPr>
            <a:r>
              <a:rPr lang="en-US" sz="1450" dirty="0">
                <a:solidFill>
                  <a:srgbClr val="E2E8F0"/>
                </a:solidFill>
              </a:rPr>
              <a:t>Two real biopsy-internal signals: a compositional biliary burden,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11" name="Text 9"/>
          <p:cNvSpPr/>
          <p:nvPr/>
        </p:nvSpPr>
        <p:spPr>
          <a:xfrm>
            <a:off x="4526280" y="1783080"/>
            <a:ext cx="3520440" cy="457200"/>
          </a:xfrm>
          <a:prstGeom prst="rect">
            <a:avLst/>
          </a:prstGeom>
          <a:noFill/>
          <a:ln/>
        </p:spPr>
        <p:txBody>
          <a:bodyPr wrap="square" rtlCol="0" anchor="ctr"/>
          <a:lstStyle/>
          <a:p>
            <a:pPr algn="ctr" indent="0" marL="0">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“PC-like program,” not lobular location — counts can’t see spatial position.</a:t>
            </a:r>
            <a:endParaRPr lang="en-US" sz="1450" dirty="0"/>
          </a:p>
          <a:p>
            <a:pPr algn="l" marL="342900" indent="-342900">
              <a:spcAft>
                <a:spcPts val="900"/>
              </a:spcAft>
              <a:buSzPct val="100000"/>
              <a:buChar char="•"/>
            </a:pPr>
            <a:r>
              <a:rPr lang="en-US" sz="1450" dirty="0">
                <a:solidFill>
                  <a:srgbClr val="E2E8F0"/>
                </a:solidFill>
              </a:rPr>
              <a:t>Imaging / protein / organoid evidence not re-analyzed.</a:t>
            </a:r>
            <a:endParaRPr lang="en-US" sz="1450" dirty="0"/>
          </a:p>
          <a:p>
            <a:pPr algn="l" marL="342900" indent="-342900">
              <a:spcAft>
                <a:spcPts val="900"/>
              </a:spcAft>
              <a:buSzPct val="100000"/>
              <a:buChar char="•"/>
            </a:pPr>
            <a:r>
              <a:rPr lang="en-US" sz="1450" dirty="0">
                <a:solidFill>
                  <a:srgbClr val="E2E8F0"/>
                </a:solidFill>
              </a:rPr>
              <a:t>F4 has only 4 biopsy donors.</a:t>
            </a:r>
            <a:endParaRPr lang="en-US" sz="1450" dirty="0"/>
          </a:p>
          <a:p>
            <a:pPr algn="l" marL="342900" indent="-342900">
              <a:spcAft>
                <a:spcPts val="900"/>
              </a:spcAft>
              <a:buSzPct val="100000"/>
              <a:buChar char="•"/>
            </a:pPr>
            <a:r>
              <a:rPr lang="en-US" sz="1450" dirty="0">
                <a:solidFill>
                  <a:srgbClr val="E2E8F0"/>
                </a:solidFill>
              </a:rPr>
              <a:t>Detox dimming: the self-contained test clears only the CYP core; the broader claim leans on the per-cell measure.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14" name="Text 12"/>
          <p:cNvSpPr/>
          <p:nvPr/>
        </p:nvSpPr>
        <p:spPr>
          <a:xfrm>
            <a:off x="8275320" y="1783080"/>
            <a:ext cx="3520440" cy="457200"/>
          </a:xfrm>
          <a:prstGeom prst="rect">
            <a:avLst/>
          </a:prstGeom>
          <a:noFill/>
          <a:ln/>
        </p:spPr>
        <p:txBody>
          <a:bodyPr wrap="square" rtlCol="0" anchor="ctr"/>
          <a:lstStyle/>
          <a:p>
            <a:pPr algn="ctr" indent="0" marL="0">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Spatial / independent-biopsy validation of the detox-dimming gradient.</a:t>
            </a:r>
            <a:endParaRPr lang="en-US" sz="1450" dirty="0"/>
          </a:p>
          <a:p>
            <a:pPr algn="l" marL="342900" indent="-342900">
              <a:spcAft>
                <a:spcPts val="900"/>
              </a:spcAft>
              <a:buSzPct val="100000"/>
              <a:buChar char="•"/>
            </a:pPr>
            <a:r>
              <a:rPr lang="en-US" sz="1450" dirty="0">
                <a:solidFill>
                  <a:srgbClr val="E2E8F0"/>
                </a:solidFill>
              </a:rPr>
              <a:t>Leave-one-F4-donor-out DGE.</a:t>
            </a:r>
            <a:endParaRPr lang="en-US" sz="1450" dirty="0"/>
          </a:p>
          <a:p>
            <a:pPr algn="l" marL="342900" indent="-342900">
              <a:spcAft>
                <a:spcPts val="900"/>
              </a:spcAft>
              <a:buSzPct val="100000"/>
              <a:buChar char="•"/>
            </a:pPr>
            <a:r>
              <a:rPr lang="en-US" sz="1450" dirty="0">
                <a:solidFill>
                  <a:srgbClr val="E2E8F0"/>
                </a:solidFill>
              </a:rPr>
              <a:t>Quantitative contamination model for the biliary lead.</a:t>
            </a:r>
            <a:endParaRPr lang="en-US" sz="1450" dirty="0"/>
          </a:p>
          <a:p>
            <a:pPr algn="l" marL="342900" indent="-342900">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 Shira Gelbstein</cp:lastModifiedBy>
  <cp:revision>1</cp:revision>
  <dcterms:created xsi:type="dcterms:W3CDTF">2026-06-24T15:53:42Z</dcterms:created>
  <dcterms:modified xsi:type="dcterms:W3CDTF">2026-06-24T15:53:42Z</dcterms:modified>
</cp:coreProperties>
</file>