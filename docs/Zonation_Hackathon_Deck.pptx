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GENOMICS 76553  ·  FINAL HACKATHON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Degradation of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Hepatocyte Zonation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E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 healthy spatial liver atlas to recover — and watch the collapse of — the lost spatial identity of diseased liver cells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800600"/>
            <a:ext cx="292608" cy="256032"/>
          </a:xfrm>
          <a:prstGeom prst="rect">
            <a:avLst/>
          </a:prstGeom>
          <a:solidFill>
            <a:srgbClr val="F6C453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4800600"/>
            <a:ext cx="292608" cy="256032"/>
          </a:xfrm>
          <a:prstGeom prst="rect">
            <a:avLst/>
          </a:prstGeom>
          <a:solidFill>
            <a:srgbClr val="EDC057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4800600"/>
            <a:ext cx="292608" cy="256032"/>
          </a:xfrm>
          <a:prstGeom prst="rect">
            <a:avLst/>
          </a:prstGeom>
          <a:solidFill>
            <a:srgbClr val="E4BD5B"/>
          </a:solidFill>
          <a:ln/>
        </p:spPr>
      </p:sp>
      <p:sp>
        <p:nvSpPr>
          <p:cNvPr id="8" name="Shape 6"/>
          <p:cNvSpPr/>
          <p:nvPr/>
        </p:nvSpPr>
        <p:spPr>
          <a:xfrm>
            <a:off x="1481328" y="4800600"/>
            <a:ext cx="292608" cy="256032"/>
          </a:xfrm>
          <a:prstGeom prst="rect">
            <a:avLst/>
          </a:prstGeom>
          <a:solidFill>
            <a:srgbClr val="DCB95F"/>
          </a:solidFill>
          <a:ln/>
        </p:spPr>
      </p:sp>
      <p:sp>
        <p:nvSpPr>
          <p:cNvPr id="9" name="Shape 7"/>
          <p:cNvSpPr/>
          <p:nvPr/>
        </p:nvSpPr>
        <p:spPr>
          <a:xfrm>
            <a:off x="1755648" y="4800600"/>
            <a:ext cx="292608" cy="256032"/>
          </a:xfrm>
          <a:prstGeom prst="rect">
            <a:avLst/>
          </a:prstGeom>
          <a:solidFill>
            <a:srgbClr val="D3B563"/>
          </a:solidFill>
          <a:ln/>
        </p:spPr>
      </p:sp>
      <p:sp>
        <p:nvSpPr>
          <p:cNvPr id="10" name="Shape 8"/>
          <p:cNvSpPr/>
          <p:nvPr/>
        </p:nvSpPr>
        <p:spPr>
          <a:xfrm>
            <a:off x="2029968" y="4800600"/>
            <a:ext cx="292608" cy="256032"/>
          </a:xfrm>
          <a:prstGeom prst="rect">
            <a:avLst/>
          </a:prstGeom>
          <a:solidFill>
            <a:srgbClr val="CAB267"/>
          </a:solidFill>
          <a:ln/>
        </p:spPr>
      </p:sp>
      <p:sp>
        <p:nvSpPr>
          <p:cNvPr id="11" name="Shape 9"/>
          <p:cNvSpPr/>
          <p:nvPr/>
        </p:nvSpPr>
        <p:spPr>
          <a:xfrm>
            <a:off x="2304288" y="4800600"/>
            <a:ext cx="292608" cy="256032"/>
          </a:xfrm>
          <a:prstGeom prst="rect">
            <a:avLst/>
          </a:prstGeom>
          <a:solidFill>
            <a:srgbClr val="C1AE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578608" y="4800600"/>
            <a:ext cx="292608" cy="256032"/>
          </a:xfrm>
          <a:prstGeom prst="rect">
            <a:avLst/>
          </a:prstGeom>
          <a:solidFill>
            <a:srgbClr val="B9AA6F"/>
          </a:solidFill>
          <a:ln/>
        </p:spPr>
      </p:sp>
      <p:sp>
        <p:nvSpPr>
          <p:cNvPr id="13" name="Shape 11"/>
          <p:cNvSpPr/>
          <p:nvPr/>
        </p:nvSpPr>
        <p:spPr>
          <a:xfrm>
            <a:off x="2852928" y="4800600"/>
            <a:ext cx="292608" cy="256032"/>
          </a:xfrm>
          <a:prstGeom prst="rect">
            <a:avLst/>
          </a:prstGeom>
          <a:solidFill>
            <a:srgbClr val="B0A673"/>
          </a:solidFill>
          <a:ln/>
        </p:spPr>
      </p:sp>
      <p:sp>
        <p:nvSpPr>
          <p:cNvPr id="14" name="Shape 12"/>
          <p:cNvSpPr/>
          <p:nvPr/>
        </p:nvSpPr>
        <p:spPr>
          <a:xfrm>
            <a:off x="3127248" y="4800600"/>
            <a:ext cx="292608" cy="256032"/>
          </a:xfrm>
          <a:prstGeom prst="rect">
            <a:avLst/>
          </a:prstGeom>
          <a:solidFill>
            <a:srgbClr val="A7A377"/>
          </a:solidFill>
          <a:ln/>
        </p:spPr>
      </p:sp>
      <p:sp>
        <p:nvSpPr>
          <p:cNvPr id="15" name="Shape 13"/>
          <p:cNvSpPr/>
          <p:nvPr/>
        </p:nvSpPr>
        <p:spPr>
          <a:xfrm>
            <a:off x="3401568" y="4800600"/>
            <a:ext cx="292608" cy="256032"/>
          </a:xfrm>
          <a:prstGeom prst="rect">
            <a:avLst/>
          </a:prstGeom>
          <a:solidFill>
            <a:srgbClr val="9E9F7B"/>
          </a:solidFill>
          <a:ln/>
        </p:spPr>
      </p:sp>
      <p:sp>
        <p:nvSpPr>
          <p:cNvPr id="16" name="Shape 14"/>
          <p:cNvSpPr/>
          <p:nvPr/>
        </p:nvSpPr>
        <p:spPr>
          <a:xfrm>
            <a:off x="3675888" y="4800600"/>
            <a:ext cx="292608" cy="256032"/>
          </a:xfrm>
          <a:prstGeom prst="rect">
            <a:avLst/>
          </a:prstGeom>
          <a:solidFill>
            <a:srgbClr val="959B7F"/>
          </a:solidFill>
          <a:ln/>
        </p:spPr>
      </p:sp>
      <p:sp>
        <p:nvSpPr>
          <p:cNvPr id="17" name="Shape 15"/>
          <p:cNvSpPr/>
          <p:nvPr/>
        </p:nvSpPr>
        <p:spPr>
          <a:xfrm>
            <a:off x="3950208" y="4800600"/>
            <a:ext cx="292608" cy="256032"/>
          </a:xfrm>
          <a:prstGeom prst="rect">
            <a:avLst/>
          </a:prstGeom>
          <a:solidFill>
            <a:srgbClr val="8D9884"/>
          </a:solidFill>
          <a:ln/>
        </p:spPr>
      </p:sp>
      <p:sp>
        <p:nvSpPr>
          <p:cNvPr id="18" name="Shape 16"/>
          <p:cNvSpPr/>
          <p:nvPr/>
        </p:nvSpPr>
        <p:spPr>
          <a:xfrm>
            <a:off x="4224528" y="4800600"/>
            <a:ext cx="292608" cy="256032"/>
          </a:xfrm>
          <a:prstGeom prst="rect">
            <a:avLst/>
          </a:prstGeom>
          <a:solidFill>
            <a:srgbClr val="84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4498848" y="4800600"/>
            <a:ext cx="292608" cy="256032"/>
          </a:xfrm>
          <a:prstGeom prst="rect">
            <a:avLst/>
          </a:prstGeom>
          <a:solidFill>
            <a:srgbClr val="7B908C"/>
          </a:solidFill>
          <a:ln/>
        </p:spPr>
      </p:sp>
      <p:sp>
        <p:nvSpPr>
          <p:cNvPr id="20" name="Shape 18"/>
          <p:cNvSpPr/>
          <p:nvPr/>
        </p:nvSpPr>
        <p:spPr>
          <a:xfrm>
            <a:off x="4773168" y="4800600"/>
            <a:ext cx="292608" cy="256032"/>
          </a:xfrm>
          <a:prstGeom prst="rect">
            <a:avLst/>
          </a:prstGeom>
          <a:solidFill>
            <a:srgbClr val="728D90"/>
          </a:solidFill>
          <a:ln/>
        </p:spPr>
      </p:sp>
      <p:sp>
        <p:nvSpPr>
          <p:cNvPr id="21" name="Shape 19"/>
          <p:cNvSpPr/>
          <p:nvPr/>
        </p:nvSpPr>
        <p:spPr>
          <a:xfrm>
            <a:off x="5047488" y="4800600"/>
            <a:ext cx="292608" cy="256032"/>
          </a:xfrm>
          <a:prstGeom prst="rect">
            <a:avLst/>
          </a:prstGeom>
          <a:solidFill>
            <a:srgbClr val="698994"/>
          </a:solidFill>
          <a:ln/>
        </p:spPr>
      </p:sp>
      <p:sp>
        <p:nvSpPr>
          <p:cNvPr id="22" name="Shape 20"/>
          <p:cNvSpPr/>
          <p:nvPr/>
        </p:nvSpPr>
        <p:spPr>
          <a:xfrm>
            <a:off x="5321808" y="4800600"/>
            <a:ext cx="292608" cy="256032"/>
          </a:xfrm>
          <a:prstGeom prst="rect">
            <a:avLst/>
          </a:prstGeom>
          <a:solidFill>
            <a:srgbClr val="618598"/>
          </a:solidFill>
          <a:ln/>
        </p:spPr>
      </p:sp>
      <p:sp>
        <p:nvSpPr>
          <p:cNvPr id="23" name="Shape 21"/>
          <p:cNvSpPr/>
          <p:nvPr/>
        </p:nvSpPr>
        <p:spPr>
          <a:xfrm>
            <a:off x="5596128" y="4800600"/>
            <a:ext cx="292608" cy="256032"/>
          </a:xfrm>
          <a:prstGeom prst="rect">
            <a:avLst/>
          </a:prstGeom>
          <a:solidFill>
            <a:srgbClr val="58819C"/>
          </a:solidFill>
          <a:ln/>
        </p:spPr>
      </p:sp>
      <p:sp>
        <p:nvSpPr>
          <p:cNvPr id="24" name="Shape 22"/>
          <p:cNvSpPr/>
          <p:nvPr/>
        </p:nvSpPr>
        <p:spPr>
          <a:xfrm>
            <a:off x="5870448" y="4800600"/>
            <a:ext cx="292608" cy="256032"/>
          </a:xfrm>
          <a:prstGeom prst="rect">
            <a:avLst/>
          </a:prstGeom>
          <a:solidFill>
            <a:srgbClr val="4F7EA0"/>
          </a:solidFill>
          <a:ln/>
        </p:spPr>
      </p:sp>
      <p:sp>
        <p:nvSpPr>
          <p:cNvPr id="25" name="Shape 23"/>
          <p:cNvSpPr/>
          <p:nvPr/>
        </p:nvSpPr>
        <p:spPr>
          <a:xfrm>
            <a:off x="6144768" y="4800600"/>
            <a:ext cx="292608" cy="256032"/>
          </a:xfrm>
          <a:prstGeom prst="rect">
            <a:avLst/>
          </a:prstGeom>
          <a:solidFill>
            <a:srgbClr val="467AA4"/>
          </a:solidFill>
          <a:ln/>
        </p:spPr>
      </p:sp>
      <p:sp>
        <p:nvSpPr>
          <p:cNvPr id="26" name="Shape 24"/>
          <p:cNvSpPr/>
          <p:nvPr/>
        </p:nvSpPr>
        <p:spPr>
          <a:xfrm>
            <a:off x="6419088" y="4800600"/>
            <a:ext cx="292608" cy="256032"/>
          </a:xfrm>
          <a:prstGeom prst="rect">
            <a:avLst/>
          </a:prstGeom>
          <a:solidFill>
            <a:srgbClr val="3E76A8"/>
          </a:solidFill>
          <a:ln/>
        </p:spPr>
      </p:sp>
      <p:sp>
        <p:nvSpPr>
          <p:cNvPr id="27" name="Shape 25"/>
          <p:cNvSpPr/>
          <p:nvPr/>
        </p:nvSpPr>
        <p:spPr>
          <a:xfrm>
            <a:off x="6693408" y="4800600"/>
            <a:ext cx="292608" cy="256032"/>
          </a:xfrm>
          <a:prstGeom prst="rect">
            <a:avLst/>
          </a:prstGeom>
          <a:solidFill>
            <a:srgbClr val="3573AC"/>
          </a:solidFill>
          <a:ln/>
        </p:spPr>
      </p:sp>
      <p:sp>
        <p:nvSpPr>
          <p:cNvPr id="28" name="Shape 26"/>
          <p:cNvSpPr/>
          <p:nvPr/>
        </p:nvSpPr>
        <p:spPr>
          <a:xfrm>
            <a:off x="6967728" y="4800600"/>
            <a:ext cx="292608" cy="256032"/>
          </a:xfrm>
          <a:prstGeom prst="rect">
            <a:avLst/>
          </a:prstGeom>
          <a:solidFill>
            <a:srgbClr val="2C6FB0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5074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5577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 healthy spatial atlas (Yakubovsky et al., Nature 2026)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F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single-nucleus disease cohort (Gribben et al., Nature 2024)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5897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[names]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question, in one breath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583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liver is spatially organised: each hepatocyte sits at a position along a blood-flow gradient and does the job that suits its position.
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measured that map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positions kept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(spatial). Another profiled the whole disease course but with a method that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positions away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(single-nucleus).
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healthy map to put a position back on each diseased cell, then measure how that organisation falls apart as disease worsens.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06640" y="155448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352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lobule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2286000"/>
            <a:ext cx="174498" cy="411480"/>
          </a:xfrm>
          <a:prstGeom prst="rect">
            <a:avLst/>
          </a:prstGeom>
          <a:solidFill>
            <a:srgbClr val="F6C453"/>
          </a:solidFill>
          <a:ln/>
        </p:spPr>
      </p:sp>
      <p:sp>
        <p:nvSpPr>
          <p:cNvPr id="7" name="Shape 5"/>
          <p:cNvSpPr/>
          <p:nvPr/>
        </p:nvSpPr>
        <p:spPr>
          <a:xfrm>
            <a:off x="7791450" y="2286000"/>
            <a:ext cx="174498" cy="411480"/>
          </a:xfrm>
          <a:prstGeom prst="rect">
            <a:avLst/>
          </a:prstGeom>
          <a:solidFill>
            <a:srgbClr val="EDC057"/>
          </a:solidFill>
          <a:ln/>
        </p:spPr>
      </p:sp>
      <p:sp>
        <p:nvSpPr>
          <p:cNvPr id="8" name="Shape 6"/>
          <p:cNvSpPr/>
          <p:nvPr/>
        </p:nvSpPr>
        <p:spPr>
          <a:xfrm>
            <a:off x="7947660" y="2286000"/>
            <a:ext cx="174498" cy="411480"/>
          </a:xfrm>
          <a:prstGeom prst="rect">
            <a:avLst/>
          </a:prstGeom>
          <a:solidFill>
            <a:srgbClr val="E4BD5B"/>
          </a:solidFill>
          <a:ln/>
        </p:spPr>
      </p:sp>
      <p:sp>
        <p:nvSpPr>
          <p:cNvPr id="9" name="Shape 7"/>
          <p:cNvSpPr/>
          <p:nvPr/>
        </p:nvSpPr>
        <p:spPr>
          <a:xfrm>
            <a:off x="8103870" y="2286000"/>
            <a:ext cx="174498" cy="411480"/>
          </a:xfrm>
          <a:prstGeom prst="rect">
            <a:avLst/>
          </a:prstGeom>
          <a:solidFill>
            <a:srgbClr val="DCB95F"/>
          </a:solidFill>
          <a:ln/>
        </p:spPr>
      </p:sp>
      <p:sp>
        <p:nvSpPr>
          <p:cNvPr id="10" name="Shape 8"/>
          <p:cNvSpPr/>
          <p:nvPr/>
        </p:nvSpPr>
        <p:spPr>
          <a:xfrm>
            <a:off x="8260080" y="2286000"/>
            <a:ext cx="174498" cy="411480"/>
          </a:xfrm>
          <a:prstGeom prst="rect">
            <a:avLst/>
          </a:prstGeom>
          <a:solidFill>
            <a:srgbClr val="D3B563"/>
          </a:solidFill>
          <a:ln/>
        </p:spPr>
      </p:sp>
      <p:sp>
        <p:nvSpPr>
          <p:cNvPr id="11" name="Shape 9"/>
          <p:cNvSpPr/>
          <p:nvPr/>
        </p:nvSpPr>
        <p:spPr>
          <a:xfrm>
            <a:off x="8416290" y="2286000"/>
            <a:ext cx="174498" cy="411480"/>
          </a:xfrm>
          <a:prstGeom prst="rect">
            <a:avLst/>
          </a:prstGeom>
          <a:solidFill>
            <a:srgbClr val="CAB267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2286000"/>
            <a:ext cx="174498" cy="411480"/>
          </a:xfrm>
          <a:prstGeom prst="rect">
            <a:avLst/>
          </a:prstGeom>
          <a:solidFill>
            <a:srgbClr val="C1AE6B"/>
          </a:solidFill>
          <a:ln/>
        </p:spPr>
      </p:sp>
      <p:sp>
        <p:nvSpPr>
          <p:cNvPr id="13" name="Shape 11"/>
          <p:cNvSpPr/>
          <p:nvPr/>
        </p:nvSpPr>
        <p:spPr>
          <a:xfrm>
            <a:off x="8728710" y="2286000"/>
            <a:ext cx="174498" cy="411480"/>
          </a:xfrm>
          <a:prstGeom prst="rect">
            <a:avLst/>
          </a:prstGeom>
          <a:solidFill>
            <a:srgbClr val="B9AA6F"/>
          </a:solidFill>
          <a:ln/>
        </p:spPr>
      </p:sp>
      <p:sp>
        <p:nvSpPr>
          <p:cNvPr id="14" name="Shape 12"/>
          <p:cNvSpPr/>
          <p:nvPr/>
        </p:nvSpPr>
        <p:spPr>
          <a:xfrm>
            <a:off x="8884920" y="2286000"/>
            <a:ext cx="174498" cy="411480"/>
          </a:xfrm>
          <a:prstGeom prst="rect">
            <a:avLst/>
          </a:prstGeom>
          <a:solidFill>
            <a:srgbClr val="B0A67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41130" y="2286000"/>
            <a:ext cx="174498" cy="411480"/>
          </a:xfrm>
          <a:prstGeom prst="rect">
            <a:avLst/>
          </a:prstGeom>
          <a:solidFill>
            <a:srgbClr val="A7A377"/>
          </a:solidFill>
          <a:ln/>
        </p:spPr>
      </p:sp>
      <p:sp>
        <p:nvSpPr>
          <p:cNvPr id="16" name="Shape 14"/>
          <p:cNvSpPr/>
          <p:nvPr/>
        </p:nvSpPr>
        <p:spPr>
          <a:xfrm>
            <a:off x="9197340" y="2286000"/>
            <a:ext cx="174498" cy="411480"/>
          </a:xfrm>
          <a:prstGeom prst="rect">
            <a:avLst/>
          </a:prstGeom>
          <a:solidFill>
            <a:srgbClr val="9E9F7B"/>
          </a:solidFill>
          <a:ln/>
        </p:spPr>
      </p:sp>
      <p:sp>
        <p:nvSpPr>
          <p:cNvPr id="17" name="Shape 15"/>
          <p:cNvSpPr/>
          <p:nvPr/>
        </p:nvSpPr>
        <p:spPr>
          <a:xfrm>
            <a:off x="9353550" y="2286000"/>
            <a:ext cx="174498" cy="411480"/>
          </a:xfrm>
          <a:prstGeom prst="rect">
            <a:avLst/>
          </a:prstGeom>
          <a:solidFill>
            <a:srgbClr val="959B7F"/>
          </a:solidFill>
          <a:ln/>
        </p:spPr>
      </p:sp>
      <p:sp>
        <p:nvSpPr>
          <p:cNvPr id="18" name="Shape 16"/>
          <p:cNvSpPr/>
          <p:nvPr/>
        </p:nvSpPr>
        <p:spPr>
          <a:xfrm>
            <a:off x="9509760" y="2286000"/>
            <a:ext cx="174498" cy="411480"/>
          </a:xfrm>
          <a:prstGeom prst="rect">
            <a:avLst/>
          </a:prstGeom>
          <a:solidFill>
            <a:srgbClr val="8D9884"/>
          </a:solidFill>
          <a:ln/>
        </p:spPr>
      </p:sp>
      <p:sp>
        <p:nvSpPr>
          <p:cNvPr id="19" name="Shape 17"/>
          <p:cNvSpPr/>
          <p:nvPr/>
        </p:nvSpPr>
        <p:spPr>
          <a:xfrm>
            <a:off x="9665970" y="2286000"/>
            <a:ext cx="174498" cy="411480"/>
          </a:xfrm>
          <a:prstGeom prst="rect">
            <a:avLst/>
          </a:prstGeom>
          <a:solidFill>
            <a:srgbClr val="84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9822180" y="2286000"/>
            <a:ext cx="174498" cy="411480"/>
          </a:xfrm>
          <a:prstGeom prst="rect">
            <a:avLst/>
          </a:prstGeom>
          <a:solidFill>
            <a:srgbClr val="7B908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78390" y="2286000"/>
            <a:ext cx="174498" cy="411480"/>
          </a:xfrm>
          <a:prstGeom prst="rect">
            <a:avLst/>
          </a:prstGeom>
          <a:solidFill>
            <a:srgbClr val="728D9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34600" y="2286000"/>
            <a:ext cx="174498" cy="411480"/>
          </a:xfrm>
          <a:prstGeom prst="rect">
            <a:avLst/>
          </a:prstGeom>
          <a:solidFill>
            <a:srgbClr val="69899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0810" y="2286000"/>
            <a:ext cx="174498" cy="411480"/>
          </a:xfrm>
          <a:prstGeom prst="rect">
            <a:avLst/>
          </a:prstGeom>
          <a:solidFill>
            <a:srgbClr val="61859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47020" y="2286000"/>
            <a:ext cx="174498" cy="411480"/>
          </a:xfrm>
          <a:prstGeom prst="rect">
            <a:avLst/>
          </a:prstGeom>
          <a:solidFill>
            <a:srgbClr val="58819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03230" y="2286000"/>
            <a:ext cx="174498" cy="411480"/>
          </a:xfrm>
          <a:prstGeom prst="rect">
            <a:avLst/>
          </a:prstGeom>
          <a:solidFill>
            <a:srgbClr val="4F7EA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59440" y="2286000"/>
            <a:ext cx="174498" cy="411480"/>
          </a:xfrm>
          <a:prstGeom prst="rect">
            <a:avLst/>
          </a:prstGeom>
          <a:solidFill>
            <a:srgbClr val="467AA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15650" y="2286000"/>
            <a:ext cx="174498" cy="411480"/>
          </a:xfrm>
          <a:prstGeom prst="rect">
            <a:avLst/>
          </a:prstGeom>
          <a:solidFill>
            <a:srgbClr val="3E76A8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71860" y="2286000"/>
            <a:ext cx="174498" cy="411480"/>
          </a:xfrm>
          <a:prstGeom prst="rect">
            <a:avLst/>
          </a:prstGeom>
          <a:solidFill>
            <a:srgbClr val="3573AC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8070" y="2286000"/>
            <a:ext cx="174498" cy="411480"/>
          </a:xfrm>
          <a:prstGeom prst="rect">
            <a:avLst/>
          </a:prstGeom>
          <a:solidFill>
            <a:srgbClr val="2C6FB0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portal-central gradient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352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Diseased lobule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35240" y="3886200"/>
            <a:ext cx="174498" cy="411480"/>
          </a:xfrm>
          <a:prstGeom prst="rect">
            <a:avLst/>
          </a:prstGeom>
          <a:solidFill>
            <a:srgbClr val="AAA493"/>
          </a:solidFill>
          <a:ln/>
        </p:spPr>
      </p:sp>
      <p:sp>
        <p:nvSpPr>
          <p:cNvPr id="33" name="Shape 31"/>
          <p:cNvSpPr/>
          <p:nvPr/>
        </p:nvSpPr>
        <p:spPr>
          <a:xfrm>
            <a:off x="7791450" y="3886200"/>
            <a:ext cx="174498" cy="411480"/>
          </a:xfrm>
          <a:prstGeom prst="rect">
            <a:avLst/>
          </a:prstGeom>
          <a:solidFill>
            <a:srgbClr val="ABA493"/>
          </a:solidFill>
          <a:ln/>
        </p:spPr>
      </p:sp>
      <p:sp>
        <p:nvSpPr>
          <p:cNvPr id="34" name="Shape 32"/>
          <p:cNvSpPr/>
          <p:nvPr/>
        </p:nvSpPr>
        <p:spPr>
          <a:xfrm>
            <a:off x="7947660" y="3886200"/>
            <a:ext cx="174498" cy="411480"/>
          </a:xfrm>
          <a:prstGeom prst="rect">
            <a:avLst/>
          </a:prstGeom>
          <a:solidFill>
            <a:srgbClr val="A1A198"/>
          </a:solidFill>
          <a:ln/>
        </p:spPr>
      </p:sp>
      <p:sp>
        <p:nvSpPr>
          <p:cNvPr id="35" name="Shape 33"/>
          <p:cNvSpPr/>
          <p:nvPr/>
        </p:nvSpPr>
        <p:spPr>
          <a:xfrm>
            <a:off x="8103870" y="3886200"/>
            <a:ext cx="174498" cy="411480"/>
          </a:xfrm>
          <a:prstGeom prst="rect">
            <a:avLst/>
          </a:prstGeom>
          <a:solidFill>
            <a:srgbClr val="8598A5"/>
          </a:solidFill>
          <a:ln/>
        </p:spPr>
      </p:sp>
      <p:sp>
        <p:nvSpPr>
          <p:cNvPr id="36" name="Shape 34"/>
          <p:cNvSpPr/>
          <p:nvPr/>
        </p:nvSpPr>
        <p:spPr>
          <a:xfrm>
            <a:off x="8260080" y="3886200"/>
            <a:ext cx="174498" cy="411480"/>
          </a:xfrm>
          <a:prstGeom prst="rect">
            <a:avLst/>
          </a:prstGeom>
          <a:solidFill>
            <a:srgbClr val="8799A4"/>
          </a:solidFill>
          <a:ln/>
        </p:spPr>
      </p:sp>
      <p:sp>
        <p:nvSpPr>
          <p:cNvPr id="37" name="Shape 35"/>
          <p:cNvSpPr/>
          <p:nvPr/>
        </p:nvSpPr>
        <p:spPr>
          <a:xfrm>
            <a:off x="8416290" y="3886200"/>
            <a:ext cx="174498" cy="411480"/>
          </a:xfrm>
          <a:prstGeom prst="rect">
            <a:avLst/>
          </a:prstGeom>
          <a:solidFill>
            <a:srgbClr val="A7A295"/>
          </a:solidFill>
          <a:ln/>
        </p:spPr>
      </p:sp>
      <p:sp>
        <p:nvSpPr>
          <p:cNvPr id="38" name="Shape 36"/>
          <p:cNvSpPr/>
          <p:nvPr/>
        </p:nvSpPr>
        <p:spPr>
          <a:xfrm>
            <a:off x="8572500" y="3886200"/>
            <a:ext cx="174498" cy="411480"/>
          </a:xfrm>
          <a:prstGeom prst="rect">
            <a:avLst/>
          </a:prstGeom>
          <a:solidFill>
            <a:srgbClr val="B3A68F"/>
          </a:solidFill>
          <a:ln/>
        </p:spPr>
      </p:sp>
      <p:sp>
        <p:nvSpPr>
          <p:cNvPr id="39" name="Shape 37"/>
          <p:cNvSpPr/>
          <p:nvPr/>
        </p:nvSpPr>
        <p:spPr>
          <a:xfrm>
            <a:off x="8728710" y="3886200"/>
            <a:ext cx="174498" cy="411480"/>
          </a:xfrm>
          <a:prstGeom prst="rect">
            <a:avLst/>
          </a:prstGeom>
          <a:solidFill>
            <a:srgbClr val="8A9AA2"/>
          </a:solidFill>
          <a:ln/>
        </p:spPr>
      </p:sp>
      <p:sp>
        <p:nvSpPr>
          <p:cNvPr id="40" name="Shape 38"/>
          <p:cNvSpPr/>
          <p:nvPr/>
        </p:nvSpPr>
        <p:spPr>
          <a:xfrm>
            <a:off x="8884920" y="3886200"/>
            <a:ext cx="174498" cy="411480"/>
          </a:xfrm>
          <a:prstGeom prst="rect">
            <a:avLst/>
          </a:prstGeom>
          <a:solidFill>
            <a:srgbClr val="9B9F9A"/>
          </a:solidFill>
          <a:ln/>
        </p:spPr>
      </p:sp>
      <p:sp>
        <p:nvSpPr>
          <p:cNvPr id="41" name="Shape 39"/>
          <p:cNvSpPr/>
          <p:nvPr/>
        </p:nvSpPr>
        <p:spPr>
          <a:xfrm>
            <a:off x="9041130" y="3886200"/>
            <a:ext cx="174498" cy="411480"/>
          </a:xfrm>
          <a:prstGeom prst="rect">
            <a:avLst/>
          </a:prstGeom>
          <a:solidFill>
            <a:srgbClr val="B0A590"/>
          </a:solidFill>
          <a:ln/>
        </p:spPr>
      </p:sp>
      <p:sp>
        <p:nvSpPr>
          <p:cNvPr id="42" name="Shape 40"/>
          <p:cNvSpPr/>
          <p:nvPr/>
        </p:nvSpPr>
        <p:spPr>
          <a:xfrm>
            <a:off x="9197340" y="3886200"/>
            <a:ext cx="174498" cy="411480"/>
          </a:xfrm>
          <a:prstGeom prst="rect">
            <a:avLst/>
          </a:prstGeom>
          <a:solidFill>
            <a:srgbClr val="9DA099"/>
          </a:solidFill>
          <a:ln/>
        </p:spPr>
      </p:sp>
      <p:sp>
        <p:nvSpPr>
          <p:cNvPr id="43" name="Shape 41"/>
          <p:cNvSpPr/>
          <p:nvPr/>
        </p:nvSpPr>
        <p:spPr>
          <a:xfrm>
            <a:off x="9353550" y="3886200"/>
            <a:ext cx="174498" cy="411480"/>
          </a:xfrm>
          <a:prstGeom prst="rect">
            <a:avLst/>
          </a:prstGeom>
          <a:solidFill>
            <a:srgbClr val="979E9C"/>
          </a:solidFill>
          <a:ln/>
        </p:spPr>
      </p:sp>
      <p:sp>
        <p:nvSpPr>
          <p:cNvPr id="44" name="Shape 42"/>
          <p:cNvSpPr/>
          <p:nvPr/>
        </p:nvSpPr>
        <p:spPr>
          <a:xfrm>
            <a:off x="9509760" y="3886200"/>
            <a:ext cx="174498" cy="411480"/>
          </a:xfrm>
          <a:prstGeom prst="rect">
            <a:avLst/>
          </a:prstGeom>
          <a:solidFill>
            <a:srgbClr val="A8A395"/>
          </a:solidFill>
          <a:ln/>
        </p:spPr>
      </p:sp>
      <p:sp>
        <p:nvSpPr>
          <p:cNvPr id="45" name="Shape 43"/>
          <p:cNvSpPr/>
          <p:nvPr/>
        </p:nvSpPr>
        <p:spPr>
          <a:xfrm>
            <a:off x="9665970" y="3886200"/>
            <a:ext cx="174498" cy="411480"/>
          </a:xfrm>
          <a:prstGeom prst="rect">
            <a:avLst/>
          </a:prstGeom>
          <a:solidFill>
            <a:srgbClr val="B8A88D"/>
          </a:solidFill>
          <a:ln/>
        </p:spPr>
      </p:sp>
      <p:sp>
        <p:nvSpPr>
          <p:cNvPr id="46" name="Shape 44"/>
          <p:cNvSpPr/>
          <p:nvPr/>
        </p:nvSpPr>
        <p:spPr>
          <a:xfrm>
            <a:off x="9822180" y="3886200"/>
            <a:ext cx="174498" cy="411480"/>
          </a:xfrm>
          <a:prstGeom prst="rect">
            <a:avLst/>
          </a:prstGeom>
          <a:solidFill>
            <a:srgbClr val="9B9F9B"/>
          </a:solidFill>
          <a:ln/>
        </p:spPr>
      </p:sp>
      <p:sp>
        <p:nvSpPr>
          <p:cNvPr id="47" name="Shape 45"/>
          <p:cNvSpPr/>
          <p:nvPr/>
        </p:nvSpPr>
        <p:spPr>
          <a:xfrm>
            <a:off x="9978390" y="3886200"/>
            <a:ext cx="174498" cy="411480"/>
          </a:xfrm>
          <a:prstGeom prst="rect">
            <a:avLst/>
          </a:prstGeom>
          <a:solidFill>
            <a:srgbClr val="9C9F9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34600" y="3886200"/>
            <a:ext cx="174498" cy="411480"/>
          </a:xfrm>
          <a:prstGeom prst="rect">
            <a:avLst/>
          </a:prstGeom>
          <a:solidFill>
            <a:srgbClr val="B6A78E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90810" y="3886200"/>
            <a:ext cx="174498" cy="411480"/>
          </a:xfrm>
          <a:prstGeom prst="rect">
            <a:avLst/>
          </a:prstGeom>
          <a:solidFill>
            <a:srgbClr val="A4A296"/>
          </a:solidFill>
          <a:ln/>
        </p:spPr>
      </p:sp>
      <p:sp>
        <p:nvSpPr>
          <p:cNvPr id="50" name="Shape 48"/>
          <p:cNvSpPr/>
          <p:nvPr/>
        </p:nvSpPr>
        <p:spPr>
          <a:xfrm>
            <a:off x="10447020" y="3886200"/>
            <a:ext cx="174498" cy="411480"/>
          </a:xfrm>
          <a:prstGeom prst="rect">
            <a:avLst/>
          </a:prstGeom>
          <a:solidFill>
            <a:srgbClr val="7E96A8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03230" y="3886200"/>
            <a:ext cx="174498" cy="411480"/>
          </a:xfrm>
          <a:prstGeom prst="rect">
            <a:avLst/>
          </a:prstGeom>
          <a:solidFill>
            <a:srgbClr val="A3A197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59440" y="3886200"/>
            <a:ext cx="174498" cy="411480"/>
          </a:xfrm>
          <a:prstGeom prst="rect">
            <a:avLst/>
          </a:prstGeom>
          <a:solidFill>
            <a:srgbClr val="959D9D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15650" y="3886200"/>
            <a:ext cx="174498" cy="411480"/>
          </a:xfrm>
          <a:prstGeom prst="rect">
            <a:avLst/>
          </a:prstGeom>
          <a:solidFill>
            <a:srgbClr val="8498A5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71860" y="3886200"/>
            <a:ext cx="174498" cy="411480"/>
          </a:xfrm>
          <a:prstGeom prst="rect">
            <a:avLst/>
          </a:prstGeom>
          <a:solidFill>
            <a:srgbClr val="B9A88D"/>
          </a:solidFill>
          <a:ln/>
        </p:spPr>
      </p:sp>
      <p:sp>
        <p:nvSpPr>
          <p:cNvPr id="55" name="Shape 53"/>
          <p:cNvSpPr/>
          <p:nvPr/>
        </p:nvSpPr>
        <p:spPr>
          <a:xfrm>
            <a:off x="11228070" y="3886200"/>
            <a:ext cx="174498" cy="411480"/>
          </a:xfrm>
          <a:prstGeom prst="rect">
            <a:avLst/>
          </a:prstGeom>
          <a:solidFill>
            <a:srgbClr val="A8A395"/>
          </a:solidFill>
          <a:ln/>
        </p:spPr>
      </p:sp>
      <p:sp>
        <p:nvSpPr>
          <p:cNvPr id="56" name="Text 54"/>
          <p:cNvSpPr/>
          <p:nvPr/>
        </p:nvSpPr>
        <p:spPr>
          <a:xfrm>
            <a:off x="763524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- identity lost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635240" y="4892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that blurring into a number per stage.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Liver zonation - and how disease erases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Zonation.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Hepatocytes specialise by position along the porto-central axis: oxygen-rich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7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periportal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cells run the urea cycle (ASS1, HAL); oxygen-poor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cells run detox (CYP2E1) and glutamine synthesis (GLUL).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58318" cy="365760"/>
          </a:xfrm>
          <a:prstGeom prst="rect">
            <a:avLst/>
          </a:prstGeom>
          <a:solidFill>
            <a:srgbClr val="F6C453"/>
          </a:solidFill>
          <a:ln/>
        </p:spPr>
      </p:sp>
      <p:sp>
        <p:nvSpPr>
          <p:cNvPr id="5" name="Shape 3"/>
          <p:cNvSpPr/>
          <p:nvPr/>
        </p:nvSpPr>
        <p:spPr>
          <a:xfrm>
            <a:off x="788670" y="3383280"/>
            <a:ext cx="258318" cy="365760"/>
          </a:xfrm>
          <a:prstGeom prst="rect">
            <a:avLst/>
          </a:prstGeom>
          <a:solidFill>
            <a:srgbClr val="EDC057"/>
          </a:solidFill>
          <a:ln/>
        </p:spPr>
      </p:sp>
      <p:sp>
        <p:nvSpPr>
          <p:cNvPr id="6" name="Shape 4"/>
          <p:cNvSpPr/>
          <p:nvPr/>
        </p:nvSpPr>
        <p:spPr>
          <a:xfrm>
            <a:off x="1028700" y="3383280"/>
            <a:ext cx="258318" cy="365760"/>
          </a:xfrm>
          <a:prstGeom prst="rect">
            <a:avLst/>
          </a:prstGeom>
          <a:solidFill>
            <a:srgbClr val="E4BD5B"/>
          </a:solidFill>
          <a:ln/>
        </p:spPr>
      </p:sp>
      <p:sp>
        <p:nvSpPr>
          <p:cNvPr id="7" name="Shape 5"/>
          <p:cNvSpPr/>
          <p:nvPr/>
        </p:nvSpPr>
        <p:spPr>
          <a:xfrm>
            <a:off x="1268730" y="3383280"/>
            <a:ext cx="258318" cy="365760"/>
          </a:xfrm>
          <a:prstGeom prst="rect">
            <a:avLst/>
          </a:prstGeom>
          <a:solidFill>
            <a:srgbClr val="DCB95F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3383280"/>
            <a:ext cx="258318" cy="365760"/>
          </a:xfrm>
          <a:prstGeom prst="rect">
            <a:avLst/>
          </a:prstGeom>
          <a:solidFill>
            <a:srgbClr val="D3B563"/>
          </a:solidFill>
          <a:ln/>
        </p:spPr>
      </p:sp>
      <p:sp>
        <p:nvSpPr>
          <p:cNvPr id="9" name="Shape 7"/>
          <p:cNvSpPr/>
          <p:nvPr/>
        </p:nvSpPr>
        <p:spPr>
          <a:xfrm>
            <a:off x="1748790" y="3383280"/>
            <a:ext cx="258318" cy="365760"/>
          </a:xfrm>
          <a:prstGeom prst="rect">
            <a:avLst/>
          </a:prstGeom>
          <a:solidFill>
            <a:srgbClr val="CAB267"/>
          </a:solidFill>
          <a:ln/>
        </p:spPr>
      </p:sp>
      <p:sp>
        <p:nvSpPr>
          <p:cNvPr id="10" name="Shape 8"/>
          <p:cNvSpPr/>
          <p:nvPr/>
        </p:nvSpPr>
        <p:spPr>
          <a:xfrm>
            <a:off x="1988820" y="3383280"/>
            <a:ext cx="258318" cy="365760"/>
          </a:xfrm>
          <a:prstGeom prst="rect">
            <a:avLst/>
          </a:prstGeom>
          <a:solidFill>
            <a:srgbClr val="C1AE6B"/>
          </a:solidFill>
          <a:ln/>
        </p:spPr>
      </p:sp>
      <p:sp>
        <p:nvSpPr>
          <p:cNvPr id="11" name="Shape 9"/>
          <p:cNvSpPr/>
          <p:nvPr/>
        </p:nvSpPr>
        <p:spPr>
          <a:xfrm>
            <a:off x="2228850" y="3383280"/>
            <a:ext cx="258318" cy="365760"/>
          </a:xfrm>
          <a:prstGeom prst="rect">
            <a:avLst/>
          </a:prstGeom>
          <a:solidFill>
            <a:srgbClr val="B9AA6F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3383280"/>
            <a:ext cx="258318" cy="365760"/>
          </a:xfrm>
          <a:prstGeom prst="rect">
            <a:avLst/>
          </a:prstGeom>
          <a:solidFill>
            <a:srgbClr val="B0A673"/>
          </a:solidFill>
          <a:ln/>
        </p:spPr>
      </p:sp>
      <p:sp>
        <p:nvSpPr>
          <p:cNvPr id="13" name="Shape 11"/>
          <p:cNvSpPr/>
          <p:nvPr/>
        </p:nvSpPr>
        <p:spPr>
          <a:xfrm>
            <a:off x="2708910" y="3383280"/>
            <a:ext cx="258318" cy="365760"/>
          </a:xfrm>
          <a:prstGeom prst="rect">
            <a:avLst/>
          </a:prstGeom>
          <a:solidFill>
            <a:srgbClr val="A7A377"/>
          </a:solidFill>
          <a:ln/>
        </p:spPr>
      </p:sp>
      <p:sp>
        <p:nvSpPr>
          <p:cNvPr id="14" name="Shape 12"/>
          <p:cNvSpPr/>
          <p:nvPr/>
        </p:nvSpPr>
        <p:spPr>
          <a:xfrm>
            <a:off x="2948940" y="3383280"/>
            <a:ext cx="258318" cy="365760"/>
          </a:xfrm>
          <a:prstGeom prst="rect">
            <a:avLst/>
          </a:prstGeom>
          <a:solidFill>
            <a:srgbClr val="9E9F7B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8970" y="3383280"/>
            <a:ext cx="258318" cy="365760"/>
          </a:xfrm>
          <a:prstGeom prst="rect">
            <a:avLst/>
          </a:prstGeom>
          <a:solidFill>
            <a:srgbClr val="959B7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3383280"/>
            <a:ext cx="258318" cy="365760"/>
          </a:xfrm>
          <a:prstGeom prst="rect">
            <a:avLst/>
          </a:prstGeom>
          <a:solidFill>
            <a:srgbClr val="8D988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69030" y="3383280"/>
            <a:ext cx="258318" cy="365760"/>
          </a:xfrm>
          <a:prstGeom prst="rect">
            <a:avLst/>
          </a:prstGeom>
          <a:solidFill>
            <a:srgbClr val="84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909060" y="3383280"/>
            <a:ext cx="258318" cy="365760"/>
          </a:xfrm>
          <a:prstGeom prst="rect">
            <a:avLst/>
          </a:prstGeom>
          <a:solidFill>
            <a:srgbClr val="7B908C"/>
          </a:solidFill>
          <a:ln/>
        </p:spPr>
      </p:sp>
      <p:sp>
        <p:nvSpPr>
          <p:cNvPr id="19" name="Shape 17"/>
          <p:cNvSpPr/>
          <p:nvPr/>
        </p:nvSpPr>
        <p:spPr>
          <a:xfrm>
            <a:off x="4149090" y="3383280"/>
            <a:ext cx="258318" cy="365760"/>
          </a:xfrm>
          <a:prstGeom prst="rect">
            <a:avLst/>
          </a:prstGeom>
          <a:solidFill>
            <a:srgbClr val="728D90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3383280"/>
            <a:ext cx="258318" cy="365760"/>
          </a:xfrm>
          <a:prstGeom prst="rect">
            <a:avLst/>
          </a:prstGeom>
          <a:solidFill>
            <a:srgbClr val="698994"/>
          </a:solidFill>
          <a:ln/>
        </p:spPr>
      </p:sp>
      <p:sp>
        <p:nvSpPr>
          <p:cNvPr id="21" name="Shape 19"/>
          <p:cNvSpPr/>
          <p:nvPr/>
        </p:nvSpPr>
        <p:spPr>
          <a:xfrm>
            <a:off x="4629150" y="3383280"/>
            <a:ext cx="258318" cy="365760"/>
          </a:xfrm>
          <a:prstGeom prst="rect">
            <a:avLst/>
          </a:prstGeom>
          <a:solidFill>
            <a:srgbClr val="618598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9180" y="3383280"/>
            <a:ext cx="258318" cy="365760"/>
          </a:xfrm>
          <a:prstGeom prst="rect">
            <a:avLst/>
          </a:prstGeom>
          <a:solidFill>
            <a:srgbClr val="58819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9210" y="3383280"/>
            <a:ext cx="258318" cy="365760"/>
          </a:xfrm>
          <a:prstGeom prst="rect">
            <a:avLst/>
          </a:prstGeom>
          <a:solidFill>
            <a:srgbClr val="4F7EA0"/>
          </a:solidFill>
          <a:ln/>
        </p:spPr>
      </p:sp>
      <p:sp>
        <p:nvSpPr>
          <p:cNvPr id="24" name="Shape 22"/>
          <p:cNvSpPr/>
          <p:nvPr/>
        </p:nvSpPr>
        <p:spPr>
          <a:xfrm>
            <a:off x="5349240" y="3383280"/>
            <a:ext cx="258318" cy="365760"/>
          </a:xfrm>
          <a:prstGeom prst="rect">
            <a:avLst/>
          </a:prstGeom>
          <a:solidFill>
            <a:srgbClr val="467AA4"/>
          </a:solidFill>
          <a:ln/>
        </p:spPr>
      </p:sp>
      <p:sp>
        <p:nvSpPr>
          <p:cNvPr id="25" name="Shape 23"/>
          <p:cNvSpPr/>
          <p:nvPr/>
        </p:nvSpPr>
        <p:spPr>
          <a:xfrm>
            <a:off x="5589270" y="3383280"/>
            <a:ext cx="258318" cy="365760"/>
          </a:xfrm>
          <a:prstGeom prst="rect">
            <a:avLst/>
          </a:prstGeom>
          <a:solidFill>
            <a:srgbClr val="3E76A8"/>
          </a:solidFill>
          <a:ln/>
        </p:spPr>
      </p:sp>
      <p:sp>
        <p:nvSpPr>
          <p:cNvPr id="26" name="Shape 24"/>
          <p:cNvSpPr/>
          <p:nvPr/>
        </p:nvSpPr>
        <p:spPr>
          <a:xfrm>
            <a:off x="5829300" y="3383280"/>
            <a:ext cx="258318" cy="365760"/>
          </a:xfrm>
          <a:prstGeom prst="rect">
            <a:avLst/>
          </a:prstGeom>
          <a:solidFill>
            <a:srgbClr val="3573AC"/>
          </a:solidFill>
          <a:ln/>
        </p:spPr>
      </p:sp>
      <p:sp>
        <p:nvSpPr>
          <p:cNvPr id="27" name="Shape 25"/>
          <p:cNvSpPr/>
          <p:nvPr/>
        </p:nvSpPr>
        <p:spPr>
          <a:xfrm>
            <a:off x="6069330" y="3383280"/>
            <a:ext cx="258318" cy="365760"/>
          </a:xfrm>
          <a:prstGeom prst="rect">
            <a:avLst/>
          </a:prstGeom>
          <a:solidFill>
            <a:srgbClr val="2C6FB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ASS1 · HAL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GLUL · CYP2E1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1417320"/>
            <a:ext cx="4983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0" y="16459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De-zonation
</a:t>
            </a:r>
            <a:pPr indent="0" marL="0"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hepatocyte forgets </a:t>
            </a:r>
            <a:pPr indent="0" marL="0">
              <a:buNone/>
            </a:pPr>
            <a:r>
              <a:rPr lang="en-US" sz="1400" b="1" i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 the axis</a:t>
            </a:r>
            <a:pPr indent="0" marL="0"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belongs - it co-expresses opposite-end genes.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3703320"/>
            <a:ext cx="4983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393192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 plasticity
</a:t>
            </a:r>
            <a:pPr indent="0" marL="0"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hepatocyte forgets </a:t>
            </a:r>
            <a:pPr indent="0" marL="0">
              <a:buNone/>
            </a:pPr>
            <a:r>
              <a:rPr lang="en-US" sz="1400" b="1" i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it is a hepatocyte at all</a:t>
            </a:r>
            <a:pPr indent="0" marL="0"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drifting toward a bile-duct (cholangiocyte) identity; biphenotypic cells express both ALB and KRT7/KRT19.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the first quantitatively, and test whether it travels with the second.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papers, mirror-image gaps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5349240" cy="54864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1 - the cells (Vallier 2024)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biopsies, healthy to end-stage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69,426 single-nucleus hepatocytes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zonation loss - only qualitatively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snRNA destroyed the spatial map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554480"/>
            <a:ext cx="5349240" cy="54864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5544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2 - the ruler (Itzkovitz 2026)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human liver, spatial transcriptomics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porto-central zonation map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1,724 zonated genes - our signatures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healthy only, no disease stages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0E3A40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8463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has the map but no disease; the other has the disease but no map. Nobody has used the healthy ruler to decode the disease cohort - that is our project.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healthy map to decode the diseased cells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5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ruler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&amp; periportal signatures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82112" y="27432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2011680"/>
            <a:ext cx="2606040" cy="109728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6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cell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 1 hepatocyte vs both signatures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62472" y="27432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011680"/>
            <a:ext cx="2606040" cy="10972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22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Zonation coordinate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- periportal (per cell)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42832" y="274320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89720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2011680"/>
            <a:ext cx="2606040" cy="109728"/>
          </a:xfrm>
          <a:prstGeom prst="rect">
            <a:avLst/>
          </a:prstGeom>
          <a:solidFill>
            <a:srgbClr val="0E3A40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726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across stages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72600" y="32461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sharp is the axis at each stage?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the reference is a 1-D axis, so we recover a pseudo-zonation coordinate - not a physical (x, y) position.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hypotheses, three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3429000" cy="640080"/>
          </a:xfrm>
          <a:prstGeom prst="rect">
            <a:avLst/>
          </a:prstGeom>
          <a:solidFill>
            <a:srgbClr val="1654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H1 - erosion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Claim. </a:t>
            </a:r>
            <a:pPr indent="0" marL="0"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de-zonation score rises Healthy to end-stage.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 </a:t>
            </a:r>
            <a:pPr indent="0" marL="0"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Ordered-trend test (Jonckheere-Terpstra / Spearman on stage rank): does it climb step by step?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554480"/>
            <a:ext cx="3429000" cy="64008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H2 - what fails 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377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Claim. </a:t>
            </a:r>
            <a:pPr indent="0" marL="0"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programs (e.g. pericentral CYP detox) collapse earliest.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35204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 </a:t>
            </a:r>
            <a:pPr indent="0" marL="0"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Per-gene differential expression within zones + Benjamini-Hochberg FDR to control false positives.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1554480"/>
            <a:ext cx="3429000" cy="64008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H3 - plasticity link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2377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Claim. </a:t>
            </a:r>
            <a:pPr indent="0" marL="0"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de-zonated cells are the ones turning duct-like.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83880" y="35204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 </a:t>
            </a:r>
            <a:pPr indent="0" marL="0"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plasticity (KRT7/19) in de-zonated vs zonated cells - Mann-Whitney U.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- course methods,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463040" cy="1371600"/>
          </a:xfrm>
          <a:prstGeom prst="roundRect">
            <a:avLst>
              <a:gd name="adj" fmla="val 400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(inherited)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39696" y="2103120"/>
            <a:ext cx="1463040" cy="1371600"/>
          </a:xfrm>
          <a:prstGeom prst="roundRect">
            <a:avLst>
              <a:gd name="adj" fmla="val 4000"/>
            </a:avLst>
          </a:prstGeom>
          <a:solidFill>
            <a:srgbClr val="EAF3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9696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31136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02736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30752" y="2103120"/>
            <a:ext cx="1463040" cy="1371600"/>
          </a:xfrm>
          <a:prstGeom prst="roundRect">
            <a:avLst>
              <a:gd name="adj" fmla="val 4000"/>
            </a:avLst>
          </a:prstGeom>
          <a:solidFill>
            <a:srgbClr val="D7ECE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0752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22192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classify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93792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21808" y="2103120"/>
            <a:ext cx="1463040" cy="1371600"/>
          </a:xfrm>
          <a:prstGeom prst="roundRect">
            <a:avLst>
              <a:gd name="adj" fmla="val 4000"/>
            </a:avLst>
          </a:prstGeom>
          <a:solidFill>
            <a:srgbClr val="D7ECE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21808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13248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(5/5b)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84848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12864" y="2103120"/>
            <a:ext cx="1463040" cy="1371600"/>
          </a:xfrm>
          <a:prstGeom prst="roundRect">
            <a:avLst>
              <a:gd name="adj" fmla="val 4000"/>
            </a:avLst>
          </a:prstGeom>
          <a:solidFill>
            <a:srgbClr val="F6C45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12864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04304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curve (H1)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75904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2103120"/>
            <a:ext cx="1463040" cy="1371600"/>
          </a:xfrm>
          <a:prstGeom prst="roundRect">
            <a:avLst>
              <a:gd name="adj" fmla="val 4000"/>
            </a:avLst>
          </a:prstGeom>
          <a:solidFill>
            <a:srgbClr val="F6C45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03920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9536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+ FDR (H2)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966960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94976" y="2103120"/>
            <a:ext cx="1463040" cy="1371600"/>
          </a:xfrm>
          <a:prstGeom prst="roundRect">
            <a:avLst>
              <a:gd name="adj" fmla="val 4000"/>
            </a:avLst>
          </a:prstGeom>
          <a:solidFill>
            <a:srgbClr val="F3D9C7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94976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186416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Plasticity link (H3)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scope: </a:t>
            </a:r>
            <a:pPr indent="0" marL="0">
              <a:buNone/>
            </a:pPr>
            <a:r>
              <a:rPr lang="en-US" sz="15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processing &amp; clustering (Lec 15-16), differential expression, ordered-trend testing, and Benjamini-Hochberg FDR (Lec 5); counts &amp; complexity from Ex 1-2.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split: one drives the reference + statistics, the other the disease data + modelling; safe baseline by end of Day 1, rich analysis on Day 2.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- the engine already starts</a:t>
            </a:r>
            <a:endParaRPr lang="en-US" sz="3000" dirty="0"/>
          </a:p>
        </p:txBody>
      </p:sp>
      <p:pic>
        <p:nvPicPr>
          <p:cNvPr id="3" name="Image 0" descr="/sessions/hopeful-blissful-volta/mnt/Genomics/Hackathon/analysis/feasibility_f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94944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663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Paper 1 hepatocytes: the coordinate's spread narrows monotonically across stages (feasibility run).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772400" y="173736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8470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5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69,426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95528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hepatocytes extracted, all 5 stages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06324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31729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6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rho +0.29 / -0.48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95528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control: CYP2E1 / ASS1 track the axis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438912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44988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loads &amp; runs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95528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public; pipeline validated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5760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only - the full analysis is the hackathon.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- not 'we filled a gap'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16545C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decoder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validated, it reads zonal identity out of the many existing dissociated disease atlases that have no spatial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777240" cy="777240"/>
          </a:xfrm>
          <a:prstGeom prst="ellipse">
            <a:avLst/>
          </a:prstGeom>
          <a:solidFill>
            <a:srgbClr val="1B6E7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2971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fails first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34290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zonal programs lose legibility earliest (H2) predicts the order in which liver functions fail.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777240" cy="777240"/>
          </a:xfrm>
          <a:prstGeom prst="ellipse">
            <a:avLst/>
          </a:prstGeom>
          <a:solidFill>
            <a:srgbClr val="C05621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434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43891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identity breaks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48463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when/how the program becomes unreadable (silenced vs identity-mixed), tied to the plasticity linked to disease severity (H3).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reproduction: Paper 1 showed zonation loss by eye (2 markers, 2 extremes); we make it quantitative, continuous, transcriptome-wide and stage-resolved.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rough green-light on this direction -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we can start prep now, not lose the runway.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locked · data downloaded &amp; extracted · pipeline validated on real data · primer written.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4937760"/>
            <a:ext cx="292608" cy="237744"/>
          </a:xfrm>
          <a:prstGeom prst="rect">
            <a:avLst/>
          </a:prstGeom>
          <a:solidFill>
            <a:srgbClr val="F6C453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4937760"/>
            <a:ext cx="292608" cy="237744"/>
          </a:xfrm>
          <a:prstGeom prst="rect">
            <a:avLst/>
          </a:prstGeom>
          <a:solidFill>
            <a:srgbClr val="EDC057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4937760"/>
            <a:ext cx="292608" cy="237744"/>
          </a:xfrm>
          <a:prstGeom prst="rect">
            <a:avLst/>
          </a:prstGeom>
          <a:solidFill>
            <a:srgbClr val="E4BD5B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68" y="4937760"/>
            <a:ext cx="292608" cy="237744"/>
          </a:xfrm>
          <a:prstGeom prst="rect">
            <a:avLst/>
          </a:prstGeom>
          <a:solidFill>
            <a:srgbClr val="DCB95F"/>
          </a:solidFill>
          <a:ln/>
        </p:spPr>
      </p:sp>
      <p:sp>
        <p:nvSpPr>
          <p:cNvPr id="9" name="Shape 7"/>
          <p:cNvSpPr/>
          <p:nvPr/>
        </p:nvSpPr>
        <p:spPr>
          <a:xfrm>
            <a:off x="1847088" y="4937760"/>
            <a:ext cx="292608" cy="237744"/>
          </a:xfrm>
          <a:prstGeom prst="rect">
            <a:avLst/>
          </a:prstGeom>
          <a:solidFill>
            <a:srgbClr val="D3B563"/>
          </a:solidFill>
          <a:ln/>
        </p:spPr>
      </p:sp>
      <p:sp>
        <p:nvSpPr>
          <p:cNvPr id="10" name="Shape 8"/>
          <p:cNvSpPr/>
          <p:nvPr/>
        </p:nvSpPr>
        <p:spPr>
          <a:xfrm>
            <a:off x="2121408" y="4937760"/>
            <a:ext cx="292608" cy="237744"/>
          </a:xfrm>
          <a:prstGeom prst="rect">
            <a:avLst/>
          </a:prstGeom>
          <a:solidFill>
            <a:srgbClr val="CAB267"/>
          </a:solidFill>
          <a:ln/>
        </p:spPr>
      </p:sp>
      <p:sp>
        <p:nvSpPr>
          <p:cNvPr id="11" name="Shape 9"/>
          <p:cNvSpPr/>
          <p:nvPr/>
        </p:nvSpPr>
        <p:spPr>
          <a:xfrm>
            <a:off x="2395728" y="4937760"/>
            <a:ext cx="292608" cy="237744"/>
          </a:xfrm>
          <a:prstGeom prst="rect">
            <a:avLst/>
          </a:prstGeom>
          <a:solidFill>
            <a:srgbClr val="C1AE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70048" y="4937760"/>
            <a:ext cx="292608" cy="237744"/>
          </a:xfrm>
          <a:prstGeom prst="rect">
            <a:avLst/>
          </a:prstGeom>
          <a:solidFill>
            <a:srgbClr val="B9AA6F"/>
          </a:solidFill>
          <a:ln/>
        </p:spPr>
      </p:sp>
      <p:sp>
        <p:nvSpPr>
          <p:cNvPr id="13" name="Shape 11"/>
          <p:cNvSpPr/>
          <p:nvPr/>
        </p:nvSpPr>
        <p:spPr>
          <a:xfrm>
            <a:off x="2944368" y="4937760"/>
            <a:ext cx="292608" cy="237744"/>
          </a:xfrm>
          <a:prstGeom prst="rect">
            <a:avLst/>
          </a:prstGeom>
          <a:solidFill>
            <a:srgbClr val="B0A673"/>
          </a:solidFill>
          <a:ln/>
        </p:spPr>
      </p:sp>
      <p:sp>
        <p:nvSpPr>
          <p:cNvPr id="14" name="Shape 12"/>
          <p:cNvSpPr/>
          <p:nvPr/>
        </p:nvSpPr>
        <p:spPr>
          <a:xfrm>
            <a:off x="3218688" y="4937760"/>
            <a:ext cx="292608" cy="237744"/>
          </a:xfrm>
          <a:prstGeom prst="rect">
            <a:avLst/>
          </a:prstGeom>
          <a:solidFill>
            <a:srgbClr val="A7A377"/>
          </a:solidFill>
          <a:ln/>
        </p:spPr>
      </p:sp>
      <p:sp>
        <p:nvSpPr>
          <p:cNvPr id="15" name="Shape 13"/>
          <p:cNvSpPr/>
          <p:nvPr/>
        </p:nvSpPr>
        <p:spPr>
          <a:xfrm>
            <a:off x="3493008" y="4937760"/>
            <a:ext cx="292608" cy="237744"/>
          </a:xfrm>
          <a:prstGeom prst="rect">
            <a:avLst/>
          </a:prstGeom>
          <a:solidFill>
            <a:srgbClr val="9E9F7B"/>
          </a:solidFill>
          <a:ln/>
        </p:spPr>
      </p:sp>
      <p:sp>
        <p:nvSpPr>
          <p:cNvPr id="16" name="Shape 14"/>
          <p:cNvSpPr/>
          <p:nvPr/>
        </p:nvSpPr>
        <p:spPr>
          <a:xfrm>
            <a:off x="3767328" y="4937760"/>
            <a:ext cx="292608" cy="237744"/>
          </a:xfrm>
          <a:prstGeom prst="rect">
            <a:avLst/>
          </a:prstGeom>
          <a:solidFill>
            <a:srgbClr val="959B7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41648" y="4937760"/>
            <a:ext cx="292608" cy="237744"/>
          </a:xfrm>
          <a:prstGeom prst="rect">
            <a:avLst/>
          </a:prstGeom>
          <a:solidFill>
            <a:srgbClr val="8D9884"/>
          </a:solidFill>
          <a:ln/>
        </p:spPr>
      </p:sp>
      <p:sp>
        <p:nvSpPr>
          <p:cNvPr id="18" name="Shape 16"/>
          <p:cNvSpPr/>
          <p:nvPr/>
        </p:nvSpPr>
        <p:spPr>
          <a:xfrm>
            <a:off x="4315968" y="4937760"/>
            <a:ext cx="292608" cy="237744"/>
          </a:xfrm>
          <a:prstGeom prst="rect">
            <a:avLst/>
          </a:prstGeom>
          <a:solidFill>
            <a:srgbClr val="84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90288" y="4937760"/>
            <a:ext cx="292608" cy="237744"/>
          </a:xfrm>
          <a:prstGeom prst="rect">
            <a:avLst/>
          </a:prstGeom>
          <a:solidFill>
            <a:srgbClr val="7B908C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4608" y="4937760"/>
            <a:ext cx="292608" cy="237744"/>
          </a:xfrm>
          <a:prstGeom prst="rect">
            <a:avLst/>
          </a:prstGeom>
          <a:solidFill>
            <a:srgbClr val="728D90"/>
          </a:solidFill>
          <a:ln/>
        </p:spPr>
      </p:sp>
      <p:sp>
        <p:nvSpPr>
          <p:cNvPr id="21" name="Shape 19"/>
          <p:cNvSpPr/>
          <p:nvPr/>
        </p:nvSpPr>
        <p:spPr>
          <a:xfrm>
            <a:off x="5138928" y="4937760"/>
            <a:ext cx="292608" cy="237744"/>
          </a:xfrm>
          <a:prstGeom prst="rect">
            <a:avLst/>
          </a:prstGeom>
          <a:solidFill>
            <a:srgbClr val="69899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13248" y="4937760"/>
            <a:ext cx="292608" cy="237744"/>
          </a:xfrm>
          <a:prstGeom prst="rect">
            <a:avLst/>
          </a:prstGeom>
          <a:solidFill>
            <a:srgbClr val="618598"/>
          </a:solidFill>
          <a:ln/>
        </p:spPr>
      </p:sp>
      <p:sp>
        <p:nvSpPr>
          <p:cNvPr id="23" name="Shape 21"/>
          <p:cNvSpPr/>
          <p:nvPr/>
        </p:nvSpPr>
        <p:spPr>
          <a:xfrm>
            <a:off x="5687568" y="4937760"/>
            <a:ext cx="292608" cy="237744"/>
          </a:xfrm>
          <a:prstGeom prst="rect">
            <a:avLst/>
          </a:prstGeom>
          <a:solidFill>
            <a:srgbClr val="58819C"/>
          </a:solidFill>
          <a:ln/>
        </p:spPr>
      </p:sp>
      <p:sp>
        <p:nvSpPr>
          <p:cNvPr id="24" name="Shape 22"/>
          <p:cNvSpPr/>
          <p:nvPr/>
        </p:nvSpPr>
        <p:spPr>
          <a:xfrm>
            <a:off x="5961888" y="4937760"/>
            <a:ext cx="292608" cy="237744"/>
          </a:xfrm>
          <a:prstGeom prst="rect">
            <a:avLst/>
          </a:prstGeom>
          <a:solidFill>
            <a:srgbClr val="4F7EA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36208" y="4937760"/>
            <a:ext cx="292608" cy="237744"/>
          </a:xfrm>
          <a:prstGeom prst="rect">
            <a:avLst/>
          </a:prstGeom>
          <a:solidFill>
            <a:srgbClr val="467AA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0528" y="4937760"/>
            <a:ext cx="292608" cy="237744"/>
          </a:xfrm>
          <a:prstGeom prst="rect">
            <a:avLst/>
          </a:prstGeom>
          <a:solidFill>
            <a:srgbClr val="3E76A8"/>
          </a:solidFill>
          <a:ln/>
        </p:spPr>
      </p:sp>
      <p:sp>
        <p:nvSpPr>
          <p:cNvPr id="27" name="Shape 25"/>
          <p:cNvSpPr/>
          <p:nvPr/>
        </p:nvSpPr>
        <p:spPr>
          <a:xfrm>
            <a:off x="6784848" y="4937760"/>
            <a:ext cx="292608" cy="237744"/>
          </a:xfrm>
          <a:prstGeom prst="rect">
            <a:avLst/>
          </a:prstGeom>
          <a:solidFill>
            <a:srgbClr val="3573AC"/>
          </a:solidFill>
          <a:ln/>
        </p:spPr>
      </p:sp>
      <p:sp>
        <p:nvSpPr>
          <p:cNvPr id="28" name="Shape 26"/>
          <p:cNvSpPr/>
          <p:nvPr/>
        </p:nvSpPr>
        <p:spPr>
          <a:xfrm>
            <a:off x="7059168" y="4937760"/>
            <a:ext cx="292608" cy="237744"/>
          </a:xfrm>
          <a:prstGeom prst="rect">
            <a:avLst/>
          </a:prstGeom>
          <a:solidFill>
            <a:srgbClr val="2C6FB0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[team names]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Degradation of Hepatocyte Zonation</dc:title>
  <dc:subject>PptxGenJS Presentation</dc:subject>
  <dc:creator>Computational Genomics 76553</dc:creator>
  <cp:lastModifiedBy>Computational Genomics 76553</cp:lastModifiedBy>
  <cp:revision>1</cp:revision>
  <dcterms:created xsi:type="dcterms:W3CDTF">2026-06-18T15:34:15Z</dcterms:created>
  <dcterms:modified xsi:type="dcterms:W3CDTF">2026-06-18T15:34:15Z</dcterms:modified>
</cp:coreProperties>
</file>